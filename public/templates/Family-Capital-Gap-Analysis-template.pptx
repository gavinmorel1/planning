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Lst>
  <p:notesMasterIdLst>
    <p:notesMasterId r:id="rId51"/>
  </p:notesMasterIdLst>
  <p:sldIdLst>
    <p:sldId id="1637" r:id="rId6"/>
    <p:sldId id="1590" r:id="rId7"/>
    <p:sldId id="1592" r:id="rId8"/>
    <p:sldId id="1593" r:id="rId9"/>
    <p:sldId id="257" r:id="rId10"/>
    <p:sldId id="1609" r:id="rId11"/>
    <p:sldId id="1610" r:id="rId12"/>
    <p:sldId id="1597"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6" r:id="rId28"/>
    <p:sldId id="287" r:id="rId29"/>
    <p:sldId id="288" r:id="rId30"/>
    <p:sldId id="289" r:id="rId31"/>
    <p:sldId id="1643" r:id="rId32"/>
    <p:sldId id="1639" r:id="rId33"/>
    <p:sldId id="1636" r:id="rId34"/>
    <p:sldId id="262" r:id="rId35"/>
    <p:sldId id="290" r:id="rId36"/>
    <p:sldId id="291" r:id="rId37"/>
    <p:sldId id="1603" r:id="rId38"/>
    <p:sldId id="1571" r:id="rId39"/>
    <p:sldId id="1607" r:id="rId40"/>
    <p:sldId id="1608" r:id="rId41"/>
    <p:sldId id="1598" r:id="rId42"/>
    <p:sldId id="297" r:id="rId43"/>
    <p:sldId id="299" r:id="rId44"/>
    <p:sldId id="300" r:id="rId45"/>
    <p:sldId id="1574" r:id="rId46"/>
    <p:sldId id="1572" r:id="rId47"/>
    <p:sldId id="316" r:id="rId48"/>
    <p:sldId id="317" r:id="rId49"/>
    <p:sldId id="318" r:id="rId5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A8332F"/>
        </p14:laserClr>
      </p:ext>
      <p:ext uri="{2FDB2607-1784-4EEB-B798-7EB5836EED8A}">
        <p14:showMediaCtrls xmlns:p14="http://schemas.microsoft.com/office/powerpoint/2010/main" val="1"/>
      </p:ext>
    </p:extLst>
  </p:showPr>
  <p:clrMru>
    <a:srgbClr val="4A7C59"/>
    <a:srgbClr val="C9A8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141FA0-6BF2-4447-B0A3-EE515433BFDF}" v="3" dt="2026-10-20T18:18:35.547"/>
    <p1510:client id="{27FFBBF3-38CB-485B-B714-381413360E8F}" v="3" dt="2026-10-21T17:16:05.709"/>
    <p1510:client id="{7968A780-7AA2-4F39-BC89-747FCD8C9670}" v="2" dt="2026-10-21T16:42:25.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4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56" Type="http://schemas.microsoft.com/office/2016/11/relationships/changesInfo" Target="changesInfos/changesInfo1.xml"/><Relationship Id="rId5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 Marie Fenger" userId="de0a8e25-62c2-4ae1-b94b-9b0fa1f46dda" providerId="ADAL" clId="{88E79A37-4900-4701-81A7-930706B7794E}"/>
    <pc:docChg chg="custSel modSld">
      <pc:chgData name="Ray Marie Fenger" userId="de0a8e25-62c2-4ae1-b94b-9b0fa1f46dda" providerId="ADAL" clId="{88E79A37-4900-4701-81A7-930706B7794E}" dt="2026-10-21T16:43:06.482" v="761" actId="2711"/>
      <pc:docMkLst>
        <pc:docMk/>
      </pc:docMkLst>
      <pc:sldChg chg="modSp mod">
        <pc:chgData name="Ray Marie Fenger" userId="de0a8e25-62c2-4ae1-b94b-9b0fa1f46dda" providerId="ADAL" clId="{88E79A37-4900-4701-81A7-930706B7794E}" dt="2026-10-21T16:42:53.174" v="760" actId="255"/>
        <pc:sldMkLst>
          <pc:docMk/>
          <pc:sldMk cId="3144602787" sldId="1641"/>
        </pc:sldMkLst>
        <pc:spChg chg="mod">
          <ac:chgData name="Ray Marie Fenger" userId="de0a8e25-62c2-4ae1-b94b-9b0fa1f46dda" providerId="ADAL" clId="{88E79A37-4900-4701-81A7-930706B7794E}" dt="2026-10-21T16:42:53.174" v="760" actId="255"/>
          <ac:spMkLst>
            <pc:docMk/>
            <pc:sldMk cId="3144602787" sldId="1641"/>
            <ac:spMk id="83" creationId="{4419961B-5985-B98B-986A-635236ACE61B}"/>
          </ac:spMkLst>
        </pc:spChg>
      </pc:sldChg>
      <pc:sldChg chg="addSp delSp modSp mod">
        <pc:chgData name="Ray Marie Fenger" userId="de0a8e25-62c2-4ae1-b94b-9b0fa1f46dda" providerId="ADAL" clId="{88E79A37-4900-4701-81A7-930706B7794E}" dt="2026-10-21T16:43:06.482" v="761" actId="2711"/>
        <pc:sldMkLst>
          <pc:docMk/>
          <pc:sldMk cId="1015541825" sldId="1642"/>
        </pc:sldMkLst>
        <pc:spChg chg="mod">
          <ac:chgData name="Ray Marie Fenger" userId="de0a8e25-62c2-4ae1-b94b-9b0fa1f46dda" providerId="ADAL" clId="{88E79A37-4900-4701-81A7-930706B7794E}" dt="2026-10-21T16:43:06.482" v="761" actId="2711"/>
          <ac:spMkLst>
            <pc:docMk/>
            <pc:sldMk cId="1015541825" sldId="1642"/>
            <ac:spMk id="31" creationId="{00000000-0000-0000-0000-000000000000}"/>
          </ac:spMkLst>
        </pc:spChg>
        <pc:spChg chg="add del mod">
          <ac:chgData name="Ray Marie Fenger" userId="de0a8e25-62c2-4ae1-b94b-9b0fa1f46dda" providerId="ADAL" clId="{88E79A37-4900-4701-81A7-930706B7794E}" dt="2026-10-21T16:42:22.787" v="756"/>
          <ac:spMkLst>
            <pc:docMk/>
            <pc:sldMk cId="1015541825" sldId="1642"/>
            <ac:spMk id="32" creationId="{FDABE428-82FF-F3F2-8B6F-CF0F87E4FFD5}"/>
          </ac:spMkLst>
        </pc:spChg>
        <pc:spChg chg="add del mod">
          <ac:chgData name="Ray Marie Fenger" userId="de0a8e25-62c2-4ae1-b94b-9b0fa1f46dda" providerId="ADAL" clId="{88E79A37-4900-4701-81A7-930706B7794E}" dt="2026-10-21T16:42:26.208" v="759"/>
          <ac:spMkLst>
            <pc:docMk/>
            <pc:sldMk cId="1015541825" sldId="1642"/>
            <ac:spMk id="33" creationId="{B47FDD46-8837-BCD7-277C-1F800B7181A2}"/>
          </ac:spMkLst>
        </pc:spChg>
      </pc:sldChg>
    </pc:docChg>
  </pc:docChgLst>
  <pc:docChgLst>
    <pc:chgData name="Matthew Sullivan" userId="974f9b2c-af49-419f-8be0-ae3935d9a025" providerId="ADAL" clId="{ACA695A1-DC4D-4C6C-A5CC-7BD42207BAB7}"/>
    <pc:docChg chg="addSld modSld sldOrd">
      <pc:chgData name="Matthew Sullivan" userId="974f9b2c-af49-419f-8be0-ae3935d9a025" providerId="ADAL" clId="{ACA695A1-DC4D-4C6C-A5CC-7BD42207BAB7}" dt="2026-10-15T18:50:16.233" v="2"/>
      <pc:docMkLst>
        <pc:docMk/>
      </pc:docMkLst>
      <pc:sldChg chg="add ord">
        <pc:chgData name="Matthew Sullivan" userId="974f9b2c-af49-419f-8be0-ae3935d9a025" providerId="ADAL" clId="{ACA695A1-DC4D-4C6C-A5CC-7BD42207BAB7}" dt="2026-10-15T18:50:16.233" v="2"/>
        <pc:sldMkLst>
          <pc:docMk/>
          <pc:sldMk cId="181179372" sldId="1636"/>
        </pc:sldMkLst>
      </pc:sldChg>
    </pc:docChg>
  </pc:docChgLst>
  <pc:docChgLst>
    <pc:chgData name="Carson Rich" userId="95bbbf96-521e-499e-9a6e-ff27f58c592a" providerId="ADAL" clId="{66DB57C9-4C7B-4674-B77A-B69F828806FB}"/>
    <pc:docChg chg="custSel addSld delSld modSld">
      <pc:chgData name="Carson Rich" userId="95bbbf96-521e-499e-9a6e-ff27f58c592a" providerId="ADAL" clId="{66DB57C9-4C7B-4674-B77A-B69F828806FB}" dt="2026-10-21T17:16:09.736" v="13" actId="2696"/>
      <pc:docMkLst>
        <pc:docMk/>
      </pc:docMkLst>
      <pc:sldChg chg="del">
        <pc:chgData name="Carson Rich" userId="95bbbf96-521e-499e-9a6e-ff27f58c592a" providerId="ADAL" clId="{66DB57C9-4C7B-4674-B77A-B69F828806FB}" dt="2026-10-21T14:48:05.581" v="1"/>
        <pc:sldMkLst>
          <pc:docMk/>
          <pc:sldMk cId="1786481382" sldId="1611"/>
        </pc:sldMkLst>
      </pc:sldChg>
      <pc:sldChg chg="del">
        <pc:chgData name="Carson Rich" userId="95bbbf96-521e-499e-9a6e-ff27f58c592a" providerId="ADAL" clId="{66DB57C9-4C7B-4674-B77A-B69F828806FB}" dt="2026-10-21T14:48:12.596" v="3"/>
        <pc:sldMkLst>
          <pc:docMk/>
          <pc:sldMk cId="0" sldId="1613"/>
        </pc:sldMkLst>
      </pc:sldChg>
      <pc:sldChg chg="add del">
        <pc:chgData name="Carson Rich" userId="95bbbf96-521e-499e-9a6e-ff27f58c592a" providerId="ADAL" clId="{66DB57C9-4C7B-4674-B77A-B69F828806FB}" dt="2026-10-21T14:48:48.684" v="7"/>
        <pc:sldMkLst>
          <pc:docMk/>
          <pc:sldMk cId="1561629351" sldId="1638"/>
        </pc:sldMkLst>
      </pc:sldChg>
      <pc:sldChg chg="add">
        <pc:chgData name="Carson Rich" userId="95bbbf96-521e-499e-9a6e-ff27f58c592a" providerId="ADAL" clId="{66DB57C9-4C7B-4674-B77A-B69F828806FB}" dt="2026-10-21T17:16:05.705" v="12"/>
        <pc:sldMkLst>
          <pc:docMk/>
          <pc:sldMk cId="1992084746" sldId="1639"/>
        </pc:sldMkLst>
      </pc:sldChg>
      <pc:sldChg chg="add del">
        <pc:chgData name="Carson Rich" userId="95bbbf96-521e-499e-9a6e-ff27f58c592a" providerId="ADAL" clId="{66DB57C9-4C7B-4674-B77A-B69F828806FB}" dt="2026-10-21T14:48:19.337" v="5"/>
        <pc:sldMkLst>
          <pc:docMk/>
          <pc:sldMk cId="3442407710" sldId="1639"/>
        </pc:sldMkLst>
      </pc:sldChg>
      <pc:sldChg chg="add del">
        <pc:chgData name="Carson Rich" userId="95bbbf96-521e-499e-9a6e-ff27f58c592a" providerId="ADAL" clId="{66DB57C9-4C7B-4674-B77A-B69F828806FB}" dt="2026-10-21T14:48:51.577" v="9"/>
        <pc:sldMkLst>
          <pc:docMk/>
          <pc:sldMk cId="619087898" sldId="1640"/>
        </pc:sldMkLst>
      </pc:sldChg>
      <pc:sldChg chg="add del">
        <pc:chgData name="Carson Rich" userId="95bbbf96-521e-499e-9a6e-ff27f58c592a" providerId="ADAL" clId="{66DB57C9-4C7B-4674-B77A-B69F828806FB}" dt="2026-10-21T17:16:09.736" v="13" actId="2696"/>
        <pc:sldMkLst>
          <pc:docMk/>
          <pc:sldMk cId="3144602787" sldId="1641"/>
        </pc:sldMkLst>
      </pc:sldChg>
      <pc:sldChg chg="add del">
        <pc:chgData name="Carson Rich" userId="95bbbf96-521e-499e-9a6e-ff27f58c592a" providerId="ADAL" clId="{66DB57C9-4C7B-4674-B77A-B69F828806FB}" dt="2026-10-21T17:15:58.449" v="11" actId="2696"/>
        <pc:sldMkLst>
          <pc:docMk/>
          <pc:sldMk cId="1015541825" sldId="1642"/>
        </pc:sldMkLst>
      </pc:sldChg>
      <pc:sldChg chg="add">
        <pc:chgData name="Carson Rich" userId="95bbbf96-521e-499e-9a6e-ff27f58c592a" providerId="ADAL" clId="{66DB57C9-4C7B-4674-B77A-B69F828806FB}" dt="2026-10-21T17:15:53.528" v="10"/>
        <pc:sldMkLst>
          <pc:docMk/>
          <pc:sldMk cId="1889619839" sldId="1643"/>
        </pc:sldMkLst>
      </pc:sldChg>
    </pc:docChg>
  </pc:docChgLst>
  <pc:docChgLst>
    <pc:chgData name="Gavin Morel" userId="883e0459-6674-4202-a7ec-e6efbd5d63d8" providerId="ADAL" clId="{310838E5-F94C-4723-B75D-F99DD4F45CDB}"/>
    <pc:docChg chg="addSld delSld modSld">
      <pc:chgData name="Gavin Morel" userId="883e0459-6674-4202-a7ec-e6efbd5d63d8" providerId="ADAL" clId="{310838E5-F94C-4723-B75D-F99DD4F45CDB}" dt="2026-10-20T18:18:36.142" v="7"/>
      <pc:docMkLst>
        <pc:docMk/>
      </pc:docMkLst>
      <pc:sldChg chg="del">
        <pc:chgData name="Gavin Morel" userId="883e0459-6674-4202-a7ec-e6efbd5d63d8" providerId="ADAL" clId="{310838E5-F94C-4723-B75D-F99DD4F45CDB}" dt="2026-10-20T16:58:05.626" v="1" actId="2696"/>
        <pc:sldMkLst>
          <pc:docMk/>
          <pc:sldMk cId="0" sldId="256"/>
        </pc:sldMkLst>
      </pc:sldChg>
      <pc:sldChg chg="addSp delSp modSp mod">
        <pc:chgData name="Gavin Morel" userId="883e0459-6674-4202-a7ec-e6efbd5d63d8" providerId="ADAL" clId="{310838E5-F94C-4723-B75D-F99DD4F45CDB}" dt="2026-10-20T18:18:36.142" v="7"/>
        <pc:sldMkLst>
          <pc:docMk/>
          <pc:sldMk cId="0" sldId="316"/>
        </pc:sldMkLst>
        <pc:spChg chg="add del mod">
          <ac:chgData name="Gavin Morel" userId="883e0459-6674-4202-a7ec-e6efbd5d63d8" providerId="ADAL" clId="{310838E5-F94C-4723-B75D-F99DD4F45CDB}" dt="2026-10-20T18:18:35.008" v="4"/>
          <ac:spMkLst>
            <pc:docMk/>
            <pc:sldMk cId="0" sldId="316"/>
            <ac:spMk id="7" creationId="{7C4944A9-F3A0-3B29-7382-51265C7C93F3}"/>
          </ac:spMkLst>
        </pc:spChg>
        <pc:spChg chg="add del mod">
          <ac:chgData name="Gavin Morel" userId="883e0459-6674-4202-a7ec-e6efbd5d63d8" providerId="ADAL" clId="{310838E5-F94C-4723-B75D-F99DD4F45CDB}" dt="2026-10-20T18:18:36.142" v="7"/>
          <ac:spMkLst>
            <pc:docMk/>
            <pc:sldMk cId="0" sldId="316"/>
            <ac:spMk id="8" creationId="{47D1F509-2B06-90CE-80A8-08C56C3182D3}"/>
          </ac:spMkLst>
        </pc:spChg>
      </pc:sldChg>
      <pc:sldChg chg="add setBg">
        <pc:chgData name="Gavin Morel" userId="883e0459-6674-4202-a7ec-e6efbd5d63d8" providerId="ADAL" clId="{310838E5-F94C-4723-B75D-F99DD4F45CDB}" dt="2026-10-20T16:58:03.440" v="0"/>
        <pc:sldMkLst>
          <pc:docMk/>
          <pc:sldMk cId="0" sldId="163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Goals</c:v>
                </c:pt>
              </c:strCache>
            </c:strRef>
          </c:tx>
          <c:spPr>
            <a:solidFill>
              <a:schemeClr val="accent1"/>
            </a:solidFill>
            <a:ln w="9525" cap="flat">
              <a:solidFill>
                <a:srgbClr val="FFFFFF"/>
              </a:solidFill>
              <a:prstDash val="solid"/>
              <a:round/>
            </a:ln>
            <a:effectLst/>
          </c:spPr>
          <c:dPt>
            <c:idx val="0"/>
            <c:bubble3D val="0"/>
            <c:spPr>
              <a:solidFill>
                <a:srgbClr val="4A7C59"/>
              </a:solidFill>
              <a:effectLst/>
            </c:spPr>
            <c:extLst>
              <c:ext xmlns:c16="http://schemas.microsoft.com/office/drawing/2014/chart" uri="{C3380CC4-5D6E-409C-BE32-E72D297353CC}">
                <c16:uniqueId val="{00000001-8EB1-48B5-8EC9-51EBFC44D45E}"/>
              </c:ext>
            </c:extLst>
          </c:dPt>
          <c:dPt>
            <c:idx val="1"/>
            <c:bubble3D val="0"/>
            <c:spPr>
              <a:solidFill>
                <a:srgbClr val="A8332F"/>
              </a:solidFill>
              <a:effectLst/>
            </c:spPr>
            <c:extLst>
              <c:ext xmlns:c16="http://schemas.microsoft.com/office/drawing/2014/chart" uri="{C3380CC4-5D6E-409C-BE32-E72D297353CC}">
                <c16:uniqueId val="{00000003-8EB1-48B5-8EC9-51EBFC44D45E}"/>
              </c:ext>
            </c:extLst>
          </c:dPt>
          <c:cat>
            <c:strRef>
              <c:f>Sheet1!$A$2:$A$3</c:f>
              <c:strCache>
                <c:ptCount val="2"/>
                <c:pt idx="0">
                  <c:v>Goals Met (5)</c:v>
                </c:pt>
                <c:pt idx="1">
                  <c:v>Goals Missed (12)</c:v>
                </c:pt>
              </c:strCache>
            </c:strRef>
          </c:cat>
          <c:val>
            <c:numRef>
              <c:f>Sheet1!$B$2:$B$3</c:f>
              <c:numCache>
                <c:formatCode>General</c:formatCode>
                <c:ptCount val="2"/>
                <c:pt idx="0">
                  <c:v>5</c:v>
                </c:pt>
                <c:pt idx="1">
                  <c:v>12</c:v>
                </c:pt>
              </c:numCache>
            </c:numRef>
          </c:val>
          <c:extLst>
            <c:ext xmlns:c16="http://schemas.microsoft.com/office/drawing/2014/chart" uri="{C3380CC4-5D6E-409C-BE32-E72D297353CC}">
              <c16:uniqueId val="{00000004-8EB1-48B5-8EC9-51EBFC44D45E}"/>
            </c:ext>
          </c:extLst>
        </c:ser>
        <c:dLbls>
          <c:showLegendKey val="0"/>
          <c:showVal val="0"/>
          <c:showCatName val="0"/>
          <c:showSerName val="0"/>
          <c:showPercent val="0"/>
          <c:showBubbleSize val="0"/>
          <c:showLeaderLines val="0"/>
        </c:dLbls>
        <c:firstSliceAng val="0"/>
        <c:holeSize val="60"/>
      </c:doughnutChart>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Goals</c:v>
                </c:pt>
              </c:strCache>
            </c:strRef>
          </c:tx>
          <c:spPr>
            <a:solidFill>
              <a:schemeClr val="accent1"/>
            </a:solidFill>
            <a:ln w="9525" cap="flat">
              <a:solidFill>
                <a:srgbClr val="FFFFFF"/>
              </a:solidFill>
              <a:prstDash val="solid"/>
              <a:round/>
            </a:ln>
            <a:effectLst/>
          </c:spPr>
          <c:dPt>
            <c:idx val="0"/>
            <c:bubble3D val="0"/>
            <c:spPr>
              <a:solidFill>
                <a:srgbClr val="4A7C59"/>
              </a:solidFill>
              <a:effectLst/>
            </c:spPr>
            <c:extLst>
              <c:ext xmlns:c16="http://schemas.microsoft.com/office/drawing/2014/chart" uri="{C3380CC4-5D6E-409C-BE32-E72D297353CC}">
                <c16:uniqueId val="{00000001-8EB1-48B5-8EC9-51EBFC44D45E}"/>
              </c:ext>
            </c:extLst>
          </c:dPt>
          <c:dPt>
            <c:idx val="1"/>
            <c:bubble3D val="0"/>
            <c:spPr>
              <a:solidFill>
                <a:srgbClr val="A8332F"/>
              </a:solidFill>
              <a:effectLst/>
            </c:spPr>
            <c:extLst>
              <c:ext xmlns:c16="http://schemas.microsoft.com/office/drawing/2014/chart" uri="{C3380CC4-5D6E-409C-BE32-E72D297353CC}">
                <c16:uniqueId val="{00000003-8EB1-48B5-8EC9-51EBFC44D45E}"/>
              </c:ext>
            </c:extLst>
          </c:dPt>
          <c:cat>
            <c:strRef>
              <c:f>Sheet1!$A$2:$A$3</c:f>
              <c:strCache>
                <c:ptCount val="2"/>
                <c:pt idx="0">
                  <c:v>Goals Met (5)</c:v>
                </c:pt>
                <c:pt idx="1">
                  <c:v>Goals Missed (12)</c:v>
                </c:pt>
              </c:strCache>
            </c:strRef>
          </c:cat>
          <c:val>
            <c:numRef>
              <c:f>Sheet1!$B$2:$B$3</c:f>
              <c:numCache>
                <c:formatCode>General</c:formatCode>
                <c:ptCount val="2"/>
                <c:pt idx="0">
                  <c:v>5</c:v>
                </c:pt>
                <c:pt idx="1">
                  <c:v>12</c:v>
                </c:pt>
              </c:numCache>
            </c:numRef>
          </c:val>
          <c:extLst>
            <c:ext xmlns:c16="http://schemas.microsoft.com/office/drawing/2014/chart" uri="{C3380CC4-5D6E-409C-BE32-E72D297353CC}">
              <c16:uniqueId val="{00000004-8EB1-48B5-8EC9-51EBFC44D45E}"/>
            </c:ext>
          </c:extLst>
        </c:ser>
        <c:dLbls>
          <c:showLegendKey val="0"/>
          <c:showVal val="0"/>
          <c:showCatName val="0"/>
          <c:showSerName val="0"/>
          <c:showPercent val="0"/>
          <c:showBubbleSize val="0"/>
          <c:showLeaderLines val="0"/>
        </c:dLbls>
        <c:firstSliceAng val="0"/>
        <c:holeSize val="60"/>
      </c:doughnutChart>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434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763A5-1477-E126-3EDE-9CBD9B9F3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6B581-6F4B-BD23-E471-3A35E27C30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55AFE6-43CE-0CAA-2B7C-2CAA36E6B2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DB93A0-F98D-BC45-C259-6F797195816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58743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77F35-8433-5BC9-22E5-FD0B37AEE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897C2-C7B8-F9DA-F436-E79652AA3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318BD-133E-F169-02EC-8BFB09649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F02073-8346-D6CA-37C7-2FE7FB4FBB9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4948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D64190-8ABF-453B-9515-7E48CD330550}" type="slidenum">
              <a:rPr kumimoji="0" lang="en-US" sz="6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p:txBody>
          <a:bodyPr/>
          <a:lstStyle/>
          <a:p>
            <a:r>
              <a:rPr lang="en-US"/>
              <a:t>At the end of this slide – Pause for Feedback</a:t>
            </a:r>
          </a:p>
          <a:p>
            <a:r>
              <a:rPr lang="es-PE" err="1"/>
              <a:t>You</a:t>
            </a:r>
            <a:r>
              <a:rPr lang="es-PE"/>
              <a:t> </a:t>
            </a:r>
            <a:r>
              <a:rPr lang="es-PE" err="1"/>
              <a:t>want</a:t>
            </a:r>
            <a:r>
              <a:rPr lang="es-PE"/>
              <a:t> </a:t>
            </a:r>
            <a:r>
              <a:rPr lang="es-PE" err="1"/>
              <a:t>to</a:t>
            </a:r>
            <a:r>
              <a:rPr lang="es-PE"/>
              <a:t> </a:t>
            </a:r>
            <a:r>
              <a:rPr lang="es-PE" err="1"/>
              <a:t>say</a:t>
            </a:r>
            <a:r>
              <a:rPr lang="es-PE"/>
              <a:t> a </a:t>
            </a:r>
            <a:r>
              <a:rPr lang="es-PE" err="1"/>
              <a:t>lot</a:t>
            </a:r>
            <a:r>
              <a:rPr lang="es-PE"/>
              <a:t> </a:t>
            </a:r>
            <a:r>
              <a:rPr lang="es-PE" err="1"/>
              <a:t>of</a:t>
            </a:r>
            <a:r>
              <a:rPr lang="es-PE"/>
              <a:t> “</a:t>
            </a:r>
            <a:r>
              <a:rPr lang="es-PE" err="1"/>
              <a:t>what</a:t>
            </a:r>
            <a:r>
              <a:rPr lang="es-PE"/>
              <a:t> </a:t>
            </a:r>
            <a:r>
              <a:rPr lang="es-PE" err="1"/>
              <a:t>else</a:t>
            </a:r>
            <a:r>
              <a:rPr lang="es-PE"/>
              <a:t>?”</a:t>
            </a:r>
          </a:p>
          <a:p>
            <a:r>
              <a:rPr lang="es-PE" err="1"/>
              <a:t>Repeat</a:t>
            </a:r>
            <a:r>
              <a:rPr lang="es-PE"/>
              <a:t> back </a:t>
            </a:r>
            <a:r>
              <a:rPr lang="es-PE" err="1"/>
              <a:t>using</a:t>
            </a:r>
            <a:r>
              <a:rPr lang="es-PE"/>
              <a:t> </a:t>
            </a:r>
            <a:r>
              <a:rPr lang="es-PE" err="1"/>
              <a:t>their</a:t>
            </a:r>
            <a:r>
              <a:rPr lang="es-PE"/>
              <a:t> </a:t>
            </a:r>
            <a:r>
              <a:rPr lang="es-PE" err="1"/>
              <a:t>words</a:t>
            </a:r>
            <a:r>
              <a:rPr lang="es-PE"/>
              <a:t> </a:t>
            </a:r>
          </a:p>
          <a:p>
            <a:r>
              <a:rPr lang="es-PE" err="1"/>
              <a:t>Have</a:t>
            </a:r>
            <a:r>
              <a:rPr lang="es-PE"/>
              <a:t> </a:t>
            </a:r>
            <a:r>
              <a:rPr lang="es-PE" err="1"/>
              <a:t>other</a:t>
            </a:r>
            <a:r>
              <a:rPr lang="es-PE"/>
              <a:t> </a:t>
            </a:r>
            <a:r>
              <a:rPr lang="es-PE" err="1"/>
              <a:t>prompts</a:t>
            </a:r>
            <a:r>
              <a:rPr lang="es-PE"/>
              <a:t> </a:t>
            </a:r>
            <a:r>
              <a:rPr lang="es-PE" err="1"/>
              <a:t>ready</a:t>
            </a:r>
            <a:r>
              <a:rPr lang="es-PE"/>
              <a:t> ex. </a:t>
            </a:r>
            <a:r>
              <a:rPr lang="es-PE" err="1"/>
              <a:t>What</a:t>
            </a:r>
            <a:r>
              <a:rPr lang="es-PE"/>
              <a:t> </a:t>
            </a:r>
            <a:r>
              <a:rPr lang="es-PE" err="1"/>
              <a:t>is</a:t>
            </a:r>
            <a:r>
              <a:rPr lang="es-PE"/>
              <a:t> </a:t>
            </a:r>
            <a:r>
              <a:rPr lang="es-PE" err="1"/>
              <a:t>impacting</a:t>
            </a:r>
            <a:r>
              <a:rPr lang="es-PE"/>
              <a:t> </a:t>
            </a:r>
            <a:r>
              <a:rPr lang="es-PE" err="1"/>
              <a:t>you</a:t>
            </a:r>
            <a:r>
              <a:rPr lang="es-PE"/>
              <a:t>? Do </a:t>
            </a:r>
            <a:r>
              <a:rPr lang="es-PE" err="1"/>
              <a:t>you</a:t>
            </a:r>
            <a:r>
              <a:rPr lang="es-PE"/>
              <a:t> </a:t>
            </a:r>
            <a:r>
              <a:rPr lang="es-PE" err="1"/>
              <a:t>have</a:t>
            </a:r>
            <a:r>
              <a:rPr lang="es-PE"/>
              <a:t> </a:t>
            </a:r>
            <a:r>
              <a:rPr lang="es-PE" err="1"/>
              <a:t>any</a:t>
            </a:r>
            <a:r>
              <a:rPr lang="es-PE"/>
              <a:t> </a:t>
            </a:r>
            <a:r>
              <a:rPr lang="es-PE" err="1"/>
              <a:t>questions</a:t>
            </a:r>
            <a:r>
              <a:rPr lang="es-PE"/>
              <a:t>? </a:t>
            </a:r>
            <a:r>
              <a:rPr lang="es-PE" err="1"/>
              <a:t>What</a:t>
            </a:r>
            <a:r>
              <a:rPr lang="es-PE"/>
              <a:t> </a:t>
            </a:r>
            <a:r>
              <a:rPr lang="es-PE" err="1"/>
              <a:t>did</a:t>
            </a:r>
            <a:r>
              <a:rPr lang="es-PE"/>
              <a:t> </a:t>
            </a:r>
            <a:r>
              <a:rPr lang="es-PE" err="1"/>
              <a:t>you</a:t>
            </a:r>
            <a:r>
              <a:rPr lang="es-PE"/>
              <a:t> </a:t>
            </a:r>
            <a:r>
              <a:rPr lang="es-PE" err="1"/>
              <a:t>find</a:t>
            </a:r>
            <a:r>
              <a:rPr lang="es-PE"/>
              <a:t> </a:t>
            </a:r>
            <a:r>
              <a:rPr lang="es-PE" err="1"/>
              <a:t>most</a:t>
            </a:r>
            <a:r>
              <a:rPr lang="es-PE"/>
              <a:t> </a:t>
            </a:r>
            <a:r>
              <a:rPr lang="es-PE" err="1"/>
              <a:t>interesting</a:t>
            </a:r>
            <a:r>
              <a:rPr lang="es-PE"/>
              <a:t> </a:t>
            </a:r>
            <a:r>
              <a:rPr lang="es-PE" err="1"/>
              <a:t>or</a:t>
            </a:r>
            <a:r>
              <a:rPr lang="es-PE"/>
              <a:t> </a:t>
            </a:r>
            <a:r>
              <a:rPr lang="es-PE" err="1"/>
              <a:t>valuble</a:t>
            </a:r>
            <a:r>
              <a:rPr lang="es-PE"/>
              <a:t> </a:t>
            </a:r>
          </a:p>
          <a:p>
            <a:r>
              <a:rPr lang="es-PE" err="1"/>
              <a:t>We’ve</a:t>
            </a:r>
            <a:r>
              <a:rPr lang="es-PE"/>
              <a:t> </a:t>
            </a:r>
            <a:r>
              <a:rPr lang="es-PE" err="1"/>
              <a:t>developed</a:t>
            </a:r>
            <a:r>
              <a:rPr lang="es-PE"/>
              <a:t> a </a:t>
            </a:r>
            <a:r>
              <a:rPr lang="es-PE" err="1"/>
              <a:t>potential</a:t>
            </a:r>
            <a:r>
              <a:rPr lang="es-PE"/>
              <a:t> </a:t>
            </a:r>
            <a:r>
              <a:rPr lang="es-PE" err="1"/>
              <a:t>pathway</a:t>
            </a:r>
            <a:r>
              <a:rPr lang="es-PE"/>
              <a:t> </a:t>
            </a:r>
            <a:r>
              <a:rPr lang="es-PE" err="1"/>
              <a:t>to</a:t>
            </a:r>
            <a:r>
              <a:rPr lang="es-PE"/>
              <a:t> </a:t>
            </a:r>
            <a:r>
              <a:rPr lang="es-PE" err="1"/>
              <a:t>address</a:t>
            </a:r>
            <a:r>
              <a:rPr lang="es-PE"/>
              <a:t> </a:t>
            </a:r>
            <a:r>
              <a:rPr lang="es-PE" err="1"/>
              <a:t>these</a:t>
            </a:r>
            <a:r>
              <a:rPr lang="es-PE"/>
              <a:t> </a:t>
            </a:r>
            <a:r>
              <a:rPr lang="es-PE" err="1"/>
              <a:t>things</a:t>
            </a:r>
            <a:r>
              <a:rPr lang="es-PE"/>
              <a:t>. Are </a:t>
            </a:r>
            <a:r>
              <a:rPr lang="es-PE" err="1"/>
              <a:t>you</a:t>
            </a:r>
            <a:r>
              <a:rPr lang="es-PE"/>
              <a:t> </a:t>
            </a:r>
            <a:r>
              <a:rPr lang="es-PE" err="1"/>
              <a:t>interested</a:t>
            </a:r>
            <a:r>
              <a:rPr lang="es-PE"/>
              <a:t> in </a:t>
            </a:r>
            <a:r>
              <a:rPr lang="es-PE" err="1"/>
              <a:t>seeing</a:t>
            </a:r>
            <a:r>
              <a:rPr lang="es-PE"/>
              <a:t> </a:t>
            </a:r>
            <a:r>
              <a:rPr lang="es-PE" err="1"/>
              <a:t>our</a:t>
            </a:r>
            <a:r>
              <a:rPr lang="es-PE"/>
              <a:t> </a:t>
            </a:r>
            <a:r>
              <a:rPr lang="es-PE" err="1"/>
              <a:t>solution</a:t>
            </a:r>
            <a:r>
              <a:rPr lang="es-PE"/>
              <a:t>?</a:t>
            </a:r>
          </a:p>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928B7-AE8A-A19F-E3F7-8DBB4D158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AF502-4BD2-094E-7707-0099E12BC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214DF9-7366-295A-461C-2C499CC8B67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7178A8-E793-5E28-99B1-145A0A38F320}"/>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1249892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A81D9-3085-7EDB-1EC5-33ADFDBCD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58D3AD-3119-CAD3-D874-DDC9033CFD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A8D0B-C56B-C2A1-0CF7-2F6F1731F6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6CA2A2-1436-1E1E-F073-C3795183E455}"/>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1576341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1" cy="88485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1943766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456923" y="472871"/>
            <a:ext cx="5278152" cy="536622"/>
          </a:xfrm>
        </p:spPr>
        <p:txBody>
          <a:bodyPr lIns="0" tIns="0" rIns="0" bIns="0"/>
          <a:lstStyle>
            <a:lvl1pPr>
              <a:defRPr sz="3487" b="1" i="0">
                <a:solidFill>
                  <a:srgbClr val="171738"/>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407706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456923" y="472871"/>
            <a:ext cx="5278152" cy="536622"/>
          </a:xfrm>
        </p:spPr>
        <p:txBody>
          <a:bodyPr lIns="0" tIns="0" rIns="0" bIns="0"/>
          <a:lstStyle>
            <a:lvl1pPr>
              <a:defRPr sz="3487" b="1" i="0">
                <a:solidFill>
                  <a:srgbClr val="171738"/>
                </a:solidFill>
                <a:latin typeface="Georgia"/>
                <a:cs typeface="Georgia"/>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750690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456923" y="472871"/>
            <a:ext cx="5278152" cy="536622"/>
          </a:xfrm>
        </p:spPr>
        <p:txBody>
          <a:bodyPr lIns="0" tIns="0" rIns="0" bIns="0"/>
          <a:lstStyle>
            <a:lvl1pPr>
              <a:defRPr sz="3487" b="1" i="0">
                <a:solidFill>
                  <a:srgbClr val="171738"/>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1937482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1493461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31872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56923" y="472871"/>
            <a:ext cx="5278152" cy="884858"/>
          </a:xfrm>
          <a:prstGeom prst="rect">
            <a:avLst/>
          </a:prstGeom>
        </p:spPr>
        <p:txBody>
          <a:bodyPr wrap="square" lIns="0" tIns="0" rIns="0" bIns="0">
            <a:spAutoFit/>
          </a:bodyPr>
          <a:lstStyle>
            <a:lvl1pPr>
              <a:defRPr sz="5750" b="1" i="0">
                <a:solidFill>
                  <a:srgbClr val="171738"/>
                </a:solidFill>
                <a:latin typeface="Georgia"/>
                <a:cs typeface="Georgia"/>
              </a:defRPr>
            </a:lvl1pPr>
          </a:lstStyle>
          <a:p>
            <a:endParaRPr/>
          </a:p>
        </p:txBody>
      </p:sp>
      <p:sp>
        <p:nvSpPr>
          <p:cNvPr id="3" name="Holder 3"/>
          <p:cNvSpPr>
            <a:spLocks noGrp="1"/>
          </p:cNvSpPr>
          <p:nvPr>
            <p:ph type="body" idx="1"/>
          </p:nvPr>
        </p:nvSpPr>
        <p:spPr>
          <a:xfrm>
            <a:off x="609600" y="1577340"/>
            <a:ext cx="10972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10/21/2026</a:t>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55144115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www.adviserinfo.sec.gov/" TargetMode="Externa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chart" Target="../charts/char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jpg"/><Relationship Id="rId6" Type="http://schemas.openxmlformats.org/officeDocument/2006/relationships/image" Target="../media/image10.jpeg"/><Relationship Id="rId7"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14.jpeg"/><Relationship Id="rId7"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320040" y="822960"/>
            <a:ext cx="64008" cy="5029200"/>
          </a:xfrm>
          <a:prstGeom prst="rect">
            <a:avLst/>
          </a:prstGeom>
          <a:solidFill>
            <a:srgbClr val="17173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174175" y="502920"/>
            <a:ext cx="2468880" cy="715152"/>
          </a:xfrm>
          <a:prstGeom prst="rect">
            <a:avLst/>
          </a:prstGeom>
        </p:spPr>
      </p:pic>
      <p:sp>
        <p:nvSpPr>
          <p:cNvPr id="8" name="Text 5"/>
          <p:cNvSpPr/>
          <p:nvPr/>
        </p:nvSpPr>
        <p:spPr>
          <a:xfrm>
            <a:off x="822960" y="1371600"/>
            <a:ext cx="7772400" cy="1645920"/>
          </a:xfrm>
          <a:prstGeom prst="rect">
            <a:avLst/>
          </a:prstGeom>
          <a:noFill/>
          <a:ln/>
        </p:spPr>
        <p:txBody>
          <a:bodyPr wrap="square" lIns="0" tIns="0" rIns="0" bIns="0" rtlCol="0" anchor="t"/>
          <a:lstStyle/>
          <a:p>
            <a:pPr marL="0" indent="0">
              <a:spcAft>
                <a:spcPts val="400"/>
              </a:spcAft>
              <a:buNone/>
            </a:pPr>
            <a:r>
              <a:rPr lang="en-US" sz="3680" dirty="0">
                <a:solidFill>
                  <a:srgbClr val="171738"/>
                </a:solidFill>
                <a:latin typeface="Georgia" pitchFamily="34" charset="0"/>
                <a:ea typeface="Georgia" pitchFamily="34" charset="-122"/>
                <a:cs typeface="Georgia" pitchFamily="34" charset="-120"/>
              </a:rPr>
              <a:t>Family Capital Gap Analysis</a:t>
            </a:r>
          </a:p>
          <a:p>
            <a:pPr marL="0" indent="0">
              <a:spcAft>
                <a:spcPts val="400"/>
              </a:spcAft>
              <a:buNone/>
            </a:pPr>
            <a:endParaRPr lang="en-US" sz="3680" dirty="0"/>
          </a:p>
          <a:p>
            <a:pPr lvl="0" defTabSz="685800">
              <a:lnSpc>
                <a:spcPct val="115000"/>
              </a:lnSpc>
              <a:defRPr/>
            </a:pPr>
            <a:r>
              <a:rPr lang="en-US" sz="3680" dirty="0">
                <a:solidFill>
                  <a:srgbClr val="171738"/>
                </a:solidFill>
                <a:latin typeface="Georgia" pitchFamily="34" charset="0"/>
              </a:rPr>
              <a:t>Mr. and Mrs. ______</a:t>
            </a:r>
            <a:endParaRPr lang="en-US" sz="3680" dirty="0">
              <a:solidFill>
                <a:prstClr val="black"/>
              </a:solidFill>
            </a:endParaRPr>
          </a:p>
        </p:txBody>
      </p:sp>
      <p:sp>
        <p:nvSpPr>
          <p:cNvPr id="9" name="Shape 6"/>
          <p:cNvSpPr/>
          <p:nvPr/>
        </p:nvSpPr>
        <p:spPr>
          <a:xfrm>
            <a:off x="822960" y="3429000"/>
            <a:ext cx="914400" cy="27432"/>
          </a:xfrm>
          <a:prstGeom prst="rect">
            <a:avLst/>
          </a:prstGeom>
          <a:solidFill>
            <a:srgbClr val="C9A84C"/>
          </a:solidFill>
          <a:ln/>
        </p:spPr>
        <p:txBody>
          <a:bodyPr/>
          <a:lstStyle/>
          <a:p>
            <a:endParaRPr lang="en-US"/>
          </a:p>
        </p:txBody>
      </p:sp>
      <p:sp>
        <p:nvSpPr>
          <p:cNvPr id="10" name="Text 7"/>
          <p:cNvSpPr/>
          <p:nvPr/>
        </p:nvSpPr>
        <p:spPr>
          <a:xfrm>
            <a:off x="822960" y="3611880"/>
            <a:ext cx="7315200" cy="365760"/>
          </a:xfrm>
          <a:prstGeom prst="rect">
            <a:avLst/>
          </a:prstGeom>
          <a:noFill/>
          <a:ln/>
        </p:spPr>
        <p:txBody>
          <a:bodyPr wrap="square" lIns="0" tIns="0" rIns="0" bIns="0" rtlCol="0" anchor="ctr"/>
          <a:lstStyle/>
          <a:p>
            <a:pPr marL="0" indent="0">
              <a:buNone/>
            </a:pPr>
            <a:r>
              <a:rPr lang="en-US" sz="1500" dirty="0">
                <a:solidFill>
                  <a:srgbClr val="8B7355"/>
                </a:solidFill>
                <a:latin typeface="Calibri" pitchFamily="34" charset="0"/>
                <a:ea typeface="Calibri" pitchFamily="34" charset="-122"/>
                <a:cs typeface="Calibri" pitchFamily="34" charset="-120"/>
              </a:rPr>
              <a:t>Aligning Family &amp; Capital With a 100-Year Vision</a:t>
            </a:r>
            <a:endParaRPr lang="en-US" sz="1500" dirty="0"/>
          </a:p>
        </p:txBody>
      </p:sp>
      <p:sp>
        <p:nvSpPr>
          <p:cNvPr id="11" name="Text 8"/>
          <p:cNvSpPr/>
          <p:nvPr/>
        </p:nvSpPr>
        <p:spPr>
          <a:xfrm>
            <a:off x="822960" y="4709160"/>
            <a:ext cx="7315200" cy="457200"/>
          </a:xfrm>
          <a:prstGeom prst="rect">
            <a:avLst/>
          </a:prstGeom>
          <a:noFill/>
          <a:ln/>
        </p:spPr>
        <p:txBody>
          <a:bodyPr wrap="square" lIns="0" tIns="0" rIns="0" bIns="0" rtlCol="0" anchor="ctr"/>
          <a:lstStyle/>
          <a:p>
            <a:pPr marL="0" indent="0">
              <a:buNone/>
            </a:pPr>
            <a:r>
              <a:rPr lang="en-US" sz="2000" dirty="0">
                <a:solidFill>
                  <a:srgbClr val="171738"/>
                </a:solidFill>
                <a:latin typeface="Georgia" pitchFamily="34" charset="0"/>
                <a:ea typeface="Georgia" pitchFamily="34" charset="-122"/>
                <a:cs typeface="Georgia" pitchFamily="34" charset="-120"/>
              </a:rPr>
              <a:t>Presented  |  March 3rd, 2026</a:t>
            </a:r>
            <a:endParaRPr lang="en-US" sz="2000" dirty="0"/>
          </a:p>
        </p:txBody>
      </p:sp>
      <p:sp>
        <p:nvSpPr>
          <p:cNvPr id="19" name="Shape 0">
            <a:extLst>
              <a:ext uri="{FF2B5EF4-FFF2-40B4-BE49-F238E27FC236}">
                <a16:creationId xmlns:a16="http://schemas.microsoft.com/office/drawing/2014/main" id="{EAE406FC-A0D3-CC21-8BA9-1F4E1F86C05A}"/>
              </a:ext>
            </a:extLst>
          </p:cNvPr>
          <p:cNvSpPr/>
          <p:nvPr/>
        </p:nvSpPr>
        <p:spPr>
          <a:xfrm>
            <a:off x="0" y="6547104"/>
            <a:ext cx="12191695" cy="310896"/>
          </a:xfrm>
          <a:prstGeom prst="rect">
            <a:avLst/>
          </a:prstGeom>
          <a:solidFill>
            <a:srgbClr val="F4EFE4"/>
          </a:solidFill>
          <a:ln/>
        </p:spPr>
        <p:txBody>
          <a:bodyPr/>
          <a:lstStyle/>
          <a:p>
            <a:endParaRPr lang="en-US"/>
          </a:p>
        </p:txBody>
      </p:sp>
      <p:sp>
        <p:nvSpPr>
          <p:cNvPr id="21" name="Text 1">
            <a:extLst>
              <a:ext uri="{FF2B5EF4-FFF2-40B4-BE49-F238E27FC236}">
                <a16:creationId xmlns:a16="http://schemas.microsoft.com/office/drawing/2014/main" id="{54939261-E89E-8357-B24C-B157CC4A1B5B}"/>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dirty="0">
                <a:solidFill>
                  <a:srgbClr val="8B7355"/>
                </a:solidFill>
                <a:latin typeface="Calibri" pitchFamily="34" charset="0"/>
                <a:ea typeface="Calibri" pitchFamily="34" charset="-122"/>
                <a:cs typeface="Calibri" pitchFamily="34" charset="-120"/>
              </a:rPr>
              <a:t>PARADIEM  |  FAMILY CAPITAL ARCHITECTURE</a:t>
            </a:r>
            <a:endParaRPr lang="en-US" sz="700" dirty="0"/>
          </a:p>
        </p:txBody>
      </p:sp>
      <p:sp>
        <p:nvSpPr>
          <p:cNvPr id="23" name="Text 2">
            <a:extLst>
              <a:ext uri="{FF2B5EF4-FFF2-40B4-BE49-F238E27FC236}">
                <a16:creationId xmlns:a16="http://schemas.microsoft.com/office/drawing/2014/main" id="{4613623B-EE27-EFDF-C6CD-D287A5D71BD3}"/>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dirty="0">
                <a:solidFill>
                  <a:srgbClr val="8B7355"/>
                </a:solidFill>
                <a:latin typeface="Calibri" pitchFamily="34" charset="0"/>
                <a:ea typeface="Calibri" pitchFamily="34" charset="-122"/>
                <a:cs typeface="Calibri" pitchFamily="34" charset="-120"/>
              </a:rPr>
              <a:t>Paradiem, LLC is a Registered Investment Advisor.</a:t>
            </a:r>
            <a:endParaRPr lang="en-US" sz="700" dirty="0"/>
          </a:p>
        </p:txBody>
      </p:sp>
      <p:sp>
        <p:nvSpPr>
          <p:cNvPr id="25" name="Text 3">
            <a:extLst>
              <a:ext uri="{FF2B5EF4-FFF2-40B4-BE49-F238E27FC236}">
                <a16:creationId xmlns:a16="http://schemas.microsoft.com/office/drawing/2014/main" id="{3CCAFE36-8E56-875B-7DBE-3F256E4B2B97}"/>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dirty="0">
                <a:solidFill>
                  <a:srgbClr val="8B7355"/>
                </a:solidFill>
                <a:latin typeface="Calibri" pitchFamily="34" charset="0"/>
                <a:ea typeface="Calibri" pitchFamily="34" charset="-122"/>
                <a:cs typeface="Calibri" pitchFamily="34" charset="-120"/>
              </a:rPr>
              <a:t>CONFIDENTIAL — NOT FOR DISTRIBUTION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70560" y="268224"/>
            <a:ext cx="10972800" cy="268224"/>
          </a:xfrm>
          <a:prstGeom prst="rect">
            <a:avLst/>
          </a:prstGeom>
          <a:noFill/>
          <a:ln/>
        </p:spPr>
        <p:txBody>
          <a:bodyPr wrap="square" lIns="0" tIns="0" rIns="0" bIns="0" rtlCol="0" anchor="t"/>
          <a:lstStyle/>
          <a:p>
            <a:pPr defTabSz="1219170"/>
            <a:r>
              <a:rPr lang="en-US" sz="1000" kern="0" spc="400">
                <a:solidFill>
                  <a:srgbClr val="C9A84C"/>
                </a:solidFill>
                <a:latin typeface="Calibri" pitchFamily="34" charset="0"/>
                <a:ea typeface="Calibri" pitchFamily="34" charset="-122"/>
                <a:cs typeface="Calibri" pitchFamily="34" charset="-120"/>
              </a:rPr>
              <a:t>DISCLOSURES</a:t>
            </a:r>
            <a:endParaRPr lang="en-US" sz="1000">
              <a:solidFill>
                <a:prstClr val="black"/>
              </a:solidFill>
              <a:latin typeface="Calibri" panose="020F0502020204030204"/>
            </a:endParaRPr>
          </a:p>
        </p:txBody>
      </p:sp>
      <p:sp>
        <p:nvSpPr>
          <p:cNvPr id="3" name="Text 1"/>
          <p:cNvSpPr/>
          <p:nvPr/>
        </p:nvSpPr>
        <p:spPr>
          <a:xfrm>
            <a:off x="670561" y="550986"/>
            <a:ext cx="11031415" cy="699477"/>
          </a:xfrm>
          <a:prstGeom prst="rect">
            <a:avLst/>
          </a:prstGeom>
          <a:noFill/>
          <a:ln/>
        </p:spPr>
        <p:txBody>
          <a:bodyPr wrap="square" lIns="0" tIns="0" rIns="0" bIns="0" rtlCol="0" anchor="t"/>
          <a:lstStyle/>
          <a:p>
            <a:pPr defTabSz="1219170"/>
            <a:r>
              <a:rPr lang="en-US" sz="3467">
                <a:solidFill>
                  <a:srgbClr val="171738"/>
                </a:solidFill>
                <a:latin typeface="Georgia" pitchFamily="34" charset="0"/>
                <a:ea typeface="Georgia" pitchFamily="34" charset="-122"/>
                <a:cs typeface="Georgia" pitchFamily="34" charset="-120"/>
              </a:rPr>
              <a:t>Legal Disclosures &amp; Important Information</a:t>
            </a:r>
            <a:endParaRPr lang="en-US" sz="3467">
              <a:solidFill>
                <a:prstClr val="black"/>
              </a:solidFill>
              <a:latin typeface="Calibri" panose="020F0502020204030204"/>
            </a:endParaRPr>
          </a:p>
        </p:txBody>
      </p:sp>
      <p:sp>
        <p:nvSpPr>
          <p:cNvPr id="4" name="Shape 2"/>
          <p:cNvSpPr/>
          <p:nvPr/>
        </p:nvSpPr>
        <p:spPr>
          <a:xfrm>
            <a:off x="670560" y="1296981"/>
            <a:ext cx="1463040" cy="0"/>
          </a:xfrm>
          <a:prstGeom prst="line">
            <a:avLst/>
          </a:prstGeom>
          <a:noFill/>
          <a:ln w="19050">
            <a:solidFill>
              <a:srgbClr val="C9A84C"/>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670560" y="1382325"/>
            <a:ext cx="10850880" cy="73152"/>
          </a:xfrm>
          <a:prstGeom prst="rect">
            <a:avLst/>
          </a:prstGeom>
          <a:solidFill>
            <a:srgbClr val="F4EFE4"/>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6" name="Text 4"/>
          <p:cNvSpPr/>
          <p:nvPr/>
        </p:nvSpPr>
        <p:spPr>
          <a:xfrm>
            <a:off x="670560" y="1455401"/>
            <a:ext cx="10850880" cy="4614980"/>
          </a:xfrm>
          <a:prstGeom prst="rect">
            <a:avLst/>
          </a:prstGeom>
          <a:noFill/>
          <a:ln/>
        </p:spPr>
        <p:txBody>
          <a:bodyPr wrap="square" lIns="0" tIns="0" rIns="0" bIns="0" rtlCol="0" anchor="t"/>
          <a:lstStyle/>
          <a:p>
            <a:pPr defTabSz="1219170">
              <a:lnSpc>
                <a:spcPct val="140000"/>
              </a:lnSpc>
            </a:pPr>
            <a:r>
              <a:rPr lang="en-US" sz="1267">
                <a:solidFill>
                  <a:srgbClr val="8B7355"/>
                </a:solidFill>
                <a:latin typeface="Calibri"/>
                <a:ea typeface="Calibri"/>
                <a:cs typeface="Calibri"/>
              </a:rPr>
              <a:t>Paradiem, LLC is a Registered Investment Advisor. </a:t>
            </a:r>
            <a:endParaRPr lang="en-US" sz="1267">
              <a:solidFill>
                <a:srgbClr val="1C1713"/>
              </a:solidFill>
              <a:latin typeface="Calibri" panose="020F0502020204030204"/>
              <a:ea typeface="Calibri" panose="020F0502020204030204"/>
              <a:cs typeface="Calibri" panose="020F0502020204030204"/>
            </a:endParaRPr>
          </a:p>
          <a:p>
            <a:pPr defTabSz="1219170"/>
            <a:endParaRPr lang="en-US" sz="1267">
              <a:solidFill>
                <a:srgbClr val="8B7355"/>
              </a:solidFill>
              <a:latin typeface="Calibri" panose="020F0502020204030204"/>
              <a:ea typeface="Calibri" panose="020F0502020204030204"/>
              <a:cs typeface="Calibri" panose="020F0502020204030204"/>
            </a:endParaRPr>
          </a:p>
          <a:p>
            <a:pPr defTabSz="1219170"/>
            <a:r>
              <a:rPr lang="en-US" sz="1267">
                <a:solidFill>
                  <a:srgbClr val="8B7355"/>
                </a:solidFill>
                <a:latin typeface="Calibri" panose="020F0502020204030204"/>
                <a:ea typeface="Calibri" panose="020F0502020204030204"/>
                <a:cs typeface="Calibri" panose="020F0502020204030204"/>
              </a:rPr>
              <a:t>This presentation is provided for informational and educational purposes only and is intended solely for the recipient. It is not intended as, and should not be construed as, personalized investment advice, a recommendation, or an offer to buy or sell any security or to adopt any investment strategy.</a:t>
            </a:r>
            <a:endParaRPr lang="en-US" sz="1267">
              <a:solidFill>
                <a:prstClr val="black"/>
              </a:solidFill>
              <a:latin typeface="Calibri" panose="020F0502020204030204"/>
              <a:ea typeface="Calibri" panose="020F0502020204030204"/>
              <a:cs typeface="Calibri" panose="020F0502020204030204"/>
            </a:endParaRPr>
          </a:p>
          <a:p>
            <a:pPr defTabSz="1219170"/>
            <a:endParaRPr lang="en-US" sz="1267">
              <a:solidFill>
                <a:srgbClr val="8B7355"/>
              </a:solidFill>
              <a:latin typeface="Calibri" panose="020F0502020204030204"/>
              <a:ea typeface="Calibri" panose="020F0502020204030204"/>
              <a:cs typeface="Calibri" panose="020F0502020204030204"/>
            </a:endParaRPr>
          </a:p>
          <a:p>
            <a:pPr defTabSz="1219170"/>
            <a:r>
              <a:rPr lang="en-US" sz="1267">
                <a:solidFill>
                  <a:srgbClr val="8B7355"/>
                </a:solidFill>
                <a:latin typeface="Calibri" panose="020F0502020204030204"/>
                <a:ea typeface="Calibri" panose="020F0502020204030204"/>
                <a:cs typeface="Calibri" panose="020F0502020204030204"/>
              </a:rPr>
              <a:t>Any references to investment strategies, portfolio construction, or planning concepts are general in nature and may not be suitable for all individuals. Investment decisions should be made based on an individual’s specific financial situation, objectives, risk tolerance, and time horizon, and in consultation with appropriate financial, tax, and legal advisors.</a:t>
            </a:r>
            <a:endParaRPr lang="en-US" sz="2400">
              <a:solidFill>
                <a:prstClr val="black"/>
              </a:solidFill>
              <a:latin typeface="Calibri" panose="020F0502020204030204"/>
              <a:ea typeface="Calibri"/>
              <a:cs typeface="Calibri"/>
            </a:endParaRPr>
          </a:p>
          <a:p>
            <a:pPr defTabSz="1219170"/>
            <a:endParaRPr lang="en-US" sz="1267">
              <a:solidFill>
                <a:srgbClr val="8B7355"/>
              </a:solidFill>
              <a:latin typeface="Calibri" panose="020F0502020204030204"/>
              <a:ea typeface="Calibri" panose="020F0502020204030204"/>
              <a:cs typeface="Calibri" panose="020F0502020204030204"/>
            </a:endParaRPr>
          </a:p>
          <a:p>
            <a:pPr defTabSz="1219170"/>
            <a:r>
              <a:rPr lang="en-US" sz="1267">
                <a:solidFill>
                  <a:srgbClr val="8B7355"/>
                </a:solidFill>
                <a:latin typeface="Calibri" panose="020F0502020204030204"/>
                <a:ea typeface="Calibri" panose="020F0502020204030204"/>
                <a:cs typeface="Calibri" panose="020F0502020204030204"/>
              </a:rPr>
              <a:t>All investing involves risk, including the potential loss of principal. Past performance is not indicative of future results. Any forward-looking statements, projections, or scenario analyses are hypothetical in nature, subject to significant limitations, and do not reflect actual results. There is no guarantee that any investment objective or strategy will be achieved.</a:t>
            </a:r>
            <a:endParaRPr lang="en-US" sz="2400">
              <a:solidFill>
                <a:srgbClr val="1C1713"/>
              </a:solidFill>
              <a:latin typeface="Calibri" panose="020F0502020204030204"/>
              <a:ea typeface="Calibri" panose="020F0502020204030204"/>
              <a:cs typeface="Calibri" panose="020F0502020204030204"/>
            </a:endParaRPr>
          </a:p>
          <a:p>
            <a:pPr defTabSz="1219170"/>
            <a:endParaRPr lang="en-US" sz="1267">
              <a:solidFill>
                <a:srgbClr val="8B7355"/>
              </a:solidFill>
              <a:latin typeface="Calibri" panose="020F0502020204030204"/>
              <a:ea typeface="Calibri"/>
              <a:cs typeface="Calibri"/>
            </a:endParaRPr>
          </a:p>
          <a:p>
            <a:pPr defTabSz="1219170"/>
            <a:r>
              <a:rPr lang="en-US" sz="1267">
                <a:solidFill>
                  <a:srgbClr val="8B7355"/>
                </a:solidFill>
                <a:latin typeface="Calibri" panose="020F0502020204030204"/>
                <a:ea typeface="Calibri"/>
                <a:cs typeface="Calibri"/>
              </a:rPr>
              <a:t>Where performance results are shown or discussed, additional information regarding calculation methodologies, time periods, benchmarks, and material assumptions is available upon request. Any comparisons to benchmarks or indices are provided for illustrative purposes only, and such indices may differ significantly from the strategy described.</a:t>
            </a:r>
            <a:endParaRPr lang="en-US" sz="2400">
              <a:solidFill>
                <a:prstClr val="black"/>
              </a:solidFill>
              <a:latin typeface="Calibri" panose="020F0502020204030204"/>
              <a:ea typeface="Calibri"/>
              <a:cs typeface="Calibri"/>
            </a:endParaRPr>
          </a:p>
          <a:p>
            <a:pPr defTabSz="1219170"/>
            <a:endParaRPr lang="en-US" sz="1267">
              <a:solidFill>
                <a:srgbClr val="8B7355"/>
              </a:solidFill>
              <a:latin typeface="Calibri" panose="020F0502020204030204"/>
              <a:ea typeface="Calibri" panose="020F0502020204030204"/>
              <a:cs typeface="Calibri" panose="020F0502020204030204"/>
            </a:endParaRPr>
          </a:p>
          <a:p>
            <a:pPr defTabSz="1219170"/>
            <a:r>
              <a:rPr lang="en-US" sz="1267">
                <a:solidFill>
                  <a:srgbClr val="8B7355"/>
                </a:solidFill>
                <a:latin typeface="Calibri" panose="020F0502020204030204"/>
                <a:ea typeface="Calibri" panose="020F0502020204030204"/>
                <a:cs typeface="Calibri" panose="020F0502020204030204"/>
              </a:rPr>
              <a:t>Paradiem, LLC may utilize third-party data, research, or tools believed to be reliable; however, the accuracy and completeness of such information cannot be guaranteed. Any opinions expressed are as of the date of the presentation and are subject to change without notice.</a:t>
            </a:r>
            <a:endParaRPr lang="en-US" sz="2400">
              <a:solidFill>
                <a:prstClr val="black"/>
              </a:solidFill>
              <a:latin typeface="Calibri" panose="020F0502020204030204"/>
              <a:ea typeface="Calibri"/>
              <a:cs typeface="Calibri"/>
            </a:endParaRPr>
          </a:p>
          <a:p>
            <a:pPr defTabSz="1219170"/>
            <a:endParaRPr lang="en-US" sz="1267">
              <a:solidFill>
                <a:srgbClr val="8B7355"/>
              </a:solidFill>
              <a:latin typeface="Calibri" panose="020F0502020204030204"/>
              <a:ea typeface="Calibri" panose="020F0502020204030204"/>
              <a:cs typeface="Calibri" panose="020F0502020204030204"/>
            </a:endParaRPr>
          </a:p>
          <a:p>
            <a:pPr defTabSz="1219170"/>
            <a:r>
              <a:rPr lang="en-US" sz="1267">
                <a:solidFill>
                  <a:srgbClr val="8B7355"/>
                </a:solidFill>
                <a:latin typeface="Calibri" panose="020F0502020204030204"/>
                <a:ea typeface="Calibri" panose="020F0502020204030204"/>
                <a:cs typeface="Calibri" panose="020F0502020204030204"/>
              </a:rPr>
              <a:t>Advisory services are only offered to clients or prospective clients where Paradiem and its representatives are properly licensed or exempt from registration.</a:t>
            </a:r>
            <a:endParaRPr lang="en-US" sz="2400">
              <a:solidFill>
                <a:prstClr val="black"/>
              </a:solidFill>
              <a:latin typeface="Calibri" panose="020F0502020204030204"/>
              <a:ea typeface="Calibri"/>
              <a:cs typeface="Calibri"/>
            </a:endParaRPr>
          </a:p>
          <a:p>
            <a:pPr defTabSz="1219170"/>
            <a:endParaRPr lang="en-US" sz="1267">
              <a:solidFill>
                <a:srgbClr val="8B7355"/>
              </a:solidFill>
              <a:latin typeface="Calibri" panose="020F0502020204030204"/>
              <a:ea typeface="Calibri" panose="020F0502020204030204"/>
              <a:cs typeface="Calibri" panose="020F0502020204030204"/>
            </a:endParaRPr>
          </a:p>
          <a:p>
            <a:pPr defTabSz="1219170"/>
            <a:r>
              <a:rPr lang="en-US" sz="1267">
                <a:solidFill>
                  <a:srgbClr val="8B7355"/>
                </a:solidFill>
                <a:latin typeface="Calibri" panose="020F0502020204030204"/>
                <a:ea typeface="Calibri" panose="020F0502020204030204"/>
                <a:cs typeface="Calibri" panose="020F0502020204030204"/>
              </a:rPr>
              <a:t>Additional information about Paradiem, LLC including its Form ADV Part 2A (Firm Brochure), is available upon request or at </a:t>
            </a:r>
            <a:r>
              <a:rPr lang="en-US" sz="1267">
                <a:solidFill>
                  <a:srgbClr val="8B7355"/>
                </a:solidFill>
                <a:latin typeface="Calibri" panose="020F0502020204030204"/>
                <a:ea typeface="Calibri" panose="020F0502020204030204"/>
                <a:cs typeface="Calibri" panose="020F0502020204030204"/>
                <a:hlinkClick r:id="rId3"/>
              </a:rPr>
              <a:t>www.adviserinfo.sec.gov</a:t>
            </a:r>
            <a:r>
              <a:rPr lang="en-US" sz="1267">
                <a:solidFill>
                  <a:srgbClr val="8B7355"/>
                </a:solidFill>
                <a:latin typeface="Calibri" panose="020F0502020204030204"/>
                <a:ea typeface="Calibri" panose="020F0502020204030204"/>
                <a:cs typeface="Calibri" panose="020F0502020204030204"/>
              </a:rPr>
              <a:t>.</a:t>
            </a:r>
            <a:endParaRPr lang="en-US" sz="2400">
              <a:solidFill>
                <a:prstClr val="black"/>
              </a:solidFill>
              <a:latin typeface="Calibri" panose="020F0502020204030204"/>
              <a:ea typeface="Calibri"/>
              <a:cs typeface="Calibri"/>
            </a:endParaRPr>
          </a:p>
          <a:p>
            <a:pPr defTabSz="1219170"/>
            <a:endParaRPr lang="en-US" sz="1267">
              <a:solidFill>
                <a:srgbClr val="8B7355"/>
              </a:solidFill>
              <a:latin typeface="Calibri"/>
              <a:ea typeface="Calibri"/>
              <a:cs typeface="Calibri"/>
            </a:endParaRPr>
          </a:p>
          <a:p>
            <a:pPr defTabSz="1219170">
              <a:lnSpc>
                <a:spcPct val="140000"/>
              </a:lnSpc>
            </a:pPr>
            <a:endParaRPr lang="en-US" sz="1267">
              <a:solidFill>
                <a:srgbClr val="8B7355"/>
              </a:solidFill>
              <a:latin typeface="Calibri"/>
              <a:ea typeface="Calibri"/>
              <a:cs typeface="Calibri"/>
            </a:endParaRPr>
          </a:p>
          <a:p>
            <a:pPr defTabSz="1219170">
              <a:lnSpc>
                <a:spcPct val="140000"/>
              </a:lnSpc>
            </a:pPr>
            <a:endParaRPr lang="en-US" sz="1267">
              <a:solidFill>
                <a:srgbClr val="8B7355"/>
              </a:solidFill>
              <a:latin typeface="Calibri"/>
              <a:ea typeface="Calibri"/>
              <a:cs typeface="Calibri"/>
            </a:endParaRPr>
          </a:p>
        </p:txBody>
      </p:sp>
      <p:sp>
        <p:nvSpPr>
          <p:cNvPr id="9" name="Shape 5">
            <a:extLst>
              <a:ext uri="{FF2B5EF4-FFF2-40B4-BE49-F238E27FC236}">
                <a16:creationId xmlns:a16="http://schemas.microsoft.com/office/drawing/2014/main" id="{B5AFDB0B-61F6-74EB-A2A9-A133B97B1DC8}"/>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11" name="Text 6">
            <a:extLst>
              <a:ext uri="{FF2B5EF4-FFF2-40B4-BE49-F238E27FC236}">
                <a16:creationId xmlns:a16="http://schemas.microsoft.com/office/drawing/2014/main" id="{A846BB00-4ADD-32E0-43D6-6C8C1AB8B5F8}"/>
              </a:ext>
            </a:extLst>
          </p:cNvPr>
          <p:cNvSpPr/>
          <p:nvPr/>
        </p:nvSpPr>
        <p:spPr>
          <a:xfrm>
            <a:off x="411480" y="6510528"/>
            <a:ext cx="5943600" cy="228600"/>
          </a:xfrm>
          <a:prstGeom prst="rect">
            <a:avLst/>
          </a:prstGeom>
          <a:noFill/>
          <a:ln/>
        </p:spPr>
        <p:txBody>
          <a:bodyPr wrap="square" lIns="0" tIns="0" rIns="0" bIns="0" rtlCol="0" anchor="ctr"/>
          <a:lstStyle/>
          <a:p>
            <a:pPr marL="0" indent="0" algn="l">
              <a:buNone/>
            </a:pPr>
            <a:r>
              <a:rPr lang="en-US" sz="700" kern="0" spc="150">
                <a:solidFill>
                  <a:srgbClr val="B8B4AC"/>
                </a:solidFill>
                <a:latin typeface="Calibri" pitchFamily="34" charset="0"/>
                <a:ea typeface="Calibri" pitchFamily="34" charset="-122"/>
                <a:cs typeface="Calibri" pitchFamily="34" charset="-120"/>
              </a:rPr>
              <a:t>PARADIEM  |  FAMILY CAPITAL ARCHITECTURE</a:t>
            </a:r>
            <a:endParaRPr lang="en-US" sz="700"/>
          </a:p>
        </p:txBody>
      </p:sp>
      <p:sp>
        <p:nvSpPr>
          <p:cNvPr id="13" name="Text 7">
            <a:extLst>
              <a:ext uri="{FF2B5EF4-FFF2-40B4-BE49-F238E27FC236}">
                <a16:creationId xmlns:a16="http://schemas.microsoft.com/office/drawing/2014/main" id="{6C7AD5B9-0400-0872-B5C2-56E88D1511FF}"/>
              </a:ext>
            </a:extLst>
          </p:cNvPr>
          <p:cNvSpPr/>
          <p:nvPr/>
        </p:nvSpPr>
        <p:spPr>
          <a:xfrm>
            <a:off x="6291072" y="6510528"/>
            <a:ext cx="5486400" cy="228600"/>
          </a:xfrm>
          <a:prstGeom prst="rect">
            <a:avLst/>
          </a:prstGeom>
          <a:noFill/>
          <a:ln/>
        </p:spPr>
        <p:txBody>
          <a:bodyPr wrap="square" lIns="0" tIns="0" rIns="0" bIns="0" rtlCol="0" anchor="ctr"/>
          <a:lstStyle/>
          <a:p>
            <a:pPr marL="0" indent="0" algn="r">
              <a:buNone/>
            </a:pPr>
            <a:r>
              <a:rPr lang="en-US" sz="700" kern="0" spc="150">
                <a:solidFill>
                  <a:srgbClr val="B8B4AC"/>
                </a:solidFill>
                <a:latin typeface="Calibri" pitchFamily="34" charset="0"/>
                <a:ea typeface="Calibri" pitchFamily="34" charset="-122"/>
                <a:cs typeface="Calibri" pitchFamily="34" charset="-120"/>
              </a:rPr>
              <a:t>CONFIDENTIAL  —  NOT FOR DISTRIBUTION</a:t>
            </a:r>
            <a:endParaRPr lang="en-US" sz="700"/>
          </a:p>
        </p:txBody>
      </p:sp>
      <p:pic>
        <p:nvPicPr>
          <p:cNvPr id="14" name="Paradiem Logo" descr="paradiem-logo-navy.png"/>
          <p:cNvPicPr>
            <a:picLocks noChangeAspect="1"/>
          </p:cNvPicPr>
          <p:nvPr/>
        </p:nvPicPr>
        <p:blipFill>
          <a:blip r:embed="rId4"/>
          <a:stretch>
            <a:fillRect/>
          </a:stretch>
        </p:blipFill>
        <p:spPr>
          <a:xfrm>
            <a:off x="10241584" y="192024"/>
            <a:ext cx="1401775" cy="4060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hape 3"/>
          <p:cNvSpPr/>
          <p:nvPr/>
        </p:nvSpPr>
        <p:spPr>
          <a:xfrm>
            <a:off x="0" y="0"/>
            <a:ext cx="5608320" cy="6315456"/>
          </a:xfrm>
          <a:prstGeom prst="rect">
            <a:avLst/>
          </a:prstGeom>
          <a:solidFill>
            <a:srgbClr val="F4EFE4"/>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0" y="0"/>
            <a:ext cx="73152" cy="6315456"/>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341376" y="268224"/>
            <a:ext cx="4876800" cy="268224"/>
          </a:xfrm>
          <a:prstGeom prst="rect">
            <a:avLst/>
          </a:prstGeom>
          <a:noFill/>
          <a:ln/>
        </p:spPr>
        <p:txBody>
          <a:bodyPr wrap="square" lIns="0" tIns="0" rIns="0" bIns="0" rtlCol="0" anchor="t"/>
          <a:lstStyle/>
          <a:p>
            <a:pPr defTabSz="1219170"/>
            <a:r>
              <a:rPr lang="en-US" sz="1400" kern="0" spc="400">
                <a:solidFill>
                  <a:srgbClr val="C9A84C"/>
                </a:solidFill>
                <a:latin typeface="Calibri"/>
                <a:ea typeface="Calibri"/>
                <a:cs typeface="Calibri"/>
              </a:rPr>
              <a:t>INVESTMENT PHILOSOPHY</a:t>
            </a:r>
            <a:endParaRPr lang="en-US" sz="1400">
              <a:solidFill>
                <a:prstClr val="black"/>
              </a:solidFill>
              <a:latin typeface="Calibri"/>
              <a:ea typeface="Calibri"/>
              <a:cs typeface="Calibri"/>
            </a:endParaRPr>
          </a:p>
        </p:txBody>
      </p:sp>
      <p:sp>
        <p:nvSpPr>
          <p:cNvPr id="8" name="Text 6"/>
          <p:cNvSpPr/>
          <p:nvPr/>
        </p:nvSpPr>
        <p:spPr>
          <a:xfrm>
            <a:off x="341376" y="609600"/>
            <a:ext cx="4754880" cy="1341120"/>
          </a:xfrm>
          <a:prstGeom prst="rect">
            <a:avLst/>
          </a:prstGeom>
          <a:noFill/>
          <a:ln/>
        </p:spPr>
        <p:txBody>
          <a:bodyPr wrap="square" lIns="0" tIns="0" rIns="0" bIns="0" rtlCol="0" anchor="ctr"/>
          <a:lstStyle/>
          <a:p>
            <a:pPr defTabSz="1219170">
              <a:lnSpc>
                <a:spcPct val="120000"/>
              </a:lnSpc>
            </a:pPr>
            <a:r>
              <a:rPr lang="en-US" sz="3733">
                <a:solidFill>
                  <a:srgbClr val="171738"/>
                </a:solidFill>
                <a:latin typeface="Georgia" pitchFamily="34" charset="0"/>
                <a:ea typeface="Georgia" pitchFamily="34" charset="-122"/>
                <a:cs typeface="Georgia" pitchFamily="34" charset="-120"/>
              </a:rPr>
              <a:t>Two Kinds</a:t>
            </a:r>
            <a:endParaRPr lang="en-US" sz="3733">
              <a:solidFill>
                <a:prstClr val="black"/>
              </a:solidFill>
              <a:latin typeface="Calibri" panose="020F0502020204030204"/>
            </a:endParaRPr>
          </a:p>
          <a:p>
            <a:pPr defTabSz="1219170">
              <a:lnSpc>
                <a:spcPct val="120000"/>
              </a:lnSpc>
            </a:pPr>
            <a:r>
              <a:rPr lang="en-US" sz="3733">
                <a:solidFill>
                  <a:srgbClr val="171738"/>
                </a:solidFill>
                <a:latin typeface="Georgia" pitchFamily="34" charset="0"/>
                <a:ea typeface="Georgia" pitchFamily="34" charset="-122"/>
                <a:cs typeface="Georgia" pitchFamily="34" charset="-120"/>
              </a:rPr>
              <a:t>of Return</a:t>
            </a:r>
            <a:endParaRPr lang="en-US" sz="3733">
              <a:solidFill>
                <a:prstClr val="black"/>
              </a:solidFill>
              <a:latin typeface="Calibri" panose="020F0502020204030204"/>
            </a:endParaRPr>
          </a:p>
        </p:txBody>
      </p:sp>
      <p:sp>
        <p:nvSpPr>
          <p:cNvPr id="9" name="Shape 7"/>
          <p:cNvSpPr/>
          <p:nvPr/>
        </p:nvSpPr>
        <p:spPr>
          <a:xfrm>
            <a:off x="341376" y="2097024"/>
            <a:ext cx="4754880" cy="1219200"/>
          </a:xfrm>
          <a:prstGeom prst="rect">
            <a:avLst/>
          </a:prstGeom>
          <a:solidFill>
            <a:srgbClr val="F4EFE4"/>
          </a:solidFill>
          <a:ln w="381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10" name="Text 8"/>
          <p:cNvSpPr/>
          <p:nvPr/>
        </p:nvSpPr>
        <p:spPr>
          <a:xfrm>
            <a:off x="512064" y="2243328"/>
            <a:ext cx="4389120" cy="268224"/>
          </a:xfrm>
          <a:prstGeom prst="rect">
            <a:avLst/>
          </a:prstGeom>
          <a:noFill/>
          <a:ln/>
        </p:spPr>
        <p:txBody>
          <a:bodyPr wrap="square" lIns="0" tIns="0" rIns="0" bIns="0" rtlCol="0" anchor="t"/>
          <a:lstStyle/>
          <a:p>
            <a:pPr defTabSz="1219170"/>
            <a:r>
              <a:rPr lang="en-US" sz="1333" kern="0" spc="400">
                <a:solidFill>
                  <a:srgbClr val="C9A84C"/>
                </a:solidFill>
                <a:latin typeface="Calibri"/>
                <a:ea typeface="Calibri"/>
                <a:cs typeface="Calibri"/>
              </a:rPr>
              <a:t>RETURN ON INVESTMENT</a:t>
            </a:r>
            <a:endParaRPr lang="en-US" sz="1333">
              <a:solidFill>
                <a:prstClr val="black"/>
              </a:solidFill>
              <a:latin typeface="Calibri"/>
              <a:ea typeface="Calibri"/>
              <a:cs typeface="Calibri"/>
            </a:endParaRPr>
          </a:p>
        </p:txBody>
      </p:sp>
      <p:sp>
        <p:nvSpPr>
          <p:cNvPr id="11" name="Text 9"/>
          <p:cNvSpPr/>
          <p:nvPr/>
        </p:nvSpPr>
        <p:spPr>
          <a:xfrm>
            <a:off x="512064" y="2535936"/>
            <a:ext cx="4389120" cy="341376"/>
          </a:xfrm>
          <a:prstGeom prst="rect">
            <a:avLst/>
          </a:prstGeom>
          <a:noFill/>
          <a:ln/>
        </p:spPr>
        <p:txBody>
          <a:bodyPr wrap="square" lIns="0" tIns="0" rIns="0" bIns="0" rtlCol="0" anchor="ctr"/>
          <a:lstStyle/>
          <a:p>
            <a:pPr defTabSz="1219170"/>
            <a:r>
              <a:rPr lang="en-US" sz="1600">
                <a:solidFill>
                  <a:srgbClr val="171738"/>
                </a:solidFill>
                <a:latin typeface="Georgia"/>
                <a:ea typeface="Georgia" pitchFamily="34" charset="-122"/>
                <a:cs typeface="Georgia" pitchFamily="34" charset="-120"/>
              </a:rPr>
              <a:t>Preparing the Money for the Family</a:t>
            </a:r>
            <a:endParaRPr lang="en-US" sz="1600">
              <a:solidFill>
                <a:prstClr val="black"/>
              </a:solidFill>
              <a:latin typeface="Georgia"/>
              <a:ea typeface="Calibri"/>
              <a:cs typeface="Calibri"/>
            </a:endParaRPr>
          </a:p>
        </p:txBody>
      </p:sp>
      <p:sp>
        <p:nvSpPr>
          <p:cNvPr id="12" name="Text 10"/>
          <p:cNvSpPr/>
          <p:nvPr/>
        </p:nvSpPr>
        <p:spPr>
          <a:xfrm>
            <a:off x="512064" y="2901696"/>
            <a:ext cx="4389120" cy="268224"/>
          </a:xfrm>
          <a:prstGeom prst="rect">
            <a:avLst/>
          </a:prstGeom>
          <a:noFill/>
          <a:ln/>
        </p:spPr>
        <p:txBody>
          <a:bodyPr wrap="square" lIns="0" tIns="0" rIns="0" bIns="0" rtlCol="0" anchor="ctr"/>
          <a:lstStyle/>
          <a:p>
            <a:pPr defTabSz="1219170"/>
            <a:r>
              <a:rPr lang="en-US" sz="1400">
                <a:solidFill>
                  <a:srgbClr val="8B7355"/>
                </a:solidFill>
                <a:latin typeface="Calibri"/>
                <a:ea typeface="Calibri"/>
                <a:cs typeface="Calibri"/>
              </a:rPr>
              <a:t>Most advisors stop here.</a:t>
            </a:r>
            <a:endParaRPr lang="en-US" sz="1400">
              <a:solidFill>
                <a:prstClr val="black"/>
              </a:solidFill>
              <a:latin typeface="Calibri"/>
              <a:ea typeface="Calibri"/>
              <a:cs typeface="Calibri"/>
            </a:endParaRPr>
          </a:p>
        </p:txBody>
      </p:sp>
      <p:sp>
        <p:nvSpPr>
          <p:cNvPr id="13" name="Shape 11"/>
          <p:cNvSpPr/>
          <p:nvPr/>
        </p:nvSpPr>
        <p:spPr>
          <a:xfrm>
            <a:off x="341376" y="3511296"/>
            <a:ext cx="4754880" cy="1365504"/>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14" name="Text 12"/>
          <p:cNvSpPr/>
          <p:nvPr/>
        </p:nvSpPr>
        <p:spPr>
          <a:xfrm>
            <a:off x="512064" y="3657600"/>
            <a:ext cx="4389120" cy="268224"/>
          </a:xfrm>
          <a:prstGeom prst="rect">
            <a:avLst/>
          </a:prstGeom>
          <a:noFill/>
          <a:ln/>
        </p:spPr>
        <p:txBody>
          <a:bodyPr wrap="square" lIns="0" tIns="0" rIns="0" bIns="0" rtlCol="0" anchor="t"/>
          <a:lstStyle/>
          <a:p>
            <a:pPr defTabSz="1219170"/>
            <a:r>
              <a:rPr lang="en-US" sz="1333" kern="0" spc="400">
                <a:solidFill>
                  <a:srgbClr val="C9A84C"/>
                </a:solidFill>
                <a:latin typeface="Calibri"/>
                <a:ea typeface="Calibri"/>
                <a:cs typeface="Calibri"/>
              </a:rPr>
              <a:t>RETURN ON INTENTION</a:t>
            </a:r>
            <a:endParaRPr lang="en-US" sz="1333">
              <a:solidFill>
                <a:prstClr val="black"/>
              </a:solidFill>
              <a:latin typeface="Calibri"/>
              <a:ea typeface="Calibri"/>
              <a:cs typeface="Calibri"/>
            </a:endParaRPr>
          </a:p>
        </p:txBody>
      </p:sp>
      <p:sp>
        <p:nvSpPr>
          <p:cNvPr id="15" name="Text 13"/>
          <p:cNvSpPr/>
          <p:nvPr/>
        </p:nvSpPr>
        <p:spPr>
          <a:xfrm>
            <a:off x="512064" y="3925824"/>
            <a:ext cx="4389120" cy="341376"/>
          </a:xfrm>
          <a:prstGeom prst="rect">
            <a:avLst/>
          </a:prstGeom>
          <a:noFill/>
          <a:ln/>
        </p:spPr>
        <p:txBody>
          <a:bodyPr wrap="square" lIns="0" tIns="0" rIns="0" bIns="0" rtlCol="0" anchor="ctr"/>
          <a:lstStyle/>
          <a:p>
            <a:pPr defTabSz="1219170"/>
            <a:r>
              <a:rPr lang="en-US" sz="1600">
                <a:solidFill>
                  <a:srgbClr val="FFFFFF"/>
                </a:solidFill>
                <a:latin typeface="Georgia"/>
                <a:ea typeface="Georgia" pitchFamily="34" charset="-122"/>
                <a:cs typeface="Georgia" pitchFamily="34" charset="-120"/>
              </a:rPr>
              <a:t>Preparing the Family for the Money</a:t>
            </a:r>
            <a:endParaRPr lang="en-US" sz="1600">
              <a:solidFill>
                <a:prstClr val="black"/>
              </a:solidFill>
              <a:latin typeface="Georgia"/>
              <a:ea typeface="Calibri"/>
              <a:cs typeface="Calibri"/>
            </a:endParaRPr>
          </a:p>
        </p:txBody>
      </p:sp>
      <p:sp>
        <p:nvSpPr>
          <p:cNvPr id="16" name="Text 14"/>
          <p:cNvSpPr/>
          <p:nvPr/>
        </p:nvSpPr>
        <p:spPr>
          <a:xfrm>
            <a:off x="512064" y="4291584"/>
            <a:ext cx="4389120" cy="268224"/>
          </a:xfrm>
          <a:prstGeom prst="rect">
            <a:avLst/>
          </a:prstGeom>
          <a:noFill/>
          <a:ln/>
        </p:spPr>
        <p:txBody>
          <a:bodyPr wrap="square" lIns="0" tIns="0" rIns="0" bIns="0" rtlCol="0" anchor="ctr"/>
          <a:lstStyle/>
          <a:p>
            <a:pPr defTabSz="1219170"/>
            <a:r>
              <a:rPr lang="en-US" sz="1400">
                <a:solidFill>
                  <a:srgbClr val="F4EFE4"/>
                </a:solidFill>
                <a:latin typeface="Calibri"/>
                <a:ea typeface="Calibri"/>
                <a:cs typeface="Calibri"/>
              </a:rPr>
              <a:t>Where we go further.</a:t>
            </a:r>
            <a:endParaRPr lang="en-US" sz="1400">
              <a:solidFill>
                <a:prstClr val="black"/>
              </a:solidFill>
              <a:latin typeface="Calibri"/>
              <a:ea typeface="Calibri"/>
              <a:cs typeface="Calibri"/>
            </a:endParaRPr>
          </a:p>
        </p:txBody>
      </p:sp>
      <p:sp>
        <p:nvSpPr>
          <p:cNvPr id="17" name="Text 15"/>
          <p:cNvSpPr/>
          <p:nvPr/>
        </p:nvSpPr>
        <p:spPr>
          <a:xfrm>
            <a:off x="6096000" y="1463040"/>
            <a:ext cx="5486400" cy="1645920"/>
          </a:xfrm>
          <a:prstGeom prst="rect">
            <a:avLst/>
          </a:prstGeom>
          <a:noFill/>
          <a:ln/>
        </p:spPr>
        <p:txBody>
          <a:bodyPr wrap="square" lIns="0" tIns="0" rIns="0" bIns="0" rtlCol="0" anchor="ctr"/>
          <a:lstStyle/>
          <a:p>
            <a:pPr defTabSz="1219170">
              <a:lnSpc>
                <a:spcPct val="130000"/>
              </a:lnSpc>
            </a:pPr>
            <a:r>
              <a:rPr lang="en-US" sz="2667">
                <a:solidFill>
                  <a:srgbClr val="171738"/>
                </a:solidFill>
                <a:latin typeface="Georgia" pitchFamily="34" charset="0"/>
                <a:ea typeface="Georgia" pitchFamily="34" charset="-122"/>
                <a:cs typeface="Georgia" pitchFamily="34" charset="-120"/>
              </a:rPr>
              <a:t>You can have strong returns...</a:t>
            </a:r>
            <a:endParaRPr lang="en-US" sz="2667">
              <a:solidFill>
                <a:prstClr val="black"/>
              </a:solidFill>
              <a:latin typeface="Calibri" panose="020F0502020204030204"/>
            </a:endParaRPr>
          </a:p>
          <a:p>
            <a:pPr defTabSz="1219170">
              <a:lnSpc>
                <a:spcPct val="130000"/>
              </a:lnSpc>
            </a:pPr>
            <a:r>
              <a:rPr lang="en-US" sz="2667">
                <a:solidFill>
                  <a:srgbClr val="171738"/>
                </a:solidFill>
                <a:latin typeface="Georgia" pitchFamily="34" charset="0"/>
                <a:ea typeface="Georgia" pitchFamily="34" charset="-122"/>
                <a:cs typeface="Georgia" pitchFamily="34" charset="-120"/>
              </a:rPr>
              <a:t>and still fail your family long-term.</a:t>
            </a:r>
            <a:endParaRPr lang="en-US" sz="2667">
              <a:solidFill>
                <a:prstClr val="black"/>
              </a:solidFill>
              <a:latin typeface="Calibri" panose="020F0502020204030204"/>
            </a:endParaRPr>
          </a:p>
        </p:txBody>
      </p:sp>
      <p:sp>
        <p:nvSpPr>
          <p:cNvPr id="18" name="Shape 16"/>
          <p:cNvSpPr/>
          <p:nvPr/>
        </p:nvSpPr>
        <p:spPr>
          <a:xfrm>
            <a:off x="6096000" y="3316224"/>
            <a:ext cx="4267200" cy="0"/>
          </a:xfrm>
          <a:prstGeom prst="line">
            <a:avLst/>
          </a:prstGeom>
          <a:noFill/>
          <a:ln w="19050">
            <a:solidFill>
              <a:srgbClr val="171738"/>
            </a:solidFill>
            <a:prstDash val="solid"/>
          </a:ln>
        </p:spPr>
        <p:txBody>
          <a:bodyPr/>
          <a:lstStyle/>
          <a:p>
            <a:pPr defTabSz="1219170"/>
            <a:endParaRPr lang="en-US" sz="2400">
              <a:solidFill>
                <a:prstClr val="black"/>
              </a:solidFill>
              <a:latin typeface="Calibri" panose="020F0502020204030204"/>
            </a:endParaRPr>
          </a:p>
        </p:txBody>
      </p:sp>
      <p:sp>
        <p:nvSpPr>
          <p:cNvPr id="21" name="Shape 5">
            <a:extLst>
              <a:ext uri="{FF2B5EF4-FFF2-40B4-BE49-F238E27FC236}">
                <a16:creationId xmlns:a16="http://schemas.microsoft.com/office/drawing/2014/main" id="{DF31E319-D60D-BFA3-BD3D-5AD4FE0D1934}"/>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24" name="Text 6">
            <a:extLst>
              <a:ext uri="{FF2B5EF4-FFF2-40B4-BE49-F238E27FC236}">
                <a16:creationId xmlns:a16="http://schemas.microsoft.com/office/drawing/2014/main" id="{5DB99103-81D1-6F80-DA5F-FDA371A2AB02}"/>
              </a:ext>
            </a:extLst>
          </p:cNvPr>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26" name="Text 7">
            <a:extLst>
              <a:ext uri="{FF2B5EF4-FFF2-40B4-BE49-F238E27FC236}">
                <a16:creationId xmlns:a16="http://schemas.microsoft.com/office/drawing/2014/main" id="{E95E3DBA-B14F-07A8-CD44-186C28AFDC1F}"/>
              </a:ext>
            </a:extLst>
          </p:cNvPr>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27"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28"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Shape 10">
            <a:extLst>
              <a:ext uri="{FF2B5EF4-FFF2-40B4-BE49-F238E27FC236}">
                <a16:creationId xmlns:a16="http://schemas.microsoft.com/office/drawing/2014/main" id="{0C72C62F-6429-3468-8706-948F1C0B14A2}"/>
              </a:ext>
            </a:extLst>
          </p:cNvPr>
          <p:cNvSpPr/>
          <p:nvPr/>
        </p:nvSpPr>
        <p:spPr>
          <a:xfrm>
            <a:off x="548640" y="2017776"/>
            <a:ext cx="3535680" cy="3998976"/>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8229600" y="1926336"/>
            <a:ext cx="3535680" cy="3998976"/>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2" name="Text 0"/>
          <p:cNvSpPr/>
          <p:nvPr/>
        </p:nvSpPr>
        <p:spPr>
          <a:xfrm>
            <a:off x="670560" y="268224"/>
            <a:ext cx="10972800" cy="268224"/>
          </a:xfrm>
          <a:prstGeom prst="rect">
            <a:avLst/>
          </a:prstGeom>
          <a:noFill/>
          <a:ln/>
        </p:spPr>
        <p:txBody>
          <a:bodyPr wrap="square" lIns="0" tIns="0" rIns="0" bIns="0" rtlCol="0" anchor="t"/>
          <a:lstStyle/>
          <a:p>
            <a:pPr defTabSz="1219170"/>
            <a:r>
              <a:rPr lang="en-US" sz="1467" kern="0" spc="400">
                <a:solidFill>
                  <a:srgbClr val="C9A84C"/>
                </a:solidFill>
                <a:latin typeface="Calibri"/>
                <a:ea typeface="Calibri"/>
                <a:cs typeface="Calibri"/>
              </a:rPr>
              <a:t>OUR PROCESS</a:t>
            </a:r>
            <a:endParaRPr lang="en-US" sz="1467">
              <a:solidFill>
                <a:prstClr val="black"/>
              </a:solidFill>
              <a:latin typeface="Calibri"/>
              <a:ea typeface="Calibri"/>
              <a:cs typeface="Calibri"/>
            </a:endParaRPr>
          </a:p>
        </p:txBody>
      </p:sp>
      <p:sp>
        <p:nvSpPr>
          <p:cNvPr id="3" name="Text 1"/>
          <p:cNvSpPr/>
          <p:nvPr/>
        </p:nvSpPr>
        <p:spPr>
          <a:xfrm>
            <a:off x="670560" y="609600"/>
            <a:ext cx="10972800" cy="914400"/>
          </a:xfrm>
          <a:prstGeom prst="rect">
            <a:avLst/>
          </a:prstGeom>
          <a:noFill/>
          <a:ln/>
        </p:spPr>
        <p:txBody>
          <a:bodyPr wrap="square" lIns="0" tIns="0" rIns="0" bIns="0" rtlCol="0" anchor="t"/>
          <a:lstStyle/>
          <a:p>
            <a:pPr defTabSz="1219170"/>
            <a:r>
              <a:rPr lang="en-US" sz="3467">
                <a:solidFill>
                  <a:srgbClr val="171738"/>
                </a:solidFill>
                <a:latin typeface="Georgia" pitchFamily="34" charset="0"/>
                <a:ea typeface="Georgia" pitchFamily="34" charset="-122"/>
                <a:cs typeface="Georgia" pitchFamily="34" charset="-120"/>
              </a:rPr>
              <a:t>Family Capital Architecture</a:t>
            </a:r>
            <a:endParaRPr lang="en-US" sz="3467">
              <a:solidFill>
                <a:prstClr val="black"/>
              </a:solidFill>
              <a:latin typeface="Calibri" panose="020F0502020204030204"/>
            </a:endParaRPr>
          </a:p>
        </p:txBody>
      </p:sp>
      <p:sp>
        <p:nvSpPr>
          <p:cNvPr id="4" name="Shape 2"/>
          <p:cNvSpPr/>
          <p:nvPr/>
        </p:nvSpPr>
        <p:spPr>
          <a:xfrm>
            <a:off x="670560" y="1560576"/>
            <a:ext cx="1463040" cy="0"/>
          </a:xfrm>
          <a:prstGeom prst="line">
            <a:avLst/>
          </a:prstGeom>
          <a:noFill/>
          <a:ln w="19050">
            <a:solidFill>
              <a:srgbClr val="C9A84C"/>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926336"/>
            <a:ext cx="3535680" cy="7315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792480" y="2097024"/>
            <a:ext cx="975360" cy="609600"/>
          </a:xfrm>
          <a:prstGeom prst="rect">
            <a:avLst/>
          </a:prstGeom>
          <a:noFill/>
          <a:ln/>
        </p:spPr>
        <p:txBody>
          <a:bodyPr wrap="square" lIns="0" tIns="0" rIns="0" bIns="0" rtlCol="0" anchor="ctr"/>
          <a:lstStyle/>
          <a:p>
            <a:pPr defTabSz="1219170"/>
            <a:r>
              <a:rPr lang="en-US" sz="3200">
                <a:solidFill>
                  <a:srgbClr val="171738"/>
                </a:solidFill>
                <a:latin typeface="Georgia" pitchFamily="34" charset="0"/>
                <a:ea typeface="Georgia" pitchFamily="34" charset="-122"/>
                <a:cs typeface="Georgia" pitchFamily="34" charset="-120"/>
              </a:rPr>
              <a:t>01</a:t>
            </a:r>
            <a:endParaRPr lang="en-US" sz="3200">
              <a:solidFill>
                <a:prstClr val="black"/>
              </a:solidFill>
              <a:latin typeface="Calibri" panose="020F0502020204030204"/>
            </a:endParaRPr>
          </a:p>
        </p:txBody>
      </p:sp>
      <p:sp>
        <p:nvSpPr>
          <p:cNvPr id="8" name="Text 6"/>
          <p:cNvSpPr/>
          <p:nvPr/>
        </p:nvSpPr>
        <p:spPr>
          <a:xfrm>
            <a:off x="792480" y="2718816"/>
            <a:ext cx="3048000" cy="853440"/>
          </a:xfrm>
          <a:prstGeom prst="rect">
            <a:avLst/>
          </a:prstGeom>
          <a:noFill/>
          <a:ln/>
        </p:spPr>
        <p:txBody>
          <a:bodyPr wrap="square" lIns="0" tIns="0" rIns="0" bIns="0" rtlCol="0" anchor="ctr"/>
          <a:lstStyle/>
          <a:p>
            <a:pPr defTabSz="1219170">
              <a:lnSpc>
                <a:spcPct val="125000"/>
              </a:lnSpc>
            </a:pPr>
            <a:r>
              <a:rPr lang="en-US" sz="1733">
                <a:solidFill>
                  <a:srgbClr val="171738"/>
                </a:solidFill>
                <a:latin typeface="Georgia" pitchFamily="34" charset="0"/>
                <a:ea typeface="Georgia" pitchFamily="34" charset="-122"/>
                <a:cs typeface="Georgia" pitchFamily="34" charset="-120"/>
              </a:rPr>
              <a:t>Family Capital</a:t>
            </a:r>
            <a:endParaRPr lang="en-US" sz="1733">
              <a:solidFill>
                <a:prstClr val="black"/>
              </a:solidFill>
              <a:latin typeface="Calibri" panose="020F0502020204030204"/>
            </a:endParaRPr>
          </a:p>
          <a:p>
            <a:pPr defTabSz="1219170">
              <a:lnSpc>
                <a:spcPct val="125000"/>
              </a:lnSpc>
            </a:pPr>
            <a:r>
              <a:rPr lang="en-US" sz="1733">
                <a:solidFill>
                  <a:srgbClr val="171738"/>
                </a:solidFill>
                <a:latin typeface="Georgia" pitchFamily="34" charset="0"/>
                <a:ea typeface="Georgia" pitchFamily="34" charset="-122"/>
                <a:cs typeface="Georgia" pitchFamily="34" charset="-120"/>
              </a:rPr>
              <a:t>Assessment</a:t>
            </a:r>
            <a:endParaRPr lang="en-US" sz="1733">
              <a:solidFill>
                <a:prstClr val="black"/>
              </a:solidFill>
              <a:latin typeface="Calibri" panose="020F0502020204030204"/>
            </a:endParaRPr>
          </a:p>
        </p:txBody>
      </p:sp>
      <p:sp>
        <p:nvSpPr>
          <p:cNvPr id="9" name="Shape 7"/>
          <p:cNvSpPr/>
          <p:nvPr/>
        </p:nvSpPr>
        <p:spPr>
          <a:xfrm>
            <a:off x="792480" y="3633216"/>
            <a:ext cx="3048000" cy="0"/>
          </a:xfrm>
          <a:prstGeom prst="line">
            <a:avLst/>
          </a:prstGeom>
          <a:noFill/>
          <a:ln w="508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10" name="Text 8"/>
          <p:cNvSpPr/>
          <p:nvPr/>
        </p:nvSpPr>
        <p:spPr>
          <a:xfrm>
            <a:off x="792480" y="3755136"/>
            <a:ext cx="3048000" cy="1219200"/>
          </a:xfrm>
          <a:prstGeom prst="rect">
            <a:avLst/>
          </a:prstGeom>
          <a:noFill/>
          <a:ln/>
        </p:spPr>
        <p:txBody>
          <a:bodyPr wrap="square" lIns="0" tIns="0" rIns="0" bIns="0" rtlCol="0" anchor="ctr"/>
          <a:lstStyle/>
          <a:p>
            <a:pPr defTabSz="1219170">
              <a:lnSpc>
                <a:spcPct val="140000"/>
              </a:lnSpc>
            </a:pPr>
            <a:r>
              <a:rPr lang="en-US" sz="1467">
                <a:solidFill>
                  <a:srgbClr val="8B7355"/>
                </a:solidFill>
                <a:latin typeface="Calibri"/>
                <a:ea typeface="Calibri"/>
                <a:cs typeface="Calibri"/>
              </a:rPr>
              <a:t>Mapping the current state of your family and capital.</a:t>
            </a:r>
          </a:p>
        </p:txBody>
      </p:sp>
      <p:sp>
        <p:nvSpPr>
          <p:cNvPr id="12" name="Shape 10"/>
          <p:cNvSpPr/>
          <p:nvPr/>
        </p:nvSpPr>
        <p:spPr>
          <a:xfrm>
            <a:off x="4389120" y="1926336"/>
            <a:ext cx="3535680" cy="3998976"/>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13" name="Shape 11"/>
          <p:cNvSpPr/>
          <p:nvPr/>
        </p:nvSpPr>
        <p:spPr>
          <a:xfrm>
            <a:off x="4389120" y="1926336"/>
            <a:ext cx="3535680" cy="7315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14" name="Text 12"/>
          <p:cNvSpPr/>
          <p:nvPr/>
        </p:nvSpPr>
        <p:spPr>
          <a:xfrm>
            <a:off x="4632960" y="2097024"/>
            <a:ext cx="975360" cy="609600"/>
          </a:xfrm>
          <a:prstGeom prst="rect">
            <a:avLst/>
          </a:prstGeom>
          <a:noFill/>
          <a:ln/>
        </p:spPr>
        <p:txBody>
          <a:bodyPr wrap="square" lIns="0" tIns="0" rIns="0" bIns="0" rtlCol="0" anchor="ctr"/>
          <a:lstStyle/>
          <a:p>
            <a:pPr defTabSz="1219170"/>
            <a:r>
              <a:rPr lang="en-US" sz="3200">
                <a:solidFill>
                  <a:srgbClr val="171738"/>
                </a:solidFill>
                <a:latin typeface="Georgia" pitchFamily="34" charset="0"/>
                <a:ea typeface="Georgia" pitchFamily="34" charset="-122"/>
                <a:cs typeface="Georgia" pitchFamily="34" charset="-120"/>
              </a:rPr>
              <a:t>02</a:t>
            </a:r>
            <a:endParaRPr lang="en-US" sz="3200">
              <a:solidFill>
                <a:prstClr val="black"/>
              </a:solidFill>
              <a:latin typeface="Calibri" panose="020F0502020204030204"/>
            </a:endParaRPr>
          </a:p>
        </p:txBody>
      </p:sp>
      <p:sp>
        <p:nvSpPr>
          <p:cNvPr id="15" name="Text 13"/>
          <p:cNvSpPr/>
          <p:nvPr/>
        </p:nvSpPr>
        <p:spPr>
          <a:xfrm>
            <a:off x="4632960" y="2718816"/>
            <a:ext cx="3048000" cy="853440"/>
          </a:xfrm>
          <a:prstGeom prst="rect">
            <a:avLst/>
          </a:prstGeom>
          <a:noFill/>
          <a:ln/>
        </p:spPr>
        <p:txBody>
          <a:bodyPr wrap="square" lIns="0" tIns="0" rIns="0" bIns="0" rtlCol="0" anchor="ctr"/>
          <a:lstStyle/>
          <a:p>
            <a:pPr defTabSz="1219170">
              <a:lnSpc>
                <a:spcPct val="125000"/>
              </a:lnSpc>
            </a:pPr>
            <a:r>
              <a:rPr lang="en-US" sz="1733">
                <a:solidFill>
                  <a:srgbClr val="171738"/>
                </a:solidFill>
                <a:latin typeface="Georgia" pitchFamily="34" charset="0"/>
                <a:ea typeface="Georgia" pitchFamily="34" charset="-122"/>
                <a:cs typeface="Georgia" pitchFamily="34" charset="-120"/>
              </a:rPr>
              <a:t>Family Capital</a:t>
            </a:r>
            <a:endParaRPr lang="en-US" sz="1733">
              <a:solidFill>
                <a:prstClr val="black"/>
              </a:solidFill>
              <a:latin typeface="Calibri" panose="020F0502020204030204"/>
            </a:endParaRPr>
          </a:p>
          <a:p>
            <a:pPr defTabSz="1219170">
              <a:lnSpc>
                <a:spcPct val="125000"/>
              </a:lnSpc>
            </a:pPr>
            <a:r>
              <a:rPr lang="en-US" sz="1733">
                <a:solidFill>
                  <a:srgbClr val="171738"/>
                </a:solidFill>
                <a:latin typeface="Georgia" pitchFamily="34" charset="0"/>
                <a:ea typeface="Georgia" pitchFamily="34" charset="-122"/>
                <a:cs typeface="Georgia" pitchFamily="34" charset="-120"/>
              </a:rPr>
              <a:t>Gap Analysis</a:t>
            </a:r>
            <a:endParaRPr lang="en-US" sz="1733">
              <a:solidFill>
                <a:prstClr val="black"/>
              </a:solidFill>
              <a:latin typeface="Calibri" panose="020F0502020204030204"/>
            </a:endParaRPr>
          </a:p>
        </p:txBody>
      </p:sp>
      <p:sp>
        <p:nvSpPr>
          <p:cNvPr id="16" name="Shape 14"/>
          <p:cNvSpPr/>
          <p:nvPr/>
        </p:nvSpPr>
        <p:spPr>
          <a:xfrm>
            <a:off x="4632960" y="3633216"/>
            <a:ext cx="3048000" cy="0"/>
          </a:xfrm>
          <a:prstGeom prst="line">
            <a:avLst/>
          </a:prstGeom>
          <a:noFill/>
          <a:ln w="508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17" name="Text 15"/>
          <p:cNvSpPr/>
          <p:nvPr/>
        </p:nvSpPr>
        <p:spPr>
          <a:xfrm>
            <a:off x="4632960" y="3755136"/>
            <a:ext cx="3048000" cy="1219200"/>
          </a:xfrm>
          <a:prstGeom prst="rect">
            <a:avLst/>
          </a:prstGeom>
          <a:noFill/>
          <a:ln/>
        </p:spPr>
        <p:txBody>
          <a:bodyPr wrap="square" lIns="0" tIns="0" rIns="0" bIns="0" rtlCol="0" anchor="ctr"/>
          <a:lstStyle/>
          <a:p>
            <a:pPr defTabSz="1219170">
              <a:lnSpc>
                <a:spcPct val="140000"/>
              </a:lnSpc>
            </a:pPr>
            <a:r>
              <a:rPr lang="en-US" sz="1467">
                <a:solidFill>
                  <a:srgbClr val="8B7355"/>
                </a:solidFill>
                <a:latin typeface="Calibri"/>
                <a:ea typeface="Calibri"/>
                <a:cs typeface="Calibri"/>
              </a:rPr>
              <a:t>Deep diagnostic identifying gaps between where you are and where you should be.</a:t>
            </a:r>
            <a:endParaRPr lang="en-US" sz="1467">
              <a:solidFill>
                <a:prstClr val="black"/>
              </a:solidFill>
              <a:latin typeface="Calibri"/>
              <a:ea typeface="Calibri"/>
              <a:cs typeface="Calibri"/>
            </a:endParaRPr>
          </a:p>
        </p:txBody>
      </p:sp>
      <p:sp>
        <p:nvSpPr>
          <p:cNvPr id="18" name="Text 16"/>
          <p:cNvSpPr/>
          <p:nvPr/>
        </p:nvSpPr>
        <p:spPr>
          <a:xfrm>
            <a:off x="8473440" y="5315712"/>
            <a:ext cx="3048000" cy="268224"/>
          </a:xfrm>
          <a:prstGeom prst="rect">
            <a:avLst/>
          </a:prstGeom>
          <a:noFill/>
          <a:ln/>
        </p:spPr>
        <p:txBody>
          <a:bodyPr wrap="square" lIns="0" tIns="0" rIns="0" bIns="0" rtlCol="0" anchor="ctr"/>
          <a:lstStyle/>
          <a:p>
            <a:pPr defTabSz="1219170"/>
            <a:r>
              <a:rPr lang="en-US" sz="1400" kern="0" spc="267">
                <a:solidFill>
                  <a:srgbClr val="C9A84C"/>
                </a:solidFill>
                <a:latin typeface="Calibri"/>
                <a:ea typeface="Calibri"/>
                <a:cs typeface="Calibri"/>
              </a:rPr>
              <a:t>POTENTIAL NEXT STEP</a:t>
            </a:r>
            <a:endParaRPr lang="en-US" sz="1400">
              <a:solidFill>
                <a:prstClr val="black"/>
              </a:solidFill>
              <a:latin typeface="Calibri"/>
              <a:ea typeface="Calibri"/>
              <a:cs typeface="Calibri"/>
            </a:endParaRPr>
          </a:p>
        </p:txBody>
      </p:sp>
      <p:sp>
        <p:nvSpPr>
          <p:cNvPr id="20" name="Shape 18"/>
          <p:cNvSpPr/>
          <p:nvPr/>
        </p:nvSpPr>
        <p:spPr>
          <a:xfrm>
            <a:off x="8229600" y="1926336"/>
            <a:ext cx="3535680" cy="7315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21" name="Text 19"/>
          <p:cNvSpPr/>
          <p:nvPr/>
        </p:nvSpPr>
        <p:spPr>
          <a:xfrm>
            <a:off x="8473440" y="2097024"/>
            <a:ext cx="975360" cy="609600"/>
          </a:xfrm>
          <a:prstGeom prst="rect">
            <a:avLst/>
          </a:prstGeom>
          <a:noFill/>
          <a:ln/>
        </p:spPr>
        <p:txBody>
          <a:bodyPr wrap="square" lIns="0" tIns="0" rIns="0" bIns="0" rtlCol="0" anchor="ctr"/>
          <a:lstStyle/>
          <a:p>
            <a:pPr defTabSz="1219170"/>
            <a:r>
              <a:rPr lang="en-US" sz="3200">
                <a:solidFill>
                  <a:srgbClr val="171738"/>
                </a:solidFill>
                <a:latin typeface="Georgia" pitchFamily="34" charset="0"/>
                <a:ea typeface="Georgia" pitchFamily="34" charset="-122"/>
                <a:cs typeface="Georgia" pitchFamily="34" charset="-120"/>
              </a:rPr>
              <a:t>03</a:t>
            </a:r>
            <a:endParaRPr lang="en-US" sz="3200">
              <a:solidFill>
                <a:prstClr val="black"/>
              </a:solidFill>
              <a:latin typeface="Calibri" panose="020F0502020204030204"/>
            </a:endParaRPr>
          </a:p>
        </p:txBody>
      </p:sp>
      <p:sp>
        <p:nvSpPr>
          <p:cNvPr id="22" name="Text 20"/>
          <p:cNvSpPr/>
          <p:nvPr/>
        </p:nvSpPr>
        <p:spPr>
          <a:xfrm>
            <a:off x="8473440" y="2718816"/>
            <a:ext cx="3048000" cy="853440"/>
          </a:xfrm>
          <a:prstGeom prst="rect">
            <a:avLst/>
          </a:prstGeom>
          <a:noFill/>
          <a:ln/>
        </p:spPr>
        <p:txBody>
          <a:bodyPr wrap="square" lIns="0" tIns="0" rIns="0" bIns="0" rtlCol="0" anchor="ctr"/>
          <a:lstStyle/>
          <a:p>
            <a:pPr defTabSz="1219170">
              <a:lnSpc>
                <a:spcPct val="125000"/>
              </a:lnSpc>
            </a:pPr>
            <a:r>
              <a:rPr lang="en-US" sz="1733">
                <a:solidFill>
                  <a:srgbClr val="171738"/>
                </a:solidFill>
                <a:latin typeface="Georgia" pitchFamily="34" charset="0"/>
                <a:ea typeface="Georgia" pitchFamily="34" charset="-122"/>
                <a:cs typeface="Georgia" pitchFamily="34" charset="-120"/>
              </a:rPr>
              <a:t>Family Capital</a:t>
            </a:r>
            <a:endParaRPr lang="en-US" sz="1733">
              <a:solidFill>
                <a:prstClr val="black"/>
              </a:solidFill>
              <a:latin typeface="Calibri" panose="020F0502020204030204"/>
            </a:endParaRPr>
          </a:p>
          <a:p>
            <a:pPr defTabSz="1219170">
              <a:lnSpc>
                <a:spcPct val="125000"/>
              </a:lnSpc>
            </a:pPr>
            <a:r>
              <a:rPr lang="en-US" sz="1733">
                <a:solidFill>
                  <a:srgbClr val="171738"/>
                </a:solidFill>
                <a:latin typeface="Georgia" pitchFamily="34" charset="0"/>
                <a:ea typeface="Georgia" pitchFamily="34" charset="-122"/>
                <a:cs typeface="Georgia" pitchFamily="34" charset="-120"/>
              </a:rPr>
              <a:t>Blueprint</a:t>
            </a:r>
            <a:endParaRPr lang="en-US" sz="1733">
              <a:solidFill>
                <a:prstClr val="black"/>
              </a:solidFill>
              <a:latin typeface="Calibri" panose="020F0502020204030204"/>
            </a:endParaRPr>
          </a:p>
        </p:txBody>
      </p:sp>
      <p:sp>
        <p:nvSpPr>
          <p:cNvPr id="23" name="Shape 21"/>
          <p:cNvSpPr/>
          <p:nvPr/>
        </p:nvSpPr>
        <p:spPr>
          <a:xfrm>
            <a:off x="8473440" y="3633216"/>
            <a:ext cx="3048000" cy="0"/>
          </a:xfrm>
          <a:prstGeom prst="line">
            <a:avLst/>
          </a:prstGeom>
          <a:noFill/>
          <a:ln w="508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24" name="Text 22"/>
          <p:cNvSpPr/>
          <p:nvPr/>
        </p:nvSpPr>
        <p:spPr>
          <a:xfrm>
            <a:off x="8473440" y="3755136"/>
            <a:ext cx="3048000" cy="1219200"/>
          </a:xfrm>
          <a:prstGeom prst="rect">
            <a:avLst/>
          </a:prstGeom>
          <a:noFill/>
          <a:ln/>
        </p:spPr>
        <p:txBody>
          <a:bodyPr wrap="square" lIns="0" tIns="0" rIns="0" bIns="0" rtlCol="0" anchor="ctr"/>
          <a:lstStyle/>
          <a:p>
            <a:pPr defTabSz="1219170">
              <a:lnSpc>
                <a:spcPct val="140000"/>
              </a:lnSpc>
            </a:pPr>
            <a:r>
              <a:rPr lang="en-US" sz="1467">
                <a:solidFill>
                  <a:srgbClr val="8B7355"/>
                </a:solidFill>
                <a:latin typeface="Calibri"/>
                <a:ea typeface="Calibri"/>
                <a:cs typeface="Calibri"/>
              </a:rPr>
              <a:t>Your comprehensive multi-generational wealth and legacy roadmap.</a:t>
            </a:r>
            <a:endParaRPr lang="en-US" sz="1467">
              <a:solidFill>
                <a:prstClr val="black"/>
              </a:solidFill>
              <a:latin typeface="Calibri"/>
              <a:ea typeface="Calibri"/>
              <a:cs typeface="Calibri"/>
            </a:endParaRPr>
          </a:p>
        </p:txBody>
      </p:sp>
      <p:sp>
        <p:nvSpPr>
          <p:cNvPr id="28" name="Text 26"/>
          <p:cNvSpPr/>
          <p:nvPr/>
        </p:nvSpPr>
        <p:spPr>
          <a:xfrm>
            <a:off x="9112704" y="6412992"/>
            <a:ext cx="2591615" cy="268224"/>
          </a:xfrm>
          <a:prstGeom prst="rect">
            <a:avLst/>
          </a:prstGeom>
          <a:noFill/>
          <a:ln/>
        </p:spPr>
        <p:txBody>
          <a:bodyPr wrap="square" lIns="0" tIns="0" rIns="0" bIns="0" rtlCol="0" anchor="ctr"/>
          <a:lstStyle/>
          <a:p>
            <a:pPr algn="r" defTabSz="1219170"/>
            <a:r>
              <a:rPr lang="en-US" sz="700" kern="0" spc="200">
                <a:solidFill>
                  <a:srgbClr val="8B7355"/>
                </a:solidFill>
                <a:latin typeface="Calibri"/>
                <a:ea typeface="Calibri"/>
                <a:cs typeface="Calibri"/>
              </a:rPr>
              <a:t>CONFIDENTIAL  —  NOT FOR DISTRIBUTION</a:t>
            </a:r>
            <a:endParaRPr lang="en-US" sz="1200">
              <a:solidFill>
                <a:prstClr val="black"/>
              </a:solidFill>
              <a:latin typeface="Calibri"/>
              <a:ea typeface="Calibri"/>
              <a:cs typeface="Calibri"/>
            </a:endParaRPr>
          </a:p>
        </p:txBody>
      </p:sp>
      <p:sp>
        <p:nvSpPr>
          <p:cNvPr id="11" name="Text 9"/>
          <p:cNvSpPr/>
          <p:nvPr/>
        </p:nvSpPr>
        <p:spPr>
          <a:xfrm>
            <a:off x="4572000" y="5318445"/>
            <a:ext cx="3048000" cy="268224"/>
          </a:xfrm>
          <a:prstGeom prst="rect">
            <a:avLst/>
          </a:prstGeom>
          <a:noFill/>
          <a:ln/>
        </p:spPr>
        <p:txBody>
          <a:bodyPr wrap="square" lIns="0" tIns="0" rIns="0" bIns="0" rtlCol="0" anchor="ctr"/>
          <a:lstStyle/>
          <a:p>
            <a:pPr defTabSz="1219170"/>
            <a:r>
              <a:rPr lang="en-US" sz="1400" kern="0" spc="267">
                <a:solidFill>
                  <a:srgbClr val="C9A84C"/>
                </a:solidFill>
                <a:latin typeface="Calibri"/>
                <a:ea typeface="Calibri"/>
                <a:cs typeface="Calibri"/>
              </a:rPr>
              <a:t>TODAY</a:t>
            </a:r>
            <a:endParaRPr lang="en-US" sz="1400">
              <a:solidFill>
                <a:prstClr val="black"/>
              </a:solidFill>
              <a:latin typeface="Calibri"/>
              <a:ea typeface="Calibri"/>
              <a:cs typeface="Calibri"/>
            </a:endParaRPr>
          </a:p>
        </p:txBody>
      </p:sp>
      <p:sp>
        <p:nvSpPr>
          <p:cNvPr id="30" name="Text 9">
            <a:extLst>
              <a:ext uri="{FF2B5EF4-FFF2-40B4-BE49-F238E27FC236}">
                <a16:creationId xmlns:a16="http://schemas.microsoft.com/office/drawing/2014/main" id="{E74349AE-1F87-06ED-231A-2B3185AC032A}"/>
              </a:ext>
            </a:extLst>
          </p:cNvPr>
          <p:cNvSpPr/>
          <p:nvPr/>
        </p:nvSpPr>
        <p:spPr>
          <a:xfrm>
            <a:off x="792480" y="5315712"/>
            <a:ext cx="3048000" cy="268224"/>
          </a:xfrm>
          <a:prstGeom prst="rect">
            <a:avLst/>
          </a:prstGeom>
          <a:noFill/>
          <a:ln/>
        </p:spPr>
        <p:txBody>
          <a:bodyPr wrap="square" lIns="0" tIns="0" rIns="0" bIns="0" rtlCol="0" anchor="ctr"/>
          <a:lstStyle/>
          <a:p>
            <a:pPr defTabSz="1219170"/>
            <a:r>
              <a:rPr lang="en-US" sz="1400" kern="0" spc="267">
                <a:solidFill>
                  <a:srgbClr val="C9A84C"/>
                </a:solidFill>
                <a:latin typeface="Calibri"/>
                <a:ea typeface="Calibri"/>
                <a:cs typeface="Calibri"/>
              </a:rPr>
              <a:t>PREVIOUS</a:t>
            </a:r>
            <a:endParaRPr lang="en-US" sz="1400">
              <a:solidFill>
                <a:prstClr val="black"/>
              </a:solidFill>
              <a:latin typeface="Calibri"/>
              <a:ea typeface="Calibri"/>
              <a:cs typeface="Calibri"/>
            </a:endParaRPr>
          </a:p>
        </p:txBody>
      </p:sp>
      <p:sp>
        <p:nvSpPr>
          <p:cNvPr id="31" name="Shape 5">
            <a:extLst>
              <a:ext uri="{FF2B5EF4-FFF2-40B4-BE49-F238E27FC236}">
                <a16:creationId xmlns:a16="http://schemas.microsoft.com/office/drawing/2014/main" id="{BC0004E5-F2D3-9F4B-FE58-9F281588AD68}"/>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35" name="Text 6">
            <a:extLst>
              <a:ext uri="{FF2B5EF4-FFF2-40B4-BE49-F238E27FC236}">
                <a16:creationId xmlns:a16="http://schemas.microsoft.com/office/drawing/2014/main" id="{4FCFF421-C485-EA66-AD74-7218F1F57E34}"/>
              </a:ext>
            </a:extLst>
          </p:cNvPr>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37" name="Text 7">
            <a:extLst>
              <a:ext uri="{FF2B5EF4-FFF2-40B4-BE49-F238E27FC236}">
                <a16:creationId xmlns:a16="http://schemas.microsoft.com/office/drawing/2014/main" id="{A0AE55C5-583C-60E7-C6BA-1CEAA291BB34}"/>
              </a:ext>
            </a:extLst>
          </p:cNvPr>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42"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43" name="Paradiem Disclosure"/>
          <p:cNvSpPr txBox="1"/>
          <p:nvPr/>
        </p:nvSpPr>
        <p:spPr>
          <a:xfrm>
            <a:off x="3260177" y="6412992"/>
            <a:ext cx="5834239" cy="326135"/>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171738"/>
        </a:solidFill>
        <a:effectLst/>
      </p:bgPr>
    </p:bg>
    <p:spTree>
      <p:nvGrpSpPr>
        <p:cNvPr id="1" name=""/>
        <p:cNvGrpSpPr/>
        <p:nvPr/>
      </p:nvGrpSpPr>
      <p:grpSpPr>
        <a:xfrm>
          <a:off x="0" y="0"/>
          <a:ext cx="0" cy="0"/>
          <a:chOff x="0" y="0"/>
          <a:chExt cx="0" cy="0"/>
        </a:xfrm>
      </p:grpSpPr>
      <p:sp>
        <p:nvSpPr>
          <p:cNvPr id="2" name="Shape 0"/>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3" name="Text 1"/>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5" name="Text 3"/>
          <p:cNvSpPr/>
          <p:nvPr/>
        </p:nvSpPr>
        <p:spPr>
          <a:xfrm>
            <a:off x="1371600" y="2011680"/>
            <a:ext cx="9418320" cy="2286000"/>
          </a:xfrm>
          <a:prstGeom prst="rect">
            <a:avLst/>
          </a:prstGeom>
          <a:noFill/>
          <a:ln/>
        </p:spPr>
        <p:txBody>
          <a:bodyPr wrap="square" lIns="0" tIns="0" rIns="0" bIns="0" rtlCol="0" anchor="ctr"/>
          <a:lstStyle/>
          <a:p>
            <a:pPr marL="0" indent="0" algn="l">
              <a:lnSpc>
                <a:spcPct val="110000"/>
              </a:lnSpc>
              <a:buNone/>
            </a:pPr>
            <a:r>
              <a:rPr lang="en-US" sz="5200">
                <a:solidFill>
                  <a:srgbClr val="FFFFFF"/>
                </a:solidFill>
                <a:latin typeface="Georgia" pitchFamily="34" charset="0"/>
                <a:ea typeface="Georgia" pitchFamily="34" charset="-122"/>
                <a:cs typeface="Georgia" pitchFamily="34" charset="-120"/>
              </a:rPr>
              <a:t>What you said</a:t>
            </a:r>
            <a:endParaRPr lang="en-US" sz="5200"/>
          </a:p>
          <a:p>
            <a:pPr marL="0" indent="0" algn="l">
              <a:lnSpc>
                <a:spcPct val="110000"/>
              </a:lnSpc>
              <a:buNone/>
            </a:pPr>
            <a:r>
              <a:rPr lang="en-US" sz="5200">
                <a:solidFill>
                  <a:srgbClr val="FFFFFF"/>
                </a:solidFill>
                <a:latin typeface="Georgia" pitchFamily="34" charset="0"/>
                <a:ea typeface="Georgia" pitchFamily="34" charset="-122"/>
                <a:cs typeface="Georgia" pitchFamily="34" charset="-120"/>
              </a:rPr>
              <a:t>you want.</a:t>
            </a:r>
            <a:endParaRPr lang="en-US" sz="5200"/>
          </a:p>
        </p:txBody>
      </p:sp>
      <p:sp>
        <p:nvSpPr>
          <p:cNvPr id="6" name="Shape 4"/>
          <p:cNvSpPr/>
          <p:nvPr/>
        </p:nvSpPr>
        <p:spPr>
          <a:xfrm>
            <a:off x="1371600" y="4434840"/>
            <a:ext cx="1645920" cy="0"/>
          </a:xfrm>
          <a:prstGeom prst="line">
            <a:avLst/>
          </a:prstGeom>
          <a:noFill/>
          <a:ln w="31750">
            <a:solidFill>
              <a:srgbClr val="C9A84C"/>
            </a:solidFill>
            <a:prstDash val="solid"/>
          </a:ln>
        </p:spPr>
        <p:txBody>
          <a:bodyPr/>
          <a:lstStyle/>
          <a:p>
            <a:endParaRPr lang="en-US"/>
          </a:p>
        </p:txBody>
      </p:sp>
      <p:pic>
        <p:nvPicPr>
          <p:cNvPr id="7" name="Paradiem Logo" descr="paradiem-logo-parchment.png"/>
          <p:cNvPicPr>
            <a:picLocks noChangeAspect="1"/>
          </p:cNvPicPr>
          <p:nvPr/>
        </p:nvPicPr>
        <p:blipFill>
          <a:blip r:embed="rId3"/>
          <a:stretch>
            <a:fillRect/>
          </a:stretch>
        </p:blipFill>
        <p:spPr>
          <a:xfrm>
            <a:off x="10241584" y="192024"/>
            <a:ext cx="1401775" cy="406047"/>
          </a:xfrm>
          <a:prstGeom prst="rect">
            <a:avLst/>
          </a:prstGeom>
        </p:spPr>
      </p:pic>
      <p:sp>
        <p:nvSpPr>
          <p:cNvPr id="8"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800">
                <a:solidFill>
                  <a:srgbClr val="171738"/>
                </a:solidFill>
                <a:latin typeface="Georgia" pitchFamily="34" charset="0"/>
                <a:ea typeface="Georgia" pitchFamily="34" charset="-122"/>
                <a:cs typeface="Georgia" pitchFamily="34" charset="-120"/>
              </a:rPr>
              <a:t>Goals and Intentions</a:t>
            </a:r>
            <a:endParaRPr lang="en-US" sz="28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Text 7"/>
          <p:cNvSpPr/>
          <p:nvPr/>
        </p:nvSpPr>
        <p:spPr>
          <a:xfrm>
            <a:off x="548640" y="1554480"/>
            <a:ext cx="10783494" cy="4572000"/>
          </a:xfrm>
          <a:prstGeom prst="rect">
            <a:avLst/>
          </a:prstGeom>
          <a:noFill/>
          <a:ln/>
        </p:spPr>
        <p:txBody>
          <a:bodyPr wrap="square" lIns="0" tIns="0" rIns="0" bIns="0" rtlCol="0" anchor="t"/>
          <a:lstStyle/>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Maintain our annual lifestyle spending at $425,000 </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Maintain no less than $250,000 in personal emergency reserves</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Support Natalie’s healing and next steps while remaining attentive to the needs of the whole family</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Strengthen family unity and communication</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Sell our Fort Worth lake property and invest up to $7,000,000 for a home in Montana</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Establish a coordinated advisory team</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Build margin and bandwidth for Clay in his business involvement</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Equip our children and grandchildren to steward future family wealth and responsibility</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Provide an inheritance of $25,000,000 to each of our children through trust structures.</a:t>
            </a:r>
          </a:p>
        </p:txBody>
      </p:sp>
      <p:pic>
        <p:nvPicPr>
          <p:cNvPr id="10"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1"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800">
                <a:solidFill>
                  <a:srgbClr val="171738"/>
                </a:solidFill>
                <a:latin typeface="Georgia" pitchFamily="34" charset="0"/>
                <a:ea typeface="Georgia" pitchFamily="34" charset="-122"/>
                <a:cs typeface="Georgia" pitchFamily="34" charset="-120"/>
              </a:rPr>
              <a:t>Goals and Intentions</a:t>
            </a:r>
            <a:endParaRPr lang="en-US" sz="28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9" name="Text 7"/>
          <p:cNvSpPr/>
          <p:nvPr/>
        </p:nvSpPr>
        <p:spPr>
          <a:xfrm>
            <a:off x="548640" y="1554480"/>
            <a:ext cx="10820565" cy="4572000"/>
          </a:xfrm>
          <a:prstGeom prst="rect">
            <a:avLst/>
          </a:prstGeom>
          <a:noFill/>
          <a:ln/>
        </p:spPr>
        <p:txBody>
          <a:bodyPr wrap="square" lIns="0" tIns="0" rIns="0" bIns="0" rtlCol="0" anchor="t"/>
          <a:lstStyle/>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Maintain our annual lifestyle spending at $425,000 </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Maintain no less than $250,000 in personal emergency reserves</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Support Natalie’s healing and next steps while remaining attentive to the needs of the whole family</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Strengthen family unity and communication</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Sell our Fort Worth lake property and invest up to $7,000,000 for a home in Montana</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Establish a coordinated advisory team</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Build margin and bandwidth for Clay in his business involvement</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Equip our children and grandchildren to steward future family wealth and responsibility</a:t>
            </a:r>
          </a:p>
          <a:p>
            <a:pPr marL="285750" indent="-285750">
              <a:spcAft>
                <a:spcPts val="1200"/>
              </a:spcAft>
              <a:buClr>
                <a:srgbClr val="8B7355"/>
              </a:buClr>
              <a:buSzPct val="120000"/>
              <a:buFont typeface="Arial" panose="020B0604020202020204" pitchFamily="34" charset="0"/>
              <a:buChar char="•"/>
            </a:pPr>
            <a:r>
              <a:rPr lang="en-US">
                <a:solidFill>
                  <a:srgbClr val="8B7355"/>
                </a:solidFill>
                <a:latin typeface="Calibri" pitchFamily="34" charset="0"/>
                <a:ea typeface="Calibri" pitchFamily="34" charset="-122"/>
                <a:cs typeface="Calibri" pitchFamily="34" charset="-120"/>
              </a:rPr>
              <a:t>Provide an inheritance of $25,000,000 to each of our children through trust structures.</a:t>
            </a:r>
          </a:p>
          <a:p>
            <a:pPr marL="285750" indent="-285750">
              <a:spcAft>
                <a:spcPts val="800"/>
              </a:spcAft>
              <a:buSzPct val="100000"/>
              <a:buFont typeface="Arial" panose="020B0604020202020204" pitchFamily="34" charset="0"/>
              <a:buChar char="•"/>
            </a:pPr>
            <a:endParaRPr lang="en-US"/>
          </a:p>
        </p:txBody>
      </p:sp>
      <p:sp>
        <p:nvSpPr>
          <p:cNvPr id="10" name="Shape 5">
            <a:extLst>
              <a:ext uri="{FF2B5EF4-FFF2-40B4-BE49-F238E27FC236}">
                <a16:creationId xmlns:a16="http://schemas.microsoft.com/office/drawing/2014/main" id="{C8FA7D7F-4DCC-CDA2-0541-C6C0776A0B28}"/>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12" name="Text 6">
            <a:extLst>
              <a:ext uri="{FF2B5EF4-FFF2-40B4-BE49-F238E27FC236}">
                <a16:creationId xmlns:a16="http://schemas.microsoft.com/office/drawing/2014/main" id="{424B9576-5979-9C9F-A97F-ED5AE9C54D1E}"/>
              </a:ext>
            </a:extLst>
          </p:cNvPr>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14" name="Text 7">
            <a:extLst>
              <a:ext uri="{FF2B5EF4-FFF2-40B4-BE49-F238E27FC236}">
                <a16:creationId xmlns:a16="http://schemas.microsoft.com/office/drawing/2014/main" id="{24EF3A1C-8A8A-8157-26E6-E93C3C0A18DA}"/>
              </a:ext>
            </a:extLst>
          </p:cNvPr>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1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09600" y="268224"/>
            <a:ext cx="8534400" cy="268224"/>
          </a:xfrm>
          <a:prstGeom prst="rect">
            <a:avLst/>
          </a:prstGeom>
          <a:noFill/>
          <a:ln/>
        </p:spPr>
        <p:txBody>
          <a:bodyPr wrap="square" rtlCol="0" anchor="ctr"/>
          <a:lstStyle/>
          <a:p>
            <a:r>
              <a:rPr lang="en-US" sz="1467" kern="0" spc="467">
                <a:solidFill>
                  <a:srgbClr val="C9A84C"/>
                </a:solidFill>
                <a:latin typeface="Calibri" pitchFamily="34" charset="0"/>
                <a:ea typeface="Calibri" pitchFamily="34" charset="-122"/>
                <a:cs typeface="Calibri" pitchFamily="34" charset="-120"/>
              </a:rPr>
              <a:t>FAMILY CAPITAL GAP ANALYSIS</a:t>
            </a:r>
            <a:endParaRPr lang="en-US" sz="1467">
              <a:solidFill>
                <a:srgbClr val="C9A84C"/>
              </a:solidFill>
            </a:endParaRPr>
          </a:p>
        </p:txBody>
      </p:sp>
      <p:sp>
        <p:nvSpPr>
          <p:cNvPr id="4" name="Text 1"/>
          <p:cNvSpPr/>
          <p:nvPr/>
        </p:nvSpPr>
        <p:spPr>
          <a:xfrm>
            <a:off x="609600" y="585216"/>
            <a:ext cx="8534400" cy="792480"/>
          </a:xfrm>
          <a:prstGeom prst="rect">
            <a:avLst/>
          </a:prstGeom>
          <a:noFill/>
          <a:ln/>
        </p:spPr>
        <p:txBody>
          <a:bodyPr wrap="square" rtlCol="0" anchor="ctr"/>
          <a:lstStyle/>
          <a:p>
            <a:r>
              <a:rPr lang="en-US" sz="3467">
                <a:solidFill>
                  <a:srgbClr val="171738"/>
                </a:solidFill>
                <a:latin typeface="Georgia" pitchFamily="34" charset="0"/>
                <a:ea typeface="Georgia" pitchFamily="34" charset="-122"/>
                <a:cs typeface="Georgia" pitchFamily="34" charset="-120"/>
              </a:rPr>
              <a:t>Gap Analysis of Your Current Goals</a:t>
            </a:r>
            <a:endParaRPr lang="en-US" sz="3467">
              <a:solidFill>
                <a:srgbClr val="171738"/>
              </a:solidFill>
            </a:endParaRPr>
          </a:p>
        </p:txBody>
      </p:sp>
      <p:sp>
        <p:nvSpPr>
          <p:cNvPr id="6" name="Text 3"/>
          <p:cNvSpPr/>
          <p:nvPr/>
        </p:nvSpPr>
        <p:spPr>
          <a:xfrm>
            <a:off x="609600" y="1645920"/>
            <a:ext cx="10607040" cy="341376"/>
          </a:xfrm>
          <a:prstGeom prst="rect">
            <a:avLst/>
          </a:prstGeom>
          <a:noFill/>
          <a:ln/>
        </p:spPr>
        <p:txBody>
          <a:bodyPr wrap="square" rtlCol="0" anchor="ctr"/>
          <a:lstStyle/>
          <a:p>
            <a:r>
              <a:rPr lang="en-US" sz="1467" i="1">
                <a:solidFill>
                  <a:srgbClr val="8B7355"/>
                </a:solidFill>
                <a:latin typeface="Calibri" pitchFamily="34" charset="0"/>
                <a:ea typeface="Calibri" pitchFamily="34" charset="-122"/>
                <a:cs typeface="Calibri" pitchFamily="34" charset="-120"/>
              </a:rPr>
              <a:t>Based on today's assessment, here is where your current plan stands:</a:t>
            </a:r>
            <a:endParaRPr lang="en-US" sz="1467"/>
          </a:p>
        </p:txBody>
      </p:sp>
      <p:graphicFrame>
        <p:nvGraphicFramePr>
          <p:cNvPr id="7" name="Chart 0"/>
          <p:cNvGraphicFramePr/>
          <p:nvPr/>
        </p:nvGraphicFramePr>
        <p:xfrm>
          <a:off x="487680" y="2011680"/>
          <a:ext cx="5120640" cy="39014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p:cNvSpPr/>
          <p:nvPr/>
        </p:nvSpPr>
        <p:spPr>
          <a:xfrm>
            <a:off x="1889760" y="3352800"/>
            <a:ext cx="2194560" cy="609600"/>
          </a:xfrm>
          <a:prstGeom prst="rect">
            <a:avLst/>
          </a:prstGeom>
          <a:noFill/>
          <a:ln/>
        </p:spPr>
        <p:txBody>
          <a:bodyPr wrap="square" rtlCol="0" anchor="ctr"/>
          <a:lstStyle/>
          <a:p>
            <a:pPr algn="ctr"/>
            <a:r>
              <a:rPr lang="en-US" sz="3733" b="1">
                <a:solidFill>
                  <a:srgbClr val="171738"/>
                </a:solidFill>
                <a:latin typeface="Georgia" pitchFamily="34" charset="0"/>
                <a:ea typeface="Georgia" pitchFamily="34" charset="-122"/>
                <a:cs typeface="Georgia" pitchFamily="34" charset="-120"/>
              </a:rPr>
              <a:t>17</a:t>
            </a:r>
            <a:endParaRPr lang="en-US" sz="3733"/>
          </a:p>
        </p:txBody>
      </p:sp>
      <p:sp>
        <p:nvSpPr>
          <p:cNvPr id="9" name="Text 5"/>
          <p:cNvSpPr/>
          <p:nvPr/>
        </p:nvSpPr>
        <p:spPr>
          <a:xfrm>
            <a:off x="1889760" y="3925824"/>
            <a:ext cx="2194560" cy="341376"/>
          </a:xfrm>
          <a:prstGeom prst="rect">
            <a:avLst/>
          </a:prstGeom>
          <a:noFill/>
          <a:ln/>
        </p:spPr>
        <p:txBody>
          <a:bodyPr wrap="square" rtlCol="0" anchor="ctr"/>
          <a:lstStyle/>
          <a:p>
            <a:pPr algn="ctr"/>
            <a:r>
              <a:rPr lang="en-US" sz="1333">
                <a:solidFill>
                  <a:srgbClr val="8B7355"/>
                </a:solidFill>
                <a:latin typeface="Calibri" pitchFamily="34" charset="0"/>
                <a:ea typeface="Calibri" pitchFamily="34" charset="-122"/>
                <a:cs typeface="Calibri" pitchFamily="34" charset="-120"/>
              </a:rPr>
              <a:t>Total Goals</a:t>
            </a:r>
            <a:endParaRPr lang="en-US" sz="1333"/>
          </a:p>
        </p:txBody>
      </p:sp>
      <p:sp>
        <p:nvSpPr>
          <p:cNvPr id="10" name="Shape 6"/>
          <p:cNvSpPr/>
          <p:nvPr/>
        </p:nvSpPr>
        <p:spPr>
          <a:xfrm>
            <a:off x="6096000" y="2048256"/>
            <a:ext cx="5608320" cy="1645920"/>
          </a:xfrm>
          <a:prstGeom prst="rect">
            <a:avLst/>
          </a:prstGeom>
          <a:solidFill>
            <a:srgbClr val="F4EFE4"/>
          </a:solidFill>
          <a:ln w="19050">
            <a:solidFill>
              <a:srgbClr val="4A7C59"/>
            </a:solidFill>
            <a:prstDash val="solid"/>
          </a:ln>
        </p:spPr>
        <p:txBody>
          <a:bodyPr/>
          <a:lstStyle/>
          <a:p>
            <a:endParaRPr lang="en-US" sz="2400"/>
          </a:p>
        </p:txBody>
      </p:sp>
      <p:sp>
        <p:nvSpPr>
          <p:cNvPr id="11" name="Shape 7"/>
          <p:cNvSpPr/>
          <p:nvPr/>
        </p:nvSpPr>
        <p:spPr>
          <a:xfrm>
            <a:off x="6096000" y="2048256"/>
            <a:ext cx="5608320" cy="54864"/>
          </a:xfrm>
          <a:prstGeom prst="rect">
            <a:avLst/>
          </a:prstGeom>
          <a:solidFill>
            <a:srgbClr val="4A7C59"/>
          </a:solidFill>
          <a:ln w="12700">
            <a:solidFill>
              <a:srgbClr val="4A7C59"/>
            </a:solidFill>
            <a:prstDash val="solid"/>
          </a:ln>
        </p:spPr>
        <p:txBody>
          <a:bodyPr/>
          <a:lstStyle/>
          <a:p>
            <a:endParaRPr lang="en-US" sz="2400"/>
          </a:p>
        </p:txBody>
      </p:sp>
      <p:sp>
        <p:nvSpPr>
          <p:cNvPr id="12" name="Text 8"/>
          <p:cNvSpPr/>
          <p:nvPr/>
        </p:nvSpPr>
        <p:spPr>
          <a:xfrm>
            <a:off x="6217920" y="2097024"/>
            <a:ext cx="1463040" cy="1158240"/>
          </a:xfrm>
          <a:prstGeom prst="rect">
            <a:avLst/>
          </a:prstGeom>
          <a:noFill/>
          <a:ln/>
        </p:spPr>
        <p:txBody>
          <a:bodyPr wrap="square" rtlCol="0" anchor="ctr"/>
          <a:lstStyle/>
          <a:p>
            <a:r>
              <a:rPr lang="en-US" sz="6400">
                <a:solidFill>
                  <a:srgbClr val="4A7C59"/>
                </a:solidFill>
                <a:latin typeface="Georgia" pitchFamily="34" charset="0"/>
                <a:ea typeface="Georgia" pitchFamily="34" charset="-122"/>
                <a:cs typeface="Georgia" pitchFamily="34" charset="-120"/>
              </a:rPr>
              <a:t>5</a:t>
            </a:r>
            <a:endParaRPr lang="en-US" sz="6400"/>
          </a:p>
        </p:txBody>
      </p:sp>
      <p:sp>
        <p:nvSpPr>
          <p:cNvPr id="13" name="Text 9"/>
          <p:cNvSpPr/>
          <p:nvPr/>
        </p:nvSpPr>
        <p:spPr>
          <a:xfrm>
            <a:off x="7741920" y="2292096"/>
            <a:ext cx="3718560" cy="463296"/>
          </a:xfrm>
          <a:prstGeom prst="rect">
            <a:avLst/>
          </a:prstGeom>
          <a:noFill/>
          <a:ln/>
        </p:spPr>
        <p:txBody>
          <a:bodyPr wrap="square" rtlCol="0" anchor="ctr"/>
          <a:lstStyle/>
          <a:p>
            <a:r>
              <a:rPr lang="en-US" sz="2133">
                <a:solidFill>
                  <a:srgbClr val="4A7C59"/>
                </a:solidFill>
                <a:latin typeface="Calibri" pitchFamily="34" charset="0"/>
                <a:ea typeface="Calibri" pitchFamily="34" charset="-122"/>
                <a:cs typeface="Calibri" pitchFamily="34" charset="-120"/>
              </a:rPr>
              <a:t>Goals Met</a:t>
            </a:r>
            <a:endParaRPr lang="en-US" sz="2133"/>
          </a:p>
        </p:txBody>
      </p:sp>
      <p:sp>
        <p:nvSpPr>
          <p:cNvPr id="14" name="Text 10"/>
          <p:cNvSpPr/>
          <p:nvPr/>
        </p:nvSpPr>
        <p:spPr>
          <a:xfrm>
            <a:off x="6315456" y="3316224"/>
            <a:ext cx="5242560" cy="268224"/>
          </a:xfrm>
          <a:prstGeom prst="rect">
            <a:avLst/>
          </a:prstGeom>
          <a:noFill/>
          <a:ln/>
        </p:spPr>
        <p:txBody>
          <a:bodyPr wrap="square" rtlCol="0" anchor="ctr"/>
          <a:lstStyle/>
          <a:p>
            <a:r>
              <a:rPr lang="en-US" sz="1067" kern="0" spc="267">
                <a:solidFill>
                  <a:srgbClr val="4A7C59"/>
                </a:solidFill>
                <a:latin typeface="Calibri" pitchFamily="34" charset="0"/>
                <a:ea typeface="Calibri" pitchFamily="34" charset="-122"/>
                <a:cs typeface="Calibri" pitchFamily="34" charset="-120"/>
              </a:rPr>
              <a:t>CURRENT PLAN STATUS</a:t>
            </a:r>
            <a:endParaRPr lang="en-US" sz="1067"/>
          </a:p>
        </p:txBody>
      </p:sp>
      <p:sp>
        <p:nvSpPr>
          <p:cNvPr id="15" name="Shape 11"/>
          <p:cNvSpPr/>
          <p:nvPr/>
        </p:nvSpPr>
        <p:spPr>
          <a:xfrm>
            <a:off x="6096000" y="3925824"/>
            <a:ext cx="5608320" cy="1645920"/>
          </a:xfrm>
          <a:prstGeom prst="rect">
            <a:avLst/>
          </a:prstGeom>
          <a:solidFill>
            <a:srgbClr val="F4EFE4"/>
          </a:solidFill>
          <a:ln w="19050">
            <a:solidFill>
              <a:srgbClr val="A8332F"/>
            </a:solidFill>
            <a:prstDash val="solid"/>
          </a:ln>
        </p:spPr>
        <p:txBody>
          <a:bodyPr/>
          <a:lstStyle/>
          <a:p>
            <a:endParaRPr lang="en-US" sz="2400"/>
          </a:p>
        </p:txBody>
      </p:sp>
      <p:sp>
        <p:nvSpPr>
          <p:cNvPr id="16" name="Shape 12"/>
          <p:cNvSpPr/>
          <p:nvPr/>
        </p:nvSpPr>
        <p:spPr>
          <a:xfrm>
            <a:off x="6096000" y="3925824"/>
            <a:ext cx="5608320" cy="54864"/>
          </a:xfrm>
          <a:prstGeom prst="rect">
            <a:avLst/>
          </a:prstGeom>
          <a:solidFill>
            <a:srgbClr val="A8332F"/>
          </a:solidFill>
          <a:ln w="12700">
            <a:solidFill>
              <a:srgbClr val="A8332F"/>
            </a:solidFill>
            <a:prstDash val="solid"/>
          </a:ln>
        </p:spPr>
        <p:txBody>
          <a:bodyPr/>
          <a:lstStyle/>
          <a:p>
            <a:endParaRPr lang="en-US" sz="2400"/>
          </a:p>
        </p:txBody>
      </p:sp>
      <p:sp>
        <p:nvSpPr>
          <p:cNvPr id="17" name="Text 13"/>
          <p:cNvSpPr/>
          <p:nvPr/>
        </p:nvSpPr>
        <p:spPr>
          <a:xfrm>
            <a:off x="6217920" y="3974592"/>
            <a:ext cx="1828800" cy="1158240"/>
          </a:xfrm>
          <a:prstGeom prst="rect">
            <a:avLst/>
          </a:prstGeom>
          <a:noFill/>
          <a:ln/>
        </p:spPr>
        <p:txBody>
          <a:bodyPr wrap="square" rtlCol="0" anchor="ctr"/>
          <a:lstStyle/>
          <a:p>
            <a:r>
              <a:rPr lang="en-US" sz="6400">
                <a:solidFill>
                  <a:srgbClr val="A8332F"/>
                </a:solidFill>
                <a:latin typeface="Georgia" pitchFamily="34" charset="0"/>
                <a:ea typeface="Georgia" pitchFamily="34" charset="-122"/>
                <a:cs typeface="Georgia" pitchFamily="34" charset="-120"/>
              </a:rPr>
              <a:t>12</a:t>
            </a:r>
            <a:endParaRPr lang="en-US" sz="6400"/>
          </a:p>
        </p:txBody>
      </p:sp>
      <p:sp>
        <p:nvSpPr>
          <p:cNvPr id="18" name="Text 14"/>
          <p:cNvSpPr/>
          <p:nvPr/>
        </p:nvSpPr>
        <p:spPr>
          <a:xfrm>
            <a:off x="8107680" y="4169664"/>
            <a:ext cx="3352800" cy="463296"/>
          </a:xfrm>
          <a:prstGeom prst="rect">
            <a:avLst/>
          </a:prstGeom>
          <a:noFill/>
          <a:ln/>
        </p:spPr>
        <p:txBody>
          <a:bodyPr wrap="square" rtlCol="0" anchor="ctr"/>
          <a:lstStyle/>
          <a:p>
            <a:r>
              <a:rPr lang="en-US" sz="2133">
                <a:solidFill>
                  <a:srgbClr val="A8332F"/>
                </a:solidFill>
                <a:latin typeface="Calibri" pitchFamily="34" charset="0"/>
                <a:ea typeface="Calibri" pitchFamily="34" charset="-122"/>
                <a:cs typeface="Calibri" pitchFamily="34" charset="-120"/>
              </a:rPr>
              <a:t>Goals Missed</a:t>
            </a:r>
            <a:endParaRPr lang="en-US" sz="2133"/>
          </a:p>
        </p:txBody>
      </p:sp>
      <p:sp>
        <p:nvSpPr>
          <p:cNvPr id="19" name="Text 15"/>
          <p:cNvSpPr/>
          <p:nvPr/>
        </p:nvSpPr>
        <p:spPr>
          <a:xfrm>
            <a:off x="6315456" y="5193792"/>
            <a:ext cx="5242560" cy="268224"/>
          </a:xfrm>
          <a:prstGeom prst="rect">
            <a:avLst/>
          </a:prstGeom>
          <a:noFill/>
          <a:ln/>
        </p:spPr>
        <p:txBody>
          <a:bodyPr wrap="square" rtlCol="0" anchor="ctr"/>
          <a:lstStyle/>
          <a:p>
            <a:r>
              <a:rPr lang="en-US" sz="1067" kern="0" spc="267">
                <a:solidFill>
                  <a:srgbClr val="A8332F"/>
                </a:solidFill>
                <a:latin typeface="Calibri" pitchFamily="34" charset="0"/>
                <a:ea typeface="Calibri" pitchFamily="34" charset="-122"/>
                <a:cs typeface="Calibri" pitchFamily="34" charset="-120"/>
              </a:rPr>
              <a:t>OPPORTUNITY TO IMPROVE</a:t>
            </a:r>
            <a:endParaRPr lang="en-US" sz="1067"/>
          </a:p>
        </p:txBody>
      </p:sp>
      <p:sp>
        <p:nvSpPr>
          <p:cNvPr id="20" name="Shape 16"/>
          <p:cNvSpPr/>
          <p:nvPr/>
        </p:nvSpPr>
        <p:spPr>
          <a:xfrm>
            <a:off x="609600" y="5819936"/>
            <a:ext cx="11155680" cy="512064"/>
          </a:xfrm>
          <a:prstGeom prst="rect">
            <a:avLst/>
          </a:prstGeom>
          <a:solidFill>
            <a:srgbClr val="FFFFFF"/>
          </a:solidFill>
          <a:ln w="12700">
            <a:solidFill>
              <a:srgbClr val="171738"/>
            </a:solidFill>
            <a:prstDash val="solid"/>
          </a:ln>
        </p:spPr>
        <p:txBody>
          <a:bodyPr/>
          <a:lstStyle/>
          <a:p>
            <a:endParaRPr lang="en-US" sz="2400"/>
          </a:p>
        </p:txBody>
      </p:sp>
      <p:sp>
        <p:nvSpPr>
          <p:cNvPr id="21" name="Text 17"/>
          <p:cNvSpPr/>
          <p:nvPr/>
        </p:nvSpPr>
        <p:spPr>
          <a:xfrm>
            <a:off x="829056" y="5754624"/>
            <a:ext cx="6705600" cy="512064"/>
          </a:xfrm>
          <a:prstGeom prst="rect">
            <a:avLst/>
          </a:prstGeom>
          <a:noFill/>
          <a:ln/>
        </p:spPr>
        <p:txBody>
          <a:bodyPr wrap="square" rtlCol="0" anchor="ctr"/>
          <a:lstStyle/>
          <a:p>
            <a:r>
              <a:rPr lang="en-US" sz="1267" kern="0" spc="200">
                <a:solidFill>
                  <a:srgbClr val="171738"/>
                </a:solidFill>
                <a:latin typeface="Calibri" pitchFamily="34" charset="0"/>
                <a:ea typeface="Calibri" pitchFamily="34" charset="-122"/>
                <a:cs typeface="Calibri" pitchFamily="34" charset="-120"/>
              </a:rPr>
              <a:t>TOTAL COST OF INACTION:</a:t>
            </a:r>
            <a:endParaRPr lang="en-US" sz="1267"/>
          </a:p>
        </p:txBody>
      </p:sp>
      <p:sp>
        <p:nvSpPr>
          <p:cNvPr id="22" name="Text 18"/>
          <p:cNvSpPr/>
          <p:nvPr/>
        </p:nvSpPr>
        <p:spPr>
          <a:xfrm>
            <a:off x="6705600" y="5754624"/>
            <a:ext cx="4840224" cy="512064"/>
          </a:xfrm>
          <a:prstGeom prst="rect">
            <a:avLst/>
          </a:prstGeom>
          <a:noFill/>
          <a:ln/>
        </p:spPr>
        <p:txBody>
          <a:bodyPr wrap="square" rtlCol="0" anchor="ctr"/>
          <a:lstStyle/>
          <a:p>
            <a:pPr algn="r"/>
            <a:r>
              <a:rPr lang="en-US" sz="2667" b="1">
                <a:solidFill>
                  <a:srgbClr val="A8332F"/>
                </a:solidFill>
                <a:latin typeface="Georgia" pitchFamily="34" charset="0"/>
                <a:ea typeface="Georgia" pitchFamily="34" charset="-122"/>
                <a:cs typeface="Georgia" pitchFamily="34" charset="-120"/>
              </a:rPr>
              <a:t>$4,019,000</a:t>
            </a:r>
            <a:endParaRPr lang="en-US" sz="2667"/>
          </a:p>
        </p:txBody>
      </p:sp>
      <p:sp>
        <p:nvSpPr>
          <p:cNvPr id="26" name="Shape 2">
            <a:extLst>
              <a:ext uri="{FF2B5EF4-FFF2-40B4-BE49-F238E27FC236}">
                <a16:creationId xmlns:a16="http://schemas.microsoft.com/office/drawing/2014/main" id="{ACA00546-07CB-78E0-FF1D-D6E34E4F22A4}"/>
              </a:ext>
            </a:extLst>
          </p:cNvPr>
          <p:cNvSpPr/>
          <p:nvPr/>
        </p:nvSpPr>
        <p:spPr>
          <a:xfrm>
            <a:off x="670560" y="1560576"/>
            <a:ext cx="1463040" cy="0"/>
          </a:xfrm>
          <a:prstGeom prst="line">
            <a:avLst/>
          </a:prstGeom>
          <a:noFill/>
          <a:ln w="19050">
            <a:solidFill>
              <a:srgbClr val="C9A84C"/>
            </a:solidFill>
            <a:prstDash val="solid"/>
          </a:ln>
        </p:spPr>
        <p:txBody>
          <a:bodyPr/>
          <a:lstStyle/>
          <a:p>
            <a:endParaRPr lang="en-US" sz="2400"/>
          </a:p>
        </p:txBody>
      </p:sp>
      <p:sp>
        <p:nvSpPr>
          <p:cNvPr id="5" name="Shape 5">
            <a:extLst>
              <a:ext uri="{FF2B5EF4-FFF2-40B4-BE49-F238E27FC236}">
                <a16:creationId xmlns:a16="http://schemas.microsoft.com/office/drawing/2014/main" id="{E3745466-9B58-7125-A4EA-1B879848F1F8}"/>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24" name="Text 6">
            <a:extLst>
              <a:ext uri="{FF2B5EF4-FFF2-40B4-BE49-F238E27FC236}">
                <a16:creationId xmlns:a16="http://schemas.microsoft.com/office/drawing/2014/main" id="{FE52ACC7-65F8-8A34-237D-10C1B348D96C}"/>
              </a:ext>
            </a:extLst>
          </p:cNvPr>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27" name="Text 7">
            <a:extLst>
              <a:ext uri="{FF2B5EF4-FFF2-40B4-BE49-F238E27FC236}">
                <a16:creationId xmlns:a16="http://schemas.microsoft.com/office/drawing/2014/main" id="{98C2D609-75A4-D8FD-2516-0574F1938B8B}"/>
              </a:ext>
            </a:extLst>
          </p:cNvPr>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28" name="Paradiem Logo" descr="paradiem-logo-navy.png"/>
          <p:cNvPicPr>
            <a:picLocks noChangeAspect="1"/>
          </p:cNvPicPr>
          <p:nvPr/>
        </p:nvPicPr>
        <p:blipFill>
          <a:blip r:embed="rId4"/>
          <a:stretch>
            <a:fillRect/>
          </a:stretch>
        </p:blipFill>
        <p:spPr>
          <a:xfrm>
            <a:off x="10241584" y="192024"/>
            <a:ext cx="1401775" cy="406047"/>
          </a:xfrm>
          <a:prstGeom prst="rect">
            <a:avLst/>
          </a:prstGeom>
        </p:spPr>
      </p:pic>
      <p:sp>
        <p:nvSpPr>
          <p:cNvPr id="29"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wish to maintain our annual lifestyle spending at $300,000.</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786384"/>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Based on your current income, you will be able to maintain your lifestyle spending at $300,000.</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mentioned that you would like to have a budget for spending but do not currently have one.</a:t>
            </a:r>
            <a:endParaRPr lang="en-US" sz="1700"/>
          </a:p>
        </p:txBody>
      </p:sp>
      <p:pic>
        <p:nvPicPr>
          <p:cNvPr id="13"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4"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would like to gain clarity on the right amount of emergency reserves to maintain personally and in the business.</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481328"/>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Josh mentioned having $30,000 in personal reserves and keeping a couple hundred thousand in business reserves.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Deb mentioned wanting to have $1,000,000 in business reserves.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This is approximately 1 month of operational expenses.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are not aligned regarding the amount of reserves.</a:t>
            </a:r>
            <a:endParaRPr lang="en-US" sz="1700"/>
          </a:p>
        </p:txBody>
      </p:sp>
      <p:sp>
        <p:nvSpPr>
          <p:cNvPr id="13" name="Text 11"/>
          <p:cNvSpPr/>
          <p:nvPr/>
        </p:nvSpPr>
        <p:spPr>
          <a:xfrm>
            <a:off x="548640" y="4178808"/>
            <a:ext cx="10972800" cy="274320"/>
          </a:xfrm>
          <a:prstGeom prst="rect">
            <a:avLst/>
          </a:prstGeom>
          <a:noFill/>
          <a:ln/>
        </p:spPr>
        <p:txBody>
          <a:bodyPr wrap="square" lIns="0" tIns="0" rIns="0" bIns="0" rtlCol="0" anchor="ctr"/>
          <a:lstStyle/>
          <a:p>
            <a:pPr marL="0" indent="0" algn="l">
              <a:buNone/>
            </a:pPr>
            <a:r>
              <a:rPr lang="en-US" sz="1750" b="1">
                <a:solidFill>
                  <a:srgbClr val="A8332F"/>
                </a:solidFill>
                <a:latin typeface="Calibri" pitchFamily="34" charset="0"/>
                <a:ea typeface="Calibri" pitchFamily="34" charset="-122"/>
                <a:cs typeface="Calibri" pitchFamily="34" charset="-120"/>
              </a:rPr>
              <a:t>Potential Challenges</a:t>
            </a:r>
            <a:endParaRPr lang="en-US" sz="1750"/>
          </a:p>
        </p:txBody>
      </p:sp>
      <p:sp>
        <p:nvSpPr>
          <p:cNvPr id="14" name="Text 12"/>
          <p:cNvSpPr/>
          <p:nvPr/>
        </p:nvSpPr>
        <p:spPr>
          <a:xfrm>
            <a:off x="548640" y="4471416"/>
            <a:ext cx="11091672" cy="786384"/>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In a downturn you would need cash reserves or access to capital to make payroll and cover your business expenses.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In that situation, it may be challenging to pull money out of the business to cover personal expenses.</a:t>
            </a:r>
            <a:endParaRPr lang="en-US" sz="1700"/>
          </a:p>
        </p:txBody>
      </p:sp>
      <p:pic>
        <p:nvPicPr>
          <p:cNvPr id="1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desire to provide an inheritance to our children that allows them to live a "good life" while living and giving generously.</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Deb described the "good life" as your children make a good life partner choice, they feel confident and equipped enough educationally and emotionally, to be able to go out and work and provide for themselves.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Character work, even more than money is important to get right.</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Your current documents provide an inheritance to your children when you both pass away, there are opportunities to do some lifetime giving to help along the way.</a:t>
            </a:r>
            <a:endParaRPr lang="en-US" sz="1700"/>
          </a:p>
        </p:txBody>
      </p:sp>
      <p:sp>
        <p:nvSpPr>
          <p:cNvPr id="13" name="Text 11"/>
          <p:cNvSpPr/>
          <p:nvPr/>
        </p:nvSpPr>
        <p:spPr>
          <a:xfrm>
            <a:off x="548640" y="4330088"/>
            <a:ext cx="10972800" cy="274320"/>
          </a:xfrm>
          <a:prstGeom prst="rect">
            <a:avLst/>
          </a:prstGeom>
          <a:noFill/>
          <a:ln/>
        </p:spPr>
        <p:txBody>
          <a:bodyPr wrap="square" lIns="0" tIns="0" rIns="0" bIns="0" rtlCol="0" anchor="ctr"/>
          <a:lstStyle/>
          <a:p>
            <a:pPr marL="0" indent="0" algn="l">
              <a:buNone/>
            </a:pPr>
            <a:r>
              <a:rPr lang="en-US" sz="1750" b="1">
                <a:solidFill>
                  <a:srgbClr val="A8332F"/>
                </a:solidFill>
                <a:latin typeface="Calibri" pitchFamily="34" charset="0"/>
                <a:ea typeface="Calibri" pitchFamily="34" charset="-122"/>
                <a:cs typeface="Calibri" pitchFamily="34" charset="-120"/>
              </a:rPr>
              <a:t>Potential Challenges</a:t>
            </a:r>
            <a:endParaRPr lang="en-US" sz="1750"/>
          </a:p>
        </p:txBody>
      </p:sp>
      <p:sp>
        <p:nvSpPr>
          <p:cNvPr id="14" name="Text 12"/>
          <p:cNvSpPr/>
          <p:nvPr/>
        </p:nvSpPr>
        <p:spPr>
          <a:xfrm>
            <a:off x="548640" y="4648683"/>
            <a:ext cx="11091672" cy="438912"/>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may be missing out on opportunities to bless your children during your lifetime, when they need it most, and sharing wisdom and guidance along the way.</a:t>
            </a:r>
            <a:endParaRPr lang="en-US" sz="1700"/>
          </a:p>
        </p:txBody>
      </p:sp>
      <p:sp>
        <p:nvSpPr>
          <p:cNvPr id="15" name="Shape 5">
            <a:extLst>
              <a:ext uri="{FF2B5EF4-FFF2-40B4-BE49-F238E27FC236}">
                <a16:creationId xmlns:a16="http://schemas.microsoft.com/office/drawing/2014/main" id="{32ABC9C3-7CCB-8C00-253C-889D89B6EF72}"/>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17" name="Text 6">
            <a:extLst>
              <a:ext uri="{FF2B5EF4-FFF2-40B4-BE49-F238E27FC236}">
                <a16:creationId xmlns:a16="http://schemas.microsoft.com/office/drawing/2014/main" id="{1E26E345-EB0A-60DB-BF03-B86225B18557}"/>
              </a:ext>
            </a:extLst>
          </p:cNvPr>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19" name="Text 7">
            <a:extLst>
              <a:ext uri="{FF2B5EF4-FFF2-40B4-BE49-F238E27FC236}">
                <a16:creationId xmlns:a16="http://schemas.microsoft.com/office/drawing/2014/main" id="{1F70E182-ECAE-05AB-AE93-4703DDAC927F}"/>
              </a:ext>
            </a:extLst>
          </p:cNvPr>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20"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21"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desire to provide opportunities to our children that allow them to develop wealth for themselves so they may take care of their lifestyle needs.</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481328"/>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Your current plan provides your children their inheritance after you both pass away.</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Based on your current net worth, each child would receive approximately $12.2 million if you both pass away.</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Several of your children have expressed interest in working in the business.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It is unclear what you would want to do if one of your children changes their minds and wants to work for another business or start their own business.</a:t>
            </a:r>
            <a:endParaRPr lang="en-US" sz="1700"/>
          </a:p>
        </p:txBody>
      </p:sp>
      <p:sp>
        <p:nvSpPr>
          <p:cNvPr id="13" name="Text 11"/>
          <p:cNvSpPr/>
          <p:nvPr/>
        </p:nvSpPr>
        <p:spPr>
          <a:xfrm>
            <a:off x="548640" y="4178808"/>
            <a:ext cx="10972800" cy="274320"/>
          </a:xfrm>
          <a:prstGeom prst="rect">
            <a:avLst/>
          </a:prstGeom>
          <a:noFill/>
          <a:ln/>
        </p:spPr>
        <p:txBody>
          <a:bodyPr wrap="square" lIns="0" tIns="0" rIns="0" bIns="0" rtlCol="0" anchor="ctr"/>
          <a:lstStyle/>
          <a:p>
            <a:pPr marL="0" indent="0" algn="l">
              <a:buNone/>
            </a:pPr>
            <a:r>
              <a:rPr lang="en-US" sz="1750" b="1">
                <a:solidFill>
                  <a:srgbClr val="A8332F"/>
                </a:solidFill>
                <a:latin typeface="Calibri" pitchFamily="34" charset="0"/>
                <a:ea typeface="Calibri" pitchFamily="34" charset="-122"/>
                <a:cs typeface="Calibri" pitchFamily="34" charset="-120"/>
              </a:rPr>
              <a:t>Potential Challenges</a:t>
            </a:r>
            <a:endParaRPr lang="en-US" sz="1750"/>
          </a:p>
        </p:txBody>
      </p:sp>
      <p:sp>
        <p:nvSpPr>
          <p:cNvPr id="14" name="Text 12"/>
          <p:cNvSpPr/>
          <p:nvPr/>
        </p:nvSpPr>
        <p:spPr>
          <a:xfrm>
            <a:off x="548640" y="4471416"/>
            <a:ext cx="11091672" cy="786384"/>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With only testamentary inheritance, you may be limited in the opportunities you can provide your children.</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If you both were to pass away, all of your children would be co-owners of your business regardless of whether they worked in the business or not. This often leads to frustration and potentially damage relationships.</a:t>
            </a:r>
            <a:endParaRPr lang="en-US" sz="1700"/>
          </a:p>
        </p:txBody>
      </p:sp>
      <p:pic>
        <p:nvPicPr>
          <p:cNvPr id="1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wish to restructure our children's savings &amp; checking accounts so they are able to only spend what they earn.</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currently have accounts set up for each of your children where they have access to all the funds they are paid out of the business and you both are actively contributing to.</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Levi, for example, earned a lot of money over the summer but also spent a lot.</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There are opportunities for you to gain clarity on how you would like to provide financially for your children and optimize the structure and communication to your children.</a:t>
            </a:r>
            <a:endParaRPr lang="en-US" sz="1700"/>
          </a:p>
        </p:txBody>
      </p:sp>
      <p:sp>
        <p:nvSpPr>
          <p:cNvPr id="13" name="Text 11"/>
          <p:cNvSpPr/>
          <p:nvPr/>
        </p:nvSpPr>
        <p:spPr>
          <a:xfrm>
            <a:off x="548640" y="4361270"/>
            <a:ext cx="10972800" cy="274320"/>
          </a:xfrm>
          <a:prstGeom prst="rect">
            <a:avLst/>
          </a:prstGeom>
          <a:noFill/>
          <a:ln/>
        </p:spPr>
        <p:txBody>
          <a:bodyPr wrap="square" lIns="0" tIns="0" rIns="0" bIns="0" rtlCol="0" anchor="ctr"/>
          <a:lstStyle/>
          <a:p>
            <a:pPr marL="0" indent="0" algn="l">
              <a:buNone/>
            </a:pPr>
            <a:r>
              <a:rPr lang="en-US" sz="1750" b="1">
                <a:solidFill>
                  <a:srgbClr val="A8332F"/>
                </a:solidFill>
                <a:latin typeface="Calibri" pitchFamily="34" charset="0"/>
                <a:ea typeface="Calibri" pitchFamily="34" charset="-122"/>
                <a:cs typeface="Calibri" pitchFamily="34" charset="-120"/>
              </a:rPr>
              <a:t>Potential Challenges</a:t>
            </a:r>
            <a:endParaRPr lang="en-US" sz="1750"/>
          </a:p>
        </p:txBody>
      </p:sp>
      <p:sp>
        <p:nvSpPr>
          <p:cNvPr id="14" name="Text 12"/>
          <p:cNvSpPr/>
          <p:nvPr/>
        </p:nvSpPr>
        <p:spPr>
          <a:xfrm>
            <a:off x="548640" y="4653882"/>
            <a:ext cx="11091672" cy="786384"/>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Currently, your children have full access and the ability to spend everything in their accounts.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There could be frustration and the breakdown of communication around these intended blessings.</a:t>
            </a:r>
            <a:endParaRPr lang="en-US" sz="1700"/>
          </a:p>
        </p:txBody>
      </p:sp>
      <p:pic>
        <p:nvPicPr>
          <p:cNvPr id="1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would like to provide our daughters and daughters-in-law an opportunity to be stay-at-home parents if they desire to be.</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There is not currently anything set up to provide for this.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don't have an amount of supplemental income you would want to provide annually for each mother.</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For example, Lydia currently makes $95,000 a year working for the company.</a:t>
            </a:r>
            <a:endParaRPr lang="en-US" sz="1700"/>
          </a:p>
        </p:txBody>
      </p:sp>
      <p:sp>
        <p:nvSpPr>
          <p:cNvPr id="13" name="Text 11"/>
          <p:cNvSpPr/>
          <p:nvPr/>
        </p:nvSpPr>
        <p:spPr>
          <a:xfrm>
            <a:off x="548640" y="3831336"/>
            <a:ext cx="10972800" cy="274320"/>
          </a:xfrm>
          <a:prstGeom prst="rect">
            <a:avLst/>
          </a:prstGeom>
          <a:noFill/>
          <a:ln/>
        </p:spPr>
        <p:txBody>
          <a:bodyPr wrap="square" lIns="0" tIns="0" rIns="0" bIns="0" rtlCol="0" anchor="ctr"/>
          <a:lstStyle/>
          <a:p>
            <a:pPr marL="0" indent="0" algn="l">
              <a:buNone/>
            </a:pPr>
            <a:r>
              <a:rPr lang="en-US" sz="1750" b="1">
                <a:solidFill>
                  <a:srgbClr val="A8332F"/>
                </a:solidFill>
                <a:latin typeface="Calibri" pitchFamily="34" charset="0"/>
                <a:ea typeface="Calibri" pitchFamily="34" charset="-122"/>
                <a:cs typeface="Calibri" pitchFamily="34" charset="-120"/>
              </a:rPr>
              <a:t>Potential Challenges</a:t>
            </a:r>
            <a:endParaRPr lang="en-US" sz="1750"/>
          </a:p>
        </p:txBody>
      </p:sp>
      <p:sp>
        <p:nvSpPr>
          <p:cNvPr id="14" name="Text 12"/>
          <p:cNvSpPr/>
          <p:nvPr/>
        </p:nvSpPr>
        <p:spPr>
          <a:xfrm>
            <a:off x="548640" y="4123944"/>
            <a:ext cx="11091672" cy="438912"/>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Especially living in the Bay area, the cost of living is very high. Most likely, your daughters and daughters-in-law would need to work.</a:t>
            </a:r>
            <a:endParaRPr lang="en-US" sz="1700"/>
          </a:p>
        </p:txBody>
      </p:sp>
      <p:pic>
        <p:nvPicPr>
          <p:cNvPr id="1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would like to provide a pathway for our children to be involved in the business if they desire to be.</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All children, with the exception of Nathaniel are showing some sort of interest in working in the business.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Lydia is actively working in the business, and Josh said she is likely able to do everything that he can do.</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Abigail and Levi are looking at colleges currently so there would be some time before they were ready.</a:t>
            </a:r>
            <a:endParaRPr lang="en-US" sz="1700"/>
          </a:p>
        </p:txBody>
      </p:sp>
      <p:sp>
        <p:nvSpPr>
          <p:cNvPr id="13" name="Text 11"/>
          <p:cNvSpPr/>
          <p:nvPr/>
        </p:nvSpPr>
        <p:spPr>
          <a:xfrm>
            <a:off x="548640" y="3831336"/>
            <a:ext cx="10972800" cy="274320"/>
          </a:xfrm>
          <a:prstGeom prst="rect">
            <a:avLst/>
          </a:prstGeom>
          <a:noFill/>
          <a:ln/>
        </p:spPr>
        <p:txBody>
          <a:bodyPr wrap="square" lIns="0" tIns="0" rIns="0" bIns="0" rtlCol="0" anchor="ctr"/>
          <a:lstStyle/>
          <a:p>
            <a:pPr marL="0" indent="0" algn="l">
              <a:buNone/>
            </a:pPr>
            <a:r>
              <a:rPr lang="en-US" sz="1750" b="1">
                <a:solidFill>
                  <a:srgbClr val="A8332F"/>
                </a:solidFill>
                <a:latin typeface="Calibri" pitchFamily="34" charset="0"/>
                <a:ea typeface="Calibri" pitchFamily="34" charset="-122"/>
                <a:cs typeface="Calibri" pitchFamily="34" charset="-120"/>
              </a:rPr>
              <a:t>Potential Challenges</a:t>
            </a:r>
            <a:endParaRPr lang="en-US" sz="1750"/>
          </a:p>
        </p:txBody>
      </p:sp>
      <p:sp>
        <p:nvSpPr>
          <p:cNvPr id="14" name="Text 12"/>
          <p:cNvSpPr/>
          <p:nvPr/>
        </p:nvSpPr>
        <p:spPr>
          <a:xfrm>
            <a:off x="548640" y="4123944"/>
            <a:ext cx="11091672" cy="786384"/>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Without a clear pathway, it may be difficult for your children to determine if, when, where and how they best fit in the business.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If this is done poorly, it could damage the "sweetness" of the business and family relationships.</a:t>
            </a:r>
            <a:endParaRPr lang="en-US" sz="1700"/>
          </a:p>
        </p:txBody>
      </p:sp>
      <p:pic>
        <p:nvPicPr>
          <p:cNvPr id="1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wish to cultivate in our children the character to feel confident and equipped enough educationally and emotionally to be able to work and provide for themselves.</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In the retreat you mentioned that there is an opportunity to be more intentional with teaching your children how to better spend, save and give.</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mentioned your children's character, in regards to money, may be heading in a direction you both wouldn't want to encourage.</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both also feel you've intentionally taught your children how to make wise financial decisions.</a:t>
            </a:r>
            <a:endParaRPr lang="en-US" sz="1700"/>
          </a:p>
        </p:txBody>
      </p:sp>
      <p:sp>
        <p:nvSpPr>
          <p:cNvPr id="13" name="Shape 11"/>
          <p:cNvSpPr/>
          <p:nvPr/>
        </p:nvSpPr>
        <p:spPr>
          <a:xfrm>
            <a:off x="548640" y="5091567"/>
            <a:ext cx="11091672" cy="548640"/>
          </a:xfrm>
          <a:prstGeom prst="rect">
            <a:avLst/>
          </a:prstGeom>
          <a:solidFill>
            <a:srgbClr val="FAF7F2"/>
          </a:solidFill>
          <a:ln w="6350">
            <a:solidFill>
              <a:srgbClr val="A8332F"/>
            </a:solidFill>
            <a:prstDash val="solid"/>
          </a:ln>
        </p:spPr>
        <p:txBody>
          <a:bodyPr/>
          <a:lstStyle/>
          <a:p>
            <a:endParaRPr lang="en-US"/>
          </a:p>
        </p:txBody>
      </p:sp>
      <p:sp>
        <p:nvSpPr>
          <p:cNvPr id="14" name="Text 12"/>
          <p:cNvSpPr/>
          <p:nvPr/>
        </p:nvSpPr>
        <p:spPr>
          <a:xfrm>
            <a:off x="777240" y="5137287"/>
            <a:ext cx="7315200" cy="274320"/>
          </a:xfrm>
          <a:prstGeom prst="rect">
            <a:avLst/>
          </a:prstGeom>
          <a:noFill/>
          <a:ln/>
        </p:spPr>
        <p:txBody>
          <a:bodyPr wrap="square" lIns="0" tIns="0" rIns="0" bIns="0" rtlCol="0" anchor="ctr"/>
          <a:lstStyle/>
          <a:p>
            <a:pPr marL="0" indent="0" algn="l">
              <a:buNone/>
            </a:pPr>
            <a:r>
              <a:rPr lang="en-US" sz="1800">
                <a:solidFill>
                  <a:srgbClr val="A8332F"/>
                </a:solidFill>
                <a:latin typeface="Georgia" pitchFamily="34" charset="0"/>
                <a:ea typeface="Georgia" pitchFamily="34" charset="-122"/>
                <a:cs typeface="Georgia" pitchFamily="34" charset="-120"/>
              </a:rPr>
              <a:t>Potential Cost of Inaction   $7,795,000</a:t>
            </a:r>
            <a:endParaRPr lang="en-US" sz="1800"/>
          </a:p>
        </p:txBody>
      </p:sp>
      <p:sp>
        <p:nvSpPr>
          <p:cNvPr id="15" name="Text 13"/>
          <p:cNvSpPr/>
          <p:nvPr/>
        </p:nvSpPr>
        <p:spPr>
          <a:xfrm>
            <a:off x="777240" y="4123944"/>
            <a:ext cx="10698480" cy="201168"/>
          </a:xfrm>
          <a:prstGeom prst="rect">
            <a:avLst/>
          </a:prstGeom>
          <a:noFill/>
          <a:ln/>
        </p:spPr>
        <p:txBody>
          <a:bodyPr wrap="square" lIns="0" tIns="0" rIns="0" bIns="0" rtlCol="0" anchor="ctr"/>
          <a:lstStyle/>
          <a:p>
            <a:pPr marL="0" indent="0" algn="l">
              <a:buNone/>
            </a:pPr>
            <a:r>
              <a:rPr lang="en-US" sz="1600">
                <a:solidFill>
                  <a:srgbClr val="8B7355"/>
                </a:solidFill>
                <a:latin typeface="Calibri" pitchFamily="34" charset="0"/>
                <a:ea typeface="Calibri" pitchFamily="34" charset="-122"/>
                <a:cs typeface="Calibri" pitchFamily="34" charset="-120"/>
              </a:rPr>
              <a:t>12.83% of generational wealth is destroyed due to unprepared heirs</a:t>
            </a:r>
            <a:endParaRPr lang="en-US" sz="1600"/>
          </a:p>
        </p:txBody>
      </p:sp>
      <p:pic>
        <p:nvPicPr>
          <p:cNvPr id="16"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7"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would like to give 10% of the total revenue of the business each year.</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481328"/>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In 2022, you gave 1.38% of your gross profit ($184,000).</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In 2023, you gave 2% of your gross profit ($300,000).</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In 2024, you are projecting to generate 27 million of total revenue. Your gross profit will likely be around 15.4 million.</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If you were to give 10% of your gross profit, this would be $1,540,000 of charitable giving.</a:t>
            </a:r>
            <a:endParaRPr lang="en-US" sz="1700"/>
          </a:p>
        </p:txBody>
      </p:sp>
      <p:sp>
        <p:nvSpPr>
          <p:cNvPr id="13" name="Text 11"/>
          <p:cNvSpPr/>
          <p:nvPr/>
        </p:nvSpPr>
        <p:spPr>
          <a:xfrm>
            <a:off x="548640" y="4178808"/>
            <a:ext cx="10972800" cy="274320"/>
          </a:xfrm>
          <a:prstGeom prst="rect">
            <a:avLst/>
          </a:prstGeom>
          <a:noFill/>
          <a:ln/>
        </p:spPr>
        <p:txBody>
          <a:bodyPr wrap="square" lIns="0" tIns="0" rIns="0" bIns="0" rtlCol="0" anchor="ctr"/>
          <a:lstStyle/>
          <a:p>
            <a:pPr marL="0" indent="0" algn="l">
              <a:buNone/>
            </a:pPr>
            <a:r>
              <a:rPr lang="en-US" sz="1750" b="1">
                <a:solidFill>
                  <a:srgbClr val="A8332F"/>
                </a:solidFill>
                <a:latin typeface="Calibri" pitchFamily="34" charset="0"/>
                <a:ea typeface="Calibri" pitchFamily="34" charset="-122"/>
                <a:cs typeface="Calibri" pitchFamily="34" charset="-120"/>
              </a:rPr>
              <a:t>Potential Challenges</a:t>
            </a:r>
            <a:endParaRPr lang="en-US" sz="1750"/>
          </a:p>
        </p:txBody>
      </p:sp>
      <p:sp>
        <p:nvSpPr>
          <p:cNvPr id="14" name="Text 12"/>
          <p:cNvSpPr/>
          <p:nvPr/>
        </p:nvSpPr>
        <p:spPr>
          <a:xfrm>
            <a:off x="548640" y="4471416"/>
            <a:ext cx="11091672" cy="438912"/>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There is a $1.2 million difference between your current giving and desired level of giving at a projected gross profit of $15.4 million.</a:t>
            </a:r>
            <a:endParaRPr lang="en-US" sz="1700"/>
          </a:p>
        </p:txBody>
      </p:sp>
      <p:pic>
        <p:nvPicPr>
          <p:cNvPr id="1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In 2024, we would like to travel to Uganda to support Hope Filled Hearts 4 Africa, and create the opportunity for our children to come as well.</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786384"/>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do not have a plan for this to happen in 2024.</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It will be necessary to determine what the cost to take the family will be.</a:t>
            </a:r>
            <a:endParaRPr lang="en-US" sz="1700"/>
          </a:p>
        </p:txBody>
      </p:sp>
      <p:sp>
        <p:nvSpPr>
          <p:cNvPr id="13" name="Text 11"/>
          <p:cNvSpPr/>
          <p:nvPr/>
        </p:nvSpPr>
        <p:spPr>
          <a:xfrm>
            <a:off x="548640" y="3483864"/>
            <a:ext cx="10972800" cy="274320"/>
          </a:xfrm>
          <a:prstGeom prst="rect">
            <a:avLst/>
          </a:prstGeom>
          <a:noFill/>
          <a:ln/>
        </p:spPr>
        <p:txBody>
          <a:bodyPr wrap="square" lIns="0" tIns="0" rIns="0" bIns="0" rtlCol="0" anchor="ctr"/>
          <a:lstStyle/>
          <a:p>
            <a:pPr marL="0" indent="0" algn="l">
              <a:buNone/>
            </a:pPr>
            <a:r>
              <a:rPr lang="en-US" sz="1750" b="1">
                <a:solidFill>
                  <a:srgbClr val="A8332F"/>
                </a:solidFill>
                <a:latin typeface="Calibri" pitchFamily="34" charset="0"/>
                <a:ea typeface="Calibri" pitchFamily="34" charset="-122"/>
                <a:cs typeface="Calibri" pitchFamily="34" charset="-120"/>
              </a:rPr>
              <a:t>Potential Challenges</a:t>
            </a:r>
            <a:endParaRPr lang="en-US" sz="1750"/>
          </a:p>
        </p:txBody>
      </p:sp>
      <p:sp>
        <p:nvSpPr>
          <p:cNvPr id="14" name="Text 12"/>
          <p:cNvSpPr/>
          <p:nvPr/>
        </p:nvSpPr>
        <p:spPr>
          <a:xfrm>
            <a:off x="548640" y="3776472"/>
            <a:ext cx="11091672" cy="438912"/>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There may be an opportunity to make portions of this trip tax deductible.</a:t>
            </a:r>
            <a:endParaRPr lang="en-US" sz="1700"/>
          </a:p>
        </p:txBody>
      </p:sp>
      <p:pic>
        <p:nvPicPr>
          <p:cNvPr id="1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would like to take a family trip to Israel after the war is over.</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do not have a plan for this to happen.</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It will be necessary to determine what the cost to take the family will be.</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It will be beneficial to begin having discussions with the family to discuss your intentions and their desires for participating in this trip.</a:t>
            </a:r>
            <a:endParaRPr lang="en-US" sz="1700"/>
          </a:p>
        </p:txBody>
      </p:sp>
      <p:pic>
        <p:nvPicPr>
          <p:cNvPr id="13"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4"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would like to include our children in our generosity.</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both scored this as a 4/5 on your whole family being included in your generosity currently.</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However, in our retreat, you both mentioned that you don't currently have giving meetings, and that it would be powerful to do that.</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both shared that your family is generous, so the heart is there.</a:t>
            </a:r>
            <a:endParaRPr lang="en-US" sz="1700"/>
          </a:p>
        </p:txBody>
      </p:sp>
      <p:pic>
        <p:nvPicPr>
          <p:cNvPr id="13"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4"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would like to determine if there is a tax-efficient way to provide for our parents' needs.</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are providing $3,000 a month to Josh's parents for their support.</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are paying part of Deb's mom's mortgage at $1,700 a month.</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This $56,400 is currently being paid with after tax dollars.</a:t>
            </a:r>
            <a:endParaRPr lang="en-US" sz="1700"/>
          </a:p>
        </p:txBody>
      </p:sp>
      <p:sp>
        <p:nvSpPr>
          <p:cNvPr id="13" name="Shape 11"/>
          <p:cNvSpPr/>
          <p:nvPr/>
        </p:nvSpPr>
        <p:spPr>
          <a:xfrm>
            <a:off x="548640" y="3831336"/>
            <a:ext cx="11091672" cy="548640"/>
          </a:xfrm>
          <a:prstGeom prst="rect">
            <a:avLst/>
          </a:prstGeom>
          <a:solidFill>
            <a:srgbClr val="FAF7F2"/>
          </a:solidFill>
          <a:ln w="6350">
            <a:solidFill>
              <a:srgbClr val="A8332F"/>
            </a:solidFill>
            <a:prstDash val="solid"/>
          </a:ln>
        </p:spPr>
        <p:txBody>
          <a:bodyPr/>
          <a:lstStyle/>
          <a:p>
            <a:endParaRPr lang="en-US"/>
          </a:p>
        </p:txBody>
      </p:sp>
      <p:sp>
        <p:nvSpPr>
          <p:cNvPr id="14" name="Text 12"/>
          <p:cNvSpPr/>
          <p:nvPr/>
        </p:nvSpPr>
        <p:spPr>
          <a:xfrm>
            <a:off x="777240" y="3877056"/>
            <a:ext cx="7315200" cy="274320"/>
          </a:xfrm>
          <a:prstGeom prst="rect">
            <a:avLst/>
          </a:prstGeom>
          <a:noFill/>
          <a:ln/>
        </p:spPr>
        <p:txBody>
          <a:bodyPr wrap="square" lIns="0" tIns="0" rIns="0" bIns="0" rtlCol="0" anchor="ctr"/>
          <a:lstStyle/>
          <a:p>
            <a:pPr marL="0" indent="0" algn="l">
              <a:buNone/>
            </a:pPr>
            <a:r>
              <a:rPr lang="en-US" sz="1800">
                <a:solidFill>
                  <a:srgbClr val="A8332F"/>
                </a:solidFill>
                <a:latin typeface="Georgia" pitchFamily="34" charset="0"/>
                <a:ea typeface="Georgia" pitchFamily="34" charset="-122"/>
                <a:cs typeface="Georgia" pitchFamily="34" charset="-120"/>
              </a:rPr>
              <a:t>Potential Cost of Inaction   $369,000+</a:t>
            </a:r>
            <a:endParaRPr lang="en-US" sz="1800"/>
          </a:p>
        </p:txBody>
      </p:sp>
      <p:sp>
        <p:nvSpPr>
          <p:cNvPr id="15" name="Text 13"/>
          <p:cNvSpPr/>
          <p:nvPr/>
        </p:nvSpPr>
        <p:spPr>
          <a:xfrm>
            <a:off x="777240" y="4123944"/>
            <a:ext cx="10698480" cy="201168"/>
          </a:xfrm>
          <a:prstGeom prst="rect">
            <a:avLst/>
          </a:prstGeom>
          <a:noFill/>
          <a:ln/>
        </p:spPr>
        <p:txBody>
          <a:bodyPr wrap="square" lIns="0" tIns="0" rIns="0" bIns="0" rtlCol="0" anchor="ctr"/>
          <a:lstStyle/>
          <a:p>
            <a:pPr marL="0" indent="0" algn="l">
              <a:buNone/>
            </a:pPr>
            <a:r>
              <a:rPr lang="en-US" sz="1600">
                <a:solidFill>
                  <a:srgbClr val="8B7355"/>
                </a:solidFill>
                <a:latin typeface="Calibri" pitchFamily="34" charset="0"/>
                <a:ea typeface="Calibri" pitchFamily="34" charset="-122"/>
                <a:cs typeface="Calibri" pitchFamily="34" charset="-120"/>
              </a:rPr>
              <a:t>At a federal marginal tax rate of 37%, you could save $21,000 annually if these expenses could be paid with pre-tax dollars.</a:t>
            </a:r>
            <a:endParaRPr lang="en-US" sz="1600"/>
          </a:p>
        </p:txBody>
      </p:sp>
      <p:pic>
        <p:nvPicPr>
          <p:cNvPr id="16"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7"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would like to create a formalized business succession strategy that protects the "sweetness" that makes Bee Green unique. </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481328"/>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mentioned that a strategy is needed to determine the timing and method of transferring the business.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don't have a written succession plan.</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Without a formalized plan in place, if your entire immediate family were to pass away, the business interest would pass according to California intestate law.</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Currently the demand for businesses in your industry is very high, and the outlook for continued demand is very strong.</a:t>
            </a:r>
            <a:endParaRPr lang="en-US" sz="1700"/>
          </a:p>
        </p:txBody>
      </p:sp>
      <p:sp>
        <p:nvSpPr>
          <p:cNvPr id="13" name="Text 11"/>
          <p:cNvSpPr/>
          <p:nvPr/>
        </p:nvSpPr>
        <p:spPr>
          <a:xfrm>
            <a:off x="548640" y="4178808"/>
            <a:ext cx="10972800" cy="274320"/>
          </a:xfrm>
          <a:prstGeom prst="rect">
            <a:avLst/>
          </a:prstGeom>
          <a:noFill/>
          <a:ln/>
        </p:spPr>
        <p:txBody>
          <a:bodyPr wrap="square" lIns="0" tIns="0" rIns="0" bIns="0" rtlCol="0" anchor="ctr"/>
          <a:lstStyle/>
          <a:p>
            <a:pPr marL="0" indent="0" algn="l">
              <a:buNone/>
            </a:pPr>
            <a:r>
              <a:rPr lang="en-US" sz="1750" b="1">
                <a:solidFill>
                  <a:srgbClr val="A8332F"/>
                </a:solidFill>
                <a:latin typeface="Calibri" pitchFamily="34" charset="0"/>
                <a:ea typeface="Calibri" pitchFamily="34" charset="-122"/>
                <a:cs typeface="Calibri" pitchFamily="34" charset="-120"/>
              </a:rPr>
              <a:t>Potential Challenges</a:t>
            </a:r>
            <a:endParaRPr lang="en-US" sz="1750"/>
          </a:p>
        </p:txBody>
      </p:sp>
      <p:sp>
        <p:nvSpPr>
          <p:cNvPr id="14" name="Text 12"/>
          <p:cNvSpPr/>
          <p:nvPr/>
        </p:nvSpPr>
        <p:spPr>
          <a:xfrm>
            <a:off x="548640" y="4471416"/>
            <a:ext cx="11091672" cy="438912"/>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Without a thorough understanding of valuation, creating an optimal succession and estate strategy will be difficult.</a:t>
            </a:r>
            <a:endParaRPr lang="en-US" sz="1700"/>
          </a:p>
        </p:txBody>
      </p:sp>
      <p:pic>
        <p:nvPicPr>
          <p:cNvPr id="1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wish to eliminate all inheritance taxes on gifting our children their inheritance.</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481328"/>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Your current estate plan directs all of your assets to your children and creates a significant estate tax issue.</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If you were both to pass away today, $22,438,000 would be due in estate taxes.</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If you pass away after 2025, your estate taxes increase to $27,726,000 due to changes in the Applicable Exclusion Amount.</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Your estate does not have the liquidity to pay the estate tax bill.</a:t>
            </a:r>
            <a:endParaRPr lang="en-US" sz="1700"/>
          </a:p>
        </p:txBody>
      </p:sp>
      <p:sp>
        <p:nvSpPr>
          <p:cNvPr id="13" name="Shape 11"/>
          <p:cNvSpPr/>
          <p:nvPr/>
        </p:nvSpPr>
        <p:spPr>
          <a:xfrm>
            <a:off x="548640" y="4178807"/>
            <a:ext cx="11091672" cy="808351"/>
          </a:xfrm>
          <a:prstGeom prst="rect">
            <a:avLst/>
          </a:prstGeom>
          <a:solidFill>
            <a:srgbClr val="FAF7F2"/>
          </a:solidFill>
          <a:ln w="6350">
            <a:solidFill>
              <a:srgbClr val="A8332F"/>
            </a:solidFill>
            <a:prstDash val="solid"/>
          </a:ln>
        </p:spPr>
        <p:txBody>
          <a:bodyPr/>
          <a:lstStyle/>
          <a:p>
            <a:endParaRPr lang="en-US"/>
          </a:p>
        </p:txBody>
      </p:sp>
      <p:sp>
        <p:nvSpPr>
          <p:cNvPr id="14" name="Text 12"/>
          <p:cNvSpPr/>
          <p:nvPr/>
        </p:nvSpPr>
        <p:spPr>
          <a:xfrm>
            <a:off x="777240" y="4224528"/>
            <a:ext cx="7315200" cy="274320"/>
          </a:xfrm>
          <a:prstGeom prst="rect">
            <a:avLst/>
          </a:prstGeom>
          <a:noFill/>
          <a:ln/>
        </p:spPr>
        <p:txBody>
          <a:bodyPr wrap="square" lIns="0" tIns="0" rIns="0" bIns="0" rtlCol="0" anchor="ctr"/>
          <a:lstStyle/>
          <a:p>
            <a:pPr marL="0" indent="0" algn="l">
              <a:buNone/>
            </a:pPr>
            <a:r>
              <a:rPr lang="en-US" sz="1800">
                <a:solidFill>
                  <a:srgbClr val="A8332F"/>
                </a:solidFill>
                <a:latin typeface="Georgia" pitchFamily="34" charset="0"/>
                <a:ea typeface="Georgia" pitchFamily="34" charset="-122"/>
                <a:cs typeface="Georgia" pitchFamily="34" charset="-120"/>
              </a:rPr>
              <a:t>Potential Cost of Inaction   $22,438,000</a:t>
            </a:r>
            <a:endParaRPr lang="en-US" sz="1800"/>
          </a:p>
        </p:txBody>
      </p:sp>
      <p:sp>
        <p:nvSpPr>
          <p:cNvPr id="15" name="Text 13"/>
          <p:cNvSpPr/>
          <p:nvPr/>
        </p:nvSpPr>
        <p:spPr>
          <a:xfrm>
            <a:off x="777240" y="4471415"/>
            <a:ext cx="10698480" cy="473701"/>
          </a:xfrm>
          <a:prstGeom prst="rect">
            <a:avLst/>
          </a:prstGeom>
          <a:noFill/>
          <a:ln/>
        </p:spPr>
        <p:txBody>
          <a:bodyPr wrap="square" lIns="0" tIns="0" rIns="0" bIns="0" rtlCol="0" anchor="ctr"/>
          <a:lstStyle/>
          <a:p>
            <a:pPr marL="0" indent="0" algn="l">
              <a:buNone/>
            </a:pPr>
            <a:r>
              <a:rPr lang="en-US" sz="1600">
                <a:solidFill>
                  <a:srgbClr val="8B7355"/>
                </a:solidFill>
                <a:latin typeface="Calibri" pitchFamily="34" charset="0"/>
                <a:ea typeface="Calibri" pitchFamily="34" charset="-122"/>
                <a:cs typeface="Calibri" pitchFamily="34" charset="-120"/>
              </a:rPr>
              <a:t>This is your current projected estate tax amount. There is typically a 30% discount applied to unplanned business sales: $12,416,000.</a:t>
            </a:r>
            <a:endParaRPr lang="en-US" sz="1600"/>
          </a:p>
        </p:txBody>
      </p:sp>
      <p:pic>
        <p:nvPicPr>
          <p:cNvPr id="16"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7"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wish to minimize all capital gains taxes on the sale of our appreciated assets.</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438912"/>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Without proper planning, you will pay capital gains, depreciation recapture, and state income taxes on the sale of your business.</a:t>
            </a:r>
            <a:endParaRPr lang="en-US" sz="1700"/>
          </a:p>
        </p:txBody>
      </p:sp>
      <p:sp>
        <p:nvSpPr>
          <p:cNvPr id="13" name="Shape 11"/>
          <p:cNvSpPr/>
          <p:nvPr/>
        </p:nvSpPr>
        <p:spPr>
          <a:xfrm>
            <a:off x="548640" y="3136391"/>
            <a:ext cx="11091672" cy="988800"/>
          </a:xfrm>
          <a:prstGeom prst="rect">
            <a:avLst/>
          </a:prstGeom>
          <a:solidFill>
            <a:srgbClr val="FAF7F2"/>
          </a:solidFill>
          <a:ln w="6350">
            <a:solidFill>
              <a:srgbClr val="A8332F"/>
            </a:solidFill>
            <a:prstDash val="solid"/>
          </a:ln>
        </p:spPr>
        <p:txBody>
          <a:bodyPr/>
          <a:lstStyle/>
          <a:p>
            <a:endParaRPr lang="en-US"/>
          </a:p>
        </p:txBody>
      </p:sp>
      <p:sp>
        <p:nvSpPr>
          <p:cNvPr id="14" name="Text 12"/>
          <p:cNvSpPr/>
          <p:nvPr/>
        </p:nvSpPr>
        <p:spPr>
          <a:xfrm>
            <a:off x="777240" y="3182112"/>
            <a:ext cx="7315200" cy="274320"/>
          </a:xfrm>
          <a:prstGeom prst="rect">
            <a:avLst/>
          </a:prstGeom>
          <a:noFill/>
          <a:ln/>
        </p:spPr>
        <p:txBody>
          <a:bodyPr wrap="square" lIns="0" tIns="0" rIns="0" bIns="0" rtlCol="0" anchor="ctr"/>
          <a:lstStyle/>
          <a:p>
            <a:pPr marL="0" indent="0" algn="l">
              <a:buNone/>
            </a:pPr>
            <a:r>
              <a:rPr lang="en-US" sz="1800">
                <a:solidFill>
                  <a:srgbClr val="A8332F"/>
                </a:solidFill>
                <a:latin typeface="Georgia" pitchFamily="34" charset="0"/>
                <a:ea typeface="Georgia" pitchFamily="34" charset="-122"/>
                <a:cs typeface="Georgia" pitchFamily="34" charset="-120"/>
              </a:rPr>
              <a:t>Potential Cost of Inaction   $11,651,000</a:t>
            </a:r>
            <a:endParaRPr lang="en-US" sz="1800"/>
          </a:p>
        </p:txBody>
      </p:sp>
      <p:sp>
        <p:nvSpPr>
          <p:cNvPr id="15" name="Text 13"/>
          <p:cNvSpPr/>
          <p:nvPr/>
        </p:nvSpPr>
        <p:spPr>
          <a:xfrm>
            <a:off x="777240" y="3428999"/>
            <a:ext cx="10698480" cy="576696"/>
          </a:xfrm>
          <a:prstGeom prst="rect">
            <a:avLst/>
          </a:prstGeom>
          <a:noFill/>
          <a:ln/>
        </p:spPr>
        <p:txBody>
          <a:bodyPr wrap="square" lIns="0" tIns="0" rIns="0" bIns="0" rtlCol="0" anchor="ctr"/>
          <a:lstStyle/>
          <a:p>
            <a:pPr marL="0" indent="0" algn="l">
              <a:buNone/>
            </a:pPr>
            <a:r>
              <a:rPr lang="en-US" sz="1600">
                <a:solidFill>
                  <a:srgbClr val="8B7355"/>
                </a:solidFill>
                <a:latin typeface="Calibri" pitchFamily="34" charset="0"/>
                <a:ea typeface="Calibri" pitchFamily="34" charset="-122"/>
                <a:cs typeface="Calibri" pitchFamily="34" charset="-120"/>
              </a:rPr>
              <a:t>If you were to sell the business for $38,000,000 you would be subject to 20% federal tax on the gain, 25% for depreciation recapture and up to 12.3% state income taxes.</a:t>
            </a:r>
            <a:endParaRPr lang="en-US" sz="1600"/>
          </a:p>
        </p:txBody>
      </p:sp>
      <p:pic>
        <p:nvPicPr>
          <p:cNvPr id="16"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7"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wish to minimize our personal and business income taxes through real estate strategies and other creative, traditional and charitable planning.</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Based on your 2022 federal tax return, you are at the marginal tax rate 37% and your average tax rate 31.5%.</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In 2022, you had charitable deductions of 11% of your adjusted gross income (AGI).</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You anticipate paying more taxes in 2024 and beyond than you have in previous years.</a:t>
            </a:r>
            <a:endParaRPr lang="en-US" sz="1700"/>
          </a:p>
        </p:txBody>
      </p:sp>
      <p:sp>
        <p:nvSpPr>
          <p:cNvPr id="13" name="Shape 11"/>
          <p:cNvSpPr/>
          <p:nvPr/>
        </p:nvSpPr>
        <p:spPr>
          <a:xfrm>
            <a:off x="548640" y="3831336"/>
            <a:ext cx="11091672" cy="850392"/>
          </a:xfrm>
          <a:prstGeom prst="rect">
            <a:avLst/>
          </a:prstGeom>
          <a:solidFill>
            <a:srgbClr val="FAF7F2"/>
          </a:solidFill>
          <a:ln w="6350">
            <a:solidFill>
              <a:srgbClr val="A8332F"/>
            </a:solidFill>
            <a:prstDash val="solid"/>
          </a:ln>
        </p:spPr>
        <p:txBody>
          <a:bodyPr/>
          <a:lstStyle/>
          <a:p>
            <a:endParaRPr lang="en-US"/>
          </a:p>
        </p:txBody>
      </p:sp>
      <p:sp>
        <p:nvSpPr>
          <p:cNvPr id="14" name="Text 12"/>
          <p:cNvSpPr/>
          <p:nvPr/>
        </p:nvSpPr>
        <p:spPr>
          <a:xfrm>
            <a:off x="777240" y="3877056"/>
            <a:ext cx="7315200" cy="274320"/>
          </a:xfrm>
          <a:prstGeom prst="rect">
            <a:avLst/>
          </a:prstGeom>
          <a:noFill/>
          <a:ln/>
        </p:spPr>
        <p:txBody>
          <a:bodyPr wrap="square" lIns="0" tIns="0" rIns="0" bIns="0" rtlCol="0" anchor="ctr"/>
          <a:lstStyle/>
          <a:p>
            <a:pPr marL="0" indent="0" algn="l">
              <a:buNone/>
            </a:pPr>
            <a:r>
              <a:rPr lang="en-US" sz="1800">
                <a:solidFill>
                  <a:srgbClr val="A8332F"/>
                </a:solidFill>
                <a:latin typeface="Georgia" pitchFamily="34" charset="0"/>
                <a:ea typeface="Georgia" pitchFamily="34" charset="-122"/>
                <a:cs typeface="Georgia" pitchFamily="34" charset="-120"/>
              </a:rPr>
              <a:t>Potential Cost of Inaction   $2,090,000</a:t>
            </a:r>
            <a:endParaRPr lang="en-US" sz="1800"/>
          </a:p>
        </p:txBody>
      </p:sp>
      <p:sp>
        <p:nvSpPr>
          <p:cNvPr id="15" name="Text 13"/>
          <p:cNvSpPr/>
          <p:nvPr/>
        </p:nvSpPr>
        <p:spPr>
          <a:xfrm>
            <a:off x="777240" y="4123944"/>
            <a:ext cx="10698480" cy="484424"/>
          </a:xfrm>
          <a:prstGeom prst="rect">
            <a:avLst/>
          </a:prstGeom>
          <a:noFill/>
          <a:ln/>
        </p:spPr>
        <p:txBody>
          <a:bodyPr wrap="square" lIns="0" tIns="0" rIns="0" bIns="0" rtlCol="0" anchor="ctr"/>
          <a:lstStyle/>
          <a:p>
            <a:pPr marL="0" indent="0" algn="l">
              <a:buNone/>
            </a:pPr>
            <a:r>
              <a:rPr lang="en-US" sz="1600">
                <a:solidFill>
                  <a:srgbClr val="8B7355"/>
                </a:solidFill>
                <a:latin typeface="Calibri" pitchFamily="34" charset="0"/>
                <a:ea typeface="Calibri" pitchFamily="34" charset="-122"/>
                <a:cs typeface="Calibri" pitchFamily="34" charset="-120"/>
              </a:rPr>
              <a:t>If your income taxes were to be reduced by 12.67% annually, this would result in $47,500 in annual tax savings. Over your lifetime, this would total $2,090,000.</a:t>
            </a:r>
            <a:endParaRPr lang="en-US" sz="1600"/>
          </a:p>
        </p:txBody>
      </p:sp>
      <p:pic>
        <p:nvPicPr>
          <p:cNvPr id="16"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7"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Goals and Intentions</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Analysis</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4630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Text 8"/>
          <p:cNvSpPr/>
          <p:nvPr/>
        </p:nvSpPr>
        <p:spPr>
          <a:xfrm>
            <a:off x="777240" y="1508760"/>
            <a:ext cx="10698480" cy="594360"/>
          </a:xfrm>
          <a:prstGeom prst="rect">
            <a:avLst/>
          </a:prstGeom>
          <a:noFill/>
          <a:ln/>
        </p:spPr>
        <p:txBody>
          <a:bodyPr wrap="square" lIns="0" tIns="0" rIns="0" bIns="0" rtlCol="0" anchor="ctr"/>
          <a:lstStyle/>
          <a:p>
            <a:pPr marL="0" indent="0" algn="l">
              <a:lnSpc>
                <a:spcPct val="120000"/>
              </a:lnSpc>
              <a:buNone/>
            </a:pPr>
            <a:r>
              <a:rPr lang="en-US" sz="1800">
                <a:solidFill>
                  <a:srgbClr val="171738"/>
                </a:solidFill>
                <a:latin typeface="Georgia" pitchFamily="34" charset="0"/>
                <a:ea typeface="Georgia" pitchFamily="34" charset="-122"/>
                <a:cs typeface="Georgia" pitchFamily="34" charset="-120"/>
              </a:rPr>
              <a:t>We wish to strengthen our marriage by attending Christian marriage retreats and/or counseling sessions.</a:t>
            </a:r>
            <a:endParaRPr lang="en-US" sz="1800"/>
          </a:p>
        </p:txBody>
      </p:sp>
      <p:sp>
        <p:nvSpPr>
          <p:cNvPr id="11" name="Text 9"/>
          <p:cNvSpPr/>
          <p:nvPr/>
        </p:nvSpPr>
        <p:spPr>
          <a:xfrm>
            <a:off x="548640" y="2331720"/>
            <a:ext cx="10972800" cy="274320"/>
          </a:xfrm>
          <a:prstGeom prst="rect">
            <a:avLst/>
          </a:prstGeom>
          <a:noFill/>
          <a:ln/>
        </p:spPr>
        <p:txBody>
          <a:bodyPr wrap="square" lIns="0" tIns="0" rIns="0" bIns="0" rtlCol="0" anchor="ctr"/>
          <a:lstStyle/>
          <a:p>
            <a:pPr marL="0" indent="0" algn="l">
              <a:buNone/>
            </a:pPr>
            <a:r>
              <a:rPr lang="en-US" sz="1750" b="1">
                <a:solidFill>
                  <a:srgbClr val="171738"/>
                </a:solidFill>
                <a:latin typeface="Calibri" pitchFamily="34" charset="0"/>
                <a:ea typeface="Calibri" pitchFamily="34" charset="-122"/>
                <a:cs typeface="Calibri" pitchFamily="34" charset="-120"/>
              </a:rPr>
              <a:t>Observations</a:t>
            </a:r>
            <a:endParaRPr lang="en-US" sz="1750"/>
          </a:p>
        </p:txBody>
      </p:sp>
      <p:sp>
        <p:nvSpPr>
          <p:cNvPr id="12" name="Text 10"/>
          <p:cNvSpPr/>
          <p:nvPr/>
        </p:nvSpPr>
        <p:spPr>
          <a:xfrm>
            <a:off x="548640" y="2624328"/>
            <a:ext cx="11091672" cy="1133856"/>
          </a:xfrm>
          <a:prstGeom prst="rect">
            <a:avLst/>
          </a:prstGeom>
          <a:noFill/>
          <a:ln/>
        </p:spPr>
        <p:txBody>
          <a:bodyPr wrap="square" lIns="0" tIns="0" rIns="0" bIns="0" rtlCol="0" anchor="t"/>
          <a:lstStyle/>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Based on your relational survey, there is an opportunity for growth in how you communicate and handle conflict.</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Not being so busy, really taking time to have meaningful conversations, lessons, and emotional vulnerability were all mentioned as ways your family could improve your communication.</a:t>
            </a:r>
            <a:endParaRPr lang="en-US" sz="1700"/>
          </a:p>
          <a:p>
            <a:pPr marL="342900" indent="-342900" algn="l">
              <a:spcAft>
                <a:spcPts val="400"/>
              </a:spcAft>
              <a:buSzPct val="100000"/>
              <a:buChar char="•"/>
            </a:pPr>
            <a:r>
              <a:rPr lang="en-US" sz="1700">
                <a:solidFill>
                  <a:srgbClr val="8B7355"/>
                </a:solidFill>
                <a:latin typeface="Calibri" pitchFamily="34" charset="0"/>
                <a:ea typeface="Calibri" pitchFamily="34" charset="-122"/>
                <a:cs typeface="Calibri" pitchFamily="34" charset="-120"/>
              </a:rPr>
              <a:t>There are some powerful opportunities for our offerings to partner well with marriage retreats and/or marital counseling.</a:t>
            </a:r>
            <a:endParaRPr lang="en-US" sz="1700"/>
          </a:p>
        </p:txBody>
      </p:sp>
      <p:pic>
        <p:nvPicPr>
          <p:cNvPr id="13"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4"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8229600" cy="685800"/>
          </a:xfrm>
          <a:prstGeom prst="rect">
            <a:avLst/>
          </a:prstGeom>
          <a:noFill/>
          <a:ln/>
        </p:spPr>
        <p:txBody>
          <a:bodyPr wrap="square" lIns="0" tIns="0" rIns="0" bIns="0" rtlCol="0" anchor="ctr"/>
          <a:lstStyle/>
          <a:p>
            <a:r>
              <a:rPr lang="en-US" sz="2400">
                <a:solidFill>
                  <a:srgbClr val="171738"/>
                </a:solidFill>
                <a:latin typeface="Georgia" panose="02040502050405020303" pitchFamily="18" charset="0"/>
                <a:ea typeface="Georgia"/>
                <a:cs typeface="Georgia"/>
              </a:rPr>
              <a:t>25 Stock Growth Strategy</a:t>
            </a:r>
            <a:endParaRPr lang="en-US" sz="2400">
              <a:latin typeface="Georgia" panose="02040502050405020303" pitchFamily="18" charset="0"/>
            </a:endParaRPr>
          </a:p>
        </p:txBody>
      </p:sp>
      <p:sp>
        <p:nvSpPr>
          <p:cNvPr id="3" name="Shape 1"/>
          <p:cNvSpPr/>
          <p:nvPr/>
        </p:nvSpPr>
        <p:spPr>
          <a:xfrm>
            <a:off x="548640" y="1024129"/>
            <a:ext cx="1051560" cy="41148"/>
          </a:xfrm>
          <a:prstGeom prst="rect">
            <a:avLst/>
          </a:prstGeom>
          <a:solidFill>
            <a:srgbClr val="C9A84C"/>
          </a:solidFill>
          <a:ln/>
        </p:spPr>
        <p:txBody>
          <a:bodyPr/>
          <a:lstStyle/>
          <a:p>
            <a:endParaRPr lang="en-US"/>
          </a:p>
        </p:txBody>
      </p:sp>
      <p:sp>
        <p:nvSpPr>
          <p:cNvPr id="4" name="Text 2"/>
          <p:cNvSpPr/>
          <p:nvPr/>
        </p:nvSpPr>
        <p:spPr>
          <a:xfrm>
            <a:off x="502920" y="1234440"/>
            <a:ext cx="5486400" cy="365760"/>
          </a:xfrm>
          <a:prstGeom prst="rect">
            <a:avLst/>
          </a:prstGeom>
          <a:noFill/>
          <a:ln/>
        </p:spPr>
        <p:txBody>
          <a:bodyPr wrap="square" lIns="0" tIns="0" rIns="0" bIns="0" rtlCol="0" anchor="ctr"/>
          <a:lstStyle/>
          <a:p>
            <a:r>
              <a:rPr lang="en-US" sz="1331" kern="0" spc="300">
                <a:solidFill>
                  <a:srgbClr val="8B7355"/>
                </a:solidFill>
                <a:ea typeface="Calibri"/>
                <a:cs typeface="Calibri"/>
              </a:rPr>
              <a:t>RETURNS (AS OF 9/30/2026)</a:t>
            </a:r>
            <a:endParaRPr lang="en-US" sz="1331"/>
          </a:p>
        </p:txBody>
      </p:sp>
      <p:sp>
        <p:nvSpPr>
          <p:cNvPr id="5" name="Text 3"/>
          <p:cNvSpPr/>
          <p:nvPr/>
        </p:nvSpPr>
        <p:spPr>
          <a:xfrm>
            <a:off x="3840480" y="1664208"/>
            <a:ext cx="2194560" cy="365760"/>
          </a:xfrm>
          <a:prstGeom prst="rect">
            <a:avLst/>
          </a:prstGeom>
          <a:noFill/>
          <a:ln/>
        </p:spPr>
        <p:txBody>
          <a:bodyPr wrap="square" lIns="0" tIns="0" rIns="0" bIns="0" rtlCol="0" anchor="ctr"/>
          <a:lstStyle/>
          <a:p>
            <a:pPr algn="ctr"/>
            <a:r>
              <a:rPr lang="en-US" sz="1200" kern="0" spc="200">
                <a:solidFill>
                  <a:srgbClr val="8B7355"/>
                </a:solidFill>
                <a:ea typeface="Calibri"/>
                <a:cs typeface="Calibri"/>
              </a:rPr>
              <a:t>1-MO</a:t>
            </a:r>
            <a:endParaRPr lang="en-US" sz="1200"/>
          </a:p>
        </p:txBody>
      </p:sp>
      <p:sp>
        <p:nvSpPr>
          <p:cNvPr id="6" name="Text 4"/>
          <p:cNvSpPr/>
          <p:nvPr/>
        </p:nvSpPr>
        <p:spPr>
          <a:xfrm>
            <a:off x="6583680" y="1664208"/>
            <a:ext cx="2194560" cy="365760"/>
          </a:xfrm>
          <a:prstGeom prst="rect">
            <a:avLst/>
          </a:prstGeom>
          <a:noFill/>
          <a:ln/>
        </p:spPr>
        <p:txBody>
          <a:bodyPr wrap="square" lIns="0" tIns="0" rIns="0" bIns="0" rtlCol="0" anchor="ctr"/>
          <a:lstStyle/>
          <a:p>
            <a:pPr algn="ctr"/>
            <a:r>
              <a:rPr lang="en-US" sz="1200" kern="0" spc="200">
                <a:solidFill>
                  <a:srgbClr val="8B7355"/>
                </a:solidFill>
                <a:ea typeface="Calibri"/>
                <a:cs typeface="Calibri"/>
              </a:rPr>
              <a:t>3-MO</a:t>
            </a:r>
            <a:endParaRPr lang="en-US" sz="1200"/>
          </a:p>
        </p:txBody>
      </p:sp>
      <p:sp>
        <p:nvSpPr>
          <p:cNvPr id="7" name="Text 5"/>
          <p:cNvSpPr/>
          <p:nvPr/>
        </p:nvSpPr>
        <p:spPr>
          <a:xfrm>
            <a:off x="9326880" y="1664208"/>
            <a:ext cx="2194560" cy="365760"/>
          </a:xfrm>
          <a:prstGeom prst="rect">
            <a:avLst/>
          </a:prstGeom>
          <a:noFill/>
          <a:ln/>
        </p:spPr>
        <p:txBody>
          <a:bodyPr wrap="square" lIns="0" tIns="0" rIns="0" bIns="0" rtlCol="0" anchor="ctr"/>
          <a:lstStyle/>
          <a:p>
            <a:pPr algn="ctr"/>
            <a:r>
              <a:rPr lang="en-US" sz="1200" kern="0" spc="200">
                <a:solidFill>
                  <a:srgbClr val="8B7355"/>
                </a:solidFill>
                <a:ea typeface="Calibri"/>
                <a:cs typeface="Calibri"/>
              </a:rPr>
              <a:t>TR 8-MO</a:t>
            </a:r>
            <a:endParaRPr lang="en-US" sz="1200"/>
          </a:p>
        </p:txBody>
      </p:sp>
      <p:sp>
        <p:nvSpPr>
          <p:cNvPr id="8" name="Shape 6"/>
          <p:cNvSpPr/>
          <p:nvPr/>
        </p:nvSpPr>
        <p:spPr>
          <a:xfrm>
            <a:off x="548640" y="2130552"/>
            <a:ext cx="10927080" cy="0"/>
          </a:xfrm>
          <a:prstGeom prst="line">
            <a:avLst/>
          </a:prstGeom>
          <a:noFill/>
          <a:ln w="12700">
            <a:solidFill>
              <a:srgbClr val="F4EFE4"/>
            </a:solidFill>
            <a:prstDash val="solid"/>
          </a:ln>
        </p:spPr>
        <p:txBody>
          <a:bodyPr/>
          <a:lstStyle/>
          <a:p>
            <a:endParaRPr lang="en-US"/>
          </a:p>
        </p:txBody>
      </p:sp>
      <p:sp>
        <p:nvSpPr>
          <p:cNvPr id="9" name="Text 7"/>
          <p:cNvSpPr/>
          <p:nvPr/>
        </p:nvSpPr>
        <p:spPr>
          <a:xfrm>
            <a:off x="548640" y="2148840"/>
            <a:ext cx="2560320" cy="603504"/>
          </a:xfrm>
          <a:prstGeom prst="rect">
            <a:avLst/>
          </a:prstGeom>
          <a:noFill/>
          <a:ln/>
        </p:spPr>
        <p:txBody>
          <a:bodyPr wrap="square" lIns="0" tIns="1271" rIns="0" bIns="0" rtlCol="0" anchor="ctr"/>
          <a:lstStyle/>
          <a:p>
            <a:pPr>
              <a:lnSpc>
                <a:spcPct val="95000"/>
              </a:lnSpc>
            </a:pPr>
            <a:r>
              <a:rPr lang="en-US" sz="1000" kern="0" spc="200">
                <a:solidFill>
                  <a:srgbClr val="8B7355"/>
                </a:solidFill>
                <a:ea typeface="Calibri"/>
                <a:cs typeface="Calibri"/>
              </a:rPr>
              <a:t>GROSS</a:t>
            </a:r>
            <a:endParaRPr lang="en-US" sz="1000"/>
          </a:p>
        </p:txBody>
      </p:sp>
      <p:sp>
        <p:nvSpPr>
          <p:cNvPr id="10" name="Text 8"/>
          <p:cNvSpPr/>
          <p:nvPr/>
        </p:nvSpPr>
        <p:spPr>
          <a:xfrm>
            <a:off x="3840480" y="2148840"/>
            <a:ext cx="2194560" cy="603504"/>
          </a:xfrm>
          <a:prstGeom prst="rect">
            <a:avLst/>
          </a:prstGeom>
          <a:noFill/>
          <a:ln/>
        </p:spPr>
        <p:txBody>
          <a:bodyPr wrap="square" lIns="0" tIns="0" rIns="0" bIns="0" rtlCol="0" anchor="ctr"/>
          <a:lstStyle/>
          <a:p>
            <a:pPr algn="ctr"/>
            <a:r>
              <a:rPr lang="en-US" sz="1400">
                <a:solidFill>
                  <a:srgbClr val="A8332F"/>
                </a:solidFill>
                <a:latin typeface="Georgia" panose="02040502050405020303" pitchFamily="18" charset="0"/>
                <a:ea typeface="Georgia"/>
                <a:cs typeface="Georgia"/>
              </a:rPr>
              <a:t>-1.52%</a:t>
            </a:r>
            <a:endParaRPr lang="en-US" sz="1400">
              <a:latin typeface="Georgia" panose="02040502050405020303" pitchFamily="18" charset="0"/>
            </a:endParaRPr>
          </a:p>
        </p:txBody>
      </p:sp>
      <p:sp>
        <p:nvSpPr>
          <p:cNvPr id="11" name="Text 9"/>
          <p:cNvSpPr/>
          <p:nvPr/>
        </p:nvSpPr>
        <p:spPr>
          <a:xfrm>
            <a:off x="6583680" y="2148840"/>
            <a:ext cx="2194560" cy="603504"/>
          </a:xfrm>
          <a:prstGeom prst="rect">
            <a:avLst/>
          </a:prstGeom>
          <a:noFill/>
          <a:ln/>
        </p:spPr>
        <p:txBody>
          <a:bodyPr wrap="square" lIns="0" tIns="0" rIns="0" bIns="0" rtlCol="0" anchor="ctr"/>
          <a:lstStyle/>
          <a:p>
            <a:pPr algn="ctr"/>
            <a:r>
              <a:rPr lang="en-US" sz="1400">
                <a:solidFill>
                  <a:srgbClr val="A8332F"/>
                </a:solidFill>
                <a:latin typeface="Georgia" panose="02040502050405020303" pitchFamily="18" charset="0"/>
                <a:ea typeface="Georgia"/>
                <a:cs typeface="Georgia"/>
              </a:rPr>
              <a:t>-0.80%</a:t>
            </a:r>
            <a:endParaRPr lang="en-US" sz="1400">
              <a:latin typeface="Georgia" panose="02040502050405020303" pitchFamily="18" charset="0"/>
            </a:endParaRPr>
          </a:p>
        </p:txBody>
      </p:sp>
      <p:sp>
        <p:nvSpPr>
          <p:cNvPr id="12" name="Text 10"/>
          <p:cNvSpPr/>
          <p:nvPr/>
        </p:nvSpPr>
        <p:spPr>
          <a:xfrm>
            <a:off x="9326880" y="2148840"/>
            <a:ext cx="2194560" cy="603504"/>
          </a:xfrm>
          <a:prstGeom prst="rect">
            <a:avLst/>
          </a:prstGeom>
          <a:noFill/>
          <a:ln/>
        </p:spPr>
        <p:txBody>
          <a:bodyPr wrap="square" lIns="0" tIns="0" rIns="0" bIns="0" rtlCol="0" anchor="ctr"/>
          <a:lstStyle/>
          <a:p>
            <a:pPr algn="ctr"/>
            <a:r>
              <a:rPr lang="en-US" sz="1400">
                <a:solidFill>
                  <a:srgbClr val="1C1713"/>
                </a:solidFill>
                <a:latin typeface="Georgia" panose="02040502050405020303" pitchFamily="18" charset="0"/>
                <a:ea typeface="Georgia"/>
                <a:cs typeface="Georgia"/>
              </a:rPr>
              <a:t>22.81%</a:t>
            </a:r>
            <a:endParaRPr lang="en-US" sz="1400">
              <a:latin typeface="Georgia" panose="02040502050405020303" pitchFamily="18" charset="0"/>
            </a:endParaRPr>
          </a:p>
        </p:txBody>
      </p:sp>
      <p:sp>
        <p:nvSpPr>
          <p:cNvPr id="13" name="Shape 11"/>
          <p:cNvSpPr/>
          <p:nvPr/>
        </p:nvSpPr>
        <p:spPr>
          <a:xfrm>
            <a:off x="548640" y="2752344"/>
            <a:ext cx="10927080" cy="0"/>
          </a:xfrm>
          <a:prstGeom prst="line">
            <a:avLst/>
          </a:prstGeom>
          <a:noFill/>
          <a:ln w="12700">
            <a:solidFill>
              <a:srgbClr val="F4EFE4"/>
            </a:solidFill>
            <a:prstDash val="solid"/>
          </a:ln>
        </p:spPr>
        <p:txBody>
          <a:bodyPr/>
          <a:lstStyle/>
          <a:p>
            <a:endParaRPr lang="en-US"/>
          </a:p>
        </p:txBody>
      </p:sp>
      <p:sp>
        <p:nvSpPr>
          <p:cNvPr id="14" name="Shape 12"/>
          <p:cNvSpPr/>
          <p:nvPr/>
        </p:nvSpPr>
        <p:spPr>
          <a:xfrm>
            <a:off x="493776" y="2779776"/>
            <a:ext cx="11036808" cy="548640"/>
          </a:xfrm>
          <a:prstGeom prst="rect">
            <a:avLst/>
          </a:prstGeom>
          <a:solidFill>
            <a:srgbClr val="F4EFE4"/>
          </a:solidFill>
          <a:ln w="19050">
            <a:solidFill>
              <a:srgbClr val="1C1713"/>
            </a:solidFill>
            <a:prstDash val="solid"/>
          </a:ln>
        </p:spPr>
        <p:txBody>
          <a:bodyPr/>
          <a:lstStyle/>
          <a:p>
            <a:endParaRPr lang="en-US" sz="1400">
              <a:latin typeface="Georgia" panose="02040502050405020303" pitchFamily="18" charset="0"/>
            </a:endParaRPr>
          </a:p>
        </p:txBody>
      </p:sp>
      <p:sp>
        <p:nvSpPr>
          <p:cNvPr id="15" name="Text 13"/>
          <p:cNvSpPr/>
          <p:nvPr/>
        </p:nvSpPr>
        <p:spPr>
          <a:xfrm>
            <a:off x="548640" y="2752344"/>
            <a:ext cx="2560320" cy="603504"/>
          </a:xfrm>
          <a:prstGeom prst="rect">
            <a:avLst/>
          </a:prstGeom>
          <a:noFill/>
          <a:ln/>
        </p:spPr>
        <p:txBody>
          <a:bodyPr wrap="square" lIns="0" tIns="1271" rIns="0" bIns="0" rtlCol="0" anchor="ctr"/>
          <a:lstStyle/>
          <a:p>
            <a:pPr>
              <a:lnSpc>
                <a:spcPct val="95000"/>
              </a:lnSpc>
            </a:pPr>
            <a:r>
              <a:rPr lang="en-US" sz="1000" kern="0" spc="200">
                <a:solidFill>
                  <a:srgbClr val="C9A84C"/>
                </a:solidFill>
                <a:ea typeface="Calibri"/>
                <a:cs typeface="Calibri"/>
              </a:rPr>
              <a:t>NET</a:t>
            </a:r>
            <a:endParaRPr lang="en-US" sz="1000"/>
          </a:p>
        </p:txBody>
      </p:sp>
      <p:sp>
        <p:nvSpPr>
          <p:cNvPr id="16" name="Text 14"/>
          <p:cNvSpPr/>
          <p:nvPr/>
        </p:nvSpPr>
        <p:spPr>
          <a:xfrm>
            <a:off x="3840480" y="2752344"/>
            <a:ext cx="2194560" cy="603504"/>
          </a:xfrm>
          <a:prstGeom prst="rect">
            <a:avLst/>
          </a:prstGeom>
          <a:noFill/>
          <a:ln/>
        </p:spPr>
        <p:txBody>
          <a:bodyPr wrap="square" lIns="0" tIns="0" rIns="0" bIns="0" rtlCol="0" anchor="ctr"/>
          <a:lstStyle/>
          <a:p>
            <a:pPr algn="ctr"/>
            <a:r>
              <a:rPr lang="en-US" sz="1400">
                <a:solidFill>
                  <a:srgbClr val="A8332F"/>
                </a:solidFill>
                <a:latin typeface="Georgia" panose="02040502050405020303" pitchFamily="18" charset="0"/>
                <a:ea typeface="Georgia"/>
                <a:cs typeface="Georgia"/>
              </a:rPr>
              <a:t>-1.65%</a:t>
            </a:r>
            <a:endParaRPr lang="en-US" sz="1400">
              <a:latin typeface="Georgia" panose="02040502050405020303" pitchFamily="18" charset="0"/>
            </a:endParaRPr>
          </a:p>
        </p:txBody>
      </p:sp>
      <p:sp>
        <p:nvSpPr>
          <p:cNvPr id="17" name="Text 15"/>
          <p:cNvSpPr/>
          <p:nvPr/>
        </p:nvSpPr>
        <p:spPr>
          <a:xfrm>
            <a:off x="6583680" y="2752344"/>
            <a:ext cx="2194560" cy="603504"/>
          </a:xfrm>
          <a:prstGeom prst="rect">
            <a:avLst/>
          </a:prstGeom>
          <a:noFill/>
          <a:ln/>
        </p:spPr>
        <p:txBody>
          <a:bodyPr wrap="square" lIns="0" tIns="0" rIns="0" bIns="0" rtlCol="0" anchor="ctr"/>
          <a:lstStyle/>
          <a:p>
            <a:pPr algn="ctr"/>
            <a:r>
              <a:rPr lang="en-US" sz="1400">
                <a:solidFill>
                  <a:srgbClr val="A8332F"/>
                </a:solidFill>
                <a:latin typeface="Georgia" panose="02040502050405020303" pitchFamily="18" charset="0"/>
                <a:ea typeface="Georgia"/>
                <a:cs typeface="Georgia"/>
              </a:rPr>
              <a:t>-1.17%</a:t>
            </a:r>
            <a:endParaRPr lang="en-US" sz="1400">
              <a:latin typeface="Georgia" panose="02040502050405020303" pitchFamily="18" charset="0"/>
            </a:endParaRPr>
          </a:p>
        </p:txBody>
      </p:sp>
      <p:sp>
        <p:nvSpPr>
          <p:cNvPr id="18" name="Text 16"/>
          <p:cNvSpPr/>
          <p:nvPr/>
        </p:nvSpPr>
        <p:spPr>
          <a:xfrm>
            <a:off x="9326880" y="2752344"/>
            <a:ext cx="2194560" cy="603504"/>
          </a:xfrm>
          <a:prstGeom prst="rect">
            <a:avLst/>
          </a:prstGeom>
          <a:noFill/>
          <a:ln/>
        </p:spPr>
        <p:txBody>
          <a:bodyPr wrap="square" lIns="0" tIns="0" rIns="0" bIns="0" rtlCol="0" anchor="ctr"/>
          <a:lstStyle/>
          <a:p>
            <a:pPr algn="ctr"/>
            <a:r>
              <a:rPr lang="en-US" sz="1400">
                <a:solidFill>
                  <a:srgbClr val="C9A84C"/>
                </a:solidFill>
                <a:latin typeface="Georgia" panose="02040502050405020303" pitchFamily="18" charset="0"/>
                <a:ea typeface="Georgia"/>
                <a:cs typeface="Georgia"/>
              </a:rPr>
              <a:t>21.58%</a:t>
            </a:r>
            <a:endParaRPr lang="en-US" sz="1400">
              <a:latin typeface="Georgia" panose="02040502050405020303" pitchFamily="18" charset="0"/>
            </a:endParaRPr>
          </a:p>
        </p:txBody>
      </p:sp>
      <p:sp>
        <p:nvSpPr>
          <p:cNvPr id="19" name="Shape 17"/>
          <p:cNvSpPr/>
          <p:nvPr/>
        </p:nvSpPr>
        <p:spPr>
          <a:xfrm>
            <a:off x="548640" y="3355848"/>
            <a:ext cx="10927080" cy="0"/>
          </a:xfrm>
          <a:prstGeom prst="line">
            <a:avLst/>
          </a:prstGeom>
          <a:noFill/>
          <a:ln w="12700">
            <a:solidFill>
              <a:srgbClr val="F4EFE4"/>
            </a:solidFill>
            <a:prstDash val="solid"/>
          </a:ln>
        </p:spPr>
        <p:txBody>
          <a:bodyPr/>
          <a:lstStyle/>
          <a:p>
            <a:endParaRPr lang="en-US"/>
          </a:p>
        </p:txBody>
      </p:sp>
      <p:sp>
        <p:nvSpPr>
          <p:cNvPr id="20" name="Text 18"/>
          <p:cNvSpPr/>
          <p:nvPr/>
        </p:nvSpPr>
        <p:spPr>
          <a:xfrm>
            <a:off x="548640" y="3355848"/>
            <a:ext cx="2560320" cy="603504"/>
          </a:xfrm>
          <a:prstGeom prst="rect">
            <a:avLst/>
          </a:prstGeom>
          <a:noFill/>
          <a:ln/>
        </p:spPr>
        <p:txBody>
          <a:bodyPr wrap="square" lIns="0" tIns="1271" rIns="0" bIns="0" rtlCol="0" anchor="ctr"/>
          <a:lstStyle/>
          <a:p>
            <a:pPr>
              <a:lnSpc>
                <a:spcPct val="95000"/>
              </a:lnSpc>
            </a:pPr>
            <a:r>
              <a:rPr lang="en-US" sz="1000" kern="0" spc="100">
                <a:solidFill>
                  <a:srgbClr val="8B7355"/>
                </a:solidFill>
                <a:ea typeface="Calibri"/>
                <a:cs typeface="Calibri"/>
              </a:rPr>
              <a:t>iShares Core S&amp;P U.S.</a:t>
            </a:r>
            <a:endParaRPr lang="en-US" sz="1000"/>
          </a:p>
          <a:p>
            <a:pPr>
              <a:lnSpc>
                <a:spcPct val="95000"/>
              </a:lnSpc>
            </a:pPr>
            <a:r>
              <a:rPr lang="en-US" sz="1000" kern="0" spc="100">
                <a:solidFill>
                  <a:srgbClr val="8B7355"/>
                </a:solidFill>
                <a:ea typeface="Calibri"/>
                <a:cs typeface="Calibri"/>
              </a:rPr>
              <a:t>Growth ETF (IUSG)</a:t>
            </a:r>
            <a:endParaRPr lang="en-US" sz="1000"/>
          </a:p>
        </p:txBody>
      </p:sp>
      <p:sp>
        <p:nvSpPr>
          <p:cNvPr id="21" name="Text 19"/>
          <p:cNvSpPr/>
          <p:nvPr/>
        </p:nvSpPr>
        <p:spPr>
          <a:xfrm>
            <a:off x="3840480" y="3355848"/>
            <a:ext cx="2194560" cy="603504"/>
          </a:xfrm>
          <a:prstGeom prst="rect">
            <a:avLst/>
          </a:prstGeom>
          <a:noFill/>
          <a:ln/>
        </p:spPr>
        <p:txBody>
          <a:bodyPr wrap="square" lIns="0" tIns="0" rIns="0" bIns="0" rtlCol="0" anchor="ctr"/>
          <a:lstStyle/>
          <a:p>
            <a:pPr algn="ctr"/>
            <a:r>
              <a:rPr lang="en-US" sz="1400">
                <a:solidFill>
                  <a:srgbClr val="1C1713"/>
                </a:solidFill>
                <a:latin typeface="Georgia" panose="02040502050405020303" pitchFamily="18" charset="0"/>
                <a:ea typeface="Georgia"/>
                <a:cs typeface="Georgia"/>
              </a:rPr>
              <a:t>1.78%</a:t>
            </a:r>
            <a:endParaRPr lang="en-US" sz="1400">
              <a:latin typeface="Georgia" panose="02040502050405020303" pitchFamily="18" charset="0"/>
            </a:endParaRPr>
          </a:p>
        </p:txBody>
      </p:sp>
      <p:sp>
        <p:nvSpPr>
          <p:cNvPr id="22" name="Text 20"/>
          <p:cNvSpPr/>
          <p:nvPr/>
        </p:nvSpPr>
        <p:spPr>
          <a:xfrm>
            <a:off x="6583680" y="3355848"/>
            <a:ext cx="2194560" cy="603504"/>
          </a:xfrm>
          <a:prstGeom prst="rect">
            <a:avLst/>
          </a:prstGeom>
          <a:noFill/>
          <a:ln/>
        </p:spPr>
        <p:txBody>
          <a:bodyPr wrap="square" lIns="0" tIns="0" rIns="0" bIns="0" rtlCol="0" anchor="ctr"/>
          <a:lstStyle/>
          <a:p>
            <a:pPr algn="ctr"/>
            <a:r>
              <a:rPr lang="en-US" sz="1400">
                <a:solidFill>
                  <a:srgbClr val="1C1713"/>
                </a:solidFill>
                <a:latin typeface="Georgia" panose="02040502050405020303" pitchFamily="18" charset="0"/>
                <a:ea typeface="Georgia"/>
                <a:cs typeface="Georgia"/>
              </a:rPr>
              <a:t>3.14%</a:t>
            </a:r>
            <a:endParaRPr lang="en-US" sz="1400">
              <a:latin typeface="Georgia" panose="02040502050405020303" pitchFamily="18" charset="0"/>
            </a:endParaRPr>
          </a:p>
        </p:txBody>
      </p:sp>
      <p:sp>
        <p:nvSpPr>
          <p:cNvPr id="23" name="Text 21"/>
          <p:cNvSpPr/>
          <p:nvPr/>
        </p:nvSpPr>
        <p:spPr>
          <a:xfrm>
            <a:off x="9326880" y="3355848"/>
            <a:ext cx="2194560" cy="603504"/>
          </a:xfrm>
          <a:prstGeom prst="rect">
            <a:avLst/>
          </a:prstGeom>
          <a:noFill/>
          <a:ln/>
        </p:spPr>
        <p:txBody>
          <a:bodyPr wrap="square" lIns="0" tIns="0" rIns="0" bIns="0" rtlCol="0" anchor="ctr"/>
          <a:lstStyle/>
          <a:p>
            <a:pPr algn="ctr"/>
            <a:r>
              <a:rPr lang="en-US" sz="1400">
                <a:solidFill>
                  <a:srgbClr val="1C1713"/>
                </a:solidFill>
                <a:latin typeface="Georgia" panose="02040502050405020303" pitchFamily="18" charset="0"/>
                <a:ea typeface="Georgia"/>
                <a:cs typeface="Georgia"/>
              </a:rPr>
              <a:t>14.89%</a:t>
            </a:r>
            <a:endParaRPr lang="en-US" sz="1400">
              <a:latin typeface="Georgia" panose="02040502050405020303" pitchFamily="18" charset="0"/>
            </a:endParaRPr>
          </a:p>
        </p:txBody>
      </p:sp>
      <p:sp>
        <p:nvSpPr>
          <p:cNvPr id="24" name="Shape 22"/>
          <p:cNvSpPr/>
          <p:nvPr/>
        </p:nvSpPr>
        <p:spPr>
          <a:xfrm>
            <a:off x="548640" y="3959352"/>
            <a:ext cx="10927080" cy="0"/>
          </a:xfrm>
          <a:prstGeom prst="line">
            <a:avLst/>
          </a:prstGeom>
          <a:noFill/>
          <a:ln w="12700">
            <a:solidFill>
              <a:srgbClr val="F4EFE4"/>
            </a:solidFill>
            <a:prstDash val="solid"/>
          </a:ln>
        </p:spPr>
        <p:txBody>
          <a:bodyPr/>
          <a:lstStyle/>
          <a:p>
            <a:endParaRPr lang="en-US"/>
          </a:p>
        </p:txBody>
      </p:sp>
      <p:sp>
        <p:nvSpPr>
          <p:cNvPr id="25" name="Text 23"/>
          <p:cNvSpPr/>
          <p:nvPr/>
        </p:nvSpPr>
        <p:spPr>
          <a:xfrm>
            <a:off x="548640" y="3959352"/>
            <a:ext cx="2560320" cy="603504"/>
          </a:xfrm>
          <a:prstGeom prst="rect">
            <a:avLst/>
          </a:prstGeom>
          <a:noFill/>
          <a:ln/>
        </p:spPr>
        <p:txBody>
          <a:bodyPr wrap="square" lIns="0" tIns="1271" rIns="0" bIns="0" rtlCol="0" anchor="ctr"/>
          <a:lstStyle/>
          <a:p>
            <a:pPr>
              <a:lnSpc>
                <a:spcPct val="95000"/>
              </a:lnSpc>
            </a:pPr>
            <a:r>
              <a:rPr lang="en-US" sz="1000" kern="0" spc="100">
                <a:solidFill>
                  <a:srgbClr val="8B7355"/>
                </a:solidFill>
                <a:ea typeface="Calibri"/>
                <a:cs typeface="Calibri"/>
              </a:rPr>
              <a:t>State Street S&amp;P 500</a:t>
            </a:r>
            <a:endParaRPr lang="en-US" sz="1000"/>
          </a:p>
          <a:p>
            <a:pPr>
              <a:lnSpc>
                <a:spcPct val="95000"/>
              </a:lnSpc>
            </a:pPr>
            <a:r>
              <a:rPr lang="en-US" sz="1000" kern="0" spc="100">
                <a:solidFill>
                  <a:srgbClr val="8B7355"/>
                </a:solidFill>
                <a:ea typeface="Calibri"/>
                <a:cs typeface="Calibri"/>
              </a:rPr>
              <a:t>ETF Trust (SPY)</a:t>
            </a:r>
            <a:endParaRPr lang="en-US" sz="1000"/>
          </a:p>
        </p:txBody>
      </p:sp>
      <p:sp>
        <p:nvSpPr>
          <p:cNvPr id="26" name="Text 24"/>
          <p:cNvSpPr/>
          <p:nvPr/>
        </p:nvSpPr>
        <p:spPr>
          <a:xfrm>
            <a:off x="3840480" y="3959352"/>
            <a:ext cx="2194560" cy="603504"/>
          </a:xfrm>
          <a:prstGeom prst="rect">
            <a:avLst/>
          </a:prstGeom>
          <a:noFill/>
          <a:ln/>
        </p:spPr>
        <p:txBody>
          <a:bodyPr wrap="square" lIns="0" tIns="0" rIns="0" bIns="0" rtlCol="0" anchor="ctr"/>
          <a:lstStyle/>
          <a:p>
            <a:pPr algn="ctr"/>
            <a:r>
              <a:rPr lang="en-US" sz="1400">
                <a:solidFill>
                  <a:srgbClr val="A8332F"/>
                </a:solidFill>
                <a:latin typeface="Georgia" panose="02040502050405020303" pitchFamily="18" charset="0"/>
                <a:ea typeface="Georgia"/>
                <a:cs typeface="Georgia"/>
              </a:rPr>
              <a:t>-0.33%</a:t>
            </a:r>
            <a:endParaRPr lang="en-US" sz="1400">
              <a:latin typeface="Georgia" panose="02040502050405020303" pitchFamily="18" charset="0"/>
            </a:endParaRPr>
          </a:p>
        </p:txBody>
      </p:sp>
      <p:sp>
        <p:nvSpPr>
          <p:cNvPr id="27" name="Text 25"/>
          <p:cNvSpPr/>
          <p:nvPr/>
        </p:nvSpPr>
        <p:spPr>
          <a:xfrm>
            <a:off x="6583680" y="3959352"/>
            <a:ext cx="2194560" cy="603504"/>
          </a:xfrm>
          <a:prstGeom prst="rect">
            <a:avLst/>
          </a:prstGeom>
          <a:noFill/>
          <a:ln/>
        </p:spPr>
        <p:txBody>
          <a:bodyPr wrap="square" lIns="0" tIns="0" rIns="0" bIns="0" rtlCol="0" anchor="ctr"/>
          <a:lstStyle/>
          <a:p>
            <a:pPr algn="ctr"/>
            <a:r>
              <a:rPr lang="en-US" sz="1400">
                <a:solidFill>
                  <a:srgbClr val="1C1713"/>
                </a:solidFill>
                <a:latin typeface="Georgia" panose="02040502050405020303" pitchFamily="18" charset="0"/>
                <a:ea typeface="Georgia"/>
                <a:cs typeface="Georgia"/>
              </a:rPr>
              <a:t>2.38%</a:t>
            </a:r>
            <a:endParaRPr lang="en-US" sz="1400">
              <a:latin typeface="Georgia" panose="02040502050405020303" pitchFamily="18" charset="0"/>
            </a:endParaRPr>
          </a:p>
        </p:txBody>
      </p:sp>
      <p:sp>
        <p:nvSpPr>
          <p:cNvPr id="28" name="Text 26"/>
          <p:cNvSpPr/>
          <p:nvPr/>
        </p:nvSpPr>
        <p:spPr>
          <a:xfrm>
            <a:off x="9326880" y="3959352"/>
            <a:ext cx="2194560" cy="603504"/>
          </a:xfrm>
          <a:prstGeom prst="rect">
            <a:avLst/>
          </a:prstGeom>
          <a:noFill/>
          <a:ln/>
        </p:spPr>
        <p:txBody>
          <a:bodyPr wrap="square" lIns="0" tIns="0" rIns="0" bIns="0" rtlCol="0" anchor="ctr"/>
          <a:lstStyle/>
          <a:p>
            <a:pPr algn="ctr"/>
            <a:r>
              <a:rPr lang="en-US" sz="1400">
                <a:solidFill>
                  <a:srgbClr val="1C1713"/>
                </a:solidFill>
                <a:latin typeface="Georgia" panose="02040502050405020303" pitchFamily="18" charset="0"/>
                <a:ea typeface="Georgia"/>
                <a:cs typeface="Georgia"/>
              </a:rPr>
              <a:t>11.07%</a:t>
            </a:r>
            <a:endParaRPr lang="en-US" sz="1400">
              <a:latin typeface="Georgia" panose="02040502050405020303" pitchFamily="18" charset="0"/>
            </a:endParaRPr>
          </a:p>
        </p:txBody>
      </p:sp>
      <p:sp>
        <p:nvSpPr>
          <p:cNvPr id="29" name="Shape 27"/>
          <p:cNvSpPr/>
          <p:nvPr/>
        </p:nvSpPr>
        <p:spPr>
          <a:xfrm>
            <a:off x="548640" y="4562856"/>
            <a:ext cx="10927080" cy="0"/>
          </a:xfrm>
          <a:prstGeom prst="line">
            <a:avLst/>
          </a:prstGeom>
          <a:noFill/>
          <a:ln w="12700">
            <a:solidFill>
              <a:srgbClr val="F4EFE4"/>
            </a:solidFill>
            <a:prstDash val="solid"/>
          </a:ln>
        </p:spPr>
        <p:txBody>
          <a:bodyPr/>
          <a:lstStyle/>
          <a:p>
            <a:endParaRPr lang="en-US"/>
          </a:p>
        </p:txBody>
      </p:sp>
      <p:sp>
        <p:nvSpPr>
          <p:cNvPr id="30" name="Shape 28"/>
          <p:cNvSpPr/>
          <p:nvPr/>
        </p:nvSpPr>
        <p:spPr>
          <a:xfrm>
            <a:off x="548640" y="4672584"/>
            <a:ext cx="10927080" cy="0"/>
          </a:xfrm>
          <a:prstGeom prst="line">
            <a:avLst/>
          </a:prstGeom>
          <a:noFill/>
          <a:ln w="25400">
            <a:solidFill>
              <a:srgbClr val="C9A84C"/>
            </a:solidFill>
            <a:prstDash val="solid"/>
          </a:ln>
        </p:spPr>
        <p:txBody>
          <a:bodyPr/>
          <a:lstStyle/>
          <a:p>
            <a:endParaRPr lang="en-US"/>
          </a:p>
        </p:txBody>
      </p:sp>
      <p:sp>
        <p:nvSpPr>
          <p:cNvPr id="31" name="Text 29"/>
          <p:cNvSpPr/>
          <p:nvPr/>
        </p:nvSpPr>
        <p:spPr>
          <a:xfrm>
            <a:off x="502920" y="5397500"/>
            <a:ext cx="11201400" cy="1270000"/>
          </a:xfrm>
          <a:prstGeom prst="rect">
            <a:avLst/>
          </a:prstGeom>
          <a:noFill/>
          <a:ln/>
        </p:spPr>
        <p:txBody>
          <a:bodyPr wrap="square" lIns="0" tIns="0" rIns="0" bIns="0" rtlCol="0" anchor="t"/>
          <a:lstStyle/>
          <a:p>
            <a:pPr>
              <a:lnSpc>
                <a:spcPct val="105000"/>
              </a:lnSpc>
              <a:spcAft>
                <a:spcPts val="400"/>
              </a:spcAft>
            </a:pPr>
            <a:r>
              <a:rPr lang="en-US" sz="750" dirty="0" err="1">
                <a:solidFill>
                  <a:srgbClr val="8B7355"/>
                </a:solidFill>
                <a:latin typeface="Calibri"/>
                <a:ea typeface="Calibri"/>
                <a:cs typeface="Calibri"/>
              </a:rPr>
              <a:t>Paradiem</a:t>
            </a:r>
            <a:r>
              <a:rPr lang="en-US" sz="750" dirty="0">
                <a:solidFill>
                  <a:srgbClr val="8B7355"/>
                </a:solidFill>
                <a:latin typeface="Calibri"/>
                <a:ea typeface="Calibri"/>
                <a:cs typeface="Calibri"/>
              </a:rPr>
              <a:t>, LLC is a Registered Investment Advisor. Performance is based on actual client accounts that are invested in Paradiem’s Growth strategy.</a:t>
            </a:r>
          </a:p>
          <a:p>
            <a:pPr>
              <a:lnSpc>
                <a:spcPct val="105000"/>
              </a:lnSpc>
              <a:spcAft>
                <a:spcPts val="400"/>
              </a:spcAft>
            </a:pPr>
            <a:r>
              <a:rPr lang="en-US" sz="750" dirty="0">
                <a:solidFill>
                  <a:srgbClr val="8B7355"/>
                </a:solidFill>
                <a:latin typeface="Calibri"/>
                <a:ea typeface="Calibri"/>
                <a:cs typeface="Calibri"/>
              </a:rPr>
              <a:t>Past performance is no guarantee of future results. Returns presented include the reinvestment of all income. Gross-of-fee performance includes trading expenses and custodial expenses. Net-of-fee performance includes actual account-level gross returns, less a model investment management fee. The model fee is deducted monthly from composite returns at the rate of 1/12 of Paradiem’s highest annual fee tier. The highest rate of our annual fixed fee is 1.5%.</a:t>
            </a:r>
          </a:p>
          <a:p>
            <a:pPr>
              <a:lnSpc>
                <a:spcPct val="105000"/>
              </a:lnSpc>
              <a:spcAft>
                <a:spcPts val="400"/>
              </a:spcAft>
            </a:pPr>
            <a:r>
              <a:rPr lang="en-US" sz="750" dirty="0">
                <a:solidFill>
                  <a:srgbClr val="8B7355"/>
                </a:solidFill>
                <a:latin typeface="Calibri"/>
                <a:ea typeface="Calibri"/>
                <a:cs typeface="Calibri"/>
              </a:rPr>
              <a:t>The iShares Core S&amp;P U.S. Growth ETF seeks to track an index composed of U.S. large and mid-cap companies, selected using metrics such as above-average earnings and revenue growth. The fund provides low-cost, targeted exposure to U.S. large and mid-cap growth stocks.</a:t>
            </a:r>
          </a:p>
          <a:p>
            <a:pPr>
              <a:lnSpc>
                <a:spcPct val="105000"/>
              </a:lnSpc>
              <a:spcAft>
                <a:spcPts val="400"/>
              </a:spcAft>
            </a:pPr>
            <a:r>
              <a:rPr lang="en-US" sz="750" dirty="0">
                <a:solidFill>
                  <a:srgbClr val="8B7355"/>
                </a:solidFill>
                <a:latin typeface="Calibri"/>
                <a:ea typeface="Calibri"/>
                <a:cs typeface="Calibri"/>
              </a:rPr>
              <a:t>The State Street SPDR S&amp;P 500 ETF Trust is an exchange-traded fund (ETF) that tracks the Standard &amp; Poor’s 500 (S&amp;P 500) index. It does this by holding a portfolio of stocks in companies that are included in the S&amp;P 500.</a:t>
            </a:r>
          </a:p>
        </p:txBody>
      </p:sp>
      <p:pic>
        <p:nvPicPr>
          <p:cNvPr id="33" name="Image 0" descr="preencoded.png">
            <a:extLst>
              <a:ext uri="{FF2B5EF4-FFF2-40B4-BE49-F238E27FC236}">
                <a16:creationId xmlns:a16="http://schemas.microsoft.com/office/drawing/2014/main" id="{736E5A05-6931-3DB5-2C0A-8B09157641C1}"/>
              </a:ext>
            </a:extLst>
          </p:cNvPr>
          <p:cNvPicPr>
            <a:picLocks noChangeAspect="1"/>
          </p:cNvPicPr>
          <p:nvPr/>
        </p:nvPicPr>
        <p:blipFill>
          <a:blip r:embed="rId3"/>
          <a:stretch>
            <a:fillRect/>
          </a:stretch>
        </p:blipFill>
        <p:spPr>
          <a:xfrm>
            <a:off x="10362895" y="347472"/>
            <a:ext cx="1417320" cy="410550"/>
          </a:xfrm>
          <a:prstGeom prst="rect">
            <a:avLst/>
          </a:prstGeom>
        </p:spPr>
      </p:pic>
    </p:spTree>
    <p:extLst>
      <p:ext uri="{BB962C8B-B14F-4D97-AF65-F5344CB8AC3E}">
        <p14:creationId xmlns:p14="http://schemas.microsoft.com/office/powerpoint/2010/main" val="1889619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0E09B-2CCC-8F40-D714-D843A9557068}"/>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46B30F65-9F19-2C58-10A5-27A31F39F8A7}"/>
              </a:ext>
            </a:extLst>
          </p:cNvPr>
          <p:cNvSpPr/>
          <p:nvPr/>
        </p:nvSpPr>
        <p:spPr>
          <a:xfrm>
            <a:off x="0" y="792480"/>
            <a:ext cx="12192000" cy="0"/>
          </a:xfrm>
          <a:prstGeom prst="line">
            <a:avLst/>
          </a:prstGeom>
          <a:noFill/>
          <a:ln w="6350">
            <a:solidFill>
              <a:srgbClr val="F4EFE4"/>
            </a:solidFill>
            <a:prstDash val="solid"/>
          </a:ln>
        </p:spPr>
        <p:txBody>
          <a:bodyPr/>
          <a:lstStyle/>
          <a:p>
            <a:pPr defTabSz="1219110">
              <a:defRPr/>
            </a:pPr>
            <a:endParaRPr lang="en-US" sz="2400">
              <a:solidFill>
                <a:prstClr val="black"/>
              </a:solidFill>
              <a:latin typeface="Calibri" panose="020F0502020204030204"/>
            </a:endParaRPr>
          </a:p>
        </p:txBody>
      </p:sp>
      <p:sp>
        <p:nvSpPr>
          <p:cNvPr id="5" name="Text 2">
            <a:extLst>
              <a:ext uri="{FF2B5EF4-FFF2-40B4-BE49-F238E27FC236}">
                <a16:creationId xmlns:a16="http://schemas.microsoft.com/office/drawing/2014/main" id="{B7EB8BE4-5D80-601E-6B5E-9A308501F5E1}"/>
              </a:ext>
            </a:extLst>
          </p:cNvPr>
          <p:cNvSpPr/>
          <p:nvPr/>
        </p:nvSpPr>
        <p:spPr>
          <a:xfrm>
            <a:off x="1103597" y="388681"/>
            <a:ext cx="10972800" cy="585216"/>
          </a:xfrm>
          <a:prstGeom prst="rect">
            <a:avLst/>
          </a:prstGeom>
          <a:noFill/>
          <a:ln/>
        </p:spPr>
        <p:txBody>
          <a:bodyPr wrap="square" lIns="0" tIns="0" rIns="0" bIns="0" rtlCol="0" anchor="t"/>
          <a:lstStyle/>
          <a:p>
            <a:pPr defTabSz="1219110">
              <a:defRPr/>
            </a:pPr>
            <a:r>
              <a:rPr lang="en-US" sz="2400" dirty="0">
                <a:solidFill>
                  <a:srgbClr val="171738"/>
                </a:solidFill>
                <a:latin typeface="Georgia" pitchFamily="34" charset="0"/>
                <a:ea typeface="Georgia" pitchFamily="34" charset="-122"/>
                <a:cs typeface="Georgia" pitchFamily="34" charset="-120"/>
              </a:rPr>
              <a:t>25 Stock Dividend Strategy Returns &amp; Statistics</a:t>
            </a:r>
            <a:endParaRPr lang="en-US" sz="2400" dirty="0">
              <a:solidFill>
                <a:prstClr val="black"/>
              </a:solidFill>
              <a:latin typeface="Calibri" panose="020F0502020204030204"/>
            </a:endParaRPr>
          </a:p>
        </p:txBody>
      </p:sp>
      <p:sp>
        <p:nvSpPr>
          <p:cNvPr id="6" name="Shape 3">
            <a:extLst>
              <a:ext uri="{FF2B5EF4-FFF2-40B4-BE49-F238E27FC236}">
                <a16:creationId xmlns:a16="http://schemas.microsoft.com/office/drawing/2014/main" id="{DD340197-262E-AB79-1811-2ABE49673367}"/>
              </a:ext>
            </a:extLst>
          </p:cNvPr>
          <p:cNvSpPr/>
          <p:nvPr/>
        </p:nvSpPr>
        <p:spPr>
          <a:xfrm>
            <a:off x="425679" y="827592"/>
            <a:ext cx="1036320" cy="0"/>
          </a:xfrm>
          <a:prstGeom prst="line">
            <a:avLst/>
          </a:prstGeom>
          <a:noFill/>
          <a:ln w="19050">
            <a:solidFill>
              <a:srgbClr val="C9A84C"/>
            </a:solidFill>
            <a:prstDash val="solid"/>
          </a:ln>
        </p:spPr>
        <p:txBody>
          <a:bodyPr/>
          <a:lstStyle/>
          <a:p>
            <a:pPr defTabSz="1219110">
              <a:defRPr/>
            </a:pPr>
            <a:endParaRPr lang="en-US" sz="2400">
              <a:solidFill>
                <a:prstClr val="black"/>
              </a:solidFill>
              <a:latin typeface="Calibri" panose="020F0502020204030204"/>
            </a:endParaRPr>
          </a:p>
        </p:txBody>
      </p:sp>
      <p:sp>
        <p:nvSpPr>
          <p:cNvPr id="7" name="Text 4">
            <a:extLst>
              <a:ext uri="{FF2B5EF4-FFF2-40B4-BE49-F238E27FC236}">
                <a16:creationId xmlns:a16="http://schemas.microsoft.com/office/drawing/2014/main" id="{186775F9-5F05-90AE-CEB3-93E03B6CD442}"/>
              </a:ext>
            </a:extLst>
          </p:cNvPr>
          <p:cNvSpPr/>
          <p:nvPr/>
        </p:nvSpPr>
        <p:spPr>
          <a:xfrm>
            <a:off x="364719" y="876360"/>
            <a:ext cx="4876800" cy="219456"/>
          </a:xfrm>
          <a:prstGeom prst="rect">
            <a:avLst/>
          </a:prstGeom>
          <a:noFill/>
          <a:ln/>
        </p:spPr>
        <p:txBody>
          <a:bodyPr wrap="square" lIns="0" tIns="0" rIns="0" bIns="0" rtlCol="0" anchor="ctr"/>
          <a:lstStyle/>
          <a:p>
            <a:pPr defTabSz="1219110">
              <a:defRPr/>
            </a:pPr>
            <a:r>
              <a:rPr lang="en-US" sz="1333" kern="0" spc="267">
                <a:solidFill>
                  <a:srgbClr val="8B7355"/>
                </a:solidFill>
                <a:latin typeface="Calibri"/>
                <a:ea typeface="Calibri"/>
                <a:cs typeface="Calibri"/>
              </a:rPr>
              <a:t>ANNUALISED RETURNS (AS OF 9/30/2026)</a:t>
            </a:r>
            <a:endParaRPr lang="en-US" sz="1333">
              <a:solidFill>
                <a:prstClr val="black"/>
              </a:solidFill>
              <a:latin typeface="Calibri"/>
              <a:ea typeface="Calibri"/>
              <a:cs typeface="Calibri"/>
            </a:endParaRPr>
          </a:p>
        </p:txBody>
      </p:sp>
      <p:sp>
        <p:nvSpPr>
          <p:cNvPr id="8" name="Text 5">
            <a:extLst>
              <a:ext uri="{FF2B5EF4-FFF2-40B4-BE49-F238E27FC236}">
                <a16:creationId xmlns:a16="http://schemas.microsoft.com/office/drawing/2014/main" id="{B4BDAB43-35A3-AB9C-DF13-17316EB4907C}"/>
              </a:ext>
            </a:extLst>
          </p:cNvPr>
          <p:cNvSpPr/>
          <p:nvPr/>
        </p:nvSpPr>
        <p:spPr>
          <a:xfrm>
            <a:off x="364719" y="1095816"/>
            <a:ext cx="1706880" cy="243840"/>
          </a:xfrm>
          <a:prstGeom prst="rect">
            <a:avLst/>
          </a:prstGeom>
          <a:noFill/>
          <a:ln/>
        </p:spPr>
        <p:txBody>
          <a:bodyPr wrap="square" lIns="0" tIns="0" rIns="0" bIns="0" rtlCol="0" anchor="ctr"/>
          <a:lstStyle/>
          <a:p>
            <a:pPr defTabSz="1219110">
              <a:defRPr/>
            </a:pPr>
            <a:endParaRPr lang="en-US" sz="867">
              <a:solidFill>
                <a:prstClr val="black"/>
              </a:solidFill>
              <a:latin typeface="Calibri" panose="020F0502020204030204"/>
            </a:endParaRPr>
          </a:p>
        </p:txBody>
      </p:sp>
      <p:sp>
        <p:nvSpPr>
          <p:cNvPr id="9" name="Text 6">
            <a:extLst>
              <a:ext uri="{FF2B5EF4-FFF2-40B4-BE49-F238E27FC236}">
                <a16:creationId xmlns:a16="http://schemas.microsoft.com/office/drawing/2014/main" id="{DAB3A7EA-A813-E523-3539-8E42BB39F324}"/>
              </a:ext>
            </a:extLst>
          </p:cNvPr>
          <p:cNvSpPr/>
          <p:nvPr/>
        </p:nvSpPr>
        <p:spPr>
          <a:xfrm>
            <a:off x="2071599" y="1095816"/>
            <a:ext cx="1743456" cy="243840"/>
          </a:xfrm>
          <a:prstGeom prst="rect">
            <a:avLst/>
          </a:prstGeom>
          <a:noFill/>
          <a:ln/>
        </p:spPr>
        <p:txBody>
          <a:bodyPr wrap="square" lIns="0" tIns="0" rIns="0" bIns="0" rtlCol="0" anchor="ctr"/>
          <a:lstStyle/>
          <a:p>
            <a:pPr algn="ctr" defTabSz="1219110">
              <a:defRPr/>
            </a:pPr>
            <a:r>
              <a:rPr lang="en-US" sz="1200" kern="0" spc="240">
                <a:solidFill>
                  <a:srgbClr val="8B7355"/>
                </a:solidFill>
                <a:latin typeface="Calibri"/>
                <a:ea typeface="Calibri"/>
                <a:cs typeface="Calibri"/>
              </a:rPr>
              <a:t>YTD</a:t>
            </a:r>
            <a:endParaRPr lang="en-US" sz="1200">
              <a:solidFill>
                <a:prstClr val="black"/>
              </a:solidFill>
              <a:latin typeface="Calibri"/>
              <a:ea typeface="Calibri"/>
              <a:cs typeface="Calibri"/>
            </a:endParaRPr>
          </a:p>
        </p:txBody>
      </p:sp>
      <p:sp>
        <p:nvSpPr>
          <p:cNvPr id="10" name="Text 7">
            <a:extLst>
              <a:ext uri="{FF2B5EF4-FFF2-40B4-BE49-F238E27FC236}">
                <a16:creationId xmlns:a16="http://schemas.microsoft.com/office/drawing/2014/main" id="{F2F73ADD-ECA7-B0BF-ABEE-645574BA0A11}"/>
              </a:ext>
            </a:extLst>
          </p:cNvPr>
          <p:cNvSpPr/>
          <p:nvPr/>
        </p:nvSpPr>
        <p:spPr>
          <a:xfrm>
            <a:off x="3815055" y="1095816"/>
            <a:ext cx="1743456" cy="243840"/>
          </a:xfrm>
          <a:prstGeom prst="rect">
            <a:avLst/>
          </a:prstGeom>
          <a:noFill/>
          <a:ln/>
        </p:spPr>
        <p:txBody>
          <a:bodyPr wrap="square" lIns="0" tIns="0" rIns="0" bIns="0" rtlCol="0" anchor="ctr"/>
          <a:lstStyle/>
          <a:p>
            <a:pPr algn="ctr" defTabSz="1219110">
              <a:defRPr/>
            </a:pPr>
            <a:r>
              <a:rPr lang="en-US" sz="1200" kern="0" spc="240">
                <a:solidFill>
                  <a:srgbClr val="8B7355"/>
                </a:solidFill>
                <a:latin typeface="Calibri"/>
                <a:ea typeface="Calibri"/>
                <a:cs typeface="Calibri"/>
              </a:rPr>
              <a:t>1-YR</a:t>
            </a:r>
            <a:endParaRPr lang="en-US" sz="1200">
              <a:solidFill>
                <a:prstClr val="black"/>
              </a:solidFill>
              <a:latin typeface="Calibri"/>
              <a:ea typeface="Calibri"/>
              <a:cs typeface="Calibri"/>
            </a:endParaRPr>
          </a:p>
        </p:txBody>
      </p:sp>
      <p:sp>
        <p:nvSpPr>
          <p:cNvPr id="11" name="Text 8">
            <a:extLst>
              <a:ext uri="{FF2B5EF4-FFF2-40B4-BE49-F238E27FC236}">
                <a16:creationId xmlns:a16="http://schemas.microsoft.com/office/drawing/2014/main" id="{DEBBD571-0E40-413B-76BB-8074D73A8F5C}"/>
              </a:ext>
            </a:extLst>
          </p:cNvPr>
          <p:cNvSpPr/>
          <p:nvPr/>
        </p:nvSpPr>
        <p:spPr>
          <a:xfrm>
            <a:off x="5558511" y="1095816"/>
            <a:ext cx="1743456" cy="243840"/>
          </a:xfrm>
          <a:prstGeom prst="rect">
            <a:avLst/>
          </a:prstGeom>
          <a:noFill/>
          <a:ln/>
        </p:spPr>
        <p:txBody>
          <a:bodyPr wrap="square" lIns="0" tIns="0" rIns="0" bIns="0" rtlCol="0" anchor="ctr"/>
          <a:lstStyle/>
          <a:p>
            <a:pPr algn="ctr" defTabSz="1219110">
              <a:defRPr/>
            </a:pPr>
            <a:r>
              <a:rPr lang="en-US" sz="1200" kern="0" spc="240">
                <a:solidFill>
                  <a:srgbClr val="8B7355"/>
                </a:solidFill>
                <a:latin typeface="Calibri"/>
                <a:ea typeface="Calibri"/>
                <a:cs typeface="Calibri"/>
              </a:rPr>
              <a:t>3-YR</a:t>
            </a:r>
            <a:endParaRPr lang="en-US" sz="1200">
              <a:solidFill>
                <a:prstClr val="black"/>
              </a:solidFill>
              <a:latin typeface="Calibri"/>
              <a:ea typeface="Calibri"/>
              <a:cs typeface="Calibri"/>
            </a:endParaRPr>
          </a:p>
        </p:txBody>
      </p:sp>
      <p:sp>
        <p:nvSpPr>
          <p:cNvPr id="12" name="Text 9">
            <a:extLst>
              <a:ext uri="{FF2B5EF4-FFF2-40B4-BE49-F238E27FC236}">
                <a16:creationId xmlns:a16="http://schemas.microsoft.com/office/drawing/2014/main" id="{C88FBC5B-94B2-8264-80E2-3AA885016D16}"/>
              </a:ext>
            </a:extLst>
          </p:cNvPr>
          <p:cNvSpPr/>
          <p:nvPr/>
        </p:nvSpPr>
        <p:spPr>
          <a:xfrm>
            <a:off x="7301967" y="1095816"/>
            <a:ext cx="1743456" cy="243840"/>
          </a:xfrm>
          <a:prstGeom prst="rect">
            <a:avLst/>
          </a:prstGeom>
          <a:noFill/>
          <a:ln/>
        </p:spPr>
        <p:txBody>
          <a:bodyPr wrap="square" lIns="0" tIns="0" rIns="0" bIns="0" rtlCol="0" anchor="ctr"/>
          <a:lstStyle/>
          <a:p>
            <a:pPr algn="ctr" defTabSz="1219110">
              <a:defRPr/>
            </a:pPr>
            <a:r>
              <a:rPr lang="en-US" sz="1200" kern="0" spc="240">
                <a:solidFill>
                  <a:srgbClr val="8B7355"/>
                </a:solidFill>
                <a:latin typeface="Calibri"/>
                <a:ea typeface="Calibri"/>
                <a:cs typeface="Calibri"/>
              </a:rPr>
              <a:t>5-YR</a:t>
            </a:r>
            <a:endParaRPr lang="en-US" sz="1200">
              <a:solidFill>
                <a:prstClr val="black"/>
              </a:solidFill>
              <a:latin typeface="Calibri"/>
              <a:ea typeface="Calibri"/>
              <a:cs typeface="Calibri"/>
            </a:endParaRPr>
          </a:p>
        </p:txBody>
      </p:sp>
      <p:sp>
        <p:nvSpPr>
          <p:cNvPr id="13" name="Text 10">
            <a:extLst>
              <a:ext uri="{FF2B5EF4-FFF2-40B4-BE49-F238E27FC236}">
                <a16:creationId xmlns:a16="http://schemas.microsoft.com/office/drawing/2014/main" id="{8B3DB72A-78CA-78AE-EEED-FBDBD3E38EC1}"/>
              </a:ext>
            </a:extLst>
          </p:cNvPr>
          <p:cNvSpPr/>
          <p:nvPr/>
        </p:nvSpPr>
        <p:spPr>
          <a:xfrm>
            <a:off x="9045423" y="1095816"/>
            <a:ext cx="1804416" cy="243840"/>
          </a:xfrm>
          <a:prstGeom prst="rect">
            <a:avLst/>
          </a:prstGeom>
          <a:noFill/>
          <a:ln/>
        </p:spPr>
        <p:txBody>
          <a:bodyPr wrap="square" lIns="0" tIns="0" rIns="0" bIns="0" rtlCol="0" anchor="ctr"/>
          <a:lstStyle/>
          <a:p>
            <a:pPr algn="ctr" defTabSz="1219110">
              <a:defRPr/>
            </a:pPr>
            <a:r>
              <a:rPr lang="en-US" sz="1200" kern="0" spc="67">
                <a:solidFill>
                  <a:srgbClr val="8B7355"/>
                </a:solidFill>
                <a:latin typeface="Calibri"/>
                <a:ea typeface="Calibri"/>
                <a:cs typeface="Calibri"/>
              </a:rPr>
              <a:t>10-YR</a:t>
            </a:r>
            <a:endParaRPr lang="en-US" sz="1200">
              <a:solidFill>
                <a:prstClr val="black"/>
              </a:solidFill>
              <a:latin typeface="Calibri"/>
              <a:ea typeface="Calibri"/>
              <a:cs typeface="Calibri"/>
            </a:endParaRPr>
          </a:p>
        </p:txBody>
      </p:sp>
      <p:sp>
        <p:nvSpPr>
          <p:cNvPr id="14" name="Shape 11">
            <a:extLst>
              <a:ext uri="{FF2B5EF4-FFF2-40B4-BE49-F238E27FC236}">
                <a16:creationId xmlns:a16="http://schemas.microsoft.com/office/drawing/2014/main" id="{29D8C9D2-4A5D-2FFC-95FD-0386A0906C2F}"/>
              </a:ext>
            </a:extLst>
          </p:cNvPr>
          <p:cNvSpPr/>
          <p:nvPr/>
        </p:nvSpPr>
        <p:spPr>
          <a:xfrm>
            <a:off x="364719" y="1388424"/>
            <a:ext cx="11094720" cy="0"/>
          </a:xfrm>
          <a:prstGeom prst="line">
            <a:avLst/>
          </a:prstGeom>
          <a:noFill/>
          <a:ln w="5080">
            <a:solidFill>
              <a:srgbClr val="F4EFE4"/>
            </a:solidFill>
            <a:prstDash val="solid"/>
          </a:ln>
        </p:spPr>
        <p:txBody>
          <a:bodyPr/>
          <a:lstStyle/>
          <a:p>
            <a:pPr defTabSz="1219110">
              <a:defRPr/>
            </a:pPr>
            <a:endParaRPr lang="en-US" sz="2400">
              <a:solidFill>
                <a:prstClr val="black"/>
              </a:solidFill>
              <a:latin typeface="Calibri" panose="020F0502020204030204"/>
            </a:endParaRPr>
          </a:p>
        </p:txBody>
      </p:sp>
      <p:sp>
        <p:nvSpPr>
          <p:cNvPr id="15" name="Text 12">
            <a:extLst>
              <a:ext uri="{FF2B5EF4-FFF2-40B4-BE49-F238E27FC236}">
                <a16:creationId xmlns:a16="http://schemas.microsoft.com/office/drawing/2014/main" id="{AF62D5D0-9050-4384-BBAF-6DF3A8AE5D72}"/>
              </a:ext>
            </a:extLst>
          </p:cNvPr>
          <p:cNvSpPr/>
          <p:nvPr/>
        </p:nvSpPr>
        <p:spPr>
          <a:xfrm>
            <a:off x="421589" y="1461575"/>
            <a:ext cx="1706880" cy="316992"/>
          </a:xfrm>
          <a:prstGeom prst="rect">
            <a:avLst/>
          </a:prstGeom>
          <a:noFill/>
          <a:ln/>
        </p:spPr>
        <p:txBody>
          <a:bodyPr wrap="square" lIns="0" tIns="0" rIns="0" bIns="0" rtlCol="0" anchor="ctr"/>
          <a:lstStyle/>
          <a:p>
            <a:pPr defTabSz="1219110">
              <a:defRPr/>
            </a:pPr>
            <a:r>
              <a:rPr lang="en-US" sz="1000" kern="0" spc="200">
                <a:solidFill>
                  <a:srgbClr val="8B7355"/>
                </a:solidFill>
                <a:latin typeface="Calibri"/>
                <a:ea typeface="Calibri"/>
                <a:cs typeface="Calibri"/>
              </a:rPr>
              <a:t>GROSS</a:t>
            </a:r>
            <a:endParaRPr lang="en-US" sz="1000">
              <a:solidFill>
                <a:prstClr val="black"/>
              </a:solidFill>
              <a:latin typeface="Calibri"/>
              <a:ea typeface="Calibri"/>
              <a:cs typeface="Calibri"/>
            </a:endParaRPr>
          </a:p>
        </p:txBody>
      </p:sp>
      <p:sp>
        <p:nvSpPr>
          <p:cNvPr id="16" name="Text 13">
            <a:extLst>
              <a:ext uri="{FF2B5EF4-FFF2-40B4-BE49-F238E27FC236}">
                <a16:creationId xmlns:a16="http://schemas.microsoft.com/office/drawing/2014/main" id="{1180BA21-6429-8CF8-A3D3-D5B501AD86F3}"/>
              </a:ext>
            </a:extLst>
          </p:cNvPr>
          <p:cNvSpPr/>
          <p:nvPr/>
        </p:nvSpPr>
        <p:spPr>
          <a:xfrm>
            <a:off x="2071599" y="1461576"/>
            <a:ext cx="1743456" cy="316992"/>
          </a:xfrm>
          <a:prstGeom prst="rect">
            <a:avLst/>
          </a:prstGeom>
          <a:noFill/>
          <a:ln/>
        </p:spPr>
        <p:txBody>
          <a:bodyPr wrap="square" lIns="0" tIns="0" rIns="0" bIns="0" rtlCol="0" anchor="ctr"/>
          <a:lstStyle/>
          <a:p>
            <a:pPr algn="ctr" defTabSz="1219110">
              <a:defRPr/>
            </a:pPr>
            <a:r>
              <a:rPr lang="en-US" sz="1400">
                <a:solidFill>
                  <a:srgbClr val="171738"/>
                </a:solidFill>
                <a:latin typeface="Georgia"/>
              </a:rPr>
              <a:t>13.55%</a:t>
            </a:r>
            <a:endParaRPr lang="en-US" sz="1400">
              <a:solidFill>
                <a:prstClr val="black"/>
              </a:solidFill>
              <a:latin typeface="Georgia"/>
            </a:endParaRPr>
          </a:p>
        </p:txBody>
      </p:sp>
      <p:sp>
        <p:nvSpPr>
          <p:cNvPr id="17" name="Text 14">
            <a:extLst>
              <a:ext uri="{FF2B5EF4-FFF2-40B4-BE49-F238E27FC236}">
                <a16:creationId xmlns:a16="http://schemas.microsoft.com/office/drawing/2014/main" id="{507767B4-F21D-45E0-D0CC-56C63D6388B4}"/>
              </a:ext>
            </a:extLst>
          </p:cNvPr>
          <p:cNvSpPr/>
          <p:nvPr/>
        </p:nvSpPr>
        <p:spPr>
          <a:xfrm>
            <a:off x="3815055" y="1461576"/>
            <a:ext cx="1743456" cy="316992"/>
          </a:xfrm>
          <a:prstGeom prst="rect">
            <a:avLst/>
          </a:prstGeom>
          <a:noFill/>
          <a:ln/>
        </p:spPr>
        <p:txBody>
          <a:bodyPr wrap="square" lIns="0" tIns="0" rIns="0" bIns="0" rtlCol="0" anchor="ctr"/>
          <a:lstStyle/>
          <a:p>
            <a:pPr algn="ctr" defTabSz="1219110">
              <a:defRPr/>
            </a:pPr>
            <a:r>
              <a:rPr lang="en-US" sz="1400">
                <a:solidFill>
                  <a:srgbClr val="171738"/>
                </a:solidFill>
                <a:latin typeface="Georgia"/>
                <a:ea typeface="Georgia" pitchFamily="34" charset="-122"/>
                <a:cs typeface="Georgia" pitchFamily="34" charset="-120"/>
              </a:rPr>
              <a:t>17.11%</a:t>
            </a:r>
            <a:endParaRPr lang="en-US" sz="1400">
              <a:solidFill>
                <a:prstClr val="black"/>
              </a:solidFill>
              <a:latin typeface="Georgia"/>
            </a:endParaRPr>
          </a:p>
        </p:txBody>
      </p:sp>
      <p:sp>
        <p:nvSpPr>
          <p:cNvPr id="18" name="Text 15">
            <a:extLst>
              <a:ext uri="{FF2B5EF4-FFF2-40B4-BE49-F238E27FC236}">
                <a16:creationId xmlns:a16="http://schemas.microsoft.com/office/drawing/2014/main" id="{2B4D759A-738D-8195-334F-FF469C2B29BD}"/>
              </a:ext>
            </a:extLst>
          </p:cNvPr>
          <p:cNvSpPr/>
          <p:nvPr/>
        </p:nvSpPr>
        <p:spPr>
          <a:xfrm>
            <a:off x="5558511" y="1461576"/>
            <a:ext cx="1743456" cy="316992"/>
          </a:xfrm>
          <a:prstGeom prst="rect">
            <a:avLst/>
          </a:prstGeom>
          <a:noFill/>
          <a:ln/>
        </p:spPr>
        <p:txBody>
          <a:bodyPr wrap="square" lIns="0" tIns="0" rIns="0" bIns="0" rtlCol="0" anchor="ctr"/>
          <a:lstStyle/>
          <a:p>
            <a:pPr algn="ctr" defTabSz="1219110">
              <a:defRPr/>
            </a:pPr>
            <a:r>
              <a:rPr lang="en-US" sz="1400">
                <a:solidFill>
                  <a:srgbClr val="171738"/>
                </a:solidFill>
                <a:latin typeface="Georgia"/>
                <a:ea typeface="Georgia" pitchFamily="34" charset="-122"/>
                <a:cs typeface="Georgia" pitchFamily="34" charset="-120"/>
              </a:rPr>
              <a:t>20.98%</a:t>
            </a:r>
            <a:endParaRPr lang="en-US" sz="1400">
              <a:solidFill>
                <a:prstClr val="black"/>
              </a:solidFill>
              <a:latin typeface="Georgia"/>
            </a:endParaRPr>
          </a:p>
        </p:txBody>
      </p:sp>
      <p:sp>
        <p:nvSpPr>
          <p:cNvPr id="19" name="Text 16">
            <a:extLst>
              <a:ext uri="{FF2B5EF4-FFF2-40B4-BE49-F238E27FC236}">
                <a16:creationId xmlns:a16="http://schemas.microsoft.com/office/drawing/2014/main" id="{13C6CBB0-0E0C-19A1-44DF-E191D143BA91}"/>
              </a:ext>
            </a:extLst>
          </p:cNvPr>
          <p:cNvSpPr/>
          <p:nvPr/>
        </p:nvSpPr>
        <p:spPr>
          <a:xfrm>
            <a:off x="7301967" y="1461576"/>
            <a:ext cx="1743456" cy="316992"/>
          </a:xfrm>
          <a:prstGeom prst="rect">
            <a:avLst/>
          </a:prstGeom>
          <a:noFill/>
          <a:ln/>
        </p:spPr>
        <p:txBody>
          <a:bodyPr wrap="square" lIns="0" tIns="0" rIns="0" bIns="0" rtlCol="0" anchor="ctr"/>
          <a:lstStyle/>
          <a:p>
            <a:pPr algn="ctr" defTabSz="1219110">
              <a:defRPr/>
            </a:pPr>
            <a:r>
              <a:rPr lang="en-US" sz="1400">
                <a:solidFill>
                  <a:srgbClr val="171738"/>
                </a:solidFill>
                <a:latin typeface="Georgia"/>
                <a:ea typeface="Georgia" pitchFamily="34" charset="-122"/>
                <a:cs typeface="Georgia" pitchFamily="34" charset="-120"/>
              </a:rPr>
              <a:t>16.73%</a:t>
            </a:r>
            <a:endParaRPr lang="en-US" sz="1400">
              <a:solidFill>
                <a:prstClr val="black"/>
              </a:solidFill>
              <a:latin typeface="Georgia"/>
            </a:endParaRPr>
          </a:p>
        </p:txBody>
      </p:sp>
      <p:sp>
        <p:nvSpPr>
          <p:cNvPr id="20" name="Text 17">
            <a:extLst>
              <a:ext uri="{FF2B5EF4-FFF2-40B4-BE49-F238E27FC236}">
                <a16:creationId xmlns:a16="http://schemas.microsoft.com/office/drawing/2014/main" id="{1AF53552-9B9D-7EA5-600D-1B8A3CF7AA25}"/>
              </a:ext>
            </a:extLst>
          </p:cNvPr>
          <p:cNvSpPr/>
          <p:nvPr/>
        </p:nvSpPr>
        <p:spPr>
          <a:xfrm>
            <a:off x="9045423" y="1461576"/>
            <a:ext cx="1804416" cy="316992"/>
          </a:xfrm>
          <a:prstGeom prst="rect">
            <a:avLst/>
          </a:prstGeom>
          <a:noFill/>
          <a:ln/>
        </p:spPr>
        <p:txBody>
          <a:bodyPr wrap="square" lIns="0" tIns="0" rIns="0" bIns="0" rtlCol="0" anchor="ctr"/>
          <a:lstStyle/>
          <a:p>
            <a:pPr algn="ctr" defTabSz="1219110">
              <a:defRPr/>
            </a:pPr>
            <a:r>
              <a:rPr lang="en-US" sz="1400">
                <a:solidFill>
                  <a:srgbClr val="171738"/>
                </a:solidFill>
                <a:latin typeface="Georgia"/>
                <a:ea typeface="Georgia" pitchFamily="34" charset="-122"/>
                <a:cs typeface="Georgia" pitchFamily="34" charset="-120"/>
              </a:rPr>
              <a:t>14.54%</a:t>
            </a:r>
            <a:endParaRPr lang="en-US" sz="1400">
              <a:solidFill>
                <a:prstClr val="black"/>
              </a:solidFill>
              <a:latin typeface="Georgia"/>
            </a:endParaRPr>
          </a:p>
        </p:txBody>
      </p:sp>
      <p:sp>
        <p:nvSpPr>
          <p:cNvPr id="21" name="Shape 18">
            <a:extLst>
              <a:ext uri="{FF2B5EF4-FFF2-40B4-BE49-F238E27FC236}">
                <a16:creationId xmlns:a16="http://schemas.microsoft.com/office/drawing/2014/main" id="{678DC87F-53D6-E58C-7AE5-E3F9CF72128A}"/>
              </a:ext>
            </a:extLst>
          </p:cNvPr>
          <p:cNvSpPr/>
          <p:nvPr/>
        </p:nvSpPr>
        <p:spPr>
          <a:xfrm>
            <a:off x="364719" y="1802952"/>
            <a:ext cx="11094720" cy="0"/>
          </a:xfrm>
          <a:prstGeom prst="line">
            <a:avLst/>
          </a:prstGeom>
          <a:noFill/>
          <a:ln w="3810">
            <a:solidFill>
              <a:srgbClr val="F4EFE4"/>
            </a:solidFill>
            <a:prstDash val="solid"/>
          </a:ln>
        </p:spPr>
        <p:txBody>
          <a:bodyPr/>
          <a:lstStyle/>
          <a:p>
            <a:pPr defTabSz="1219110">
              <a:defRPr/>
            </a:pPr>
            <a:endParaRPr lang="en-US" sz="2400">
              <a:solidFill>
                <a:prstClr val="black"/>
              </a:solidFill>
              <a:latin typeface="Calibri" panose="020F0502020204030204"/>
            </a:endParaRPr>
          </a:p>
        </p:txBody>
      </p:sp>
      <p:sp>
        <p:nvSpPr>
          <p:cNvPr id="22" name="Shape 19">
            <a:extLst>
              <a:ext uri="{FF2B5EF4-FFF2-40B4-BE49-F238E27FC236}">
                <a16:creationId xmlns:a16="http://schemas.microsoft.com/office/drawing/2014/main" id="{D6AB2AA1-8E19-6B94-5DEC-E50FBEDBE5A6}"/>
              </a:ext>
            </a:extLst>
          </p:cNvPr>
          <p:cNvSpPr/>
          <p:nvPr/>
        </p:nvSpPr>
        <p:spPr>
          <a:xfrm>
            <a:off x="364721" y="1815144"/>
            <a:ext cx="11094721" cy="341376"/>
          </a:xfrm>
          <a:prstGeom prst="rect">
            <a:avLst/>
          </a:prstGeom>
          <a:solidFill>
            <a:srgbClr val="F4EFE4"/>
          </a:solidFill>
          <a:ln w="12700">
            <a:solidFill>
              <a:srgbClr val="1C1713"/>
            </a:solidFill>
            <a:prstDash val="solid"/>
          </a:ln>
        </p:spPr>
        <p:txBody>
          <a:bodyPr/>
          <a:lstStyle/>
          <a:p>
            <a:pPr defTabSz="1219110">
              <a:defRPr/>
            </a:pPr>
            <a:endParaRPr lang="en-US" sz="2400">
              <a:solidFill>
                <a:prstClr val="black"/>
              </a:solidFill>
              <a:latin typeface="Calibri" panose="020F0502020204030204"/>
            </a:endParaRPr>
          </a:p>
        </p:txBody>
      </p:sp>
      <p:sp>
        <p:nvSpPr>
          <p:cNvPr id="23" name="Text 20">
            <a:extLst>
              <a:ext uri="{FF2B5EF4-FFF2-40B4-BE49-F238E27FC236}">
                <a16:creationId xmlns:a16="http://schemas.microsoft.com/office/drawing/2014/main" id="{1C233281-9ACE-4C89-0867-2852564DA08C}"/>
              </a:ext>
            </a:extLst>
          </p:cNvPr>
          <p:cNvSpPr/>
          <p:nvPr/>
        </p:nvSpPr>
        <p:spPr>
          <a:xfrm>
            <a:off x="421589" y="1851719"/>
            <a:ext cx="1706880" cy="316992"/>
          </a:xfrm>
          <a:prstGeom prst="rect">
            <a:avLst/>
          </a:prstGeom>
          <a:noFill/>
          <a:ln/>
        </p:spPr>
        <p:txBody>
          <a:bodyPr wrap="square" lIns="0" tIns="0" rIns="0" bIns="0" rtlCol="0" anchor="ctr"/>
          <a:lstStyle/>
          <a:p>
            <a:pPr defTabSz="1219110">
              <a:defRPr/>
            </a:pPr>
            <a:r>
              <a:rPr lang="en-US" sz="1000" kern="0" spc="200">
                <a:solidFill>
                  <a:srgbClr val="C9A84C"/>
                </a:solidFill>
                <a:latin typeface="Calibri"/>
                <a:ea typeface="Calibri"/>
                <a:cs typeface="Calibri"/>
              </a:rPr>
              <a:t>NET</a:t>
            </a:r>
            <a:endParaRPr lang="en-US" sz="1000">
              <a:solidFill>
                <a:prstClr val="black"/>
              </a:solidFill>
              <a:latin typeface="Calibri"/>
              <a:ea typeface="Calibri"/>
              <a:cs typeface="Calibri"/>
            </a:endParaRPr>
          </a:p>
        </p:txBody>
      </p:sp>
      <p:sp>
        <p:nvSpPr>
          <p:cNvPr id="24" name="Text 21">
            <a:extLst>
              <a:ext uri="{FF2B5EF4-FFF2-40B4-BE49-F238E27FC236}">
                <a16:creationId xmlns:a16="http://schemas.microsoft.com/office/drawing/2014/main" id="{E5898E45-56C0-D00E-6C8B-78ADC6577B23}"/>
              </a:ext>
            </a:extLst>
          </p:cNvPr>
          <p:cNvSpPr/>
          <p:nvPr/>
        </p:nvSpPr>
        <p:spPr>
          <a:xfrm>
            <a:off x="2071599" y="1851720"/>
            <a:ext cx="174345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ea typeface="Georgia" pitchFamily="34" charset="-122"/>
                <a:cs typeface="Georgia" pitchFamily="34" charset="-120"/>
              </a:rPr>
              <a:t>12.28%</a:t>
            </a:r>
            <a:endParaRPr lang="en-US" sz="1400">
              <a:solidFill>
                <a:prstClr val="black"/>
              </a:solidFill>
              <a:latin typeface="Georgia"/>
            </a:endParaRPr>
          </a:p>
        </p:txBody>
      </p:sp>
      <p:sp>
        <p:nvSpPr>
          <p:cNvPr id="25" name="Text 22">
            <a:extLst>
              <a:ext uri="{FF2B5EF4-FFF2-40B4-BE49-F238E27FC236}">
                <a16:creationId xmlns:a16="http://schemas.microsoft.com/office/drawing/2014/main" id="{6B84FC37-633D-8624-7395-BDBA82AE92D8}"/>
              </a:ext>
            </a:extLst>
          </p:cNvPr>
          <p:cNvSpPr/>
          <p:nvPr/>
        </p:nvSpPr>
        <p:spPr>
          <a:xfrm>
            <a:off x="3815055" y="1851720"/>
            <a:ext cx="174345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rPr>
              <a:t>15.37%</a:t>
            </a:r>
            <a:endParaRPr lang="en-US" sz="1400">
              <a:solidFill>
                <a:prstClr val="black"/>
              </a:solidFill>
              <a:latin typeface="Georgia"/>
            </a:endParaRPr>
          </a:p>
        </p:txBody>
      </p:sp>
      <p:sp>
        <p:nvSpPr>
          <p:cNvPr id="26" name="Text 23">
            <a:extLst>
              <a:ext uri="{FF2B5EF4-FFF2-40B4-BE49-F238E27FC236}">
                <a16:creationId xmlns:a16="http://schemas.microsoft.com/office/drawing/2014/main" id="{93308182-87FA-7B6A-2202-816F195D3EF8}"/>
              </a:ext>
            </a:extLst>
          </p:cNvPr>
          <p:cNvSpPr/>
          <p:nvPr/>
        </p:nvSpPr>
        <p:spPr>
          <a:xfrm>
            <a:off x="5558511" y="1851720"/>
            <a:ext cx="174345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ea typeface="Calibri" panose="020F0502020204030204"/>
                <a:cs typeface="Calibri" panose="020F0502020204030204"/>
              </a:rPr>
              <a:t>19.18%</a:t>
            </a:r>
            <a:endParaRPr lang="en-US" sz="1400">
              <a:solidFill>
                <a:prstClr val="black"/>
              </a:solidFill>
              <a:latin typeface="Georgia"/>
              <a:ea typeface="Calibri" panose="020F0502020204030204"/>
              <a:cs typeface="Calibri" panose="020F0502020204030204"/>
            </a:endParaRPr>
          </a:p>
        </p:txBody>
      </p:sp>
      <p:sp>
        <p:nvSpPr>
          <p:cNvPr id="27" name="Text 24">
            <a:extLst>
              <a:ext uri="{FF2B5EF4-FFF2-40B4-BE49-F238E27FC236}">
                <a16:creationId xmlns:a16="http://schemas.microsoft.com/office/drawing/2014/main" id="{BC2BD0CB-5BF2-62E3-24B8-0A2031B7F4BD}"/>
              </a:ext>
            </a:extLst>
          </p:cNvPr>
          <p:cNvSpPr/>
          <p:nvPr/>
        </p:nvSpPr>
        <p:spPr>
          <a:xfrm>
            <a:off x="7301967" y="1851720"/>
            <a:ext cx="174345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ea typeface="Georgia" pitchFamily="34" charset="-122"/>
                <a:cs typeface="Georgia" pitchFamily="34" charset="-120"/>
              </a:rPr>
              <a:t>14.99%</a:t>
            </a:r>
            <a:endParaRPr lang="en-US" sz="1400">
              <a:solidFill>
                <a:prstClr val="black"/>
              </a:solidFill>
              <a:latin typeface="Georgia"/>
            </a:endParaRPr>
          </a:p>
        </p:txBody>
      </p:sp>
      <p:sp>
        <p:nvSpPr>
          <p:cNvPr id="28" name="Text 25">
            <a:extLst>
              <a:ext uri="{FF2B5EF4-FFF2-40B4-BE49-F238E27FC236}">
                <a16:creationId xmlns:a16="http://schemas.microsoft.com/office/drawing/2014/main" id="{4C050049-6BC8-B214-3090-44CF1E402412}"/>
              </a:ext>
            </a:extLst>
          </p:cNvPr>
          <p:cNvSpPr/>
          <p:nvPr/>
        </p:nvSpPr>
        <p:spPr>
          <a:xfrm>
            <a:off x="9045423" y="1851720"/>
            <a:ext cx="180441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rPr>
              <a:t>12.84%</a:t>
            </a:r>
            <a:endParaRPr lang="en-US" sz="1400">
              <a:solidFill>
                <a:prstClr val="black"/>
              </a:solidFill>
              <a:latin typeface="Calibri" panose="020F0502020204030204"/>
            </a:endParaRPr>
          </a:p>
        </p:txBody>
      </p:sp>
      <p:sp>
        <p:nvSpPr>
          <p:cNvPr id="29" name="Shape 26">
            <a:extLst>
              <a:ext uri="{FF2B5EF4-FFF2-40B4-BE49-F238E27FC236}">
                <a16:creationId xmlns:a16="http://schemas.microsoft.com/office/drawing/2014/main" id="{15070D57-D39B-BF64-BC90-A58BD91C81EF}"/>
              </a:ext>
            </a:extLst>
          </p:cNvPr>
          <p:cNvSpPr/>
          <p:nvPr/>
        </p:nvSpPr>
        <p:spPr>
          <a:xfrm>
            <a:off x="364719" y="2193096"/>
            <a:ext cx="11094720" cy="0"/>
          </a:xfrm>
          <a:prstGeom prst="line">
            <a:avLst/>
          </a:prstGeom>
          <a:noFill/>
          <a:ln w="3810">
            <a:solidFill>
              <a:srgbClr val="F4EFE4"/>
            </a:solidFill>
            <a:prstDash val="solid"/>
          </a:ln>
        </p:spPr>
        <p:txBody>
          <a:bodyPr/>
          <a:lstStyle/>
          <a:p>
            <a:pPr defTabSz="1219110">
              <a:defRPr/>
            </a:pPr>
            <a:endParaRPr lang="en-US" sz="2400">
              <a:solidFill>
                <a:prstClr val="black"/>
              </a:solidFill>
              <a:latin typeface="Calibri" panose="020F0502020204030204"/>
            </a:endParaRPr>
          </a:p>
        </p:txBody>
      </p:sp>
      <p:sp>
        <p:nvSpPr>
          <p:cNvPr id="30" name="Text 27">
            <a:extLst>
              <a:ext uri="{FF2B5EF4-FFF2-40B4-BE49-F238E27FC236}">
                <a16:creationId xmlns:a16="http://schemas.microsoft.com/office/drawing/2014/main" id="{69D9D0A5-A394-8EEA-BC6F-D444C75B9E73}"/>
              </a:ext>
            </a:extLst>
          </p:cNvPr>
          <p:cNvSpPr/>
          <p:nvPr/>
        </p:nvSpPr>
        <p:spPr>
          <a:xfrm>
            <a:off x="364721" y="2241864"/>
            <a:ext cx="2073681" cy="316992"/>
          </a:xfrm>
          <a:prstGeom prst="rect">
            <a:avLst/>
          </a:prstGeom>
          <a:noFill/>
          <a:ln/>
        </p:spPr>
        <p:txBody>
          <a:bodyPr wrap="square" lIns="0" tIns="0" rIns="0" bIns="0" rtlCol="0" anchor="ctr"/>
          <a:lstStyle/>
          <a:p>
            <a:pPr defTabSz="1219110">
              <a:defRPr/>
            </a:pPr>
            <a:r>
              <a:rPr lang="en-US" sz="1000" kern="0" spc="200">
                <a:solidFill>
                  <a:srgbClr val="8B7355"/>
                </a:solidFill>
                <a:ea typeface="Calibri"/>
                <a:cs typeface="Calibri"/>
              </a:rPr>
              <a:t>iShares Select Dividend ETF (DVY)</a:t>
            </a:r>
            <a:endParaRPr lang="en-US" sz="1000">
              <a:solidFill>
                <a:prstClr val="black"/>
              </a:solidFill>
              <a:latin typeface="Calibri"/>
              <a:ea typeface="Calibri"/>
              <a:cs typeface="Calibri"/>
            </a:endParaRPr>
          </a:p>
        </p:txBody>
      </p:sp>
      <p:sp>
        <p:nvSpPr>
          <p:cNvPr id="31" name="Text 28">
            <a:extLst>
              <a:ext uri="{FF2B5EF4-FFF2-40B4-BE49-F238E27FC236}">
                <a16:creationId xmlns:a16="http://schemas.microsoft.com/office/drawing/2014/main" id="{76AD8BA1-DE29-B4FA-39B7-C2EFA0D23B64}"/>
              </a:ext>
            </a:extLst>
          </p:cNvPr>
          <p:cNvSpPr/>
          <p:nvPr/>
        </p:nvSpPr>
        <p:spPr>
          <a:xfrm>
            <a:off x="2071599" y="2241864"/>
            <a:ext cx="1743456" cy="316992"/>
          </a:xfrm>
          <a:prstGeom prst="rect">
            <a:avLst/>
          </a:prstGeom>
          <a:noFill/>
          <a:ln/>
        </p:spPr>
        <p:txBody>
          <a:bodyPr wrap="square" lIns="0" tIns="0" rIns="0" bIns="0" rtlCol="0" anchor="ctr"/>
          <a:lstStyle/>
          <a:p>
            <a:pPr algn="ctr" defTabSz="1219110">
              <a:defRPr/>
            </a:pPr>
            <a:r>
              <a:rPr lang="en-US" sz="1400">
                <a:solidFill>
                  <a:srgbClr val="8B7355"/>
                </a:solidFill>
                <a:latin typeface="Georgia"/>
              </a:rPr>
              <a:t>10.33%</a:t>
            </a:r>
            <a:endParaRPr lang="en-US" sz="1400">
              <a:solidFill>
                <a:prstClr val="black"/>
              </a:solidFill>
              <a:latin typeface="Georgia"/>
            </a:endParaRPr>
          </a:p>
        </p:txBody>
      </p:sp>
      <p:sp>
        <p:nvSpPr>
          <p:cNvPr id="32" name="Text 29">
            <a:extLst>
              <a:ext uri="{FF2B5EF4-FFF2-40B4-BE49-F238E27FC236}">
                <a16:creationId xmlns:a16="http://schemas.microsoft.com/office/drawing/2014/main" id="{197EDA5E-6EFD-77E8-0EA0-04BBEEF28C5C}"/>
              </a:ext>
            </a:extLst>
          </p:cNvPr>
          <p:cNvSpPr/>
          <p:nvPr/>
        </p:nvSpPr>
        <p:spPr>
          <a:xfrm>
            <a:off x="3815055" y="2241864"/>
            <a:ext cx="1743456" cy="316992"/>
          </a:xfrm>
          <a:prstGeom prst="rect">
            <a:avLst/>
          </a:prstGeom>
          <a:noFill/>
          <a:ln/>
        </p:spPr>
        <p:txBody>
          <a:bodyPr wrap="square" lIns="0" tIns="0" rIns="0" bIns="0" rtlCol="0" anchor="ctr"/>
          <a:lstStyle/>
          <a:p>
            <a:pPr algn="ctr" defTabSz="1219110">
              <a:defRPr/>
            </a:pPr>
            <a:r>
              <a:rPr lang="en-US" sz="1400">
                <a:solidFill>
                  <a:srgbClr val="8B7355"/>
                </a:solidFill>
                <a:latin typeface="Georgia"/>
              </a:rPr>
              <a:t>10.83%</a:t>
            </a:r>
            <a:endParaRPr lang="en-US" sz="1400">
              <a:solidFill>
                <a:prstClr val="black"/>
              </a:solidFill>
              <a:latin typeface="Georgia"/>
            </a:endParaRPr>
          </a:p>
        </p:txBody>
      </p:sp>
      <p:sp>
        <p:nvSpPr>
          <p:cNvPr id="33" name="Text 30">
            <a:extLst>
              <a:ext uri="{FF2B5EF4-FFF2-40B4-BE49-F238E27FC236}">
                <a16:creationId xmlns:a16="http://schemas.microsoft.com/office/drawing/2014/main" id="{54313487-1D7C-7D0D-28F1-893215105593}"/>
              </a:ext>
            </a:extLst>
          </p:cNvPr>
          <p:cNvSpPr/>
          <p:nvPr/>
        </p:nvSpPr>
        <p:spPr>
          <a:xfrm>
            <a:off x="5558511" y="2241864"/>
            <a:ext cx="1743456" cy="316992"/>
          </a:xfrm>
          <a:prstGeom prst="rect">
            <a:avLst/>
          </a:prstGeom>
          <a:noFill/>
          <a:ln/>
        </p:spPr>
        <p:txBody>
          <a:bodyPr wrap="square" lIns="0" tIns="0" rIns="0" bIns="0" rtlCol="0" anchor="ctr"/>
          <a:lstStyle/>
          <a:p>
            <a:pPr algn="ctr" defTabSz="1219110">
              <a:defRPr/>
            </a:pPr>
            <a:r>
              <a:rPr lang="en-US" sz="1400">
                <a:solidFill>
                  <a:srgbClr val="8B7355"/>
                </a:solidFill>
                <a:latin typeface="Georgia"/>
                <a:ea typeface="Georgia" pitchFamily="34" charset="-122"/>
                <a:cs typeface="Georgia" pitchFamily="34" charset="-120"/>
              </a:rPr>
              <a:t>16.33%</a:t>
            </a:r>
            <a:endParaRPr lang="en-US" sz="1400">
              <a:solidFill>
                <a:prstClr val="black"/>
              </a:solidFill>
              <a:latin typeface="Georgia"/>
            </a:endParaRPr>
          </a:p>
        </p:txBody>
      </p:sp>
      <p:sp>
        <p:nvSpPr>
          <p:cNvPr id="34" name="Text 31">
            <a:extLst>
              <a:ext uri="{FF2B5EF4-FFF2-40B4-BE49-F238E27FC236}">
                <a16:creationId xmlns:a16="http://schemas.microsoft.com/office/drawing/2014/main" id="{BDEEEF1E-E524-EAE0-B336-682FDA2444D8}"/>
              </a:ext>
            </a:extLst>
          </p:cNvPr>
          <p:cNvSpPr/>
          <p:nvPr/>
        </p:nvSpPr>
        <p:spPr>
          <a:xfrm>
            <a:off x="7301967" y="2241864"/>
            <a:ext cx="1743456" cy="316992"/>
          </a:xfrm>
          <a:prstGeom prst="rect">
            <a:avLst/>
          </a:prstGeom>
          <a:noFill/>
          <a:ln/>
        </p:spPr>
        <p:txBody>
          <a:bodyPr wrap="square" lIns="0" tIns="0" rIns="0" bIns="0" rtlCol="0" anchor="ctr"/>
          <a:lstStyle/>
          <a:p>
            <a:pPr algn="ctr" defTabSz="1219110">
              <a:defRPr/>
            </a:pPr>
            <a:r>
              <a:rPr lang="en-US" sz="1400">
                <a:solidFill>
                  <a:srgbClr val="8B7355"/>
                </a:solidFill>
                <a:latin typeface="Georgia"/>
              </a:rPr>
              <a:t>9.66%</a:t>
            </a:r>
            <a:endParaRPr lang="en-US" sz="1400">
              <a:solidFill>
                <a:prstClr val="black"/>
              </a:solidFill>
              <a:latin typeface="Calibri" panose="020F0502020204030204"/>
            </a:endParaRPr>
          </a:p>
        </p:txBody>
      </p:sp>
      <p:sp>
        <p:nvSpPr>
          <p:cNvPr id="35" name="Text 32">
            <a:extLst>
              <a:ext uri="{FF2B5EF4-FFF2-40B4-BE49-F238E27FC236}">
                <a16:creationId xmlns:a16="http://schemas.microsoft.com/office/drawing/2014/main" id="{761C48DF-7EE6-9EEA-E2A6-61DACB7F5243}"/>
              </a:ext>
            </a:extLst>
          </p:cNvPr>
          <p:cNvSpPr/>
          <p:nvPr/>
        </p:nvSpPr>
        <p:spPr>
          <a:xfrm>
            <a:off x="9045423" y="2241864"/>
            <a:ext cx="1804416" cy="316992"/>
          </a:xfrm>
          <a:prstGeom prst="rect">
            <a:avLst/>
          </a:prstGeom>
          <a:noFill/>
          <a:ln/>
        </p:spPr>
        <p:txBody>
          <a:bodyPr wrap="square" lIns="0" tIns="0" rIns="0" bIns="0" rtlCol="0" anchor="ctr"/>
          <a:lstStyle/>
          <a:p>
            <a:pPr algn="ctr" defTabSz="1219110">
              <a:defRPr/>
            </a:pPr>
            <a:r>
              <a:rPr lang="en-US" sz="1400">
                <a:solidFill>
                  <a:srgbClr val="8B7355"/>
                </a:solidFill>
                <a:latin typeface="Georgia"/>
              </a:rPr>
              <a:t>9.74%</a:t>
            </a:r>
            <a:endParaRPr lang="en-US" sz="1400">
              <a:solidFill>
                <a:prstClr val="black"/>
              </a:solidFill>
              <a:latin typeface="Calibri" panose="020F0502020204030204"/>
            </a:endParaRPr>
          </a:p>
        </p:txBody>
      </p:sp>
      <p:sp>
        <p:nvSpPr>
          <p:cNvPr id="36" name="Shape 33">
            <a:extLst>
              <a:ext uri="{FF2B5EF4-FFF2-40B4-BE49-F238E27FC236}">
                <a16:creationId xmlns:a16="http://schemas.microsoft.com/office/drawing/2014/main" id="{4CEA5E3D-4DE2-0F30-116F-CF8AAC1A051B}"/>
              </a:ext>
            </a:extLst>
          </p:cNvPr>
          <p:cNvSpPr/>
          <p:nvPr/>
        </p:nvSpPr>
        <p:spPr>
          <a:xfrm>
            <a:off x="364719" y="2583240"/>
            <a:ext cx="11094720" cy="0"/>
          </a:xfrm>
          <a:prstGeom prst="line">
            <a:avLst/>
          </a:prstGeom>
          <a:noFill/>
          <a:ln w="3810">
            <a:solidFill>
              <a:srgbClr val="F4EFE4"/>
            </a:solidFill>
            <a:prstDash val="solid"/>
          </a:ln>
        </p:spPr>
        <p:txBody>
          <a:bodyPr/>
          <a:lstStyle/>
          <a:p>
            <a:pPr defTabSz="1219110">
              <a:defRPr/>
            </a:pPr>
            <a:endParaRPr lang="en-US" sz="2400">
              <a:solidFill>
                <a:prstClr val="black"/>
              </a:solidFill>
              <a:latin typeface="Calibri" panose="020F0502020204030204"/>
            </a:endParaRPr>
          </a:p>
        </p:txBody>
      </p:sp>
      <p:sp>
        <p:nvSpPr>
          <p:cNvPr id="37" name="Text 34">
            <a:extLst>
              <a:ext uri="{FF2B5EF4-FFF2-40B4-BE49-F238E27FC236}">
                <a16:creationId xmlns:a16="http://schemas.microsoft.com/office/drawing/2014/main" id="{F958F7A3-1509-36A4-ECB3-EB99F8C33444}"/>
              </a:ext>
            </a:extLst>
          </p:cNvPr>
          <p:cNvSpPr/>
          <p:nvPr/>
        </p:nvSpPr>
        <p:spPr>
          <a:xfrm>
            <a:off x="364719" y="2632008"/>
            <a:ext cx="1706880" cy="316992"/>
          </a:xfrm>
          <a:prstGeom prst="rect">
            <a:avLst/>
          </a:prstGeom>
          <a:noFill/>
          <a:ln/>
        </p:spPr>
        <p:txBody>
          <a:bodyPr wrap="square" lIns="0" tIns="0" rIns="0" bIns="0" rtlCol="0" anchor="ctr"/>
          <a:lstStyle/>
          <a:p>
            <a:pPr defTabSz="1219110">
              <a:defRPr/>
            </a:pPr>
            <a:r>
              <a:rPr lang="en-US" sz="1000" kern="0" spc="200">
                <a:solidFill>
                  <a:srgbClr val="8B7355"/>
                </a:solidFill>
                <a:ea typeface="Calibri"/>
                <a:cs typeface="Calibri"/>
              </a:rPr>
              <a:t>State Street S &amp; P 500 ETF Trust (SPY)</a:t>
            </a:r>
            <a:endParaRPr lang="en-US" sz="1000">
              <a:solidFill>
                <a:prstClr val="black"/>
              </a:solidFill>
              <a:latin typeface="Calibri"/>
              <a:ea typeface="Calibri"/>
              <a:cs typeface="Calibri"/>
            </a:endParaRPr>
          </a:p>
        </p:txBody>
      </p:sp>
      <p:sp>
        <p:nvSpPr>
          <p:cNvPr id="39" name="Text 36">
            <a:extLst>
              <a:ext uri="{FF2B5EF4-FFF2-40B4-BE49-F238E27FC236}">
                <a16:creationId xmlns:a16="http://schemas.microsoft.com/office/drawing/2014/main" id="{2ADC0E6B-1D69-37F3-9E22-DC674D472E9A}"/>
              </a:ext>
            </a:extLst>
          </p:cNvPr>
          <p:cNvSpPr/>
          <p:nvPr/>
        </p:nvSpPr>
        <p:spPr>
          <a:xfrm>
            <a:off x="3815055" y="2632008"/>
            <a:ext cx="1743456" cy="316992"/>
          </a:xfrm>
          <a:prstGeom prst="rect">
            <a:avLst/>
          </a:prstGeom>
          <a:noFill/>
          <a:ln/>
        </p:spPr>
        <p:txBody>
          <a:bodyPr wrap="square" lIns="0" tIns="0" rIns="0" bIns="0" rtlCol="0" anchor="ctr"/>
          <a:lstStyle/>
          <a:p>
            <a:pPr algn="ctr" defTabSz="1219110">
              <a:defRPr/>
            </a:pPr>
            <a:r>
              <a:rPr lang="en-US" sz="1400">
                <a:solidFill>
                  <a:srgbClr val="8B7355"/>
                </a:solidFill>
                <a:latin typeface="Georgia"/>
              </a:rPr>
              <a:t>15.71%</a:t>
            </a:r>
            <a:endParaRPr lang="en-US" sz="1400">
              <a:solidFill>
                <a:prstClr val="black"/>
              </a:solidFill>
              <a:latin typeface="Calibri" panose="020F0502020204030204"/>
              <a:ea typeface="Calibri"/>
              <a:cs typeface="Calibri"/>
            </a:endParaRPr>
          </a:p>
        </p:txBody>
      </p:sp>
      <p:sp>
        <p:nvSpPr>
          <p:cNvPr id="40" name="Text 37">
            <a:extLst>
              <a:ext uri="{FF2B5EF4-FFF2-40B4-BE49-F238E27FC236}">
                <a16:creationId xmlns:a16="http://schemas.microsoft.com/office/drawing/2014/main" id="{79417001-40B4-A730-BF6D-C6B2F6DCBE07}"/>
              </a:ext>
            </a:extLst>
          </p:cNvPr>
          <p:cNvSpPr/>
          <p:nvPr/>
        </p:nvSpPr>
        <p:spPr>
          <a:xfrm>
            <a:off x="5558511" y="2632008"/>
            <a:ext cx="1743456" cy="316992"/>
          </a:xfrm>
          <a:prstGeom prst="rect">
            <a:avLst/>
          </a:prstGeom>
          <a:noFill/>
          <a:ln/>
        </p:spPr>
        <p:txBody>
          <a:bodyPr wrap="square" lIns="0" tIns="0" rIns="0" bIns="0" rtlCol="0" anchor="ctr"/>
          <a:lstStyle/>
          <a:p>
            <a:pPr algn="ctr" defTabSz="1219110">
              <a:defRPr/>
            </a:pPr>
            <a:r>
              <a:rPr lang="en-US" sz="1400">
                <a:solidFill>
                  <a:srgbClr val="8B7355"/>
                </a:solidFill>
                <a:latin typeface="Georgia"/>
              </a:rPr>
              <a:t>22.76%</a:t>
            </a:r>
            <a:endParaRPr lang="en-US" sz="1400">
              <a:solidFill>
                <a:prstClr val="black"/>
              </a:solidFill>
              <a:latin typeface="Georgia"/>
            </a:endParaRPr>
          </a:p>
        </p:txBody>
      </p:sp>
      <p:sp>
        <p:nvSpPr>
          <p:cNvPr id="41" name="Text 38">
            <a:extLst>
              <a:ext uri="{FF2B5EF4-FFF2-40B4-BE49-F238E27FC236}">
                <a16:creationId xmlns:a16="http://schemas.microsoft.com/office/drawing/2014/main" id="{63441509-046F-2450-FDD2-4DAE9FF90CD5}"/>
              </a:ext>
            </a:extLst>
          </p:cNvPr>
          <p:cNvSpPr/>
          <p:nvPr/>
        </p:nvSpPr>
        <p:spPr>
          <a:xfrm>
            <a:off x="7301967" y="2632008"/>
            <a:ext cx="1743456" cy="316992"/>
          </a:xfrm>
          <a:prstGeom prst="rect">
            <a:avLst/>
          </a:prstGeom>
          <a:noFill/>
          <a:ln/>
        </p:spPr>
        <p:txBody>
          <a:bodyPr wrap="square" lIns="0" tIns="0" rIns="0" bIns="0" rtlCol="0" anchor="ctr"/>
          <a:lstStyle/>
          <a:p>
            <a:pPr algn="ctr" defTabSz="1219110">
              <a:defRPr/>
            </a:pPr>
            <a:r>
              <a:rPr lang="en-US" sz="1400">
                <a:solidFill>
                  <a:srgbClr val="8B7355"/>
                </a:solidFill>
                <a:latin typeface="Georgia"/>
              </a:rPr>
              <a:t>13.70%</a:t>
            </a:r>
            <a:endParaRPr lang="en-US" sz="1400">
              <a:solidFill>
                <a:prstClr val="black"/>
              </a:solidFill>
              <a:latin typeface="Calibri" panose="020F0502020204030204"/>
            </a:endParaRPr>
          </a:p>
        </p:txBody>
      </p:sp>
      <p:sp>
        <p:nvSpPr>
          <p:cNvPr id="42" name="Text 39">
            <a:extLst>
              <a:ext uri="{FF2B5EF4-FFF2-40B4-BE49-F238E27FC236}">
                <a16:creationId xmlns:a16="http://schemas.microsoft.com/office/drawing/2014/main" id="{2FF54C8C-7235-F4D8-DB81-DE3EBB18F490}"/>
              </a:ext>
            </a:extLst>
          </p:cNvPr>
          <p:cNvSpPr/>
          <p:nvPr/>
        </p:nvSpPr>
        <p:spPr>
          <a:xfrm>
            <a:off x="9045423" y="2632008"/>
            <a:ext cx="1804416" cy="316992"/>
          </a:xfrm>
          <a:prstGeom prst="rect">
            <a:avLst/>
          </a:prstGeom>
          <a:noFill/>
          <a:ln/>
        </p:spPr>
        <p:txBody>
          <a:bodyPr wrap="square" lIns="0" tIns="0" rIns="0" bIns="0" rtlCol="0" anchor="ctr"/>
          <a:lstStyle/>
          <a:p>
            <a:pPr algn="ctr" defTabSz="1219110">
              <a:defRPr/>
            </a:pPr>
            <a:r>
              <a:rPr lang="en-US" sz="1400">
                <a:solidFill>
                  <a:srgbClr val="8B7355"/>
                </a:solidFill>
                <a:latin typeface="Georgia"/>
              </a:rPr>
              <a:t>15.23%</a:t>
            </a:r>
            <a:endParaRPr lang="en-US" sz="1400">
              <a:solidFill>
                <a:prstClr val="black"/>
              </a:solidFill>
              <a:latin typeface="Georgia"/>
            </a:endParaRPr>
          </a:p>
        </p:txBody>
      </p:sp>
      <p:sp>
        <p:nvSpPr>
          <p:cNvPr id="43" name="Shape 40">
            <a:extLst>
              <a:ext uri="{FF2B5EF4-FFF2-40B4-BE49-F238E27FC236}">
                <a16:creationId xmlns:a16="http://schemas.microsoft.com/office/drawing/2014/main" id="{CDBDD648-EC07-89C1-70D2-CE1A9E3935E9}"/>
              </a:ext>
            </a:extLst>
          </p:cNvPr>
          <p:cNvSpPr/>
          <p:nvPr/>
        </p:nvSpPr>
        <p:spPr>
          <a:xfrm>
            <a:off x="364719" y="2973384"/>
            <a:ext cx="11094720" cy="0"/>
          </a:xfrm>
          <a:prstGeom prst="line">
            <a:avLst/>
          </a:prstGeom>
          <a:noFill/>
          <a:ln w="3810">
            <a:solidFill>
              <a:srgbClr val="F4EFE4"/>
            </a:solidFill>
            <a:prstDash val="solid"/>
          </a:ln>
        </p:spPr>
        <p:txBody>
          <a:bodyPr/>
          <a:lstStyle/>
          <a:p>
            <a:pPr defTabSz="1219110">
              <a:defRPr/>
            </a:pPr>
            <a:endParaRPr lang="en-US" sz="2400">
              <a:solidFill>
                <a:prstClr val="black"/>
              </a:solidFill>
              <a:latin typeface="Calibri" panose="020F0502020204030204"/>
            </a:endParaRPr>
          </a:p>
        </p:txBody>
      </p:sp>
      <p:sp>
        <p:nvSpPr>
          <p:cNvPr id="44" name="Shape 41">
            <a:extLst>
              <a:ext uri="{FF2B5EF4-FFF2-40B4-BE49-F238E27FC236}">
                <a16:creationId xmlns:a16="http://schemas.microsoft.com/office/drawing/2014/main" id="{C27E0CA3-B51C-45D8-8C46-6877156503E8}"/>
              </a:ext>
            </a:extLst>
          </p:cNvPr>
          <p:cNvSpPr/>
          <p:nvPr/>
        </p:nvSpPr>
        <p:spPr>
          <a:xfrm>
            <a:off x="364719" y="3095304"/>
            <a:ext cx="11094720" cy="0"/>
          </a:xfrm>
          <a:prstGeom prst="line">
            <a:avLst/>
          </a:prstGeom>
          <a:noFill/>
          <a:ln w="12700">
            <a:solidFill>
              <a:srgbClr val="C9A84C"/>
            </a:solidFill>
            <a:prstDash val="solid"/>
          </a:ln>
        </p:spPr>
        <p:txBody>
          <a:bodyPr/>
          <a:lstStyle/>
          <a:p>
            <a:pPr defTabSz="1219110">
              <a:defRPr/>
            </a:pPr>
            <a:endParaRPr lang="en-US" sz="2400">
              <a:solidFill>
                <a:prstClr val="black"/>
              </a:solidFill>
              <a:latin typeface="Calibri" panose="020F0502020204030204"/>
            </a:endParaRPr>
          </a:p>
        </p:txBody>
      </p:sp>
      <p:sp>
        <p:nvSpPr>
          <p:cNvPr id="45" name="Text 42">
            <a:extLst>
              <a:ext uri="{FF2B5EF4-FFF2-40B4-BE49-F238E27FC236}">
                <a16:creationId xmlns:a16="http://schemas.microsoft.com/office/drawing/2014/main" id="{8D4A70F5-C069-CFA4-3973-4007A2CD37C7}"/>
              </a:ext>
            </a:extLst>
          </p:cNvPr>
          <p:cNvSpPr/>
          <p:nvPr/>
        </p:nvSpPr>
        <p:spPr>
          <a:xfrm>
            <a:off x="364719" y="3144072"/>
            <a:ext cx="11099800" cy="243840"/>
          </a:xfrm>
          <a:prstGeom prst="rect">
            <a:avLst/>
          </a:prstGeom>
          <a:noFill/>
          <a:ln/>
        </p:spPr>
        <p:txBody>
          <a:bodyPr wrap="square" lIns="0" tIns="0" rIns="0" bIns="0" rtlCol="0" anchor="ctr"/>
          <a:lstStyle/>
          <a:p>
            <a:pPr defTabSz="1219110">
              <a:defRPr/>
            </a:pPr>
            <a:r>
              <a:rPr lang="en-US" sz="1333" kern="0" spc="267">
                <a:solidFill>
                  <a:srgbClr val="8B7355"/>
                </a:solidFill>
                <a:latin typeface="Calibri"/>
                <a:ea typeface="Calibri"/>
                <a:cs typeface="Calibri"/>
              </a:rPr>
              <a:t>STATISTICS</a:t>
            </a:r>
            <a:r>
              <a:rPr lang="en-US" sz="1000" kern="0" spc="151">
                <a:solidFill>
                  <a:srgbClr val="B8B4AC"/>
                </a:solidFill>
                <a:latin typeface="Calibri"/>
                <a:ea typeface="Calibri"/>
                <a:cs typeface="Calibri"/>
              </a:rPr>
              <a:t>   vs. iShares Select Dividend ETF (DVY)</a:t>
            </a:r>
            <a:endParaRPr lang="en-US" sz="1333">
              <a:solidFill>
                <a:prstClr val="black"/>
              </a:solidFill>
              <a:latin typeface="Calibri"/>
              <a:ea typeface="Calibri"/>
              <a:cs typeface="Calibri"/>
            </a:endParaRPr>
          </a:p>
        </p:txBody>
      </p:sp>
      <p:sp>
        <p:nvSpPr>
          <p:cNvPr id="46" name="Text 43">
            <a:extLst>
              <a:ext uri="{FF2B5EF4-FFF2-40B4-BE49-F238E27FC236}">
                <a16:creationId xmlns:a16="http://schemas.microsoft.com/office/drawing/2014/main" id="{AB561BA9-396E-E1B9-8CED-34855D2C705A}"/>
              </a:ext>
            </a:extLst>
          </p:cNvPr>
          <p:cNvSpPr/>
          <p:nvPr/>
        </p:nvSpPr>
        <p:spPr>
          <a:xfrm>
            <a:off x="364719" y="3387912"/>
            <a:ext cx="1584960" cy="243840"/>
          </a:xfrm>
          <a:prstGeom prst="rect">
            <a:avLst/>
          </a:prstGeom>
          <a:noFill/>
          <a:ln/>
        </p:spPr>
        <p:txBody>
          <a:bodyPr wrap="square" lIns="0" tIns="0" rIns="0" bIns="0" rtlCol="0" anchor="ctr"/>
          <a:lstStyle/>
          <a:p>
            <a:pPr defTabSz="1219110">
              <a:defRPr/>
            </a:pPr>
            <a:endParaRPr lang="en-US" sz="867">
              <a:solidFill>
                <a:prstClr val="black"/>
              </a:solidFill>
              <a:latin typeface="Calibri" panose="020F0502020204030204"/>
            </a:endParaRPr>
          </a:p>
        </p:txBody>
      </p:sp>
      <p:sp>
        <p:nvSpPr>
          <p:cNvPr id="47" name="Text 44">
            <a:extLst>
              <a:ext uri="{FF2B5EF4-FFF2-40B4-BE49-F238E27FC236}">
                <a16:creationId xmlns:a16="http://schemas.microsoft.com/office/drawing/2014/main" id="{2D4A95ED-6AA1-A2DB-216D-115273797466}"/>
              </a:ext>
            </a:extLst>
          </p:cNvPr>
          <p:cNvSpPr/>
          <p:nvPr/>
        </p:nvSpPr>
        <p:spPr>
          <a:xfrm>
            <a:off x="3772383" y="3400104"/>
            <a:ext cx="1901952" cy="243840"/>
          </a:xfrm>
          <a:prstGeom prst="rect">
            <a:avLst/>
          </a:prstGeom>
          <a:noFill/>
          <a:ln/>
        </p:spPr>
        <p:txBody>
          <a:bodyPr wrap="square" lIns="0" tIns="0" rIns="0" bIns="0" rtlCol="0" anchor="ctr"/>
          <a:lstStyle/>
          <a:p>
            <a:pPr algn="ctr" defTabSz="1219110">
              <a:defRPr/>
            </a:pPr>
            <a:r>
              <a:rPr lang="en-US" sz="1200" kern="0" spc="240">
                <a:solidFill>
                  <a:srgbClr val="8B7355"/>
                </a:solidFill>
                <a:latin typeface="Calibri"/>
                <a:ea typeface="Calibri"/>
                <a:cs typeface="Calibri"/>
              </a:rPr>
              <a:t>1-YR</a:t>
            </a:r>
            <a:endParaRPr lang="en-US" sz="1200">
              <a:solidFill>
                <a:prstClr val="black"/>
              </a:solidFill>
              <a:latin typeface="Calibri"/>
              <a:ea typeface="Calibri"/>
              <a:cs typeface="Calibri"/>
            </a:endParaRPr>
          </a:p>
        </p:txBody>
      </p:sp>
      <p:sp>
        <p:nvSpPr>
          <p:cNvPr id="48" name="Text 45">
            <a:extLst>
              <a:ext uri="{FF2B5EF4-FFF2-40B4-BE49-F238E27FC236}">
                <a16:creationId xmlns:a16="http://schemas.microsoft.com/office/drawing/2014/main" id="{613C732A-397F-F0D1-B771-F5C0732BFC83}"/>
              </a:ext>
            </a:extLst>
          </p:cNvPr>
          <p:cNvSpPr/>
          <p:nvPr/>
        </p:nvSpPr>
        <p:spPr>
          <a:xfrm>
            <a:off x="5586689" y="3365721"/>
            <a:ext cx="1901952" cy="243840"/>
          </a:xfrm>
          <a:prstGeom prst="rect">
            <a:avLst/>
          </a:prstGeom>
          <a:noFill/>
          <a:ln/>
        </p:spPr>
        <p:txBody>
          <a:bodyPr wrap="square" lIns="0" tIns="0" rIns="0" bIns="0" rtlCol="0" anchor="ctr"/>
          <a:lstStyle/>
          <a:p>
            <a:pPr algn="ctr" defTabSz="1219110">
              <a:defRPr/>
            </a:pPr>
            <a:r>
              <a:rPr lang="en-US" sz="1200" kern="0" spc="240">
                <a:solidFill>
                  <a:srgbClr val="8B7355"/>
                </a:solidFill>
                <a:latin typeface="Calibri"/>
                <a:ea typeface="Calibri"/>
                <a:cs typeface="Calibri"/>
              </a:rPr>
              <a:t>3-YR</a:t>
            </a:r>
            <a:endParaRPr lang="en-US" sz="1200">
              <a:solidFill>
                <a:prstClr val="black"/>
              </a:solidFill>
              <a:latin typeface="Calibri"/>
              <a:ea typeface="Calibri"/>
              <a:cs typeface="Calibri"/>
            </a:endParaRPr>
          </a:p>
        </p:txBody>
      </p:sp>
      <p:sp>
        <p:nvSpPr>
          <p:cNvPr id="49" name="Text 46">
            <a:extLst>
              <a:ext uri="{FF2B5EF4-FFF2-40B4-BE49-F238E27FC236}">
                <a16:creationId xmlns:a16="http://schemas.microsoft.com/office/drawing/2014/main" id="{BB2A0189-DA6A-0E3B-6F15-5FBBD711E5A1}"/>
              </a:ext>
            </a:extLst>
          </p:cNvPr>
          <p:cNvSpPr/>
          <p:nvPr/>
        </p:nvSpPr>
        <p:spPr>
          <a:xfrm>
            <a:off x="7222719" y="3361048"/>
            <a:ext cx="1901952" cy="243840"/>
          </a:xfrm>
          <a:prstGeom prst="rect">
            <a:avLst/>
          </a:prstGeom>
          <a:noFill/>
          <a:ln/>
        </p:spPr>
        <p:txBody>
          <a:bodyPr wrap="square" lIns="0" tIns="0" rIns="0" bIns="0" rtlCol="0" anchor="ctr"/>
          <a:lstStyle/>
          <a:p>
            <a:pPr algn="ctr" defTabSz="1219110">
              <a:defRPr/>
            </a:pPr>
            <a:r>
              <a:rPr lang="en-US" sz="1200" kern="0" spc="240">
                <a:solidFill>
                  <a:srgbClr val="8B7355"/>
                </a:solidFill>
                <a:latin typeface="Calibri"/>
                <a:ea typeface="Calibri"/>
                <a:cs typeface="Calibri"/>
              </a:rPr>
              <a:t>5-YR</a:t>
            </a:r>
            <a:endParaRPr lang="en-US" sz="1200">
              <a:solidFill>
                <a:prstClr val="black"/>
              </a:solidFill>
              <a:latin typeface="Calibri"/>
              <a:ea typeface="Calibri"/>
              <a:cs typeface="Calibri"/>
            </a:endParaRPr>
          </a:p>
        </p:txBody>
      </p:sp>
      <p:sp>
        <p:nvSpPr>
          <p:cNvPr id="50" name="Text 47">
            <a:extLst>
              <a:ext uri="{FF2B5EF4-FFF2-40B4-BE49-F238E27FC236}">
                <a16:creationId xmlns:a16="http://schemas.microsoft.com/office/drawing/2014/main" id="{3569613A-21F0-992A-B2F8-504EC719BDE4}"/>
              </a:ext>
            </a:extLst>
          </p:cNvPr>
          <p:cNvSpPr/>
          <p:nvPr/>
        </p:nvSpPr>
        <p:spPr>
          <a:xfrm>
            <a:off x="9045423" y="3386893"/>
            <a:ext cx="1901952" cy="243840"/>
          </a:xfrm>
          <a:prstGeom prst="rect">
            <a:avLst/>
          </a:prstGeom>
          <a:noFill/>
          <a:ln/>
        </p:spPr>
        <p:txBody>
          <a:bodyPr wrap="square" lIns="0" tIns="0" rIns="0" bIns="0" rtlCol="0" anchor="ctr"/>
          <a:lstStyle/>
          <a:p>
            <a:pPr algn="ctr" defTabSz="1219110">
              <a:defRPr/>
            </a:pPr>
            <a:r>
              <a:rPr lang="en-US" sz="1200" kern="0" spc="240">
                <a:solidFill>
                  <a:srgbClr val="8B7355"/>
                </a:solidFill>
                <a:latin typeface="Calibri"/>
                <a:ea typeface="Calibri"/>
                <a:cs typeface="Calibri"/>
              </a:rPr>
              <a:t>10-YR</a:t>
            </a:r>
            <a:endParaRPr lang="en-US" sz="1200">
              <a:solidFill>
                <a:prstClr val="black"/>
              </a:solidFill>
              <a:latin typeface="Calibri"/>
              <a:ea typeface="Calibri"/>
              <a:cs typeface="Calibri"/>
            </a:endParaRPr>
          </a:p>
        </p:txBody>
      </p:sp>
      <p:sp>
        <p:nvSpPr>
          <p:cNvPr id="51" name="Text 48">
            <a:extLst>
              <a:ext uri="{FF2B5EF4-FFF2-40B4-BE49-F238E27FC236}">
                <a16:creationId xmlns:a16="http://schemas.microsoft.com/office/drawing/2014/main" id="{D8D904F1-0662-46D5-FA5C-FB9D12E657CE}"/>
              </a:ext>
            </a:extLst>
          </p:cNvPr>
          <p:cNvSpPr/>
          <p:nvPr/>
        </p:nvSpPr>
        <p:spPr>
          <a:xfrm>
            <a:off x="9557487" y="3387912"/>
            <a:ext cx="1901952" cy="243840"/>
          </a:xfrm>
          <a:prstGeom prst="rect">
            <a:avLst/>
          </a:prstGeom>
          <a:noFill/>
          <a:ln/>
        </p:spPr>
        <p:txBody>
          <a:bodyPr wrap="square" lIns="0" tIns="0" rIns="0" bIns="0" rtlCol="0" anchor="ctr"/>
          <a:lstStyle/>
          <a:p>
            <a:pPr algn="ctr" defTabSz="1219110">
              <a:defRPr/>
            </a:pPr>
            <a:endParaRPr lang="en-US" sz="1200">
              <a:solidFill>
                <a:prstClr val="black"/>
              </a:solidFill>
              <a:latin typeface="Calibri"/>
              <a:ea typeface="Calibri"/>
              <a:cs typeface="Calibri"/>
            </a:endParaRPr>
          </a:p>
        </p:txBody>
      </p:sp>
      <p:sp>
        <p:nvSpPr>
          <p:cNvPr id="52" name="Shape 49">
            <a:extLst>
              <a:ext uri="{FF2B5EF4-FFF2-40B4-BE49-F238E27FC236}">
                <a16:creationId xmlns:a16="http://schemas.microsoft.com/office/drawing/2014/main" id="{9A1D084B-0552-C3E8-AB2F-8473A2B5B052}"/>
              </a:ext>
            </a:extLst>
          </p:cNvPr>
          <p:cNvSpPr/>
          <p:nvPr/>
        </p:nvSpPr>
        <p:spPr>
          <a:xfrm>
            <a:off x="364719" y="3656136"/>
            <a:ext cx="11094720" cy="0"/>
          </a:xfrm>
          <a:prstGeom prst="line">
            <a:avLst/>
          </a:prstGeom>
          <a:noFill/>
          <a:ln w="5080">
            <a:solidFill>
              <a:srgbClr val="F4EFE4"/>
            </a:solidFill>
            <a:prstDash val="solid"/>
          </a:ln>
        </p:spPr>
        <p:txBody>
          <a:bodyPr/>
          <a:lstStyle/>
          <a:p>
            <a:pPr defTabSz="1219110">
              <a:defRPr/>
            </a:pPr>
            <a:endParaRPr lang="en-US" sz="2400">
              <a:solidFill>
                <a:prstClr val="black"/>
              </a:solidFill>
              <a:latin typeface="Calibri" panose="020F0502020204030204"/>
            </a:endParaRPr>
          </a:p>
        </p:txBody>
      </p:sp>
      <p:sp>
        <p:nvSpPr>
          <p:cNvPr id="53" name="Text 50">
            <a:extLst>
              <a:ext uri="{FF2B5EF4-FFF2-40B4-BE49-F238E27FC236}">
                <a16:creationId xmlns:a16="http://schemas.microsoft.com/office/drawing/2014/main" id="{A5439435-942C-4CAF-C6F1-B20A85912D1C}"/>
              </a:ext>
            </a:extLst>
          </p:cNvPr>
          <p:cNvSpPr/>
          <p:nvPr/>
        </p:nvSpPr>
        <p:spPr>
          <a:xfrm>
            <a:off x="421590" y="3729288"/>
            <a:ext cx="2095500" cy="316992"/>
          </a:xfrm>
          <a:prstGeom prst="rect">
            <a:avLst/>
          </a:prstGeom>
          <a:noFill/>
          <a:ln/>
        </p:spPr>
        <p:txBody>
          <a:bodyPr wrap="square" lIns="0" tIns="0" rIns="0" bIns="0" rtlCol="0" anchor="ctr"/>
          <a:lstStyle/>
          <a:p>
            <a:pPr defTabSz="1219110">
              <a:defRPr/>
            </a:pPr>
            <a:r>
              <a:rPr lang="en-US" sz="1000" kern="0" spc="200">
                <a:solidFill>
                  <a:srgbClr val="8B7355"/>
                </a:solidFill>
                <a:latin typeface="Calibri"/>
                <a:ea typeface="Calibri"/>
                <a:cs typeface="Calibri"/>
              </a:rPr>
              <a:t>UP-MARKET CAPTURE</a:t>
            </a:r>
            <a:endParaRPr lang="en-US" sz="1000">
              <a:solidFill>
                <a:prstClr val="black"/>
              </a:solidFill>
              <a:latin typeface="Calibri"/>
              <a:ea typeface="Calibri"/>
              <a:cs typeface="Calibri"/>
            </a:endParaRPr>
          </a:p>
        </p:txBody>
      </p:sp>
      <p:sp>
        <p:nvSpPr>
          <p:cNvPr id="54" name="Text 51">
            <a:extLst>
              <a:ext uri="{FF2B5EF4-FFF2-40B4-BE49-F238E27FC236}">
                <a16:creationId xmlns:a16="http://schemas.microsoft.com/office/drawing/2014/main" id="{54C82575-C959-280B-2886-71E568590C9D}"/>
              </a:ext>
            </a:extLst>
          </p:cNvPr>
          <p:cNvSpPr/>
          <p:nvPr/>
        </p:nvSpPr>
        <p:spPr>
          <a:xfrm>
            <a:off x="3772383" y="3741480"/>
            <a:ext cx="1901952" cy="316992"/>
          </a:xfrm>
          <a:prstGeom prst="rect">
            <a:avLst/>
          </a:prstGeom>
          <a:noFill/>
          <a:ln/>
        </p:spPr>
        <p:txBody>
          <a:bodyPr wrap="square" lIns="0" tIns="0" rIns="0" bIns="0" rtlCol="0" anchor="ctr"/>
          <a:lstStyle/>
          <a:p>
            <a:pPr algn="ctr" defTabSz="1219110">
              <a:defRPr/>
            </a:pPr>
            <a:r>
              <a:rPr lang="en-US" sz="1400">
                <a:solidFill>
                  <a:srgbClr val="171738"/>
                </a:solidFill>
                <a:latin typeface="Georgia" pitchFamily="34" charset="0"/>
                <a:ea typeface="Georgia" pitchFamily="34" charset="-122"/>
                <a:cs typeface="Georgia" pitchFamily="34" charset="-120"/>
              </a:rPr>
              <a:t>115.84%</a:t>
            </a:r>
            <a:endParaRPr lang="en-US" sz="1400">
              <a:solidFill>
                <a:prstClr val="black"/>
              </a:solidFill>
              <a:latin typeface="Calibri" panose="020F0502020204030204"/>
            </a:endParaRPr>
          </a:p>
        </p:txBody>
      </p:sp>
      <p:sp>
        <p:nvSpPr>
          <p:cNvPr id="55" name="Text 52">
            <a:extLst>
              <a:ext uri="{FF2B5EF4-FFF2-40B4-BE49-F238E27FC236}">
                <a16:creationId xmlns:a16="http://schemas.microsoft.com/office/drawing/2014/main" id="{ED9F5698-BC97-CC21-84CB-81EDB7F36EC1}"/>
              </a:ext>
            </a:extLst>
          </p:cNvPr>
          <p:cNvSpPr/>
          <p:nvPr/>
        </p:nvSpPr>
        <p:spPr>
          <a:xfrm>
            <a:off x="5586689" y="3707097"/>
            <a:ext cx="1901952" cy="316992"/>
          </a:xfrm>
          <a:prstGeom prst="rect">
            <a:avLst/>
          </a:prstGeom>
          <a:noFill/>
          <a:ln/>
        </p:spPr>
        <p:txBody>
          <a:bodyPr wrap="square" lIns="0" tIns="0" rIns="0" bIns="0" rtlCol="0" anchor="ctr"/>
          <a:lstStyle/>
          <a:p>
            <a:pPr algn="ctr" defTabSz="1219110">
              <a:defRPr/>
            </a:pPr>
            <a:r>
              <a:rPr lang="en-US" sz="1400">
                <a:solidFill>
                  <a:srgbClr val="171738"/>
                </a:solidFill>
                <a:latin typeface="Georgia" pitchFamily="34" charset="0"/>
                <a:ea typeface="Georgia" pitchFamily="34" charset="-122"/>
                <a:cs typeface="Georgia" pitchFamily="34" charset="-120"/>
              </a:rPr>
              <a:t>102.17%</a:t>
            </a:r>
            <a:endParaRPr lang="en-US" sz="1400">
              <a:solidFill>
                <a:prstClr val="black"/>
              </a:solidFill>
              <a:latin typeface="Calibri" panose="020F0502020204030204"/>
            </a:endParaRPr>
          </a:p>
        </p:txBody>
      </p:sp>
      <p:sp>
        <p:nvSpPr>
          <p:cNvPr id="56" name="Text 53">
            <a:extLst>
              <a:ext uri="{FF2B5EF4-FFF2-40B4-BE49-F238E27FC236}">
                <a16:creationId xmlns:a16="http://schemas.microsoft.com/office/drawing/2014/main" id="{8FED684E-0FC7-4C87-00A9-9B77EB8C1DED}"/>
              </a:ext>
            </a:extLst>
          </p:cNvPr>
          <p:cNvSpPr/>
          <p:nvPr/>
        </p:nvSpPr>
        <p:spPr>
          <a:xfrm>
            <a:off x="7301967" y="3714615"/>
            <a:ext cx="1901952" cy="316992"/>
          </a:xfrm>
          <a:prstGeom prst="rect">
            <a:avLst/>
          </a:prstGeom>
          <a:noFill/>
          <a:ln/>
        </p:spPr>
        <p:txBody>
          <a:bodyPr wrap="square" lIns="0" tIns="0" rIns="0" bIns="0" rtlCol="0" anchor="ctr"/>
          <a:lstStyle/>
          <a:p>
            <a:pPr algn="ctr" defTabSz="1219110">
              <a:defRPr/>
            </a:pPr>
            <a:r>
              <a:rPr lang="en-US" sz="1400">
                <a:solidFill>
                  <a:srgbClr val="171738"/>
                </a:solidFill>
                <a:latin typeface="Georgia" pitchFamily="34" charset="0"/>
                <a:ea typeface="Georgia" pitchFamily="34" charset="-122"/>
                <a:cs typeface="Georgia" pitchFamily="34" charset="-120"/>
              </a:rPr>
              <a:t>108.19%</a:t>
            </a:r>
            <a:endParaRPr lang="en-US" sz="1400">
              <a:solidFill>
                <a:prstClr val="black"/>
              </a:solidFill>
              <a:latin typeface="Calibri" panose="020F0502020204030204"/>
            </a:endParaRPr>
          </a:p>
        </p:txBody>
      </p:sp>
      <p:sp>
        <p:nvSpPr>
          <p:cNvPr id="57" name="Text 54">
            <a:extLst>
              <a:ext uri="{FF2B5EF4-FFF2-40B4-BE49-F238E27FC236}">
                <a16:creationId xmlns:a16="http://schemas.microsoft.com/office/drawing/2014/main" id="{95931EE7-78B0-AEF8-438A-0915515CA3F5}"/>
              </a:ext>
            </a:extLst>
          </p:cNvPr>
          <p:cNvSpPr/>
          <p:nvPr/>
        </p:nvSpPr>
        <p:spPr>
          <a:xfrm>
            <a:off x="8996655" y="3743169"/>
            <a:ext cx="1901952" cy="316992"/>
          </a:xfrm>
          <a:prstGeom prst="rect">
            <a:avLst/>
          </a:prstGeom>
          <a:noFill/>
          <a:ln/>
        </p:spPr>
        <p:txBody>
          <a:bodyPr wrap="square" lIns="0" tIns="0" rIns="0" bIns="0" rtlCol="0" anchor="ctr"/>
          <a:lstStyle/>
          <a:p>
            <a:pPr algn="ctr" defTabSz="1219110">
              <a:defRPr/>
            </a:pPr>
            <a:r>
              <a:rPr lang="en-US" sz="1400">
                <a:solidFill>
                  <a:srgbClr val="171738"/>
                </a:solidFill>
                <a:latin typeface="Georgia" pitchFamily="34" charset="0"/>
                <a:ea typeface="Georgia" pitchFamily="34" charset="-122"/>
                <a:cs typeface="Georgia" pitchFamily="34" charset="-120"/>
              </a:rPr>
              <a:t>109.09%</a:t>
            </a:r>
            <a:endParaRPr lang="en-US" sz="1400">
              <a:solidFill>
                <a:prstClr val="black"/>
              </a:solidFill>
              <a:latin typeface="Calibri" panose="020F0502020204030204"/>
            </a:endParaRPr>
          </a:p>
        </p:txBody>
      </p:sp>
      <p:sp>
        <p:nvSpPr>
          <p:cNvPr id="58" name="Text 55">
            <a:extLst>
              <a:ext uri="{FF2B5EF4-FFF2-40B4-BE49-F238E27FC236}">
                <a16:creationId xmlns:a16="http://schemas.microsoft.com/office/drawing/2014/main" id="{46305A50-80A9-8B80-9FA9-FBA3A3AD9594}"/>
              </a:ext>
            </a:extLst>
          </p:cNvPr>
          <p:cNvSpPr/>
          <p:nvPr/>
        </p:nvSpPr>
        <p:spPr>
          <a:xfrm>
            <a:off x="9557487" y="3729288"/>
            <a:ext cx="1901952" cy="316992"/>
          </a:xfrm>
          <a:prstGeom prst="rect">
            <a:avLst/>
          </a:prstGeom>
          <a:noFill/>
          <a:ln/>
        </p:spPr>
        <p:txBody>
          <a:bodyPr wrap="square" lIns="0" tIns="0" rIns="0" bIns="0" rtlCol="0" anchor="ctr"/>
          <a:lstStyle/>
          <a:p>
            <a:pPr algn="ctr" defTabSz="1219110">
              <a:defRPr/>
            </a:pPr>
            <a:endParaRPr lang="en-US" sz="1400">
              <a:solidFill>
                <a:prstClr val="black"/>
              </a:solidFill>
              <a:latin typeface="Calibri" panose="020F0502020204030204"/>
            </a:endParaRPr>
          </a:p>
        </p:txBody>
      </p:sp>
      <p:sp>
        <p:nvSpPr>
          <p:cNvPr id="59" name="Shape 56">
            <a:extLst>
              <a:ext uri="{FF2B5EF4-FFF2-40B4-BE49-F238E27FC236}">
                <a16:creationId xmlns:a16="http://schemas.microsoft.com/office/drawing/2014/main" id="{CEBF949B-E844-D945-0E3C-6AA02B94E571}"/>
              </a:ext>
            </a:extLst>
          </p:cNvPr>
          <p:cNvSpPr/>
          <p:nvPr/>
        </p:nvSpPr>
        <p:spPr>
          <a:xfrm>
            <a:off x="364719" y="4070664"/>
            <a:ext cx="11094720" cy="0"/>
          </a:xfrm>
          <a:prstGeom prst="line">
            <a:avLst/>
          </a:prstGeom>
          <a:noFill/>
          <a:ln w="3810">
            <a:solidFill>
              <a:srgbClr val="F4EFE4"/>
            </a:solidFill>
            <a:prstDash val="solid"/>
          </a:ln>
        </p:spPr>
        <p:txBody>
          <a:bodyPr/>
          <a:lstStyle/>
          <a:p>
            <a:pPr defTabSz="1219110">
              <a:defRPr/>
            </a:pPr>
            <a:endParaRPr lang="en-US" sz="2400">
              <a:solidFill>
                <a:prstClr val="black"/>
              </a:solidFill>
              <a:latin typeface="Calibri" panose="020F0502020204030204"/>
            </a:endParaRPr>
          </a:p>
        </p:txBody>
      </p:sp>
      <p:sp>
        <p:nvSpPr>
          <p:cNvPr id="60" name="Shape 57">
            <a:extLst>
              <a:ext uri="{FF2B5EF4-FFF2-40B4-BE49-F238E27FC236}">
                <a16:creationId xmlns:a16="http://schemas.microsoft.com/office/drawing/2014/main" id="{10B82979-18E7-2478-5B2D-AAA05AA81A26}"/>
              </a:ext>
            </a:extLst>
          </p:cNvPr>
          <p:cNvSpPr/>
          <p:nvPr/>
        </p:nvSpPr>
        <p:spPr>
          <a:xfrm>
            <a:off x="364721" y="4082856"/>
            <a:ext cx="11094721" cy="341376"/>
          </a:xfrm>
          <a:prstGeom prst="rect">
            <a:avLst/>
          </a:prstGeom>
          <a:solidFill>
            <a:srgbClr val="F4EFE4"/>
          </a:solidFill>
          <a:ln w="12700">
            <a:solidFill>
              <a:srgbClr val="1C1713"/>
            </a:solidFill>
            <a:prstDash val="solid"/>
          </a:ln>
        </p:spPr>
        <p:txBody>
          <a:bodyPr/>
          <a:lstStyle/>
          <a:p>
            <a:pPr defTabSz="1219110">
              <a:defRPr/>
            </a:pPr>
            <a:endParaRPr lang="en-US" sz="2400">
              <a:solidFill>
                <a:prstClr val="black"/>
              </a:solidFill>
              <a:latin typeface="Calibri" panose="020F0502020204030204"/>
            </a:endParaRPr>
          </a:p>
        </p:txBody>
      </p:sp>
      <p:sp>
        <p:nvSpPr>
          <p:cNvPr id="61" name="Text 58">
            <a:extLst>
              <a:ext uri="{FF2B5EF4-FFF2-40B4-BE49-F238E27FC236}">
                <a16:creationId xmlns:a16="http://schemas.microsoft.com/office/drawing/2014/main" id="{7B4A9D48-AC57-353A-29B2-2D898EB22C15}"/>
              </a:ext>
            </a:extLst>
          </p:cNvPr>
          <p:cNvSpPr/>
          <p:nvPr/>
        </p:nvSpPr>
        <p:spPr>
          <a:xfrm>
            <a:off x="425679" y="4131623"/>
            <a:ext cx="2095500" cy="316992"/>
          </a:xfrm>
          <a:prstGeom prst="rect">
            <a:avLst/>
          </a:prstGeom>
          <a:noFill/>
          <a:ln/>
        </p:spPr>
        <p:txBody>
          <a:bodyPr wrap="square" lIns="0" tIns="0" rIns="0" bIns="0" rtlCol="0" anchor="ctr"/>
          <a:lstStyle/>
          <a:p>
            <a:pPr defTabSz="1219110">
              <a:defRPr/>
            </a:pPr>
            <a:r>
              <a:rPr lang="en-US" sz="1000" kern="0" spc="200">
                <a:solidFill>
                  <a:srgbClr val="C9A84C"/>
                </a:solidFill>
                <a:latin typeface="Calibri"/>
                <a:ea typeface="Calibri"/>
                <a:cs typeface="Calibri"/>
              </a:rPr>
              <a:t>DOWN-MARKET CAPTURE</a:t>
            </a:r>
            <a:endParaRPr lang="en-US" sz="1000">
              <a:solidFill>
                <a:prstClr val="black"/>
              </a:solidFill>
              <a:latin typeface="Calibri"/>
              <a:ea typeface="Calibri"/>
              <a:cs typeface="Calibri"/>
            </a:endParaRPr>
          </a:p>
        </p:txBody>
      </p:sp>
      <p:sp>
        <p:nvSpPr>
          <p:cNvPr id="62" name="Text 59">
            <a:extLst>
              <a:ext uri="{FF2B5EF4-FFF2-40B4-BE49-F238E27FC236}">
                <a16:creationId xmlns:a16="http://schemas.microsoft.com/office/drawing/2014/main" id="{8A34394A-8327-D0B3-CAC5-7C8D70F419B5}"/>
              </a:ext>
            </a:extLst>
          </p:cNvPr>
          <p:cNvSpPr/>
          <p:nvPr/>
        </p:nvSpPr>
        <p:spPr>
          <a:xfrm>
            <a:off x="3772383" y="4131624"/>
            <a:ext cx="1901952"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pitchFamily="34" charset="0"/>
                <a:ea typeface="Georgia" pitchFamily="34" charset="-122"/>
                <a:cs typeface="Georgia" pitchFamily="34" charset="-120"/>
              </a:rPr>
              <a:t>94.05%</a:t>
            </a:r>
            <a:endParaRPr lang="en-US" sz="1400">
              <a:solidFill>
                <a:prstClr val="black"/>
              </a:solidFill>
              <a:latin typeface="Calibri" panose="020F0502020204030204"/>
            </a:endParaRPr>
          </a:p>
        </p:txBody>
      </p:sp>
      <p:sp>
        <p:nvSpPr>
          <p:cNvPr id="63" name="Text 60">
            <a:extLst>
              <a:ext uri="{FF2B5EF4-FFF2-40B4-BE49-F238E27FC236}">
                <a16:creationId xmlns:a16="http://schemas.microsoft.com/office/drawing/2014/main" id="{814B5B14-5EAE-CCC6-7E01-51C9AAC4635F}"/>
              </a:ext>
            </a:extLst>
          </p:cNvPr>
          <p:cNvSpPr/>
          <p:nvPr/>
        </p:nvSpPr>
        <p:spPr>
          <a:xfrm>
            <a:off x="5586689" y="4097241"/>
            <a:ext cx="1901952"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pitchFamily="34" charset="0"/>
                <a:ea typeface="Georgia" pitchFamily="34" charset="-122"/>
                <a:cs typeface="Georgia" pitchFamily="34" charset="-120"/>
              </a:rPr>
              <a:t>84.67%</a:t>
            </a:r>
            <a:endParaRPr lang="en-US" sz="1400">
              <a:solidFill>
                <a:prstClr val="black"/>
              </a:solidFill>
              <a:latin typeface="Calibri" panose="020F0502020204030204"/>
            </a:endParaRPr>
          </a:p>
        </p:txBody>
      </p:sp>
      <p:sp>
        <p:nvSpPr>
          <p:cNvPr id="64" name="Text 61">
            <a:extLst>
              <a:ext uri="{FF2B5EF4-FFF2-40B4-BE49-F238E27FC236}">
                <a16:creationId xmlns:a16="http://schemas.microsoft.com/office/drawing/2014/main" id="{39FE4E1C-5C8E-0278-B65F-369DC04571A5}"/>
              </a:ext>
            </a:extLst>
          </p:cNvPr>
          <p:cNvSpPr/>
          <p:nvPr/>
        </p:nvSpPr>
        <p:spPr>
          <a:xfrm>
            <a:off x="7301967" y="4104759"/>
            <a:ext cx="1901952"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pitchFamily="34" charset="0"/>
                <a:ea typeface="Georgia" pitchFamily="34" charset="-122"/>
                <a:cs typeface="Georgia" pitchFamily="34" charset="-120"/>
              </a:rPr>
              <a:t>85.57%</a:t>
            </a:r>
            <a:endParaRPr lang="en-US" sz="1400">
              <a:solidFill>
                <a:prstClr val="black"/>
              </a:solidFill>
              <a:latin typeface="Calibri" panose="020F0502020204030204"/>
            </a:endParaRPr>
          </a:p>
        </p:txBody>
      </p:sp>
      <p:sp>
        <p:nvSpPr>
          <p:cNvPr id="65" name="Text 62">
            <a:extLst>
              <a:ext uri="{FF2B5EF4-FFF2-40B4-BE49-F238E27FC236}">
                <a16:creationId xmlns:a16="http://schemas.microsoft.com/office/drawing/2014/main" id="{D6E1050B-C0D7-02BF-08A8-C01AC6DA4F38}"/>
              </a:ext>
            </a:extLst>
          </p:cNvPr>
          <p:cNvSpPr/>
          <p:nvPr/>
        </p:nvSpPr>
        <p:spPr>
          <a:xfrm>
            <a:off x="9045423" y="4095048"/>
            <a:ext cx="1901952"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pitchFamily="34" charset="0"/>
                <a:ea typeface="Georgia" pitchFamily="34" charset="-122"/>
                <a:cs typeface="Georgia" pitchFamily="34" charset="-120"/>
              </a:rPr>
              <a:t>97.10%</a:t>
            </a:r>
            <a:endParaRPr lang="en-US" sz="1400">
              <a:solidFill>
                <a:prstClr val="black"/>
              </a:solidFill>
              <a:latin typeface="Calibri" panose="020F0502020204030204"/>
            </a:endParaRPr>
          </a:p>
        </p:txBody>
      </p:sp>
      <p:sp>
        <p:nvSpPr>
          <p:cNvPr id="66" name="Text 63">
            <a:extLst>
              <a:ext uri="{FF2B5EF4-FFF2-40B4-BE49-F238E27FC236}">
                <a16:creationId xmlns:a16="http://schemas.microsoft.com/office/drawing/2014/main" id="{D565B6C6-215A-F557-E6A0-E10E07E98920}"/>
              </a:ext>
            </a:extLst>
          </p:cNvPr>
          <p:cNvSpPr/>
          <p:nvPr/>
        </p:nvSpPr>
        <p:spPr>
          <a:xfrm>
            <a:off x="9557487" y="4119432"/>
            <a:ext cx="1901952" cy="316992"/>
          </a:xfrm>
          <a:prstGeom prst="rect">
            <a:avLst/>
          </a:prstGeom>
          <a:noFill/>
          <a:ln/>
        </p:spPr>
        <p:txBody>
          <a:bodyPr wrap="square" lIns="0" tIns="0" rIns="0" bIns="0" rtlCol="0" anchor="ctr"/>
          <a:lstStyle/>
          <a:p>
            <a:pPr algn="ctr" defTabSz="1219110">
              <a:defRPr/>
            </a:pPr>
            <a:endParaRPr lang="en-US" sz="1400">
              <a:solidFill>
                <a:prstClr val="black"/>
              </a:solidFill>
              <a:latin typeface="Calibri" panose="020F0502020204030204"/>
            </a:endParaRPr>
          </a:p>
        </p:txBody>
      </p:sp>
      <p:sp>
        <p:nvSpPr>
          <p:cNvPr id="67" name="Shape 64">
            <a:extLst>
              <a:ext uri="{FF2B5EF4-FFF2-40B4-BE49-F238E27FC236}">
                <a16:creationId xmlns:a16="http://schemas.microsoft.com/office/drawing/2014/main" id="{1B157BC1-ABF8-2E2B-09D4-0D20A711BE94}"/>
              </a:ext>
            </a:extLst>
          </p:cNvPr>
          <p:cNvSpPr/>
          <p:nvPr/>
        </p:nvSpPr>
        <p:spPr>
          <a:xfrm>
            <a:off x="364719" y="4460808"/>
            <a:ext cx="11094720" cy="0"/>
          </a:xfrm>
          <a:prstGeom prst="line">
            <a:avLst/>
          </a:prstGeom>
          <a:noFill/>
          <a:ln w="3810">
            <a:solidFill>
              <a:srgbClr val="F4EFE4"/>
            </a:solidFill>
            <a:prstDash val="solid"/>
          </a:ln>
        </p:spPr>
        <p:txBody>
          <a:bodyPr/>
          <a:lstStyle/>
          <a:p>
            <a:pPr defTabSz="1219110">
              <a:defRPr/>
            </a:pPr>
            <a:endParaRPr lang="en-US" sz="2400">
              <a:solidFill>
                <a:prstClr val="black"/>
              </a:solidFill>
              <a:latin typeface="Calibri" panose="020F0502020204030204"/>
            </a:endParaRPr>
          </a:p>
        </p:txBody>
      </p:sp>
      <p:sp>
        <p:nvSpPr>
          <p:cNvPr id="83" name="Text 80">
            <a:extLst>
              <a:ext uri="{FF2B5EF4-FFF2-40B4-BE49-F238E27FC236}">
                <a16:creationId xmlns:a16="http://schemas.microsoft.com/office/drawing/2014/main" id="{4419961B-5985-B98B-986A-635236ACE61B}"/>
              </a:ext>
            </a:extLst>
          </p:cNvPr>
          <p:cNvSpPr/>
          <p:nvPr/>
        </p:nvSpPr>
        <p:spPr>
          <a:xfrm>
            <a:off x="364719" y="4851400"/>
            <a:ext cx="11094720" cy="1625600"/>
          </a:xfrm>
          <a:prstGeom prst="rect">
            <a:avLst/>
          </a:prstGeom>
          <a:noFill/>
          <a:ln/>
        </p:spPr>
        <p:txBody>
          <a:bodyPr wrap="square" lIns="0" tIns="0" rIns="0" bIns="0" rtlCol="0" anchor="t" anchorCtr="0"/>
          <a:lstStyle/>
          <a:p>
            <a:pPr algn="just" defTabSz="1219140">
              <a:lnSpc>
                <a:spcPct val="118000"/>
              </a:lnSpc>
              <a:spcAft>
                <a:spcPts val="400"/>
              </a:spcAft>
              <a:defRPr/>
            </a:pPr>
            <a:r>
              <a:rPr lang="en-US" sz="733" dirty="0" err="1">
                <a:solidFill>
                  <a:srgbClr val="8B7355"/>
                </a:solidFill>
                <a:ea typeface="Calibri"/>
                <a:cs typeface="Calibri"/>
              </a:rPr>
              <a:t>Paradiem</a:t>
            </a:r>
            <a:r>
              <a:rPr lang="en-US" sz="733" dirty="0">
                <a:solidFill>
                  <a:srgbClr val="8B7355"/>
                </a:solidFill>
                <a:ea typeface="Calibri"/>
                <a:cs typeface="Calibri"/>
              </a:rPr>
              <a:t>, LLC is a Registered Investment Advisor. Performance is based on actual client accounts that are invested in Paradiem’s Dividend strategy.</a:t>
            </a:r>
          </a:p>
          <a:p>
            <a:pPr algn="just" defTabSz="1219140">
              <a:lnSpc>
                <a:spcPct val="118000"/>
              </a:lnSpc>
              <a:spcAft>
                <a:spcPts val="400"/>
              </a:spcAft>
              <a:defRPr/>
            </a:pPr>
            <a:r>
              <a:rPr lang="en-US" sz="733" dirty="0">
                <a:solidFill>
                  <a:srgbClr val="8B7355"/>
                </a:solidFill>
                <a:ea typeface="Calibri"/>
                <a:cs typeface="Calibri"/>
              </a:rPr>
              <a:t>Past performance is no guarantee of future results. Returns presented include the reinvestment of all income. Gross-of-fee performance includes trading expenses and custodial expenses. Net-of-fee performance includes actual account-level gross returns, less a model investment management fee. The model fee is deducted monthly from composite returns at the rate of 1/12 of Paradiem’s highest annual fee tier. The highest rate of our annual fixed fee is 1.5%.</a:t>
            </a:r>
          </a:p>
          <a:p>
            <a:pPr algn="just" defTabSz="1219140">
              <a:lnSpc>
                <a:spcPct val="118000"/>
              </a:lnSpc>
              <a:spcAft>
                <a:spcPts val="400"/>
              </a:spcAft>
              <a:defRPr/>
            </a:pPr>
            <a:r>
              <a:rPr lang="en-US" sz="733" dirty="0">
                <a:solidFill>
                  <a:srgbClr val="8B7355"/>
                </a:solidFill>
                <a:ea typeface="Calibri"/>
                <a:cs typeface="Calibri"/>
              </a:rPr>
              <a:t>The iShares Select Dividend ETF fund generally will invest at least 80% of its assets in the component securities of its underlying index and in investments that have economic characteristics that are substantially identical to the component securities of its underlying index. The underlying index measures the performance of the U.S.’s leading stocks by dividend yield.</a:t>
            </a:r>
          </a:p>
          <a:p>
            <a:pPr algn="just" defTabSz="1219140">
              <a:lnSpc>
                <a:spcPct val="118000"/>
              </a:lnSpc>
              <a:spcAft>
                <a:spcPts val="400"/>
              </a:spcAft>
              <a:defRPr/>
            </a:pPr>
            <a:r>
              <a:rPr lang="en-US" sz="733" dirty="0">
                <a:solidFill>
                  <a:srgbClr val="8B7355"/>
                </a:solidFill>
                <a:ea typeface="Calibri"/>
                <a:cs typeface="Calibri"/>
              </a:rPr>
              <a:t>The State Street SPDR S&amp;P 500 ETF Trust is an exchange-traded fund (ETF) that tracks the Standard &amp; Poor’s 500 (S&amp;P 500) index. It does this by holding a portfolio of stocks in companies that are included in the S&amp;P 500.</a:t>
            </a:r>
          </a:p>
        </p:txBody>
      </p:sp>
      <p:sp>
        <p:nvSpPr>
          <p:cNvPr id="2" name="Text 54">
            <a:extLst>
              <a:ext uri="{FF2B5EF4-FFF2-40B4-BE49-F238E27FC236}">
                <a16:creationId xmlns:a16="http://schemas.microsoft.com/office/drawing/2014/main" id="{653BFFDB-DAE1-7085-97A6-693183161CEA}"/>
              </a:ext>
            </a:extLst>
          </p:cNvPr>
          <p:cNvSpPr/>
          <p:nvPr/>
        </p:nvSpPr>
        <p:spPr>
          <a:xfrm>
            <a:off x="1949679" y="2632007"/>
            <a:ext cx="1901952" cy="316992"/>
          </a:xfrm>
          <a:prstGeom prst="rect">
            <a:avLst/>
          </a:prstGeom>
          <a:noFill/>
          <a:ln/>
        </p:spPr>
        <p:txBody>
          <a:bodyPr wrap="square" lIns="0" tIns="0" rIns="0" bIns="0" rtlCol="0" anchor="ctr"/>
          <a:lstStyle/>
          <a:p>
            <a:pPr algn="ctr" defTabSz="1219110">
              <a:defRPr/>
            </a:pPr>
            <a:r>
              <a:rPr lang="en-US" sz="1467">
                <a:solidFill>
                  <a:srgbClr val="8B7355"/>
                </a:solidFill>
                <a:latin typeface="Georgia"/>
              </a:rPr>
              <a:t>12.71%</a:t>
            </a:r>
            <a:endParaRPr lang="en-US" sz="1467">
              <a:solidFill>
                <a:srgbClr val="8B7355"/>
              </a:solidFill>
            </a:endParaRPr>
          </a:p>
        </p:txBody>
      </p:sp>
      <p:sp>
        <p:nvSpPr>
          <p:cNvPr id="38" name="Text 0">
            <a:extLst>
              <a:ext uri="{FF2B5EF4-FFF2-40B4-BE49-F238E27FC236}">
                <a16:creationId xmlns:a16="http://schemas.microsoft.com/office/drawing/2014/main" id="{4FEACA7E-E98E-A800-DCBC-C85F377520C5}"/>
              </a:ext>
            </a:extLst>
          </p:cNvPr>
          <p:cNvSpPr/>
          <p:nvPr/>
        </p:nvSpPr>
        <p:spPr>
          <a:xfrm>
            <a:off x="230607" y="77784"/>
            <a:ext cx="9144000" cy="274320"/>
          </a:xfrm>
          <a:prstGeom prst="rect">
            <a:avLst/>
          </a:prstGeom>
          <a:noFill/>
          <a:ln/>
        </p:spPr>
        <p:txBody>
          <a:bodyPr wrap="square" lIns="0" tIns="0" rIns="0" bIns="0" rtlCol="0" anchor="ctr"/>
          <a:lstStyle/>
          <a:p>
            <a:pPr defTabSz="914354">
              <a:defRPr/>
            </a:pPr>
            <a:r>
              <a:rPr lang="en-US" sz="1467" b="1" kern="0" spc="300">
                <a:solidFill>
                  <a:srgbClr val="C9A84C"/>
                </a:solidFill>
                <a:latin typeface="Calibri" pitchFamily="34" charset="0"/>
                <a:ea typeface="Calibri" pitchFamily="34" charset="-122"/>
                <a:cs typeface="Calibri" pitchFamily="34" charset="-120"/>
              </a:rPr>
              <a:t>SIMPLICITY OVER COMPLEXITY</a:t>
            </a:r>
            <a:endParaRPr lang="en-US" sz="1467">
              <a:solidFill>
                <a:prstClr val="black"/>
              </a:solidFill>
              <a:latin typeface="Calibri" panose="020F0502020204030204"/>
            </a:endParaRPr>
          </a:p>
        </p:txBody>
      </p:sp>
      <p:pic>
        <p:nvPicPr>
          <p:cNvPr id="68" name="Image 0" descr="preencoded.png">
            <a:extLst>
              <a:ext uri="{FF2B5EF4-FFF2-40B4-BE49-F238E27FC236}">
                <a16:creationId xmlns:a16="http://schemas.microsoft.com/office/drawing/2014/main" id="{EF726B51-BBDA-17D0-1CA6-3BC9478E5F3D}"/>
              </a:ext>
            </a:extLst>
          </p:cNvPr>
          <p:cNvPicPr>
            <a:picLocks noChangeAspect="1"/>
          </p:cNvPicPr>
          <p:nvPr/>
        </p:nvPicPr>
        <p:blipFill>
          <a:blip r:embed="rId3"/>
          <a:stretch>
            <a:fillRect/>
          </a:stretch>
        </p:blipFill>
        <p:spPr>
          <a:xfrm>
            <a:off x="10362895" y="347472"/>
            <a:ext cx="1417320" cy="410550"/>
          </a:xfrm>
          <a:prstGeom prst="rect">
            <a:avLst/>
          </a:prstGeom>
        </p:spPr>
      </p:pic>
      <p:sp>
        <p:nvSpPr>
          <p:cNvPr id="70" name="Shape 0">
            <a:extLst>
              <a:ext uri="{FF2B5EF4-FFF2-40B4-BE49-F238E27FC236}">
                <a16:creationId xmlns:a16="http://schemas.microsoft.com/office/drawing/2014/main" id="{187FD74A-656A-5ED8-D679-B896CCB01C35}"/>
              </a:ext>
            </a:extLst>
          </p:cNvPr>
          <p:cNvSpPr/>
          <p:nvPr/>
        </p:nvSpPr>
        <p:spPr>
          <a:xfrm>
            <a:off x="0" y="6547104"/>
            <a:ext cx="12191695" cy="310896"/>
          </a:xfrm>
          <a:prstGeom prst="rect">
            <a:avLst/>
          </a:prstGeom>
          <a:solidFill>
            <a:srgbClr val="F4EFE4"/>
          </a:solidFill>
          <a:ln/>
        </p:spPr>
        <p:txBody>
          <a:bodyPr/>
          <a:lstStyle/>
          <a:p>
            <a:endParaRPr lang="en-US"/>
          </a:p>
        </p:txBody>
      </p:sp>
      <p:sp>
        <p:nvSpPr>
          <p:cNvPr id="73" name="Text 1">
            <a:extLst>
              <a:ext uri="{FF2B5EF4-FFF2-40B4-BE49-F238E27FC236}">
                <a16:creationId xmlns:a16="http://schemas.microsoft.com/office/drawing/2014/main" id="{94C76F83-C9B3-6454-758B-66982F6CB538}"/>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dirty="0">
                <a:solidFill>
                  <a:srgbClr val="8B7355"/>
                </a:solidFill>
                <a:latin typeface="Calibri" pitchFamily="34" charset="0"/>
                <a:ea typeface="Calibri" pitchFamily="34" charset="-122"/>
                <a:cs typeface="Calibri" pitchFamily="34" charset="-120"/>
              </a:rPr>
              <a:t>PARADIEM  |  FAMILY CAPITAL ARCHITECTURE</a:t>
            </a:r>
            <a:endParaRPr lang="en-US" sz="700" dirty="0"/>
          </a:p>
        </p:txBody>
      </p:sp>
      <p:sp>
        <p:nvSpPr>
          <p:cNvPr id="75" name="Text 2">
            <a:extLst>
              <a:ext uri="{FF2B5EF4-FFF2-40B4-BE49-F238E27FC236}">
                <a16:creationId xmlns:a16="http://schemas.microsoft.com/office/drawing/2014/main" id="{6FC50D62-F22A-FADF-04D3-0289306B1D9A}"/>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dirty="0">
                <a:solidFill>
                  <a:srgbClr val="8B7355"/>
                </a:solidFill>
                <a:latin typeface="Calibri" pitchFamily="34" charset="0"/>
                <a:ea typeface="Calibri" pitchFamily="34" charset="-122"/>
                <a:cs typeface="Calibri" pitchFamily="34" charset="-120"/>
              </a:rPr>
              <a:t>Paradiem, LLC is a Registered Investment Advisor.</a:t>
            </a:r>
            <a:endParaRPr lang="en-US" sz="700" dirty="0"/>
          </a:p>
        </p:txBody>
      </p:sp>
      <p:sp>
        <p:nvSpPr>
          <p:cNvPr id="77" name="Text 3">
            <a:extLst>
              <a:ext uri="{FF2B5EF4-FFF2-40B4-BE49-F238E27FC236}">
                <a16:creationId xmlns:a16="http://schemas.microsoft.com/office/drawing/2014/main" id="{EA76C412-DB8B-95C4-5424-D9C24BFCBDCA}"/>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dirty="0">
                <a:solidFill>
                  <a:srgbClr val="8B7355"/>
                </a:solidFill>
                <a:latin typeface="Calibri" pitchFamily="34" charset="0"/>
                <a:ea typeface="Calibri" pitchFamily="34" charset="-122"/>
                <a:cs typeface="Calibri" pitchFamily="34" charset="-120"/>
              </a:rPr>
              <a:t>CONFIDENTIAL — NOT FOR DISTRIBUTION</a:t>
            </a:r>
            <a:endParaRPr lang="en-US" sz="700" dirty="0"/>
          </a:p>
        </p:txBody>
      </p:sp>
    </p:spTree>
    <p:extLst>
      <p:ext uri="{BB962C8B-B14F-4D97-AF65-F5344CB8AC3E}">
        <p14:creationId xmlns:p14="http://schemas.microsoft.com/office/powerpoint/2010/main" val="19920847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Eyebrow"/>
          <p:cNvSpPr/>
          <p:nvPr/>
        </p:nvSpPr>
        <p:spPr>
          <a:xfrm>
            <a:off x="609600" y="268224"/>
            <a:ext cx="10972800" cy="268224"/>
          </a:xfrm>
          <a:prstGeom prst="rect">
            <a:avLst/>
          </a:prstGeom>
          <a:noFill/>
          <a:ln>
            <a:noFill/>
          </a:ln>
        </p:spPr>
        <p:txBody>
          <a:bodyPr wrap="square" lIns="91440" rIns="91440" rtlCol="0" anchor="ctr">
            <a:noAutofit/>
          </a:bodyPr>
          <a:lstStyle/>
          <a:p>
            <a:pPr algn="l">
              <a:buNone/>
            </a:pPr>
            <a:r>
              <a:rPr lang="en-US" sz="1467" kern="0" spc="467" dirty="0">
                <a:solidFill>
                  <a:srgbClr val="C9A84C"/>
                </a:solidFill>
                <a:latin typeface="Calibri" pitchFamily="34" charset="0"/>
                <a:ea typeface="Calibri" pitchFamily="34" charset="-122"/>
                <a:cs typeface="Calibri" pitchFamily="34" charset="-120"/>
              </a:rPr>
              <a:t>ADVISORY FEES</a:t>
            </a:r>
          </a:p>
        </p:txBody>
      </p:sp>
      <p:sp>
        <p:nvSpPr>
          <p:cNvPr id="26" name="Title"/>
          <p:cNvSpPr/>
          <p:nvPr/>
        </p:nvSpPr>
        <p:spPr>
          <a:xfrm>
            <a:off x="609600" y="548640"/>
            <a:ext cx="10972800" cy="1463040"/>
          </a:xfrm>
          <a:prstGeom prst="rect">
            <a:avLst/>
          </a:prstGeom>
          <a:noFill/>
          <a:ln>
            <a:noFill/>
          </a:ln>
        </p:spPr>
        <p:txBody>
          <a:bodyPr wrap="square" lIns="91440" rIns="91440" rtlCol="0" anchor="ctr">
            <a:noAutofit/>
          </a:bodyPr>
          <a:lstStyle/>
          <a:p>
            <a:pPr algn="l">
              <a:buNone/>
            </a:pPr>
            <a:r>
              <a:rPr lang="en-US" sz="3733" kern="0" dirty="0">
                <a:solidFill>
                  <a:srgbClr val="171738"/>
                </a:solidFill>
                <a:latin typeface="Georgia" pitchFamily="34" charset="0"/>
                <a:ea typeface="Georgia" pitchFamily="34" charset="-122"/>
                <a:cs typeface="Georgia" pitchFamily="34" charset="-120"/>
              </a:rPr>
              <a:t>Our Fees</a:t>
            </a:r>
          </a:p>
        </p:txBody>
      </p:sp>
      <p:sp>
        <p:nvSpPr>
          <p:cNvPr id="51" name="Gold Rule"/>
          <p:cNvSpPr/>
          <p:nvPr/>
        </p:nvSpPr>
        <p:spPr>
          <a:xfrm>
            <a:off x="609600" y="1560576"/>
            <a:ext cx="1706880" cy="34163"/>
          </a:xfrm>
          <a:prstGeom prst="rect">
            <a:avLst/>
          </a:prstGeom>
          <a:solidFill>
            <a:srgbClr val="C9A84C"/>
          </a:solidFill>
          <a:ln w="12700">
            <a:solidFill>
              <a:srgbClr val="8B7355"/>
            </a:solidFill>
          </a:ln>
        </p:spPr>
        <p:txBody>
          <a:bodyPr wrap="square" lIns="91440" rIns="91440" rtlCol="0" anchor="ctr">
            <a:noAutofit/>
          </a:bodyPr>
          <a:lstStyle/>
          <a:p>
            <a:endParaRPr lang="en-US" sz="1200"/>
          </a:p>
        </p:txBody>
      </p:sp>
      <p:sp>
        <p:nvSpPr>
          <p:cNvPr id="4" name="Card Expense"/>
          <p:cNvSpPr/>
          <p:nvPr/>
        </p:nvSpPr>
        <p:spPr>
          <a:xfrm>
            <a:off x="609600" y="2222500"/>
            <a:ext cx="4470400" cy="1524000"/>
          </a:xfrm>
          <a:prstGeom prst="rect">
            <a:avLst/>
          </a:prstGeom>
          <a:solidFill>
            <a:srgbClr val="F4EFE4"/>
          </a:solidFill>
          <a:ln w="6350">
            <a:solidFill>
              <a:srgbClr val="B8B4AC"/>
            </a:solidFill>
          </a:ln>
        </p:spPr>
        <p:txBody>
          <a:bodyPr wrap="square" lIns="91440" rIns="91440" rtlCol="0" anchor="ctr">
            <a:noAutofit/>
          </a:bodyPr>
          <a:lstStyle/>
          <a:p>
            <a:endParaRPr lang="en-US" sz="1200"/>
          </a:p>
        </p:txBody>
      </p:sp>
      <p:sp>
        <p:nvSpPr>
          <p:cNvPr id="22" name="Num Expense"/>
          <p:cNvSpPr/>
          <p:nvPr/>
        </p:nvSpPr>
        <p:spPr>
          <a:xfrm>
            <a:off x="787400" y="2222500"/>
            <a:ext cx="1651000" cy="1524000"/>
          </a:xfrm>
          <a:prstGeom prst="rect">
            <a:avLst/>
          </a:prstGeom>
          <a:noFill/>
          <a:ln>
            <a:noFill/>
          </a:ln>
        </p:spPr>
        <p:txBody>
          <a:bodyPr wrap="square" lIns="91440" rIns="91440" rtlCol="0" anchor="ctr">
            <a:noAutofit/>
          </a:bodyPr>
          <a:lstStyle/>
          <a:p>
            <a:pPr algn="l">
              <a:buNone/>
            </a:pPr>
            <a:r>
              <a:rPr lang="en-US" sz="3200" b="1" kern="0" dirty="0">
                <a:solidFill>
                  <a:srgbClr val="171738"/>
                </a:solidFill>
                <a:latin typeface="Georgia" pitchFamily="34" charset="0"/>
                <a:ea typeface="Georgia" pitchFamily="34" charset="-122"/>
                <a:cs typeface="Georgia" pitchFamily="34" charset="-120"/>
              </a:rPr>
              <a:t>0.03%</a:t>
            </a:r>
          </a:p>
        </p:txBody>
      </p:sp>
      <p:sp>
        <p:nvSpPr>
          <p:cNvPr id="52" name="Lbl Expense"/>
          <p:cNvSpPr/>
          <p:nvPr/>
        </p:nvSpPr>
        <p:spPr>
          <a:xfrm>
            <a:off x="2540000" y="2222500"/>
            <a:ext cx="2476500" cy="1524000"/>
          </a:xfrm>
          <a:prstGeom prst="rect">
            <a:avLst/>
          </a:prstGeom>
          <a:noFill/>
          <a:ln>
            <a:noFill/>
          </a:ln>
        </p:spPr>
        <p:txBody>
          <a:bodyPr wrap="square" lIns="91440" rIns="91440" rtlCol="0" anchor="ctr">
            <a:noAutofit/>
          </a:bodyPr>
          <a:lstStyle/>
          <a:p>
            <a:pPr algn="l">
              <a:buNone/>
            </a:pPr>
            <a:r>
              <a:rPr lang="en-US" sz="1600" kern="0" dirty="0">
                <a:solidFill>
                  <a:srgbClr val="171738"/>
                </a:solidFill>
                <a:latin typeface="Calibri" pitchFamily="34" charset="0"/>
                <a:ea typeface="Calibri" pitchFamily="34" charset="-122"/>
                <a:cs typeface="Calibri" pitchFamily="34" charset="-120"/>
              </a:rPr>
              <a:t>Expense Ratio</a:t>
            </a:r>
          </a:p>
          <a:p>
            <a:pPr algn="l">
              <a:buNone/>
            </a:pPr>
            <a:r>
              <a:rPr lang="en-US" sz="1400" kern="0" dirty="0">
                <a:solidFill>
                  <a:srgbClr val="8B7355"/>
                </a:solidFill>
                <a:latin typeface="Calibri" pitchFamily="34" charset="0"/>
                <a:ea typeface="Calibri" pitchFamily="34" charset="-122"/>
                <a:cs typeface="Calibri" pitchFamily="34" charset="-120"/>
              </a:rPr>
              <a:t>(in addition to advisory fee)</a:t>
            </a:r>
          </a:p>
        </p:txBody>
      </p:sp>
      <p:sp>
        <p:nvSpPr>
          <p:cNvPr id="24" name="Card Total"/>
          <p:cNvSpPr/>
          <p:nvPr/>
        </p:nvSpPr>
        <p:spPr>
          <a:xfrm>
            <a:off x="609600" y="3924300"/>
            <a:ext cx="4470400" cy="1524000"/>
          </a:xfrm>
          <a:prstGeom prst="rect">
            <a:avLst/>
          </a:prstGeom>
          <a:solidFill>
            <a:srgbClr val="171738"/>
          </a:solidFill>
          <a:ln w="6350">
            <a:solidFill>
              <a:srgbClr val="171738"/>
            </a:solidFill>
          </a:ln>
        </p:spPr>
        <p:txBody>
          <a:bodyPr wrap="square" lIns="91440" rIns="91440" rtlCol="0" anchor="ctr">
            <a:noAutofit/>
          </a:bodyPr>
          <a:lstStyle/>
          <a:p>
            <a:endParaRPr lang="en-US" sz="1200"/>
          </a:p>
        </p:txBody>
      </p:sp>
      <p:sp>
        <p:nvSpPr>
          <p:cNvPr id="25" name="Num Total"/>
          <p:cNvSpPr/>
          <p:nvPr/>
        </p:nvSpPr>
        <p:spPr>
          <a:xfrm>
            <a:off x="787400" y="3924300"/>
            <a:ext cx="1651000" cy="1524000"/>
          </a:xfrm>
          <a:prstGeom prst="rect">
            <a:avLst/>
          </a:prstGeom>
          <a:noFill/>
          <a:ln>
            <a:noFill/>
          </a:ln>
        </p:spPr>
        <p:txBody>
          <a:bodyPr wrap="square" lIns="91440" rIns="91440" rtlCol="0" anchor="ctr">
            <a:noAutofit/>
          </a:bodyPr>
          <a:lstStyle/>
          <a:p>
            <a:pPr algn="l">
              <a:buNone/>
            </a:pPr>
            <a:r>
              <a:rPr lang="en-US" sz="3200" b="1" kern="0" dirty="0">
                <a:solidFill>
                  <a:srgbClr val="C9A84C"/>
                </a:solidFill>
                <a:latin typeface="Georgia" pitchFamily="34" charset="0"/>
                <a:ea typeface="Georgia" pitchFamily="34" charset="-122"/>
                <a:cs typeface="Georgia" pitchFamily="34" charset="-120"/>
              </a:rPr>
              <a:t>1.48%</a:t>
            </a:r>
          </a:p>
        </p:txBody>
      </p:sp>
      <p:sp>
        <p:nvSpPr>
          <p:cNvPr id="53" name="Lbl Total"/>
          <p:cNvSpPr/>
          <p:nvPr/>
        </p:nvSpPr>
        <p:spPr>
          <a:xfrm>
            <a:off x="2540000" y="3924300"/>
            <a:ext cx="2476500" cy="1524000"/>
          </a:xfrm>
          <a:prstGeom prst="rect">
            <a:avLst/>
          </a:prstGeom>
          <a:noFill/>
          <a:ln>
            <a:noFill/>
          </a:ln>
        </p:spPr>
        <p:txBody>
          <a:bodyPr wrap="square" lIns="91440" rIns="91440" rtlCol="0" anchor="ctr">
            <a:noAutofit/>
          </a:bodyPr>
          <a:lstStyle/>
          <a:p>
            <a:pPr algn="l">
              <a:buNone/>
            </a:pPr>
            <a:r>
              <a:rPr lang="en-US" sz="1600" kern="0" dirty="0">
                <a:solidFill>
                  <a:srgbClr val="FFFFFF"/>
                </a:solidFill>
                <a:latin typeface="Calibri" pitchFamily="34" charset="0"/>
                <a:ea typeface="Calibri" pitchFamily="34" charset="-122"/>
                <a:cs typeface="Calibri" pitchFamily="34" charset="-120"/>
              </a:rPr>
              <a:t>Your Total Fee</a:t>
            </a:r>
          </a:p>
          <a:p>
            <a:pPr algn="l">
              <a:buNone/>
            </a:pPr>
            <a:r>
              <a:rPr lang="en-US" sz="1400" kern="0" dirty="0">
                <a:solidFill>
                  <a:srgbClr val="B8B4AC"/>
                </a:solidFill>
                <a:latin typeface="Calibri" pitchFamily="34" charset="0"/>
                <a:ea typeface="Calibri" pitchFamily="34" charset="-122"/>
                <a:cs typeface="Calibri" pitchFamily="34" charset="-120"/>
              </a:rPr>
              <a:t>(based on $1,278,290 AUM)</a:t>
            </a:r>
          </a:p>
        </p:txBody>
      </p:sp>
      <p:sp>
        <p:nvSpPr>
          <p:cNvPr id="28" name="Hdr Assets"/>
          <p:cNvSpPr/>
          <p:nvPr/>
        </p:nvSpPr>
        <p:spPr>
          <a:xfrm>
            <a:off x="5588000" y="2222500"/>
            <a:ext cx="3175000" cy="431800"/>
          </a:xfrm>
          <a:prstGeom prst="rect">
            <a:avLst/>
          </a:prstGeom>
          <a:noFill/>
          <a:ln>
            <a:noFill/>
          </a:ln>
        </p:spPr>
        <p:txBody>
          <a:bodyPr wrap="square" lIns="0" rIns="91440" rtlCol="0" anchor="ctr">
            <a:noAutofit/>
          </a:bodyPr>
          <a:lstStyle/>
          <a:p>
            <a:pPr algn="l">
              <a:buNone/>
            </a:pPr>
            <a:r>
              <a:rPr lang="en-US" sz="1400" b="1" kern="0" cap="all" spc="200" dirty="0">
                <a:solidFill>
                  <a:srgbClr val="171738"/>
                </a:solidFill>
                <a:latin typeface="Calibri" pitchFamily="34" charset="0"/>
                <a:ea typeface="Calibri" pitchFamily="34" charset="-122"/>
                <a:cs typeface="Calibri" pitchFamily="34" charset="-120"/>
              </a:rPr>
              <a:t>Assets</a:t>
            </a:r>
          </a:p>
        </p:txBody>
      </p:sp>
      <p:sp>
        <p:nvSpPr>
          <p:cNvPr id="29" name="Hdr Fee"/>
          <p:cNvSpPr/>
          <p:nvPr/>
        </p:nvSpPr>
        <p:spPr>
          <a:xfrm>
            <a:off x="8763000" y="2222500"/>
            <a:ext cx="2819400" cy="431800"/>
          </a:xfrm>
          <a:prstGeom prst="rect">
            <a:avLst/>
          </a:prstGeom>
          <a:noFill/>
          <a:ln>
            <a:noFill/>
          </a:ln>
        </p:spPr>
        <p:txBody>
          <a:bodyPr wrap="square" lIns="91440" rIns="0" rtlCol="0" anchor="ctr">
            <a:noAutofit/>
          </a:bodyPr>
          <a:lstStyle/>
          <a:p>
            <a:pPr algn="r">
              <a:buNone/>
            </a:pPr>
            <a:r>
              <a:rPr lang="en-US" sz="1400" b="1" kern="0" cap="all" spc="200" dirty="0">
                <a:solidFill>
                  <a:srgbClr val="171738"/>
                </a:solidFill>
                <a:latin typeface="Calibri" pitchFamily="34" charset="0"/>
                <a:ea typeface="Calibri" pitchFamily="34" charset="-122"/>
                <a:cs typeface="Calibri" pitchFamily="34" charset="-120"/>
              </a:rPr>
              <a:t>Fee Schedule*</a:t>
            </a:r>
          </a:p>
        </p:txBody>
      </p:sp>
      <p:cxnSp>
        <p:nvCxnSpPr>
          <p:cNvPr id="42" name="Rule 42"/>
          <p:cNvCxnSpPr/>
          <p:nvPr/>
        </p:nvCxnSpPr>
        <p:spPr>
          <a:xfrm>
            <a:off x="5588000" y="2654300"/>
            <a:ext cx="5994400" cy="0"/>
          </a:xfrm>
          <a:prstGeom prst="line">
            <a:avLst/>
          </a:prstGeom>
          <a:ln w="12700">
            <a:solidFill>
              <a:srgbClr val="171738"/>
            </a:solidFill>
          </a:ln>
        </p:spPr>
      </p:cxnSp>
      <p:sp>
        <p:nvSpPr>
          <p:cNvPr id="30" name="Row 1 Assets"/>
          <p:cNvSpPr/>
          <p:nvPr/>
        </p:nvSpPr>
        <p:spPr>
          <a:xfrm>
            <a:off x="5588000" y="2654300"/>
            <a:ext cx="3175000" cy="558800"/>
          </a:xfrm>
          <a:prstGeom prst="rect">
            <a:avLst/>
          </a:prstGeom>
          <a:noFill/>
          <a:ln>
            <a:noFill/>
          </a:ln>
        </p:spPr>
        <p:txBody>
          <a:bodyPr wrap="square" lIns="0" rIns="91440" rtlCol="0" anchor="ctr">
            <a:noAutofit/>
          </a:bodyPr>
          <a:lstStyle/>
          <a:p>
            <a:pPr algn="l">
              <a:buNone/>
            </a:pPr>
            <a:r>
              <a:rPr lang="en-US" sz="1600" kern="0" dirty="0">
                <a:solidFill>
                  <a:srgbClr val="171738"/>
                </a:solidFill>
                <a:latin typeface="Calibri" pitchFamily="34" charset="0"/>
                <a:ea typeface="Calibri" pitchFamily="34" charset="-122"/>
                <a:cs typeface="Calibri" pitchFamily="34" charset="-120"/>
              </a:rPr>
              <a:t>First $1 million</a:t>
            </a:r>
          </a:p>
        </p:txBody>
      </p:sp>
      <p:sp>
        <p:nvSpPr>
          <p:cNvPr id="31" name="Row 1 Fee"/>
          <p:cNvSpPr/>
          <p:nvPr/>
        </p:nvSpPr>
        <p:spPr>
          <a:xfrm>
            <a:off x="8763000" y="2654300"/>
            <a:ext cx="2819400" cy="558800"/>
          </a:xfrm>
          <a:prstGeom prst="rect">
            <a:avLst/>
          </a:prstGeom>
          <a:noFill/>
          <a:ln>
            <a:noFill/>
          </a:ln>
        </p:spPr>
        <p:txBody>
          <a:bodyPr wrap="square" lIns="91440" rIns="0" rtlCol="0" anchor="ctr">
            <a:noAutofit/>
          </a:bodyPr>
          <a:lstStyle/>
          <a:p>
            <a:pPr algn="r">
              <a:buNone/>
            </a:pPr>
            <a:r>
              <a:rPr lang="en-US" sz="1600" kern="0" dirty="0">
                <a:solidFill>
                  <a:srgbClr val="171738"/>
                </a:solidFill>
                <a:latin typeface="Calibri" pitchFamily="34" charset="0"/>
                <a:ea typeface="Calibri" pitchFamily="34" charset="-122"/>
                <a:cs typeface="Calibri" pitchFamily="34" charset="-120"/>
              </a:rPr>
              <a:t>1.50%</a:t>
            </a:r>
          </a:p>
        </p:txBody>
      </p:sp>
      <p:cxnSp>
        <p:nvCxnSpPr>
          <p:cNvPr id="60" name="Rule 60"/>
          <p:cNvCxnSpPr/>
          <p:nvPr/>
        </p:nvCxnSpPr>
        <p:spPr>
          <a:xfrm>
            <a:off x="5588000" y="3213100"/>
            <a:ext cx="5994400" cy="0"/>
          </a:xfrm>
          <a:prstGeom prst="line">
            <a:avLst/>
          </a:prstGeom>
          <a:ln w="6350">
            <a:solidFill>
              <a:srgbClr val="B8B4AC"/>
            </a:solidFill>
          </a:ln>
        </p:spPr>
      </p:cxnSp>
      <p:sp>
        <p:nvSpPr>
          <p:cNvPr id="32" name="Row 2 Assets"/>
          <p:cNvSpPr/>
          <p:nvPr/>
        </p:nvSpPr>
        <p:spPr>
          <a:xfrm>
            <a:off x="5588000" y="3213100"/>
            <a:ext cx="3175000" cy="558800"/>
          </a:xfrm>
          <a:prstGeom prst="rect">
            <a:avLst/>
          </a:prstGeom>
          <a:noFill/>
          <a:ln>
            <a:noFill/>
          </a:ln>
        </p:spPr>
        <p:txBody>
          <a:bodyPr wrap="square" lIns="0" rIns="91440" rtlCol="0" anchor="ctr">
            <a:noAutofit/>
          </a:bodyPr>
          <a:lstStyle/>
          <a:p>
            <a:pPr algn="l">
              <a:buNone/>
            </a:pPr>
            <a:r>
              <a:rPr lang="en-US" sz="1600" kern="0" dirty="0">
                <a:solidFill>
                  <a:srgbClr val="171738"/>
                </a:solidFill>
                <a:latin typeface="Calibri" pitchFamily="34" charset="0"/>
                <a:ea typeface="Calibri" pitchFamily="34" charset="-122"/>
                <a:cs typeface="Calibri" pitchFamily="34" charset="-120"/>
              </a:rPr>
              <a:t>Next $4 million</a:t>
            </a:r>
          </a:p>
        </p:txBody>
      </p:sp>
      <p:sp>
        <p:nvSpPr>
          <p:cNvPr id="33" name="Row 2 Fee"/>
          <p:cNvSpPr/>
          <p:nvPr/>
        </p:nvSpPr>
        <p:spPr>
          <a:xfrm>
            <a:off x="8763000" y="3213100"/>
            <a:ext cx="2819400" cy="558800"/>
          </a:xfrm>
          <a:prstGeom prst="rect">
            <a:avLst/>
          </a:prstGeom>
          <a:noFill/>
          <a:ln>
            <a:noFill/>
          </a:ln>
        </p:spPr>
        <p:txBody>
          <a:bodyPr wrap="square" lIns="91440" rIns="0" rtlCol="0" anchor="ctr">
            <a:noAutofit/>
          </a:bodyPr>
          <a:lstStyle/>
          <a:p>
            <a:pPr algn="r">
              <a:buNone/>
            </a:pPr>
            <a:r>
              <a:rPr lang="en-US" sz="1600" kern="0" dirty="0">
                <a:solidFill>
                  <a:srgbClr val="171738"/>
                </a:solidFill>
                <a:latin typeface="Calibri" pitchFamily="34" charset="0"/>
                <a:ea typeface="Calibri" pitchFamily="34" charset="-122"/>
                <a:cs typeface="Calibri" pitchFamily="34" charset="-120"/>
              </a:rPr>
              <a:t>1.25%</a:t>
            </a:r>
          </a:p>
        </p:txBody>
      </p:sp>
      <p:cxnSp>
        <p:nvCxnSpPr>
          <p:cNvPr id="61" name="Rule 61"/>
          <p:cNvCxnSpPr/>
          <p:nvPr/>
        </p:nvCxnSpPr>
        <p:spPr>
          <a:xfrm>
            <a:off x="5588000" y="3771900"/>
            <a:ext cx="5994400" cy="0"/>
          </a:xfrm>
          <a:prstGeom prst="line">
            <a:avLst/>
          </a:prstGeom>
          <a:ln w="6350">
            <a:solidFill>
              <a:srgbClr val="B8B4AC"/>
            </a:solidFill>
          </a:ln>
        </p:spPr>
      </p:cxnSp>
      <p:sp>
        <p:nvSpPr>
          <p:cNvPr id="34" name="Row 3 Assets"/>
          <p:cNvSpPr/>
          <p:nvPr/>
        </p:nvSpPr>
        <p:spPr>
          <a:xfrm>
            <a:off x="5588000" y="3771900"/>
            <a:ext cx="3175000" cy="558800"/>
          </a:xfrm>
          <a:prstGeom prst="rect">
            <a:avLst/>
          </a:prstGeom>
          <a:noFill/>
          <a:ln>
            <a:noFill/>
          </a:ln>
        </p:spPr>
        <p:txBody>
          <a:bodyPr wrap="square" lIns="0" rIns="91440" rtlCol="0" anchor="ctr">
            <a:noAutofit/>
          </a:bodyPr>
          <a:lstStyle/>
          <a:p>
            <a:pPr algn="l">
              <a:buNone/>
            </a:pPr>
            <a:r>
              <a:rPr lang="en-US" sz="1600" kern="0" dirty="0">
                <a:solidFill>
                  <a:srgbClr val="171738"/>
                </a:solidFill>
                <a:latin typeface="Calibri" pitchFamily="34" charset="0"/>
                <a:ea typeface="Calibri" pitchFamily="34" charset="-122"/>
                <a:cs typeface="Calibri" pitchFamily="34" charset="-120"/>
              </a:rPr>
              <a:t>Next $5 million</a:t>
            </a:r>
          </a:p>
        </p:txBody>
      </p:sp>
      <p:sp>
        <p:nvSpPr>
          <p:cNvPr id="35" name="Row 3 Fee"/>
          <p:cNvSpPr/>
          <p:nvPr/>
        </p:nvSpPr>
        <p:spPr>
          <a:xfrm>
            <a:off x="8763000" y="3771900"/>
            <a:ext cx="2819400" cy="558800"/>
          </a:xfrm>
          <a:prstGeom prst="rect">
            <a:avLst/>
          </a:prstGeom>
          <a:noFill/>
          <a:ln>
            <a:noFill/>
          </a:ln>
        </p:spPr>
        <p:txBody>
          <a:bodyPr wrap="square" lIns="91440" rIns="0" rtlCol="0" anchor="ctr">
            <a:noAutofit/>
          </a:bodyPr>
          <a:lstStyle/>
          <a:p>
            <a:pPr algn="r">
              <a:buNone/>
            </a:pPr>
            <a:r>
              <a:rPr lang="en-US" sz="1600" kern="0" dirty="0">
                <a:solidFill>
                  <a:srgbClr val="171738"/>
                </a:solidFill>
                <a:latin typeface="Calibri" pitchFamily="34" charset="0"/>
                <a:ea typeface="Calibri" pitchFamily="34" charset="-122"/>
                <a:cs typeface="Calibri" pitchFamily="34" charset="-120"/>
              </a:rPr>
              <a:t>1.00%</a:t>
            </a:r>
          </a:p>
        </p:txBody>
      </p:sp>
      <p:cxnSp>
        <p:nvCxnSpPr>
          <p:cNvPr id="62" name="Rule 62"/>
          <p:cNvCxnSpPr/>
          <p:nvPr/>
        </p:nvCxnSpPr>
        <p:spPr>
          <a:xfrm>
            <a:off x="5588000" y="4330700"/>
            <a:ext cx="5994400" cy="0"/>
          </a:xfrm>
          <a:prstGeom prst="line">
            <a:avLst/>
          </a:prstGeom>
          <a:ln w="6350">
            <a:solidFill>
              <a:srgbClr val="B8B4AC"/>
            </a:solidFill>
          </a:ln>
        </p:spPr>
      </p:cxnSp>
      <p:sp>
        <p:nvSpPr>
          <p:cNvPr id="36" name="Row 4 Assets"/>
          <p:cNvSpPr/>
          <p:nvPr/>
        </p:nvSpPr>
        <p:spPr>
          <a:xfrm>
            <a:off x="5588000" y="4330700"/>
            <a:ext cx="3175000" cy="558800"/>
          </a:xfrm>
          <a:prstGeom prst="rect">
            <a:avLst/>
          </a:prstGeom>
          <a:noFill/>
          <a:ln>
            <a:noFill/>
          </a:ln>
        </p:spPr>
        <p:txBody>
          <a:bodyPr wrap="square" lIns="0" rIns="91440" rtlCol="0" anchor="ctr">
            <a:noAutofit/>
          </a:bodyPr>
          <a:lstStyle/>
          <a:p>
            <a:pPr algn="l">
              <a:buNone/>
            </a:pPr>
            <a:r>
              <a:rPr lang="en-US" sz="1600" kern="0" dirty="0">
                <a:solidFill>
                  <a:srgbClr val="171738"/>
                </a:solidFill>
                <a:latin typeface="Calibri" pitchFamily="34" charset="0"/>
                <a:ea typeface="Calibri" pitchFamily="34" charset="-122"/>
                <a:cs typeface="Calibri" pitchFamily="34" charset="-120"/>
              </a:rPr>
              <a:t>Next $20 million</a:t>
            </a:r>
          </a:p>
        </p:txBody>
      </p:sp>
      <p:sp>
        <p:nvSpPr>
          <p:cNvPr id="37" name="Row 4 Fee"/>
          <p:cNvSpPr/>
          <p:nvPr/>
        </p:nvSpPr>
        <p:spPr>
          <a:xfrm>
            <a:off x="8763000" y="4330700"/>
            <a:ext cx="2819400" cy="558800"/>
          </a:xfrm>
          <a:prstGeom prst="rect">
            <a:avLst/>
          </a:prstGeom>
          <a:noFill/>
          <a:ln>
            <a:noFill/>
          </a:ln>
        </p:spPr>
        <p:txBody>
          <a:bodyPr wrap="square" lIns="91440" rIns="0" rtlCol="0" anchor="ctr">
            <a:noAutofit/>
          </a:bodyPr>
          <a:lstStyle/>
          <a:p>
            <a:pPr algn="r">
              <a:buNone/>
            </a:pPr>
            <a:r>
              <a:rPr lang="en-US" sz="1600" kern="0" dirty="0">
                <a:solidFill>
                  <a:srgbClr val="171738"/>
                </a:solidFill>
                <a:latin typeface="Calibri" pitchFamily="34" charset="0"/>
                <a:ea typeface="Calibri" pitchFamily="34" charset="-122"/>
                <a:cs typeface="Calibri" pitchFamily="34" charset="-120"/>
              </a:rPr>
              <a:t>0.75%</a:t>
            </a:r>
          </a:p>
        </p:txBody>
      </p:sp>
      <p:cxnSp>
        <p:nvCxnSpPr>
          <p:cNvPr id="63" name="Rule 63"/>
          <p:cNvCxnSpPr/>
          <p:nvPr/>
        </p:nvCxnSpPr>
        <p:spPr>
          <a:xfrm>
            <a:off x="5588000" y="4889500"/>
            <a:ext cx="5994400" cy="0"/>
          </a:xfrm>
          <a:prstGeom prst="line">
            <a:avLst/>
          </a:prstGeom>
          <a:ln w="6350">
            <a:solidFill>
              <a:srgbClr val="B8B4AC"/>
            </a:solidFill>
          </a:ln>
        </p:spPr>
      </p:cxnSp>
      <p:sp>
        <p:nvSpPr>
          <p:cNvPr id="38" name="Row 5 Assets"/>
          <p:cNvSpPr/>
          <p:nvPr/>
        </p:nvSpPr>
        <p:spPr>
          <a:xfrm>
            <a:off x="5588000" y="4889500"/>
            <a:ext cx="3175000" cy="558800"/>
          </a:xfrm>
          <a:prstGeom prst="rect">
            <a:avLst/>
          </a:prstGeom>
          <a:noFill/>
          <a:ln>
            <a:noFill/>
          </a:ln>
        </p:spPr>
        <p:txBody>
          <a:bodyPr wrap="square" lIns="0" rIns="91440" rtlCol="0" anchor="ctr">
            <a:noAutofit/>
          </a:bodyPr>
          <a:lstStyle/>
          <a:p>
            <a:pPr algn="l">
              <a:buNone/>
            </a:pPr>
            <a:r>
              <a:rPr lang="en-US" sz="1600" kern="0" dirty="0">
                <a:solidFill>
                  <a:srgbClr val="171738"/>
                </a:solidFill>
                <a:latin typeface="Calibri" pitchFamily="34" charset="0"/>
                <a:ea typeface="Calibri" pitchFamily="34" charset="-122"/>
                <a:cs typeface="Calibri" pitchFamily="34" charset="-120"/>
              </a:rPr>
              <a:t>All Additional Funds</a:t>
            </a:r>
          </a:p>
        </p:txBody>
      </p:sp>
      <p:sp>
        <p:nvSpPr>
          <p:cNvPr id="39" name="Row 5 Fee"/>
          <p:cNvSpPr/>
          <p:nvPr/>
        </p:nvSpPr>
        <p:spPr>
          <a:xfrm>
            <a:off x="8763000" y="4889500"/>
            <a:ext cx="2819400" cy="558800"/>
          </a:xfrm>
          <a:prstGeom prst="rect">
            <a:avLst/>
          </a:prstGeom>
          <a:noFill/>
          <a:ln>
            <a:noFill/>
          </a:ln>
        </p:spPr>
        <p:txBody>
          <a:bodyPr wrap="square" lIns="91440" rIns="0" rtlCol="0" anchor="ctr">
            <a:noAutofit/>
          </a:bodyPr>
          <a:lstStyle/>
          <a:p>
            <a:pPr algn="r">
              <a:buNone/>
            </a:pPr>
            <a:r>
              <a:rPr lang="en-US" sz="1600" kern="0" dirty="0">
                <a:solidFill>
                  <a:srgbClr val="171738"/>
                </a:solidFill>
                <a:latin typeface="Calibri" pitchFamily="34" charset="0"/>
                <a:ea typeface="Calibri" pitchFamily="34" charset="-122"/>
                <a:cs typeface="Calibri" pitchFamily="34" charset="-120"/>
              </a:rPr>
              <a:t>0.50%</a:t>
            </a:r>
          </a:p>
        </p:txBody>
      </p:sp>
      <p:cxnSp>
        <p:nvCxnSpPr>
          <p:cNvPr id="64" name="Rule 64"/>
          <p:cNvCxnSpPr/>
          <p:nvPr/>
        </p:nvCxnSpPr>
        <p:spPr>
          <a:xfrm>
            <a:off x="5588000" y="5448300"/>
            <a:ext cx="5994400" cy="0"/>
          </a:xfrm>
          <a:prstGeom prst="line">
            <a:avLst/>
          </a:prstGeom>
          <a:ln w="6350">
            <a:solidFill>
              <a:srgbClr val="B8B4AC"/>
            </a:solidFill>
          </a:ln>
        </p:spPr>
      </p:cxnSp>
      <p:sp>
        <p:nvSpPr>
          <p:cNvPr id="70" name="Footer Band"/>
          <p:cNvSpPr/>
          <p:nvPr/>
        </p:nvSpPr>
        <p:spPr>
          <a:xfrm>
            <a:off x="0" y="6339840"/>
            <a:ext cx="12192000" cy="518160"/>
          </a:xfrm>
          <a:prstGeom prst="rect">
            <a:avLst/>
          </a:prstGeom>
          <a:solidFill>
            <a:srgbClr val="F4EFE4"/>
          </a:solidFill>
          <a:ln w="12700">
            <a:solidFill>
              <a:srgbClr val="1C1713"/>
            </a:solidFill>
          </a:ln>
        </p:spPr>
        <p:txBody>
          <a:bodyPr wrap="square" lIns="91440" rIns="91440" rtlCol="0" anchor="ctr">
            <a:noAutofit/>
          </a:bodyPr>
          <a:lstStyle/>
          <a:p>
            <a:endParaRPr lang="en-US" sz="1200"/>
          </a:p>
        </p:txBody>
      </p:sp>
      <p:sp>
        <p:nvSpPr>
          <p:cNvPr id="71" name="Footer Left"/>
          <p:cNvSpPr/>
          <p:nvPr/>
        </p:nvSpPr>
        <p:spPr>
          <a:xfrm>
            <a:off x="365760" y="6437376"/>
            <a:ext cx="2724652" cy="402336"/>
          </a:xfrm>
          <a:prstGeom prst="rect">
            <a:avLst/>
          </a:prstGeom>
          <a:noFill/>
          <a:ln>
            <a:noFill/>
          </a:ln>
        </p:spPr>
        <p:txBody>
          <a:bodyPr wrap="square" lIns="91440" rIns="91440" rtlCol="0" anchor="ctr">
            <a:noAutofit/>
          </a:bodyPr>
          <a:lstStyle/>
          <a:p>
            <a:pPr algn="l">
              <a:buNone/>
            </a:pPr>
            <a:r>
              <a:rPr lang="en-US" sz="700" kern="0" spc="200" dirty="0">
                <a:solidFill>
                  <a:srgbClr val="8B7355"/>
                </a:solidFill>
                <a:latin typeface="Calibri" pitchFamily="34" charset="0"/>
                <a:ea typeface="Calibri" pitchFamily="34" charset="-122"/>
                <a:cs typeface="Calibri" pitchFamily="34" charset="-120"/>
              </a:rPr>
              <a:t>PARADIEM  |  FAMILY CAPITAL INVESTMENT</a:t>
            </a:r>
          </a:p>
        </p:txBody>
      </p:sp>
      <p:sp>
        <p:nvSpPr>
          <p:cNvPr id="72" name="Footer Right"/>
          <p:cNvSpPr/>
          <p:nvPr/>
        </p:nvSpPr>
        <p:spPr>
          <a:xfrm>
            <a:off x="9143184" y="6437376"/>
            <a:ext cx="2683055" cy="402336"/>
          </a:xfrm>
          <a:prstGeom prst="rect">
            <a:avLst/>
          </a:prstGeom>
          <a:noFill/>
          <a:ln>
            <a:noFill/>
          </a:ln>
        </p:spPr>
        <p:txBody>
          <a:bodyPr wrap="square" lIns="91440" rIns="91440" rtlCol="0" anchor="ctr">
            <a:noAutofit/>
          </a:bodyPr>
          <a:lstStyle/>
          <a:p>
            <a:pPr algn="r">
              <a:buNone/>
            </a:pPr>
            <a:r>
              <a:rPr lang="en-US" sz="700" kern="0" spc="200" dirty="0">
                <a:solidFill>
                  <a:srgbClr val="8B7355"/>
                </a:solidFill>
                <a:latin typeface="Calibri" pitchFamily="34" charset="0"/>
                <a:ea typeface="Calibri" pitchFamily="34" charset="-122"/>
                <a:cs typeface="Calibri" pitchFamily="34" charset="-120"/>
              </a:rPr>
              <a:t>CONFIDENTIAL  —  NOT FOR DISTRIBUTION</a:t>
            </a:r>
          </a:p>
        </p:txBody>
      </p:sp>
      <p:pic>
        <p:nvPicPr>
          <p:cNvPr id="73" name="Paradiem Logo" descr="paradiem-logo-navy.png"/>
          <p:cNvPicPr>
            <a:picLocks noChangeAspect="1"/>
          </p:cNvPicPr>
          <p:nvPr/>
        </p:nvPicPr>
        <p:blipFill>
          <a:blip r:embed="rId2"/>
          <a:stretch>
            <a:fillRect/>
          </a:stretch>
        </p:blipFill>
        <p:spPr>
          <a:xfrm>
            <a:off x="10241584" y="192024"/>
            <a:ext cx="1401775" cy="406047"/>
          </a:xfrm>
          <a:prstGeom prst="rect">
            <a:avLst/>
          </a:prstGeom>
        </p:spPr>
      </p:pic>
      <p:sp>
        <p:nvSpPr>
          <p:cNvPr id="74" name="Paradiem Disclosure"/>
          <p:cNvSpPr txBox="1"/>
          <p:nvPr/>
        </p:nvSpPr>
        <p:spPr>
          <a:xfrm>
            <a:off x="3181852" y="6437376"/>
            <a:ext cx="5869892" cy="402336"/>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extLst>
      <p:ext uri="{BB962C8B-B14F-4D97-AF65-F5344CB8AC3E}">
        <p14:creationId xmlns:p14="http://schemas.microsoft.com/office/powerpoint/2010/main" val="181179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08076" y="2429164"/>
            <a:ext cx="10972800" cy="914400"/>
          </a:xfrm>
          <a:prstGeom prst="rect">
            <a:avLst/>
          </a:prstGeom>
          <a:noFill/>
          <a:ln/>
        </p:spPr>
        <p:txBody>
          <a:bodyPr wrap="square" lIns="0" tIns="0" rIns="0" bIns="0" rtlCol="0" anchor="t"/>
          <a:lstStyle/>
          <a:p>
            <a:pPr defTabSz="1219170"/>
            <a:r>
              <a:rPr lang="en-US" sz="3467">
                <a:solidFill>
                  <a:srgbClr val="A8332F"/>
                </a:solidFill>
                <a:latin typeface="Georgia" pitchFamily="34" charset="0"/>
              </a:rPr>
              <a:t>Add in the Current INVESTMENT SLIDES when building this out for clients</a:t>
            </a:r>
            <a:endParaRPr lang="en-US" sz="3467">
              <a:solidFill>
                <a:srgbClr val="A8332F"/>
              </a:solidFill>
              <a:latin typeface="Calibri" panose="020F0502020204030204"/>
            </a:endParaRPr>
          </a:p>
        </p:txBody>
      </p:sp>
      <p:sp>
        <p:nvSpPr>
          <p:cNvPr id="25" name="Shape 5">
            <a:extLst>
              <a:ext uri="{FF2B5EF4-FFF2-40B4-BE49-F238E27FC236}">
                <a16:creationId xmlns:a16="http://schemas.microsoft.com/office/drawing/2014/main" id="{D4BEAE42-DEDC-5E58-AB13-59DF8CFE2765}"/>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pic>
        <p:nvPicPr>
          <p:cNvPr id="26"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27" name="Paradiem Footer Label"/>
          <p:cNvSpPr txBox="1"/>
          <p:nvPr/>
        </p:nvSpPr>
        <p:spPr>
          <a:xfrm>
            <a:off x="320040" y="6473952"/>
            <a:ext cx="3291840" cy="310895"/>
          </a:xfrm>
          <a:prstGeom prst="rect">
            <a:avLst/>
          </a:prstGeom>
          <a:noFill/>
        </p:spPr>
        <p:txBody>
          <a:bodyPr wrap="square" lIns="0" rIns="0" tIns="0" bIns="0" anchor="ctr">
            <a:spAutoFit/>
          </a:bodyPr>
          <a:lstStyle/>
          <a:p>
            <a:pPr algn="l"/>
            <a:r>
              <a:rPr sz="700" i="0" b="1" spc="200">
                <a:solidFill>
                  <a:srgbClr val="8B7355"/>
                </a:solidFill>
                <a:latin typeface="Calibri"/>
              </a:rPr>
              <a:t>PARADIEM  |  FAMILY CAPITAL</a:t>
            </a:r>
          </a:p>
        </p:txBody>
      </p:sp>
      <p:sp>
        <p:nvSpPr>
          <p:cNvPr id="28" name="Paradiem Disclosure"/>
          <p:cNvSpPr txBox="1"/>
          <p:nvPr/>
        </p:nvSpPr>
        <p:spPr>
          <a:xfrm>
            <a:off x="9667890" y="6473952"/>
            <a:ext cx="2204069" cy="310895"/>
          </a:xfrm>
          <a:prstGeom prst="rect">
            <a:avLst/>
          </a:prstGeom>
          <a:noFill/>
        </p:spPr>
        <p:txBody>
          <a:bodyPr wrap="square" lIns="0" rIns="0" tIns="0" bIns="0" anchor="ctr">
            <a:spAutoFit/>
          </a:bodyPr>
          <a:lstStyle/>
          <a:p>
            <a:pPr algn="r"/>
            <a:r>
              <a:rPr sz="800" i="1" b="0">
                <a:solidFill>
                  <a:srgbClr val="8B7355"/>
                </a:solidFill>
                <a:latin typeface="Calibri"/>
              </a:rPr>
              <a:t>Paradiem LLC. is a Registered Investment Advisor.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3" name="Text 1"/>
          <p:cNvSpPr/>
          <p:nvPr/>
        </p:nvSpPr>
        <p:spPr>
          <a:xfrm>
            <a:off x="548640" y="201168"/>
            <a:ext cx="10972800" cy="201168"/>
          </a:xfrm>
          <a:prstGeom prst="rect">
            <a:avLst/>
          </a:prstGeom>
          <a:noFill/>
          <a:ln/>
        </p:spPr>
        <p:txBody>
          <a:bodyPr wrap="square" lIns="0" tIns="0" rIns="0" bIns="0" rtlCol="0" anchor="t"/>
          <a:lstStyle/>
          <a:p>
            <a:pPr marL="0" indent="0" algn="l">
              <a:buNone/>
            </a:pPr>
            <a:r>
              <a:rPr lang="en-US" sz="1350" kern="0" spc="300">
                <a:solidFill>
                  <a:srgbClr val="C9A84C"/>
                </a:solidFill>
                <a:latin typeface="Calibri" pitchFamily="34" charset="0"/>
                <a:ea typeface="Calibri" pitchFamily="34" charset="-122"/>
                <a:cs typeface="Calibri" pitchFamily="34" charset="-120"/>
              </a:rPr>
              <a:t>FINANCIAL OVERVIEW</a:t>
            </a:r>
            <a:endParaRPr lang="en-US" sz="1350"/>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Your Current Balance Sheet</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12" name="TextBox 11">
            <a:extLst>
              <a:ext uri="{FF2B5EF4-FFF2-40B4-BE49-F238E27FC236}">
                <a16:creationId xmlns:a16="http://schemas.microsoft.com/office/drawing/2014/main" id="{C73D8090-5664-D878-C2FE-2308E9FDBD80}"/>
              </a:ext>
            </a:extLst>
          </p:cNvPr>
          <p:cNvSpPr txBox="1"/>
          <p:nvPr/>
        </p:nvSpPr>
        <p:spPr>
          <a:xfrm>
            <a:off x="2456504" y="1831324"/>
            <a:ext cx="2512291" cy="646331"/>
          </a:xfrm>
          <a:prstGeom prst="rect">
            <a:avLst/>
          </a:prstGeom>
          <a:noFill/>
        </p:spPr>
        <p:txBody>
          <a:bodyPr wrap="square" rtlCol="0">
            <a:spAutoFit/>
          </a:bodyPr>
          <a:lstStyle/>
          <a:p>
            <a:r>
              <a:rPr lang="en-US">
                <a:solidFill>
                  <a:srgbClr val="A8332F"/>
                </a:solidFill>
                <a:latin typeface="Calibri"/>
                <a:ea typeface="Calibri"/>
                <a:cs typeface="Calibri"/>
              </a:rPr>
              <a:t>Paste in from the excel template</a:t>
            </a:r>
          </a:p>
        </p:txBody>
      </p:sp>
      <p:pic>
        <p:nvPicPr>
          <p:cNvPr id="13"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4"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3" name="Text 1"/>
          <p:cNvSpPr/>
          <p:nvPr/>
        </p:nvSpPr>
        <p:spPr>
          <a:xfrm>
            <a:off x="548640" y="201168"/>
            <a:ext cx="10972800" cy="201168"/>
          </a:xfrm>
          <a:prstGeom prst="rect">
            <a:avLst/>
          </a:prstGeom>
          <a:noFill/>
          <a:ln/>
        </p:spPr>
        <p:txBody>
          <a:bodyPr wrap="square" lIns="0" tIns="0" rIns="0" bIns="0" rtlCol="0" anchor="t"/>
          <a:lstStyle/>
          <a:p>
            <a:pPr marL="0" indent="0" algn="l">
              <a:buNone/>
            </a:pPr>
            <a:r>
              <a:rPr lang="en-US" sz="1350" kern="0" spc="300">
                <a:solidFill>
                  <a:srgbClr val="C9A84C"/>
                </a:solidFill>
                <a:latin typeface="Calibri" pitchFamily="34" charset="0"/>
                <a:ea typeface="Calibri" pitchFamily="34" charset="-122"/>
                <a:cs typeface="Calibri" pitchFamily="34" charset="-120"/>
              </a:rPr>
              <a:t>FINANCIAL OVERVIEW</a:t>
            </a:r>
            <a:endParaRPr lang="en-US" sz="1350"/>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Estate Tax Information</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600200"/>
            <a:ext cx="5349240" cy="384048"/>
          </a:xfrm>
          <a:prstGeom prst="rect">
            <a:avLst/>
          </a:prstGeom>
          <a:solidFill>
            <a:srgbClr val="171738"/>
          </a:solidFill>
          <a:ln w="12700">
            <a:solidFill>
              <a:srgbClr val="171738"/>
            </a:solidFill>
            <a:prstDash val="solid"/>
          </a:ln>
        </p:spPr>
        <p:txBody>
          <a:bodyPr/>
          <a:lstStyle/>
          <a:p>
            <a:endParaRPr lang="en-US"/>
          </a:p>
        </p:txBody>
      </p:sp>
      <p:sp>
        <p:nvSpPr>
          <p:cNvPr id="10" name="Text 8"/>
          <p:cNvSpPr/>
          <p:nvPr/>
        </p:nvSpPr>
        <p:spPr>
          <a:xfrm>
            <a:off x="685800" y="1627632"/>
            <a:ext cx="5029200" cy="320040"/>
          </a:xfrm>
          <a:prstGeom prst="rect">
            <a:avLst/>
          </a:prstGeom>
          <a:noFill/>
          <a:ln/>
        </p:spPr>
        <p:txBody>
          <a:bodyPr wrap="square" lIns="0" tIns="0" rIns="0" bIns="0" rtlCol="0" anchor="ctr"/>
          <a:lstStyle/>
          <a:p>
            <a:pPr marL="0" indent="0" algn="l">
              <a:buNone/>
            </a:pPr>
            <a:r>
              <a:rPr lang="en-US" sz="2000">
                <a:solidFill>
                  <a:srgbClr val="FFFFFF"/>
                </a:solidFill>
                <a:latin typeface="Georgia" pitchFamily="34" charset="0"/>
                <a:ea typeface="Georgia" pitchFamily="34" charset="-122"/>
                <a:cs typeface="Georgia" pitchFamily="34" charset="-120"/>
              </a:rPr>
              <a:t>Husband’s</a:t>
            </a:r>
            <a:endParaRPr lang="en-US" sz="2000"/>
          </a:p>
        </p:txBody>
      </p:sp>
      <p:sp>
        <p:nvSpPr>
          <p:cNvPr id="11" name="Shape 9"/>
          <p:cNvSpPr/>
          <p:nvPr/>
        </p:nvSpPr>
        <p:spPr>
          <a:xfrm>
            <a:off x="548640" y="2011680"/>
            <a:ext cx="5349240" cy="429768"/>
          </a:xfrm>
          <a:prstGeom prst="rect">
            <a:avLst/>
          </a:prstGeom>
          <a:solidFill>
            <a:srgbClr val="FFFFFF"/>
          </a:solidFill>
          <a:ln w="6350">
            <a:solidFill>
              <a:srgbClr val="F4EFE4"/>
            </a:solidFill>
            <a:prstDash val="solid"/>
          </a:ln>
        </p:spPr>
        <p:txBody>
          <a:bodyPr/>
          <a:lstStyle/>
          <a:p>
            <a:endParaRPr lang="en-US"/>
          </a:p>
        </p:txBody>
      </p:sp>
      <p:sp>
        <p:nvSpPr>
          <p:cNvPr id="12" name="Text 10"/>
          <p:cNvSpPr/>
          <p:nvPr/>
        </p:nvSpPr>
        <p:spPr>
          <a:xfrm>
            <a:off x="685800" y="2075688"/>
            <a:ext cx="3474720" cy="274320"/>
          </a:xfrm>
          <a:prstGeom prst="rect">
            <a:avLst/>
          </a:prstGeom>
          <a:noFill/>
          <a:ln/>
        </p:spPr>
        <p:txBody>
          <a:bodyPr wrap="square" lIns="0" tIns="0" rIns="0" bIns="0" rtlCol="0" anchor="ctr"/>
          <a:lstStyle/>
          <a:p>
            <a:pPr marL="0" indent="0" algn="l">
              <a:buNone/>
            </a:pPr>
            <a:r>
              <a:rPr lang="en-US" sz="1700">
                <a:solidFill>
                  <a:srgbClr val="8B7355"/>
                </a:solidFill>
                <a:latin typeface="Calibri" pitchFamily="34" charset="0"/>
                <a:ea typeface="Calibri" pitchFamily="34" charset="-122"/>
                <a:cs typeface="Calibri" pitchFamily="34" charset="-120"/>
              </a:rPr>
              <a:t>Applicable Credit Amount Used</a:t>
            </a:r>
            <a:endParaRPr lang="en-US" sz="1700"/>
          </a:p>
        </p:txBody>
      </p:sp>
      <p:sp>
        <p:nvSpPr>
          <p:cNvPr id="13" name="Text 11"/>
          <p:cNvSpPr/>
          <p:nvPr/>
        </p:nvSpPr>
        <p:spPr>
          <a:xfrm>
            <a:off x="4206240" y="2075688"/>
            <a:ext cx="1554480" cy="274320"/>
          </a:xfrm>
          <a:prstGeom prst="rect">
            <a:avLst/>
          </a:prstGeom>
          <a:noFill/>
          <a:ln/>
        </p:spPr>
        <p:txBody>
          <a:bodyPr wrap="square" lIns="0" tIns="0" rIns="0" bIns="0" rtlCol="0" anchor="ctr"/>
          <a:lstStyle/>
          <a:p>
            <a:pPr marL="0" indent="0" algn="r">
              <a:buNone/>
            </a:pPr>
            <a:r>
              <a:rPr lang="en-US" sz="1700" b="1">
                <a:solidFill>
                  <a:srgbClr val="171738"/>
                </a:solidFill>
                <a:latin typeface="Calibri" pitchFamily="34" charset="0"/>
                <a:ea typeface="Calibri" pitchFamily="34" charset="-122"/>
                <a:cs typeface="Calibri" pitchFamily="34" charset="-120"/>
              </a:rPr>
              <a:t>$0</a:t>
            </a:r>
            <a:endParaRPr lang="en-US" sz="1700"/>
          </a:p>
        </p:txBody>
      </p:sp>
      <p:sp>
        <p:nvSpPr>
          <p:cNvPr id="14" name="Shape 12"/>
          <p:cNvSpPr/>
          <p:nvPr/>
        </p:nvSpPr>
        <p:spPr>
          <a:xfrm>
            <a:off x="548640" y="2468880"/>
            <a:ext cx="5349240" cy="429768"/>
          </a:xfrm>
          <a:prstGeom prst="rect">
            <a:avLst/>
          </a:prstGeom>
          <a:solidFill>
            <a:srgbClr val="F4EFE4"/>
          </a:solidFill>
          <a:ln w="6350">
            <a:solidFill>
              <a:srgbClr val="F4EFE4"/>
            </a:solidFill>
            <a:prstDash val="solid"/>
          </a:ln>
        </p:spPr>
        <p:txBody>
          <a:bodyPr/>
          <a:lstStyle/>
          <a:p>
            <a:endParaRPr lang="en-US"/>
          </a:p>
        </p:txBody>
      </p:sp>
      <p:sp>
        <p:nvSpPr>
          <p:cNvPr id="15" name="Text 13"/>
          <p:cNvSpPr/>
          <p:nvPr/>
        </p:nvSpPr>
        <p:spPr>
          <a:xfrm>
            <a:off x="685800" y="2532888"/>
            <a:ext cx="3474720" cy="274320"/>
          </a:xfrm>
          <a:prstGeom prst="rect">
            <a:avLst/>
          </a:prstGeom>
          <a:noFill/>
          <a:ln/>
        </p:spPr>
        <p:txBody>
          <a:bodyPr wrap="square" lIns="0" tIns="0" rIns="0" bIns="0" rtlCol="0" anchor="ctr"/>
          <a:lstStyle/>
          <a:p>
            <a:pPr marL="0" indent="0" algn="l">
              <a:buNone/>
            </a:pPr>
            <a:r>
              <a:rPr lang="en-US" sz="1700">
                <a:solidFill>
                  <a:srgbClr val="8B7355"/>
                </a:solidFill>
                <a:latin typeface="Calibri" pitchFamily="34" charset="0"/>
                <a:ea typeface="Calibri" pitchFamily="34" charset="-122"/>
                <a:cs typeface="Calibri" pitchFamily="34" charset="-120"/>
              </a:rPr>
              <a:t>GST Exemption Used</a:t>
            </a:r>
            <a:endParaRPr lang="en-US" sz="1700"/>
          </a:p>
        </p:txBody>
      </p:sp>
      <p:sp>
        <p:nvSpPr>
          <p:cNvPr id="16" name="Text 14"/>
          <p:cNvSpPr/>
          <p:nvPr/>
        </p:nvSpPr>
        <p:spPr>
          <a:xfrm>
            <a:off x="4206240" y="2532888"/>
            <a:ext cx="1554480" cy="274320"/>
          </a:xfrm>
          <a:prstGeom prst="rect">
            <a:avLst/>
          </a:prstGeom>
          <a:noFill/>
          <a:ln/>
        </p:spPr>
        <p:txBody>
          <a:bodyPr wrap="square" lIns="0" tIns="0" rIns="0" bIns="0" rtlCol="0" anchor="ctr"/>
          <a:lstStyle/>
          <a:p>
            <a:pPr marL="0" indent="0" algn="r">
              <a:buNone/>
            </a:pPr>
            <a:r>
              <a:rPr lang="en-US" sz="1700" b="1">
                <a:solidFill>
                  <a:srgbClr val="171738"/>
                </a:solidFill>
                <a:latin typeface="Calibri" pitchFamily="34" charset="0"/>
                <a:ea typeface="Calibri" pitchFamily="34" charset="-122"/>
                <a:cs typeface="Calibri" pitchFamily="34" charset="-120"/>
              </a:rPr>
              <a:t>$0</a:t>
            </a:r>
            <a:endParaRPr lang="en-US" sz="1700"/>
          </a:p>
        </p:txBody>
      </p:sp>
      <p:sp>
        <p:nvSpPr>
          <p:cNvPr id="17" name="Shape 15"/>
          <p:cNvSpPr/>
          <p:nvPr/>
        </p:nvSpPr>
        <p:spPr>
          <a:xfrm>
            <a:off x="548640" y="2926080"/>
            <a:ext cx="5349240" cy="429768"/>
          </a:xfrm>
          <a:prstGeom prst="rect">
            <a:avLst/>
          </a:prstGeom>
          <a:solidFill>
            <a:srgbClr val="FFFFFF"/>
          </a:solidFill>
          <a:ln w="6350">
            <a:solidFill>
              <a:srgbClr val="F4EFE4"/>
            </a:solidFill>
            <a:prstDash val="solid"/>
          </a:ln>
        </p:spPr>
        <p:txBody>
          <a:bodyPr/>
          <a:lstStyle/>
          <a:p>
            <a:endParaRPr lang="en-US"/>
          </a:p>
        </p:txBody>
      </p:sp>
      <p:sp>
        <p:nvSpPr>
          <p:cNvPr id="18" name="Text 16"/>
          <p:cNvSpPr/>
          <p:nvPr/>
        </p:nvSpPr>
        <p:spPr>
          <a:xfrm>
            <a:off x="685800" y="2990088"/>
            <a:ext cx="3474720" cy="274320"/>
          </a:xfrm>
          <a:prstGeom prst="rect">
            <a:avLst/>
          </a:prstGeom>
          <a:noFill/>
          <a:ln/>
        </p:spPr>
        <p:txBody>
          <a:bodyPr wrap="square" lIns="0" tIns="0" rIns="0" bIns="0" rtlCol="0" anchor="ctr"/>
          <a:lstStyle/>
          <a:p>
            <a:pPr marL="0" indent="0" algn="l">
              <a:buNone/>
            </a:pPr>
            <a:r>
              <a:rPr lang="en-US" sz="1700">
                <a:solidFill>
                  <a:srgbClr val="8B7355"/>
                </a:solidFill>
                <a:latin typeface="Calibri" pitchFamily="34" charset="0"/>
                <a:ea typeface="Calibri" pitchFamily="34" charset="-122"/>
                <a:cs typeface="Calibri" pitchFamily="34" charset="-120"/>
              </a:rPr>
              <a:t>Applicable Credit Available</a:t>
            </a:r>
            <a:endParaRPr lang="en-US" sz="1700"/>
          </a:p>
        </p:txBody>
      </p:sp>
      <p:sp>
        <p:nvSpPr>
          <p:cNvPr id="19" name="Text 17"/>
          <p:cNvSpPr/>
          <p:nvPr/>
        </p:nvSpPr>
        <p:spPr>
          <a:xfrm>
            <a:off x="4206240" y="2990088"/>
            <a:ext cx="1554480" cy="274320"/>
          </a:xfrm>
          <a:prstGeom prst="rect">
            <a:avLst/>
          </a:prstGeom>
          <a:noFill/>
          <a:ln/>
        </p:spPr>
        <p:txBody>
          <a:bodyPr wrap="square" lIns="0" tIns="0" rIns="0" bIns="0" rtlCol="0" anchor="ctr"/>
          <a:lstStyle/>
          <a:p>
            <a:pPr marL="0" indent="0" algn="r">
              <a:buNone/>
            </a:pPr>
            <a:r>
              <a:rPr lang="en-US" sz="1700" b="1">
                <a:solidFill>
                  <a:srgbClr val="171738"/>
                </a:solidFill>
                <a:latin typeface="Calibri" pitchFamily="34" charset="0"/>
                <a:ea typeface="Calibri" pitchFamily="34" charset="-122"/>
                <a:cs typeface="Calibri" pitchFamily="34" charset="-120"/>
              </a:rPr>
              <a:t>$15,000,000</a:t>
            </a:r>
            <a:endParaRPr lang="en-US" sz="1700"/>
          </a:p>
        </p:txBody>
      </p:sp>
      <p:sp>
        <p:nvSpPr>
          <p:cNvPr id="20" name="Shape 18"/>
          <p:cNvSpPr/>
          <p:nvPr/>
        </p:nvSpPr>
        <p:spPr>
          <a:xfrm>
            <a:off x="548640" y="3383280"/>
            <a:ext cx="5349240" cy="429768"/>
          </a:xfrm>
          <a:prstGeom prst="rect">
            <a:avLst/>
          </a:prstGeom>
          <a:solidFill>
            <a:srgbClr val="F4EFE4"/>
          </a:solidFill>
          <a:ln w="6350">
            <a:solidFill>
              <a:srgbClr val="F4EFE4"/>
            </a:solidFill>
            <a:prstDash val="solid"/>
          </a:ln>
        </p:spPr>
        <p:txBody>
          <a:bodyPr/>
          <a:lstStyle/>
          <a:p>
            <a:endParaRPr lang="en-US"/>
          </a:p>
        </p:txBody>
      </p:sp>
      <p:sp>
        <p:nvSpPr>
          <p:cNvPr id="21" name="Text 19"/>
          <p:cNvSpPr/>
          <p:nvPr/>
        </p:nvSpPr>
        <p:spPr>
          <a:xfrm>
            <a:off x="685800" y="3447288"/>
            <a:ext cx="3474720" cy="274320"/>
          </a:xfrm>
          <a:prstGeom prst="rect">
            <a:avLst/>
          </a:prstGeom>
          <a:noFill/>
          <a:ln/>
        </p:spPr>
        <p:txBody>
          <a:bodyPr wrap="square" lIns="0" tIns="0" rIns="0" bIns="0" rtlCol="0" anchor="ctr"/>
          <a:lstStyle/>
          <a:p>
            <a:pPr marL="0" indent="0" algn="l">
              <a:buNone/>
            </a:pPr>
            <a:r>
              <a:rPr lang="en-US" sz="1700">
                <a:solidFill>
                  <a:srgbClr val="8B7355"/>
                </a:solidFill>
                <a:latin typeface="Calibri" pitchFamily="34" charset="0"/>
                <a:ea typeface="Calibri" pitchFamily="34" charset="-122"/>
                <a:cs typeface="Calibri" pitchFamily="34" charset="-120"/>
              </a:rPr>
              <a:t>GST Exemption Available</a:t>
            </a:r>
            <a:endParaRPr lang="en-US" sz="1700"/>
          </a:p>
        </p:txBody>
      </p:sp>
      <p:sp>
        <p:nvSpPr>
          <p:cNvPr id="22" name="Text 20"/>
          <p:cNvSpPr/>
          <p:nvPr/>
        </p:nvSpPr>
        <p:spPr>
          <a:xfrm>
            <a:off x="4206240" y="3447288"/>
            <a:ext cx="1554480" cy="274320"/>
          </a:xfrm>
          <a:prstGeom prst="rect">
            <a:avLst/>
          </a:prstGeom>
          <a:noFill/>
          <a:ln/>
        </p:spPr>
        <p:txBody>
          <a:bodyPr wrap="square" lIns="0" tIns="0" rIns="0" bIns="0" rtlCol="0" anchor="ctr"/>
          <a:lstStyle/>
          <a:p>
            <a:pPr marL="0" indent="0" algn="r">
              <a:buNone/>
            </a:pPr>
            <a:r>
              <a:rPr lang="en-US" sz="1700" b="1">
                <a:solidFill>
                  <a:srgbClr val="171738"/>
                </a:solidFill>
                <a:latin typeface="Calibri" pitchFamily="34" charset="0"/>
                <a:ea typeface="Calibri" pitchFamily="34" charset="-122"/>
                <a:cs typeface="Calibri" pitchFamily="34" charset="-120"/>
              </a:rPr>
              <a:t>$15,000,000</a:t>
            </a:r>
            <a:endParaRPr lang="en-US" sz="1700"/>
          </a:p>
        </p:txBody>
      </p:sp>
      <p:sp>
        <p:nvSpPr>
          <p:cNvPr id="23" name="Shape 21"/>
          <p:cNvSpPr/>
          <p:nvPr/>
        </p:nvSpPr>
        <p:spPr>
          <a:xfrm>
            <a:off x="6309360" y="1600200"/>
            <a:ext cx="5349240" cy="384048"/>
          </a:xfrm>
          <a:prstGeom prst="rect">
            <a:avLst/>
          </a:prstGeom>
          <a:solidFill>
            <a:srgbClr val="171738"/>
          </a:solidFill>
          <a:ln w="12700">
            <a:solidFill>
              <a:srgbClr val="171738"/>
            </a:solidFill>
            <a:prstDash val="solid"/>
          </a:ln>
        </p:spPr>
        <p:txBody>
          <a:bodyPr/>
          <a:lstStyle/>
          <a:p>
            <a:endParaRPr lang="en-US"/>
          </a:p>
        </p:txBody>
      </p:sp>
      <p:sp>
        <p:nvSpPr>
          <p:cNvPr id="24" name="Text 22"/>
          <p:cNvSpPr/>
          <p:nvPr/>
        </p:nvSpPr>
        <p:spPr>
          <a:xfrm>
            <a:off x="6446520" y="1627632"/>
            <a:ext cx="5029200" cy="320040"/>
          </a:xfrm>
          <a:prstGeom prst="rect">
            <a:avLst/>
          </a:prstGeom>
          <a:noFill/>
          <a:ln/>
        </p:spPr>
        <p:txBody>
          <a:bodyPr wrap="square" lIns="0" tIns="0" rIns="0" bIns="0" rtlCol="0" anchor="ctr"/>
          <a:lstStyle/>
          <a:p>
            <a:pPr marL="0" indent="0" algn="l">
              <a:buNone/>
            </a:pPr>
            <a:r>
              <a:rPr lang="en-US" sz="2000">
                <a:solidFill>
                  <a:srgbClr val="FFFFFF"/>
                </a:solidFill>
                <a:latin typeface="Georgia" pitchFamily="34" charset="0"/>
                <a:ea typeface="Georgia" pitchFamily="34" charset="-122"/>
                <a:cs typeface="Georgia" pitchFamily="34" charset="-120"/>
              </a:rPr>
              <a:t>Wife's</a:t>
            </a:r>
            <a:endParaRPr lang="en-US" sz="2000"/>
          </a:p>
        </p:txBody>
      </p:sp>
      <p:sp>
        <p:nvSpPr>
          <p:cNvPr id="25" name="Shape 23"/>
          <p:cNvSpPr/>
          <p:nvPr/>
        </p:nvSpPr>
        <p:spPr>
          <a:xfrm>
            <a:off x="6309360" y="2011680"/>
            <a:ext cx="5349240" cy="429768"/>
          </a:xfrm>
          <a:prstGeom prst="rect">
            <a:avLst/>
          </a:prstGeom>
          <a:solidFill>
            <a:srgbClr val="FFFFFF"/>
          </a:solidFill>
          <a:ln w="6350">
            <a:solidFill>
              <a:srgbClr val="F4EFE4"/>
            </a:solidFill>
            <a:prstDash val="solid"/>
          </a:ln>
        </p:spPr>
        <p:txBody>
          <a:bodyPr/>
          <a:lstStyle/>
          <a:p>
            <a:endParaRPr lang="en-US"/>
          </a:p>
        </p:txBody>
      </p:sp>
      <p:sp>
        <p:nvSpPr>
          <p:cNvPr id="26" name="Text 24"/>
          <p:cNvSpPr/>
          <p:nvPr/>
        </p:nvSpPr>
        <p:spPr>
          <a:xfrm>
            <a:off x="6446520" y="2075688"/>
            <a:ext cx="3474720" cy="274320"/>
          </a:xfrm>
          <a:prstGeom prst="rect">
            <a:avLst/>
          </a:prstGeom>
          <a:noFill/>
          <a:ln/>
        </p:spPr>
        <p:txBody>
          <a:bodyPr wrap="square" lIns="0" tIns="0" rIns="0" bIns="0" rtlCol="0" anchor="ctr"/>
          <a:lstStyle/>
          <a:p>
            <a:pPr marL="0" indent="0" algn="l">
              <a:buNone/>
            </a:pPr>
            <a:r>
              <a:rPr lang="en-US" sz="1700">
                <a:solidFill>
                  <a:srgbClr val="8B7355"/>
                </a:solidFill>
                <a:latin typeface="Calibri" pitchFamily="34" charset="0"/>
                <a:ea typeface="Calibri" pitchFamily="34" charset="-122"/>
                <a:cs typeface="Calibri" pitchFamily="34" charset="-120"/>
              </a:rPr>
              <a:t>Applicable Credit Amount Used</a:t>
            </a:r>
            <a:endParaRPr lang="en-US" sz="1700"/>
          </a:p>
        </p:txBody>
      </p:sp>
      <p:sp>
        <p:nvSpPr>
          <p:cNvPr id="27" name="Text 25"/>
          <p:cNvSpPr/>
          <p:nvPr/>
        </p:nvSpPr>
        <p:spPr>
          <a:xfrm>
            <a:off x="9966960" y="2075688"/>
            <a:ext cx="1554480" cy="274320"/>
          </a:xfrm>
          <a:prstGeom prst="rect">
            <a:avLst/>
          </a:prstGeom>
          <a:noFill/>
          <a:ln/>
        </p:spPr>
        <p:txBody>
          <a:bodyPr wrap="square" lIns="0" tIns="0" rIns="0" bIns="0" rtlCol="0" anchor="ctr"/>
          <a:lstStyle/>
          <a:p>
            <a:pPr marL="0" indent="0" algn="r">
              <a:buNone/>
            </a:pPr>
            <a:r>
              <a:rPr lang="en-US" sz="1700" b="1">
                <a:solidFill>
                  <a:srgbClr val="171738"/>
                </a:solidFill>
                <a:latin typeface="Calibri" pitchFamily="34" charset="0"/>
                <a:ea typeface="Calibri" pitchFamily="34" charset="-122"/>
                <a:cs typeface="Calibri" pitchFamily="34" charset="-120"/>
              </a:rPr>
              <a:t>$0</a:t>
            </a:r>
            <a:endParaRPr lang="en-US" sz="1700"/>
          </a:p>
        </p:txBody>
      </p:sp>
      <p:sp>
        <p:nvSpPr>
          <p:cNvPr id="28" name="Shape 26"/>
          <p:cNvSpPr/>
          <p:nvPr/>
        </p:nvSpPr>
        <p:spPr>
          <a:xfrm>
            <a:off x="6309360" y="2468880"/>
            <a:ext cx="5349240" cy="429768"/>
          </a:xfrm>
          <a:prstGeom prst="rect">
            <a:avLst/>
          </a:prstGeom>
          <a:solidFill>
            <a:srgbClr val="F4EFE4"/>
          </a:solidFill>
          <a:ln w="6350">
            <a:solidFill>
              <a:srgbClr val="F4EFE4"/>
            </a:solidFill>
            <a:prstDash val="solid"/>
          </a:ln>
        </p:spPr>
        <p:txBody>
          <a:bodyPr/>
          <a:lstStyle/>
          <a:p>
            <a:endParaRPr lang="en-US"/>
          </a:p>
        </p:txBody>
      </p:sp>
      <p:sp>
        <p:nvSpPr>
          <p:cNvPr id="29" name="Text 27"/>
          <p:cNvSpPr/>
          <p:nvPr/>
        </p:nvSpPr>
        <p:spPr>
          <a:xfrm>
            <a:off x="6446520" y="2532888"/>
            <a:ext cx="3474720" cy="274320"/>
          </a:xfrm>
          <a:prstGeom prst="rect">
            <a:avLst/>
          </a:prstGeom>
          <a:noFill/>
          <a:ln/>
        </p:spPr>
        <p:txBody>
          <a:bodyPr wrap="square" lIns="0" tIns="0" rIns="0" bIns="0" rtlCol="0" anchor="ctr"/>
          <a:lstStyle/>
          <a:p>
            <a:pPr marL="0" indent="0" algn="l">
              <a:buNone/>
            </a:pPr>
            <a:r>
              <a:rPr lang="en-US" sz="1700">
                <a:solidFill>
                  <a:srgbClr val="8B7355"/>
                </a:solidFill>
                <a:latin typeface="Calibri" pitchFamily="34" charset="0"/>
                <a:ea typeface="Calibri" pitchFamily="34" charset="-122"/>
                <a:cs typeface="Calibri" pitchFamily="34" charset="-120"/>
              </a:rPr>
              <a:t>GST Exemption Used</a:t>
            </a:r>
            <a:endParaRPr lang="en-US" sz="1700"/>
          </a:p>
        </p:txBody>
      </p:sp>
      <p:sp>
        <p:nvSpPr>
          <p:cNvPr id="30" name="Text 28"/>
          <p:cNvSpPr/>
          <p:nvPr/>
        </p:nvSpPr>
        <p:spPr>
          <a:xfrm>
            <a:off x="9966960" y="2532888"/>
            <a:ext cx="1554480" cy="274320"/>
          </a:xfrm>
          <a:prstGeom prst="rect">
            <a:avLst/>
          </a:prstGeom>
          <a:noFill/>
          <a:ln/>
        </p:spPr>
        <p:txBody>
          <a:bodyPr wrap="square" lIns="0" tIns="0" rIns="0" bIns="0" rtlCol="0" anchor="ctr"/>
          <a:lstStyle/>
          <a:p>
            <a:pPr marL="0" indent="0" algn="r">
              <a:buNone/>
            </a:pPr>
            <a:r>
              <a:rPr lang="en-US" sz="1700" b="1">
                <a:solidFill>
                  <a:srgbClr val="171738"/>
                </a:solidFill>
                <a:latin typeface="Calibri" pitchFamily="34" charset="0"/>
                <a:ea typeface="Calibri" pitchFamily="34" charset="-122"/>
                <a:cs typeface="Calibri" pitchFamily="34" charset="-120"/>
              </a:rPr>
              <a:t>$0</a:t>
            </a:r>
            <a:endParaRPr lang="en-US" sz="1700"/>
          </a:p>
        </p:txBody>
      </p:sp>
      <p:sp>
        <p:nvSpPr>
          <p:cNvPr id="31" name="Shape 29"/>
          <p:cNvSpPr/>
          <p:nvPr/>
        </p:nvSpPr>
        <p:spPr>
          <a:xfrm>
            <a:off x="6309360" y="2926080"/>
            <a:ext cx="5349240" cy="429768"/>
          </a:xfrm>
          <a:prstGeom prst="rect">
            <a:avLst/>
          </a:prstGeom>
          <a:solidFill>
            <a:srgbClr val="FFFFFF"/>
          </a:solidFill>
          <a:ln w="6350">
            <a:solidFill>
              <a:srgbClr val="F4EFE4"/>
            </a:solidFill>
            <a:prstDash val="solid"/>
          </a:ln>
        </p:spPr>
        <p:txBody>
          <a:bodyPr/>
          <a:lstStyle/>
          <a:p>
            <a:endParaRPr lang="en-US"/>
          </a:p>
        </p:txBody>
      </p:sp>
      <p:sp>
        <p:nvSpPr>
          <p:cNvPr id="32" name="Text 30"/>
          <p:cNvSpPr/>
          <p:nvPr/>
        </p:nvSpPr>
        <p:spPr>
          <a:xfrm>
            <a:off x="6446520" y="2990088"/>
            <a:ext cx="3474720" cy="274320"/>
          </a:xfrm>
          <a:prstGeom prst="rect">
            <a:avLst/>
          </a:prstGeom>
          <a:noFill/>
          <a:ln/>
        </p:spPr>
        <p:txBody>
          <a:bodyPr wrap="square" lIns="0" tIns="0" rIns="0" bIns="0" rtlCol="0" anchor="ctr"/>
          <a:lstStyle/>
          <a:p>
            <a:pPr marL="0" indent="0" algn="l">
              <a:buNone/>
            </a:pPr>
            <a:r>
              <a:rPr lang="en-US" sz="1700">
                <a:solidFill>
                  <a:srgbClr val="8B7355"/>
                </a:solidFill>
                <a:latin typeface="Calibri" pitchFamily="34" charset="0"/>
                <a:ea typeface="Calibri" pitchFamily="34" charset="-122"/>
                <a:cs typeface="Calibri" pitchFamily="34" charset="-120"/>
              </a:rPr>
              <a:t>Applicable Credit Available</a:t>
            </a:r>
            <a:endParaRPr lang="en-US" sz="1700"/>
          </a:p>
        </p:txBody>
      </p:sp>
      <p:sp>
        <p:nvSpPr>
          <p:cNvPr id="33" name="Text 31"/>
          <p:cNvSpPr/>
          <p:nvPr/>
        </p:nvSpPr>
        <p:spPr>
          <a:xfrm>
            <a:off x="9966960" y="2990088"/>
            <a:ext cx="1554480" cy="274320"/>
          </a:xfrm>
          <a:prstGeom prst="rect">
            <a:avLst/>
          </a:prstGeom>
          <a:noFill/>
          <a:ln/>
        </p:spPr>
        <p:txBody>
          <a:bodyPr wrap="square" lIns="0" tIns="0" rIns="0" bIns="0" rtlCol="0" anchor="ctr"/>
          <a:lstStyle/>
          <a:p>
            <a:pPr marL="0" indent="0" algn="r">
              <a:buNone/>
            </a:pPr>
            <a:r>
              <a:rPr lang="en-US" sz="1700" b="1">
                <a:solidFill>
                  <a:srgbClr val="171738"/>
                </a:solidFill>
                <a:latin typeface="Calibri" pitchFamily="34" charset="0"/>
                <a:ea typeface="Calibri" pitchFamily="34" charset="-122"/>
                <a:cs typeface="Calibri" pitchFamily="34" charset="-120"/>
              </a:rPr>
              <a:t>$15,000,000</a:t>
            </a:r>
            <a:endParaRPr lang="en-US" sz="1700"/>
          </a:p>
        </p:txBody>
      </p:sp>
      <p:sp>
        <p:nvSpPr>
          <p:cNvPr id="34" name="Shape 32"/>
          <p:cNvSpPr/>
          <p:nvPr/>
        </p:nvSpPr>
        <p:spPr>
          <a:xfrm>
            <a:off x="6309360" y="3383280"/>
            <a:ext cx="5349240" cy="429768"/>
          </a:xfrm>
          <a:prstGeom prst="rect">
            <a:avLst/>
          </a:prstGeom>
          <a:solidFill>
            <a:srgbClr val="F4EFE4"/>
          </a:solidFill>
          <a:ln w="6350">
            <a:solidFill>
              <a:srgbClr val="F4EFE4"/>
            </a:solidFill>
            <a:prstDash val="solid"/>
          </a:ln>
        </p:spPr>
        <p:txBody>
          <a:bodyPr/>
          <a:lstStyle/>
          <a:p>
            <a:endParaRPr lang="en-US"/>
          </a:p>
        </p:txBody>
      </p:sp>
      <p:sp>
        <p:nvSpPr>
          <p:cNvPr id="35" name="Text 33"/>
          <p:cNvSpPr/>
          <p:nvPr/>
        </p:nvSpPr>
        <p:spPr>
          <a:xfrm>
            <a:off x="6446520" y="3447288"/>
            <a:ext cx="3474720" cy="274320"/>
          </a:xfrm>
          <a:prstGeom prst="rect">
            <a:avLst/>
          </a:prstGeom>
          <a:noFill/>
          <a:ln/>
        </p:spPr>
        <p:txBody>
          <a:bodyPr wrap="square" lIns="0" tIns="0" rIns="0" bIns="0" rtlCol="0" anchor="ctr"/>
          <a:lstStyle/>
          <a:p>
            <a:pPr marL="0" indent="0" algn="l">
              <a:buNone/>
            </a:pPr>
            <a:r>
              <a:rPr lang="en-US" sz="1700">
                <a:solidFill>
                  <a:srgbClr val="8B7355"/>
                </a:solidFill>
                <a:latin typeface="Calibri" pitchFamily="34" charset="0"/>
                <a:ea typeface="Calibri" pitchFamily="34" charset="-122"/>
                <a:cs typeface="Calibri" pitchFamily="34" charset="-120"/>
              </a:rPr>
              <a:t>GST Exemption Available</a:t>
            </a:r>
            <a:endParaRPr lang="en-US" sz="1700"/>
          </a:p>
        </p:txBody>
      </p:sp>
      <p:sp>
        <p:nvSpPr>
          <p:cNvPr id="36" name="Text 34"/>
          <p:cNvSpPr/>
          <p:nvPr/>
        </p:nvSpPr>
        <p:spPr>
          <a:xfrm>
            <a:off x="9966960" y="3447288"/>
            <a:ext cx="1554480" cy="274320"/>
          </a:xfrm>
          <a:prstGeom prst="rect">
            <a:avLst/>
          </a:prstGeom>
          <a:noFill/>
          <a:ln/>
        </p:spPr>
        <p:txBody>
          <a:bodyPr wrap="square" lIns="0" tIns="0" rIns="0" bIns="0" rtlCol="0" anchor="ctr"/>
          <a:lstStyle/>
          <a:p>
            <a:pPr marL="0" indent="0" algn="r">
              <a:buNone/>
            </a:pPr>
            <a:r>
              <a:rPr lang="en-US" sz="1700" b="1">
                <a:solidFill>
                  <a:srgbClr val="171738"/>
                </a:solidFill>
                <a:latin typeface="Calibri" pitchFamily="34" charset="0"/>
                <a:ea typeface="Calibri" pitchFamily="34" charset="-122"/>
                <a:cs typeface="Calibri" pitchFamily="34" charset="-120"/>
              </a:rPr>
              <a:t>$15,000,000</a:t>
            </a:r>
            <a:endParaRPr lang="en-US" sz="1700"/>
          </a:p>
        </p:txBody>
      </p:sp>
      <p:sp>
        <p:nvSpPr>
          <p:cNvPr id="38" name="TextBox 37">
            <a:extLst>
              <a:ext uri="{FF2B5EF4-FFF2-40B4-BE49-F238E27FC236}">
                <a16:creationId xmlns:a16="http://schemas.microsoft.com/office/drawing/2014/main" id="{9E4722BB-E830-EBC2-CA5D-E510CE3B5002}"/>
              </a:ext>
            </a:extLst>
          </p:cNvPr>
          <p:cNvSpPr txBox="1"/>
          <p:nvPr/>
        </p:nvSpPr>
        <p:spPr>
          <a:xfrm>
            <a:off x="5760720" y="350364"/>
            <a:ext cx="2512291" cy="646331"/>
          </a:xfrm>
          <a:prstGeom prst="rect">
            <a:avLst/>
          </a:prstGeom>
          <a:noFill/>
        </p:spPr>
        <p:txBody>
          <a:bodyPr wrap="square" rtlCol="0">
            <a:spAutoFit/>
          </a:bodyPr>
          <a:lstStyle/>
          <a:p>
            <a:r>
              <a:rPr lang="en-US">
                <a:solidFill>
                  <a:srgbClr val="A8332F"/>
                </a:solidFill>
                <a:latin typeface="Calibri"/>
                <a:ea typeface="Calibri"/>
                <a:cs typeface="Calibri"/>
              </a:rPr>
              <a:t>Update with Client names</a:t>
            </a:r>
          </a:p>
        </p:txBody>
      </p:sp>
      <p:pic>
        <p:nvPicPr>
          <p:cNvPr id="39"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40"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71738"/>
        </a:solidFill>
        <a:effectLst/>
      </p:bgPr>
    </p:bg>
    <p:spTree>
      <p:nvGrpSpPr>
        <p:cNvPr id="1" name="">
          <a:extLst>
            <a:ext uri="{FF2B5EF4-FFF2-40B4-BE49-F238E27FC236}">
              <a16:creationId xmlns:a16="http://schemas.microsoft.com/office/drawing/2014/main" id="{5C607F2D-B2A1-32F2-728A-D1D51B475D7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7E86014-E427-B70E-F96B-0560BE003A28}"/>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E187A10-A212-64D5-281A-C9F91DAFF9F2}"/>
              </a:ext>
            </a:extLst>
          </p:cNvPr>
          <p:cNvSpPr/>
          <p:nvPr/>
        </p:nvSpPr>
        <p:spPr>
          <a:xfrm>
            <a:off x="411480" y="6510528"/>
            <a:ext cx="2757257"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200" normalizeH="0" baseline="0" noProof="0">
                <a:ln>
                  <a:noFill/>
                </a:ln>
                <a:solidFill>
                  <a:srgbClr val="8B7355"/>
                </a:solidFill>
                <a:effectLst/>
                <a:uLnTx/>
                <a:uFillTx/>
                <a:latin typeface="Calibri" pitchFamily="34" charset="0"/>
                <a:ea typeface="Calibri" pitchFamily="34" charset="-122"/>
                <a:cs typeface="Calibri" pitchFamily="34" charset="-120"/>
              </a:rPr>
              <a:t>PARADIEM  |  FAMILY CAPITAL ARCHITECTURE</a:t>
            </a:r>
            <a:endParaRPr kumimoji="0" lang="en-US" sz="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EEF2A0E3-73AB-400C-AF1A-80E577F0CCF5}"/>
              </a:ext>
            </a:extLst>
          </p:cNvPr>
          <p:cNvSpPr/>
          <p:nvPr/>
        </p:nvSpPr>
        <p:spPr>
          <a:xfrm>
            <a:off x="9185856" y="6510528"/>
            <a:ext cx="2591615"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200" normalizeH="0" baseline="0" noProof="0">
                <a:ln>
                  <a:noFill/>
                </a:ln>
                <a:solidFill>
                  <a:srgbClr val="8B7355"/>
                </a:solidFill>
                <a:effectLst/>
                <a:uLnTx/>
                <a:uFillTx/>
                <a:latin typeface="Calibri" pitchFamily="34" charset="0"/>
                <a:ea typeface="Calibri" pitchFamily="34" charset="-122"/>
                <a:cs typeface="Calibri" pitchFamily="34" charset="-120"/>
              </a:rPr>
              <a:t>CONFIDENTIAL  —  NOT FOR DISTRIBUTION</a:t>
            </a:r>
            <a:endParaRPr kumimoji="0" lang="en-US" sz="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6D1D3A54-D17D-97DC-A38B-0D9D0B9AF44A}"/>
              </a:ext>
            </a:extLst>
          </p:cNvPr>
          <p:cNvSpPr/>
          <p:nvPr/>
        </p:nvSpPr>
        <p:spPr>
          <a:xfrm>
            <a:off x="1371601" y="2011680"/>
            <a:ext cx="5398654" cy="228600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5200" b="0" i="0" u="none" strike="noStrike" kern="1200" cap="none" spc="0" normalizeH="0" baseline="0" noProof="0">
                <a:ln>
                  <a:noFill/>
                </a:ln>
                <a:solidFill>
                  <a:srgbClr val="FFFFFF"/>
                </a:solidFill>
                <a:effectLst/>
                <a:uLnTx/>
                <a:uFillTx/>
                <a:latin typeface="Georgia" pitchFamily="34" charset="0"/>
                <a:ea typeface="+mn-ea"/>
                <a:cs typeface="+mn-cs"/>
              </a:rPr>
              <a:t>Your Current Estate Flow Chart</a:t>
            </a:r>
            <a:endParaRPr kumimoji="0" lang="en-US" sz="5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18B437BC-3CEF-8F5E-A9B8-B165FAD8E11B}"/>
              </a:ext>
            </a:extLst>
          </p:cNvPr>
          <p:cNvSpPr/>
          <p:nvPr/>
        </p:nvSpPr>
        <p:spPr>
          <a:xfrm>
            <a:off x="1371600" y="4434840"/>
            <a:ext cx="1645920" cy="0"/>
          </a:xfrm>
          <a:prstGeom prst="line">
            <a:avLst/>
          </a:prstGeom>
          <a:noFill/>
          <a:ln w="31750">
            <a:solidFill>
              <a:srgbClr val="C9A84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Paradiem Logo" descr="paradiem-logo-parchment.png"/>
          <p:cNvPicPr>
            <a:picLocks noChangeAspect="1"/>
          </p:cNvPicPr>
          <p:nvPr/>
        </p:nvPicPr>
        <p:blipFill>
          <a:blip r:embed="rId3"/>
          <a:stretch>
            <a:fillRect/>
          </a:stretch>
        </p:blipFill>
        <p:spPr>
          <a:xfrm>
            <a:off x="10241584" y="192024"/>
            <a:ext cx="1401775" cy="406047"/>
          </a:xfrm>
          <a:prstGeom prst="rect">
            <a:avLst/>
          </a:prstGeom>
        </p:spPr>
      </p:pic>
      <p:sp>
        <p:nvSpPr>
          <p:cNvPr id="8"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extLst>
      <p:ext uri="{BB962C8B-B14F-4D97-AF65-F5344CB8AC3E}">
        <p14:creationId xmlns:p14="http://schemas.microsoft.com/office/powerpoint/2010/main" val="25918711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Line 357"/>
          <p:cNvSpPr>
            <a:spLocks noChangeShapeType="1"/>
          </p:cNvSpPr>
          <p:nvPr/>
        </p:nvSpPr>
        <p:spPr bwMode="auto">
          <a:xfrm>
            <a:off x="7007538" y="2092750"/>
            <a:ext cx="0" cy="1737360"/>
          </a:xfrm>
          <a:prstGeom prst="line">
            <a:avLst/>
          </a:prstGeom>
          <a:noFill/>
          <a:ln w="9525">
            <a:solidFill>
              <a:schemeClr val="tx1"/>
            </a:solidFill>
            <a:round/>
            <a:headEnd type="none"/>
            <a:tailEnd type="triangle"/>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30" name="Line 364">
            <a:extLst>
              <a:ext uri="{FF2B5EF4-FFF2-40B4-BE49-F238E27FC236}">
                <a16:creationId xmlns:a16="http://schemas.microsoft.com/office/drawing/2014/main" id="{879AA0D7-6BD0-51BA-8436-D593B2795318}"/>
              </a:ext>
            </a:extLst>
          </p:cNvPr>
          <p:cNvSpPr>
            <a:spLocks noChangeShapeType="1"/>
          </p:cNvSpPr>
          <p:nvPr/>
        </p:nvSpPr>
        <p:spPr bwMode="auto">
          <a:xfrm rot="16200000">
            <a:off x="7831360" y="4326820"/>
            <a:ext cx="0" cy="54864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25" name="Line 364">
            <a:extLst>
              <a:ext uri="{FF2B5EF4-FFF2-40B4-BE49-F238E27FC236}">
                <a16:creationId xmlns:a16="http://schemas.microsoft.com/office/drawing/2014/main" id="{B120E62F-7099-8C72-4394-5EB451CD8A71}"/>
              </a:ext>
            </a:extLst>
          </p:cNvPr>
          <p:cNvSpPr>
            <a:spLocks noChangeShapeType="1"/>
          </p:cNvSpPr>
          <p:nvPr/>
        </p:nvSpPr>
        <p:spPr bwMode="auto">
          <a:xfrm rot="5400000">
            <a:off x="3042622" y="2789295"/>
            <a:ext cx="0" cy="101498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defTabSz="554492"/>
            <a:endParaRPr lang="en-US">
              <a:solidFill>
                <a:prstClr val="black"/>
              </a:solidFill>
              <a:latin typeface="Georgia" panose="02040502050405020303" pitchFamily="18" charset="0"/>
              <a:ea typeface="Calibri"/>
              <a:cs typeface="Calibri"/>
            </a:endParaRPr>
          </a:p>
        </p:txBody>
      </p:sp>
      <p:sp>
        <p:nvSpPr>
          <p:cNvPr id="37" name="Line 364">
            <a:extLst>
              <a:ext uri="{FF2B5EF4-FFF2-40B4-BE49-F238E27FC236}">
                <a16:creationId xmlns:a16="http://schemas.microsoft.com/office/drawing/2014/main" id="{6F1C78CF-150C-F3F3-68C7-C9E9754C7687}"/>
              </a:ext>
            </a:extLst>
          </p:cNvPr>
          <p:cNvSpPr>
            <a:spLocks noChangeShapeType="1"/>
          </p:cNvSpPr>
          <p:nvPr/>
        </p:nvSpPr>
        <p:spPr bwMode="auto">
          <a:xfrm rot="5400000">
            <a:off x="9952199" y="3930096"/>
            <a:ext cx="0" cy="45720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36" name="Line 364">
            <a:extLst>
              <a:ext uri="{FF2B5EF4-FFF2-40B4-BE49-F238E27FC236}">
                <a16:creationId xmlns:a16="http://schemas.microsoft.com/office/drawing/2014/main" id="{A2EC146A-75C8-B1AF-E371-747B94A06F2E}"/>
              </a:ext>
            </a:extLst>
          </p:cNvPr>
          <p:cNvSpPr>
            <a:spLocks noChangeShapeType="1"/>
          </p:cNvSpPr>
          <p:nvPr/>
        </p:nvSpPr>
        <p:spPr bwMode="auto">
          <a:xfrm rot="5400000">
            <a:off x="5811779" y="3895350"/>
            <a:ext cx="0" cy="1371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defTabSz="554492"/>
            <a:endParaRPr lang="en-US">
              <a:solidFill>
                <a:prstClr val="black"/>
              </a:solidFill>
              <a:latin typeface="Georgia" panose="02040502050405020303" pitchFamily="18" charset="0"/>
              <a:ea typeface="Calibri"/>
              <a:cs typeface="Calibri"/>
            </a:endParaRPr>
          </a:p>
        </p:txBody>
      </p:sp>
      <p:sp>
        <p:nvSpPr>
          <p:cNvPr id="28" name="Line 364">
            <a:extLst>
              <a:ext uri="{FF2B5EF4-FFF2-40B4-BE49-F238E27FC236}">
                <a16:creationId xmlns:a16="http://schemas.microsoft.com/office/drawing/2014/main" id="{3642FEF3-1674-2158-B7A6-EACB64A5ED26}"/>
              </a:ext>
            </a:extLst>
          </p:cNvPr>
          <p:cNvSpPr>
            <a:spLocks noChangeShapeType="1"/>
          </p:cNvSpPr>
          <p:nvPr/>
        </p:nvSpPr>
        <p:spPr bwMode="auto">
          <a:xfrm rot="5400000">
            <a:off x="5522829" y="2223272"/>
            <a:ext cx="0" cy="210312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14" name="Line 364">
            <a:extLst>
              <a:ext uri="{FF2B5EF4-FFF2-40B4-BE49-F238E27FC236}">
                <a16:creationId xmlns:a16="http://schemas.microsoft.com/office/drawing/2014/main" id="{6B3FE083-C4EE-9EFE-05DD-BF13B7DDC467}"/>
              </a:ext>
            </a:extLst>
          </p:cNvPr>
          <p:cNvSpPr>
            <a:spLocks noChangeShapeType="1"/>
          </p:cNvSpPr>
          <p:nvPr/>
        </p:nvSpPr>
        <p:spPr bwMode="auto">
          <a:xfrm rot="5400000">
            <a:off x="3655638" y="3958668"/>
            <a:ext cx="0" cy="45720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15" name="Line 459">
            <a:extLst>
              <a:ext uri="{FF2B5EF4-FFF2-40B4-BE49-F238E27FC236}">
                <a16:creationId xmlns:a16="http://schemas.microsoft.com/office/drawing/2014/main" id="{F9E33C04-A921-B050-9CC7-41057D27C53D}"/>
              </a:ext>
            </a:extLst>
          </p:cNvPr>
          <p:cNvSpPr>
            <a:spLocks noChangeShapeType="1"/>
          </p:cNvSpPr>
          <p:nvPr/>
        </p:nvSpPr>
        <p:spPr bwMode="auto">
          <a:xfrm>
            <a:off x="3431477" y="4187267"/>
            <a:ext cx="0" cy="246888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22" name="Line 364">
            <a:extLst>
              <a:ext uri="{FF2B5EF4-FFF2-40B4-BE49-F238E27FC236}">
                <a16:creationId xmlns:a16="http://schemas.microsoft.com/office/drawing/2014/main" id="{AA9C0BFA-6A82-EC14-2181-A45F575AFE10}"/>
              </a:ext>
            </a:extLst>
          </p:cNvPr>
          <p:cNvSpPr>
            <a:spLocks noChangeShapeType="1"/>
          </p:cNvSpPr>
          <p:nvPr/>
        </p:nvSpPr>
        <p:spPr bwMode="auto">
          <a:xfrm rot="5400000">
            <a:off x="5346271" y="2885125"/>
            <a:ext cx="0" cy="146304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defTabSz="554492"/>
            <a:endParaRPr lang="en-US">
              <a:solidFill>
                <a:prstClr val="black"/>
              </a:solidFill>
              <a:latin typeface="Georgia" panose="02040502050405020303" pitchFamily="18" charset="0"/>
              <a:ea typeface="Calibri"/>
              <a:cs typeface="Calibri"/>
            </a:endParaRPr>
          </a:p>
        </p:txBody>
      </p:sp>
      <p:sp>
        <p:nvSpPr>
          <p:cNvPr id="9" name="Line 364">
            <a:extLst>
              <a:ext uri="{FF2B5EF4-FFF2-40B4-BE49-F238E27FC236}">
                <a16:creationId xmlns:a16="http://schemas.microsoft.com/office/drawing/2014/main" id="{47964F94-7202-9BC9-4948-FCEF58764ADE}"/>
              </a:ext>
            </a:extLst>
          </p:cNvPr>
          <p:cNvSpPr>
            <a:spLocks noChangeShapeType="1"/>
          </p:cNvSpPr>
          <p:nvPr/>
        </p:nvSpPr>
        <p:spPr bwMode="auto">
          <a:xfrm rot="5400000">
            <a:off x="5145770" y="615574"/>
            <a:ext cx="0" cy="210312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8" name="Line 364">
            <a:extLst>
              <a:ext uri="{FF2B5EF4-FFF2-40B4-BE49-F238E27FC236}">
                <a16:creationId xmlns:a16="http://schemas.microsoft.com/office/drawing/2014/main" id="{6A8864A4-F23E-8261-7FF9-C2E49D2F3EC7}"/>
              </a:ext>
            </a:extLst>
          </p:cNvPr>
          <p:cNvSpPr>
            <a:spLocks noChangeShapeType="1"/>
          </p:cNvSpPr>
          <p:nvPr/>
        </p:nvSpPr>
        <p:spPr bwMode="auto">
          <a:xfrm rot="5400000">
            <a:off x="4581890" y="-415150"/>
            <a:ext cx="0" cy="292608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6" name="Line 364">
            <a:extLst>
              <a:ext uri="{FF2B5EF4-FFF2-40B4-BE49-F238E27FC236}">
                <a16:creationId xmlns:a16="http://schemas.microsoft.com/office/drawing/2014/main" id="{0E5425F4-69F5-934B-A471-12A0C2BC3D89}"/>
              </a:ext>
            </a:extLst>
          </p:cNvPr>
          <p:cNvSpPr>
            <a:spLocks noChangeShapeType="1"/>
          </p:cNvSpPr>
          <p:nvPr/>
        </p:nvSpPr>
        <p:spPr bwMode="auto">
          <a:xfrm rot="5400000">
            <a:off x="8133445" y="87770"/>
            <a:ext cx="0" cy="192024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75" name="Text Box 408"/>
          <p:cNvSpPr txBox="1">
            <a:spLocks noChangeArrowheads="1"/>
          </p:cNvSpPr>
          <p:nvPr/>
        </p:nvSpPr>
        <p:spPr bwMode="auto">
          <a:xfrm>
            <a:off x="4884304" y="4064012"/>
            <a:ext cx="1112838" cy="461665"/>
          </a:xfrm>
          <a:prstGeom prst="rect">
            <a:avLst/>
          </a:prstGeom>
          <a:noFill/>
          <a:ln w="9525">
            <a:noFill/>
            <a:miter lim="800000"/>
            <a:headEnd/>
            <a:tailEnd/>
          </a:ln>
          <a:effectLst/>
        </p:spPr>
        <p:txBody>
          <a:bodyPr>
            <a:spAutoFit/>
          </a:bodyPr>
          <a:lstStyle/>
          <a:p>
            <a:pPr algn="ctr" defTabSz="554492"/>
            <a:r>
              <a:rPr lang="en-US" sz="1200">
                <a:solidFill>
                  <a:prstClr val="black"/>
                </a:solidFill>
                <a:latin typeface="Georgia" panose="02040502050405020303" pitchFamily="18" charset="0"/>
                <a:ea typeface="Calibri"/>
                <a:cs typeface="Calibri"/>
              </a:rPr>
              <a:t>(6) Income and Principal</a:t>
            </a:r>
          </a:p>
        </p:txBody>
      </p:sp>
      <p:sp>
        <p:nvSpPr>
          <p:cNvPr id="77" name="Text Box 408"/>
          <p:cNvSpPr txBox="1">
            <a:spLocks noChangeArrowheads="1"/>
          </p:cNvSpPr>
          <p:nvPr/>
        </p:nvSpPr>
        <p:spPr bwMode="auto">
          <a:xfrm>
            <a:off x="7594418" y="4073410"/>
            <a:ext cx="1112838" cy="461665"/>
          </a:xfrm>
          <a:prstGeom prst="rect">
            <a:avLst/>
          </a:prstGeom>
          <a:noFill/>
          <a:ln w="9525">
            <a:noFill/>
            <a:miter lim="800000"/>
            <a:headEnd/>
            <a:tailEnd/>
          </a:ln>
          <a:effectLst/>
        </p:spPr>
        <p:txBody>
          <a:bodyPr>
            <a:spAutoFit/>
          </a:bodyPr>
          <a:lstStyle/>
          <a:p>
            <a:pPr algn="ctr" defTabSz="554492"/>
            <a:r>
              <a:rPr lang="en-US" sz="1200">
                <a:solidFill>
                  <a:prstClr val="black"/>
                </a:solidFill>
                <a:latin typeface="Georgia" panose="02040502050405020303" pitchFamily="18" charset="0"/>
                <a:ea typeface="Calibri"/>
                <a:cs typeface="Calibri"/>
              </a:rPr>
              <a:t>(7) Income and Principal</a:t>
            </a:r>
          </a:p>
        </p:txBody>
      </p:sp>
      <p:sp>
        <p:nvSpPr>
          <p:cNvPr id="82" name="Line 349"/>
          <p:cNvSpPr>
            <a:spLocks noChangeShapeType="1"/>
          </p:cNvSpPr>
          <p:nvPr/>
        </p:nvSpPr>
        <p:spPr bwMode="auto">
          <a:xfrm>
            <a:off x="4638585" y="4282788"/>
            <a:ext cx="1755648" cy="0"/>
          </a:xfrm>
          <a:prstGeom prst="line">
            <a:avLst/>
          </a:prstGeom>
          <a:noFill/>
          <a:ln w="9525">
            <a:solidFill>
              <a:schemeClr val="tx1"/>
            </a:solidFill>
            <a:round/>
            <a:headEnd/>
            <a:tailEnd type="triangle" w="med" len="me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83" name="Line 350"/>
          <p:cNvSpPr>
            <a:spLocks noChangeShapeType="1"/>
          </p:cNvSpPr>
          <p:nvPr/>
        </p:nvSpPr>
        <p:spPr bwMode="auto">
          <a:xfrm flipH="1">
            <a:off x="7614157" y="4282788"/>
            <a:ext cx="1243584" cy="0"/>
          </a:xfrm>
          <a:prstGeom prst="line">
            <a:avLst/>
          </a:prstGeom>
          <a:noFill/>
          <a:ln w="9525">
            <a:solidFill>
              <a:schemeClr val="tx1"/>
            </a:solidFill>
            <a:round/>
            <a:headEnd/>
            <a:tailEnd type="triangle" w="med" len="me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84" name="Line 384"/>
          <p:cNvSpPr>
            <a:spLocks noChangeShapeType="1"/>
          </p:cNvSpPr>
          <p:nvPr/>
        </p:nvSpPr>
        <p:spPr bwMode="auto">
          <a:xfrm>
            <a:off x="7248382" y="6276531"/>
            <a:ext cx="1371600" cy="0"/>
          </a:xfrm>
          <a:prstGeom prst="line">
            <a:avLst/>
          </a:prstGeom>
          <a:noFill/>
          <a:ln w="9525">
            <a:solidFill>
              <a:schemeClr val="tx1"/>
            </a:solidFill>
            <a:round/>
            <a:headEnd/>
            <a:tailEnd type="triangle" w="med" len="me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85" name="Text Box 402"/>
          <p:cNvSpPr txBox="1">
            <a:spLocks noChangeArrowheads="1"/>
          </p:cNvSpPr>
          <p:nvPr/>
        </p:nvSpPr>
        <p:spPr bwMode="auto">
          <a:xfrm>
            <a:off x="6984321" y="2065801"/>
            <a:ext cx="1708507" cy="1015663"/>
          </a:xfrm>
          <a:prstGeom prst="rect">
            <a:avLst/>
          </a:prstGeom>
          <a:noFill/>
          <a:ln w="9525">
            <a:noFill/>
            <a:miter lim="800000"/>
            <a:headEnd/>
            <a:tailEnd/>
          </a:ln>
          <a:effectLst/>
        </p:spPr>
        <p:txBody>
          <a:bodyPr wrap="square">
            <a:spAutoFit/>
          </a:bodyPr>
          <a:lstStyle/>
          <a:p>
            <a:pPr defTabSz="554492"/>
            <a:r>
              <a:rPr lang="en-US" sz="1200">
                <a:solidFill>
                  <a:prstClr val="black"/>
                </a:solidFill>
                <a:latin typeface="Georgia" panose="02040502050405020303" pitchFamily="18" charset="0"/>
                <a:ea typeface="Calibri"/>
                <a:cs typeface="Calibri"/>
              </a:rPr>
              <a:t>(1) Retirement, Personal Property, &amp; Life Insurance Proceeds</a:t>
            </a:r>
          </a:p>
          <a:p>
            <a:pPr defTabSz="554492"/>
            <a:r>
              <a:rPr lang="en-US" sz="1200">
                <a:solidFill>
                  <a:prstClr val="black"/>
                </a:solidFill>
                <a:latin typeface="Georgia" panose="02040502050405020303" pitchFamily="18" charset="0"/>
                <a:ea typeface="Calibri"/>
                <a:cs typeface="Calibri"/>
              </a:rPr>
              <a:t>$12,071,000</a:t>
            </a:r>
            <a:endParaRPr lang="en-US" sz="1200">
              <a:solidFill>
                <a:srgbClr val="A8332F"/>
              </a:solidFill>
              <a:latin typeface="Georgia" panose="02040502050405020303" pitchFamily="18" charset="0"/>
              <a:ea typeface="Calibri"/>
              <a:cs typeface="Calibri"/>
            </a:endParaRPr>
          </a:p>
        </p:txBody>
      </p:sp>
      <p:sp>
        <p:nvSpPr>
          <p:cNvPr id="87" name="Text Box 414"/>
          <p:cNvSpPr txBox="1">
            <a:spLocks noChangeArrowheads="1"/>
          </p:cNvSpPr>
          <p:nvPr/>
        </p:nvSpPr>
        <p:spPr bwMode="auto">
          <a:xfrm>
            <a:off x="9023654" y="4940743"/>
            <a:ext cx="1190625" cy="646331"/>
          </a:xfrm>
          <a:prstGeom prst="rect">
            <a:avLst/>
          </a:prstGeom>
          <a:noFill/>
          <a:ln w="9525">
            <a:noFill/>
            <a:miter lim="800000"/>
            <a:headEnd/>
            <a:tailEnd/>
          </a:ln>
          <a:effectLst/>
        </p:spPr>
        <p:txBody>
          <a:bodyPr>
            <a:spAutoFit/>
          </a:bodyPr>
          <a:lstStyle/>
          <a:p>
            <a:pPr algn="r" defTabSz="554492"/>
            <a:r>
              <a:rPr lang="en-US" sz="1200">
                <a:solidFill>
                  <a:prstClr val="black"/>
                </a:solidFill>
                <a:latin typeface="Georgia" panose="02040502050405020303" pitchFamily="18" charset="0"/>
                <a:ea typeface="Calibri"/>
                <a:cs typeface="Calibri"/>
              </a:rPr>
              <a:t>(14) Assets</a:t>
            </a:r>
          </a:p>
          <a:p>
            <a:pPr algn="r" defTabSz="554492"/>
            <a:r>
              <a:rPr lang="en-US" sz="1200">
                <a:solidFill>
                  <a:prstClr val="black"/>
                </a:solidFill>
                <a:latin typeface="Georgia" panose="02040502050405020303" pitchFamily="18" charset="0"/>
                <a:ea typeface="Calibri"/>
                <a:cs typeface="Calibri"/>
              </a:rPr>
              <a:t>to Trust</a:t>
            </a:r>
          </a:p>
          <a:p>
            <a:pPr algn="r" defTabSz="554492"/>
            <a:r>
              <a:rPr lang="en-US" sz="1200">
                <a:solidFill>
                  <a:prstClr val="black"/>
                </a:solidFill>
                <a:latin typeface="Georgia" panose="02040502050405020303" pitchFamily="18" charset="0"/>
                <a:ea typeface="Calibri"/>
                <a:cs typeface="Calibri"/>
              </a:rPr>
              <a:t>$13,610,000</a:t>
            </a:r>
            <a:endParaRPr lang="en-US" sz="1200">
              <a:solidFill>
                <a:srgbClr val="A8332F"/>
              </a:solidFill>
              <a:latin typeface="Georgia" panose="02040502050405020303" pitchFamily="18" charset="0"/>
              <a:ea typeface="Calibri"/>
              <a:cs typeface="Calibri"/>
            </a:endParaRPr>
          </a:p>
        </p:txBody>
      </p:sp>
      <p:sp>
        <p:nvSpPr>
          <p:cNvPr id="89" name="Text Box 400"/>
          <p:cNvSpPr txBox="1">
            <a:spLocks noChangeArrowheads="1"/>
          </p:cNvSpPr>
          <p:nvPr/>
        </p:nvSpPr>
        <p:spPr bwMode="auto">
          <a:xfrm>
            <a:off x="1772608" y="2230702"/>
            <a:ext cx="1381250" cy="646331"/>
          </a:xfrm>
          <a:prstGeom prst="rect">
            <a:avLst/>
          </a:prstGeom>
          <a:noFill/>
          <a:ln w="9525">
            <a:noFill/>
            <a:miter lim="800000"/>
            <a:headEnd/>
            <a:tailEnd/>
          </a:ln>
          <a:effectLst/>
        </p:spPr>
        <p:txBody>
          <a:bodyPr wrap="square">
            <a:spAutoFit/>
          </a:bodyPr>
          <a:lstStyle/>
          <a:p>
            <a:pPr algn="r" defTabSz="554492"/>
            <a:r>
              <a:rPr lang="en-US" sz="1200">
                <a:solidFill>
                  <a:prstClr val="black"/>
                </a:solidFill>
                <a:latin typeface="Georgia" panose="02040502050405020303" pitchFamily="18" charset="0"/>
                <a:ea typeface="Calibri"/>
                <a:cs typeface="Calibri"/>
              </a:rPr>
              <a:t>(4) Remainder of Josh’s Estate</a:t>
            </a:r>
          </a:p>
          <a:p>
            <a:pPr algn="r" defTabSz="554492"/>
            <a:r>
              <a:rPr lang="en-US" sz="1200">
                <a:solidFill>
                  <a:prstClr val="black"/>
                </a:solidFill>
                <a:latin typeface="Georgia" panose="02040502050405020303" pitchFamily="18" charset="0"/>
                <a:ea typeface="Calibri"/>
                <a:cs typeface="Calibri"/>
              </a:rPr>
              <a:t>$20,219,000</a:t>
            </a:r>
          </a:p>
        </p:txBody>
      </p:sp>
      <p:sp>
        <p:nvSpPr>
          <p:cNvPr id="90" name="Line 212"/>
          <p:cNvSpPr>
            <a:spLocks noChangeShapeType="1"/>
          </p:cNvSpPr>
          <p:nvPr/>
        </p:nvSpPr>
        <p:spPr bwMode="auto">
          <a:xfrm>
            <a:off x="1036152" y="2634805"/>
            <a:ext cx="9759076" cy="0"/>
          </a:xfrm>
          <a:prstGeom prst="line">
            <a:avLst/>
          </a:prstGeom>
          <a:noFill/>
          <a:ln w="6350">
            <a:solidFill>
              <a:schemeClr val="tx1"/>
            </a:solidFill>
            <a:prstDash val="dash"/>
            <a:round/>
            <a:headEnd/>
            <a:tailEnd/>
          </a:ln>
          <a:effectLst/>
        </p:spPr>
        <p:txBody>
          <a:bodyPr wrap="none" anchor="ctr"/>
          <a:lstStyle/>
          <a:p>
            <a:pPr defTabSz="554492"/>
            <a:endParaRPr lang="en-US">
              <a:solidFill>
                <a:prstClr val="black"/>
              </a:solidFill>
              <a:latin typeface="Georgia" panose="02040502050405020303" pitchFamily="18" charset="0"/>
              <a:ea typeface="Calibri"/>
              <a:cs typeface="Calibri"/>
            </a:endParaRPr>
          </a:p>
        </p:txBody>
      </p:sp>
      <p:sp>
        <p:nvSpPr>
          <p:cNvPr id="91" name="Line 213"/>
          <p:cNvSpPr>
            <a:spLocks noChangeShapeType="1"/>
          </p:cNvSpPr>
          <p:nvPr/>
        </p:nvSpPr>
        <p:spPr bwMode="auto">
          <a:xfrm>
            <a:off x="1019126" y="5344562"/>
            <a:ext cx="9759076" cy="0"/>
          </a:xfrm>
          <a:prstGeom prst="line">
            <a:avLst/>
          </a:prstGeom>
          <a:noFill/>
          <a:ln w="6350">
            <a:solidFill>
              <a:schemeClr val="tx1"/>
            </a:solidFill>
            <a:prstDash val="dash"/>
            <a:round/>
            <a:headEnd/>
            <a:tailEnd/>
          </a:ln>
          <a:effectLst/>
        </p:spPr>
        <p:txBody>
          <a:bodyPr wrap="none" anchor="ctr"/>
          <a:lstStyle/>
          <a:p>
            <a:pPr defTabSz="554492"/>
            <a:endParaRPr lang="en-US">
              <a:solidFill>
                <a:prstClr val="black"/>
              </a:solidFill>
              <a:latin typeface="Georgia" panose="02040502050405020303" pitchFamily="18" charset="0"/>
              <a:ea typeface="Calibri"/>
              <a:cs typeface="Calibri"/>
            </a:endParaRPr>
          </a:p>
        </p:txBody>
      </p:sp>
      <p:sp>
        <p:nvSpPr>
          <p:cNvPr id="92" name="Text Box 424"/>
          <p:cNvSpPr txBox="1">
            <a:spLocks noChangeArrowheads="1"/>
          </p:cNvSpPr>
          <p:nvPr/>
        </p:nvSpPr>
        <p:spPr bwMode="auto">
          <a:xfrm>
            <a:off x="1131090" y="2450401"/>
            <a:ext cx="1479550" cy="400110"/>
          </a:xfrm>
          <a:prstGeom prst="rect">
            <a:avLst/>
          </a:prstGeom>
          <a:noFill/>
          <a:ln w="9525">
            <a:noFill/>
            <a:miter lim="800000"/>
            <a:headEnd/>
            <a:tailEnd/>
          </a:ln>
          <a:effectLst/>
        </p:spPr>
        <p:txBody>
          <a:bodyPr wrap="square">
            <a:spAutoFit/>
          </a:bodyPr>
          <a:lstStyle/>
          <a:p>
            <a:pPr defTabSz="554492"/>
            <a:r>
              <a:rPr lang="en-US" sz="1000">
                <a:solidFill>
                  <a:prstClr val="black"/>
                </a:solidFill>
                <a:latin typeface="Georgia" panose="02040502050405020303" pitchFamily="18" charset="0"/>
                <a:ea typeface="Calibri"/>
                <a:cs typeface="Calibri"/>
              </a:rPr>
              <a:t>(Josh’s </a:t>
            </a:r>
          </a:p>
          <a:p>
            <a:pPr defTabSz="554492"/>
            <a:r>
              <a:rPr lang="en-US" sz="1000">
                <a:solidFill>
                  <a:prstClr val="black"/>
                </a:solidFill>
                <a:latin typeface="Georgia" panose="02040502050405020303" pitchFamily="18" charset="0"/>
                <a:ea typeface="Calibri"/>
                <a:cs typeface="Calibri"/>
              </a:rPr>
              <a:t>Passing)</a:t>
            </a:r>
          </a:p>
        </p:txBody>
      </p:sp>
      <p:sp>
        <p:nvSpPr>
          <p:cNvPr id="93" name="Text Box 425"/>
          <p:cNvSpPr txBox="1">
            <a:spLocks noChangeArrowheads="1"/>
          </p:cNvSpPr>
          <p:nvPr/>
        </p:nvSpPr>
        <p:spPr bwMode="auto">
          <a:xfrm>
            <a:off x="1036152" y="5160158"/>
            <a:ext cx="1441450" cy="400110"/>
          </a:xfrm>
          <a:prstGeom prst="rect">
            <a:avLst/>
          </a:prstGeom>
          <a:noFill/>
          <a:ln w="9525">
            <a:noFill/>
            <a:miter lim="800000"/>
            <a:headEnd/>
            <a:tailEnd/>
          </a:ln>
          <a:effectLst/>
        </p:spPr>
        <p:txBody>
          <a:bodyPr wrap="square">
            <a:spAutoFit/>
          </a:bodyPr>
          <a:lstStyle/>
          <a:p>
            <a:pPr defTabSz="554492"/>
            <a:r>
              <a:rPr lang="en-US" sz="1000">
                <a:solidFill>
                  <a:prstClr val="black"/>
                </a:solidFill>
                <a:latin typeface="Georgia" panose="02040502050405020303" pitchFamily="18" charset="0"/>
                <a:ea typeface="Calibri"/>
                <a:cs typeface="Calibri"/>
              </a:rPr>
              <a:t>(Deb’s </a:t>
            </a:r>
          </a:p>
          <a:p>
            <a:pPr defTabSz="554492"/>
            <a:r>
              <a:rPr lang="en-US" sz="1000">
                <a:solidFill>
                  <a:prstClr val="black"/>
                </a:solidFill>
                <a:latin typeface="Georgia" panose="02040502050405020303" pitchFamily="18" charset="0"/>
                <a:ea typeface="Calibri"/>
                <a:cs typeface="Calibri"/>
              </a:rPr>
              <a:t>Passing)</a:t>
            </a:r>
          </a:p>
        </p:txBody>
      </p:sp>
      <p:sp>
        <p:nvSpPr>
          <p:cNvPr id="96" name="Line 346"/>
          <p:cNvSpPr>
            <a:spLocks noChangeShapeType="1"/>
          </p:cNvSpPr>
          <p:nvPr/>
        </p:nvSpPr>
        <p:spPr bwMode="auto">
          <a:xfrm>
            <a:off x="7150464" y="4389126"/>
            <a:ext cx="0" cy="1188720"/>
          </a:xfrm>
          <a:prstGeom prst="line">
            <a:avLst/>
          </a:prstGeom>
          <a:noFill/>
          <a:ln w="9525">
            <a:solidFill>
              <a:schemeClr val="tx1"/>
            </a:solidFill>
            <a:round/>
            <a:headEnd/>
            <a:tailEnd type="triangle" w="med" len="me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97" name="Text Box 414"/>
          <p:cNvSpPr txBox="1">
            <a:spLocks noChangeArrowheads="1"/>
          </p:cNvSpPr>
          <p:nvPr/>
        </p:nvSpPr>
        <p:spPr bwMode="auto">
          <a:xfrm>
            <a:off x="5088741" y="4961064"/>
            <a:ext cx="957047" cy="646331"/>
          </a:xfrm>
          <a:prstGeom prst="rect">
            <a:avLst/>
          </a:prstGeom>
          <a:noFill/>
          <a:ln w="9525">
            <a:noFill/>
            <a:miter lim="800000"/>
            <a:headEnd/>
            <a:tailEnd/>
          </a:ln>
          <a:effectLst/>
        </p:spPr>
        <p:txBody>
          <a:bodyPr wrap="square">
            <a:spAutoFit/>
          </a:bodyPr>
          <a:lstStyle/>
          <a:p>
            <a:pPr defTabSz="554492"/>
            <a:r>
              <a:rPr lang="en-US" sz="1200">
                <a:solidFill>
                  <a:prstClr val="black"/>
                </a:solidFill>
                <a:latin typeface="Georgia" panose="02040502050405020303" pitchFamily="18" charset="0"/>
                <a:ea typeface="Calibri"/>
                <a:cs typeface="Calibri"/>
              </a:rPr>
              <a:t>(8) IRD Taxes</a:t>
            </a:r>
          </a:p>
          <a:p>
            <a:pPr defTabSz="554492"/>
            <a:r>
              <a:rPr lang="en-US" sz="1200">
                <a:solidFill>
                  <a:prstClr val="black"/>
                </a:solidFill>
                <a:latin typeface="Georgia" panose="02040502050405020303" pitchFamily="18" charset="0"/>
                <a:ea typeface="Calibri"/>
                <a:cs typeface="Calibri"/>
              </a:rPr>
              <a:t>$131,000 </a:t>
            </a:r>
          </a:p>
        </p:txBody>
      </p:sp>
      <p:sp>
        <p:nvSpPr>
          <p:cNvPr id="100" name="B"/>
          <p:cNvSpPr>
            <a:spLocks noChangeArrowheads="1"/>
          </p:cNvSpPr>
          <p:nvPr/>
        </p:nvSpPr>
        <p:spPr bwMode="auto">
          <a:xfrm>
            <a:off x="8627518" y="3828950"/>
            <a:ext cx="1222075" cy="874378"/>
          </a:xfrm>
          <a:prstGeom prst="rect">
            <a:avLst/>
          </a:prstGeom>
          <a:solidFill>
            <a:srgbClr val="C9A84C"/>
          </a:solidFill>
          <a:ln w="9525">
            <a:noFill/>
            <a:miter lim="800000"/>
            <a:headEnd/>
            <a:tailEnd/>
          </a:ln>
          <a:effectLst/>
        </p:spPr>
        <p:txBody>
          <a:bodyPr wrap="none" anchor="ctr"/>
          <a:lstStyle/>
          <a:p>
            <a:pPr defTabSz="554492"/>
            <a:endParaRPr lang="en-US">
              <a:solidFill>
                <a:prstClr val="black"/>
              </a:solidFill>
              <a:latin typeface="Georgia" panose="02040502050405020303" pitchFamily="18" charset="0"/>
              <a:ea typeface="Calibri"/>
              <a:cs typeface="Calibri"/>
            </a:endParaRPr>
          </a:p>
        </p:txBody>
      </p:sp>
      <p:sp>
        <p:nvSpPr>
          <p:cNvPr id="102" name="Text Box 343"/>
          <p:cNvSpPr txBox="1">
            <a:spLocks noChangeArrowheads="1"/>
          </p:cNvSpPr>
          <p:nvPr/>
        </p:nvSpPr>
        <p:spPr bwMode="auto">
          <a:xfrm>
            <a:off x="8568907" y="3900848"/>
            <a:ext cx="1363951" cy="738664"/>
          </a:xfrm>
          <a:prstGeom prst="rect">
            <a:avLst/>
          </a:prstGeom>
          <a:noFill/>
          <a:ln w="9525">
            <a:noFill/>
            <a:miter lim="800000"/>
            <a:headEnd/>
            <a:tailEnd/>
          </a:ln>
          <a:effectLst/>
        </p:spPr>
        <p:txBody>
          <a:bodyPr wrap="square">
            <a:spAutoFit/>
          </a:bodyPr>
          <a:lstStyle/>
          <a:p>
            <a:pPr algn="ctr" defTabSz="554492"/>
            <a:r>
              <a:rPr lang="en-US" sz="1400" b="1">
                <a:solidFill>
                  <a:prstClr val="white"/>
                </a:solidFill>
                <a:latin typeface="Georgia" panose="02040502050405020303" pitchFamily="18" charset="0"/>
                <a:ea typeface="Calibri"/>
                <a:cs typeface="Calibri"/>
              </a:rPr>
              <a:t>Bypass</a:t>
            </a:r>
          </a:p>
          <a:p>
            <a:pPr algn="ctr" defTabSz="554492"/>
            <a:r>
              <a:rPr lang="en-US" sz="1400" b="1">
                <a:solidFill>
                  <a:prstClr val="white"/>
                </a:solidFill>
                <a:latin typeface="Georgia" panose="02040502050405020303" pitchFamily="18" charset="0"/>
                <a:ea typeface="Calibri"/>
                <a:cs typeface="Calibri"/>
              </a:rPr>
              <a:t>Trust</a:t>
            </a:r>
          </a:p>
          <a:p>
            <a:pPr algn="ctr" defTabSz="554492"/>
            <a:r>
              <a:rPr lang="en-US" sz="1400" b="1">
                <a:solidFill>
                  <a:prstClr val="white"/>
                </a:solidFill>
                <a:latin typeface="Georgia" panose="02040502050405020303" pitchFamily="18" charset="0"/>
                <a:ea typeface="Calibri"/>
                <a:cs typeface="Calibri"/>
              </a:rPr>
              <a:t>$13,610,000</a:t>
            </a:r>
          </a:p>
        </p:txBody>
      </p:sp>
      <p:sp>
        <p:nvSpPr>
          <p:cNvPr id="104" name="Line 459"/>
          <p:cNvSpPr>
            <a:spLocks noChangeShapeType="1"/>
          </p:cNvSpPr>
          <p:nvPr/>
        </p:nvSpPr>
        <p:spPr bwMode="auto">
          <a:xfrm>
            <a:off x="4687898" y="4445895"/>
            <a:ext cx="0" cy="1133856"/>
          </a:xfrm>
          <a:prstGeom prst="line">
            <a:avLst/>
          </a:prstGeom>
          <a:noFill/>
          <a:ln w="9525">
            <a:solidFill>
              <a:schemeClr val="tx1"/>
            </a:solidFill>
            <a:round/>
            <a:headEnd type="none"/>
            <a:tailEnd type="triangle"/>
          </a:ln>
          <a:effectLst/>
        </p:spPr>
        <p:txBody>
          <a:bodyPr/>
          <a:lstStyle/>
          <a:p>
            <a:pPr defTabSz="554492"/>
            <a:endParaRPr lang="en-US">
              <a:solidFill>
                <a:prstClr val="black"/>
              </a:solidFill>
              <a:latin typeface="Georgia" panose="02040502050405020303" pitchFamily="18" charset="0"/>
              <a:ea typeface="Calibri"/>
              <a:cs typeface="Calibri"/>
            </a:endParaRPr>
          </a:p>
        </p:txBody>
      </p:sp>
      <p:grpSp>
        <p:nvGrpSpPr>
          <p:cNvPr id="105" name="Group Estate"/>
          <p:cNvGrpSpPr>
            <a:grpSpLocks/>
          </p:cNvGrpSpPr>
          <p:nvPr/>
        </p:nvGrpSpPr>
        <p:grpSpPr bwMode="auto">
          <a:xfrm>
            <a:off x="5742481" y="77097"/>
            <a:ext cx="1583686" cy="2035877"/>
            <a:chOff x="2558" y="277"/>
            <a:chExt cx="863" cy="1000"/>
          </a:xfrm>
          <a:solidFill>
            <a:srgbClr val="171738"/>
          </a:solidFill>
        </p:grpSpPr>
        <p:sp>
          <p:nvSpPr>
            <p:cNvPr id="107" name="Estate"/>
            <p:cNvSpPr>
              <a:spLocks noChangeArrowheads="1"/>
            </p:cNvSpPr>
            <p:nvPr/>
          </p:nvSpPr>
          <p:spPr bwMode="auto">
            <a:xfrm>
              <a:off x="2570" y="277"/>
              <a:ext cx="800" cy="1000"/>
            </a:xfrm>
            <a:prstGeom prst="rect">
              <a:avLst/>
            </a:prstGeom>
            <a:solidFill>
              <a:srgbClr val="4A7C59"/>
            </a:solidFill>
            <a:ln w="9525">
              <a:noFill/>
              <a:miter lim="800000"/>
              <a:headEnd/>
              <a:tailEnd/>
            </a:ln>
            <a:effectLst/>
          </p:spPr>
          <p:txBody>
            <a:bodyPr wrap="none" anchor="ctr"/>
            <a:lstStyle/>
            <a:p>
              <a:pPr defTabSz="554492"/>
              <a:endParaRPr lang="en-US">
                <a:solidFill>
                  <a:prstClr val="black"/>
                </a:solidFill>
                <a:latin typeface="Calibri"/>
                <a:ea typeface="Calibri"/>
                <a:cs typeface="Calibri"/>
              </a:endParaRPr>
            </a:p>
          </p:txBody>
        </p:sp>
        <p:sp>
          <p:nvSpPr>
            <p:cNvPr id="108" name="EstateT"/>
            <p:cNvSpPr txBox="1">
              <a:spLocks noChangeArrowheads="1"/>
            </p:cNvSpPr>
            <p:nvPr/>
          </p:nvSpPr>
          <p:spPr bwMode="auto">
            <a:xfrm>
              <a:off x="2558" y="395"/>
              <a:ext cx="863" cy="756"/>
            </a:xfrm>
            <a:prstGeom prst="rect">
              <a:avLst/>
            </a:prstGeom>
            <a:noFill/>
            <a:ln w="9525">
              <a:noFill/>
              <a:miter lim="800000"/>
              <a:headEnd/>
              <a:tailEnd/>
            </a:ln>
            <a:effectLst/>
          </p:spPr>
          <p:txBody>
            <a:bodyPr wrap="square">
              <a:spAutoFit/>
            </a:bodyPr>
            <a:lstStyle/>
            <a:p>
              <a:pPr algn="ctr" defTabSz="554492"/>
              <a:endParaRPr lang="en-US" sz="800" b="1">
                <a:solidFill>
                  <a:prstClr val="white"/>
                </a:solidFill>
                <a:latin typeface="Calibri"/>
                <a:ea typeface="Calibri"/>
                <a:cs typeface="Calibri"/>
              </a:endParaRPr>
            </a:p>
            <a:p>
              <a:pPr algn="ctr" defTabSz="554492"/>
              <a:r>
                <a:rPr lang="en-US" b="1">
                  <a:solidFill>
                    <a:prstClr val="white"/>
                  </a:solidFill>
                  <a:latin typeface="Georgia" panose="02040502050405020303" pitchFamily="18" charset="0"/>
                  <a:ea typeface="Calibri"/>
                  <a:cs typeface="Calibri"/>
                </a:rPr>
                <a:t>Joshua &amp; Deborah Fookes</a:t>
              </a:r>
            </a:p>
            <a:p>
              <a:pPr algn="ctr" defTabSz="554492"/>
              <a:endParaRPr lang="en-US" sz="1600" b="1">
                <a:solidFill>
                  <a:prstClr val="white"/>
                </a:solidFill>
                <a:latin typeface="Calibri"/>
                <a:ea typeface="Calibri"/>
                <a:cs typeface="Calibri"/>
              </a:endParaRPr>
            </a:p>
            <a:p>
              <a:pPr algn="ctr" defTabSz="554492"/>
              <a:r>
                <a:rPr lang="en-US" sz="1600" b="1">
                  <a:solidFill>
                    <a:prstClr val="white"/>
                  </a:solidFill>
                  <a:latin typeface="Georgia" panose="02040502050405020303" pitchFamily="18" charset="0"/>
                  <a:ea typeface="Calibri"/>
                  <a:cs typeface="Calibri"/>
                </a:rPr>
                <a:t>$72,440,000</a:t>
              </a:r>
            </a:p>
          </p:txBody>
        </p:sp>
      </p:grpSp>
      <p:grpSp>
        <p:nvGrpSpPr>
          <p:cNvPr id="109" name="Group IRS"/>
          <p:cNvGrpSpPr>
            <a:grpSpLocks/>
          </p:cNvGrpSpPr>
          <p:nvPr/>
        </p:nvGrpSpPr>
        <p:grpSpPr bwMode="auto">
          <a:xfrm>
            <a:off x="3549071" y="5636233"/>
            <a:ext cx="1223603" cy="871454"/>
            <a:chOff x="600" y="3238"/>
            <a:chExt cx="801" cy="560"/>
          </a:xfrm>
          <a:solidFill>
            <a:srgbClr val="A8332F"/>
          </a:solidFill>
        </p:grpSpPr>
        <p:sp>
          <p:nvSpPr>
            <p:cNvPr id="111" name="IRS"/>
            <p:cNvSpPr>
              <a:spLocks noChangeArrowheads="1"/>
            </p:cNvSpPr>
            <p:nvPr/>
          </p:nvSpPr>
          <p:spPr bwMode="auto">
            <a:xfrm>
              <a:off x="601" y="3238"/>
              <a:ext cx="800" cy="560"/>
            </a:xfrm>
            <a:prstGeom prst="rect">
              <a:avLst/>
            </a:prstGeom>
            <a:grpFill/>
            <a:ln w="9525">
              <a:noFill/>
              <a:miter lim="800000"/>
              <a:headEnd/>
              <a:tailEnd/>
            </a:ln>
            <a:effectLst/>
          </p:spPr>
          <p:txBody>
            <a:bodyPr wrap="none" anchor="ctr"/>
            <a:lstStyle/>
            <a:p>
              <a:pPr defTabSz="554492"/>
              <a:endParaRPr lang="en-US">
                <a:solidFill>
                  <a:prstClr val="black"/>
                </a:solidFill>
                <a:latin typeface="Georgia" panose="02040502050405020303" pitchFamily="18" charset="0"/>
                <a:ea typeface="Calibri"/>
                <a:cs typeface="Calibri"/>
              </a:endParaRPr>
            </a:p>
          </p:txBody>
        </p:sp>
        <p:sp>
          <p:nvSpPr>
            <p:cNvPr id="112" name="IRST"/>
            <p:cNvSpPr txBox="1">
              <a:spLocks noChangeArrowheads="1"/>
            </p:cNvSpPr>
            <p:nvPr/>
          </p:nvSpPr>
          <p:spPr bwMode="auto">
            <a:xfrm>
              <a:off x="600" y="3368"/>
              <a:ext cx="800" cy="356"/>
            </a:xfrm>
            <a:prstGeom prst="rect">
              <a:avLst/>
            </a:prstGeom>
            <a:solidFill>
              <a:schemeClr val="accent2">
                <a:lumMod val="75000"/>
              </a:schemeClr>
            </a:solidFill>
            <a:ln w="9525">
              <a:noFill/>
              <a:miter lim="800000"/>
              <a:headEnd/>
              <a:tailEnd/>
            </a:ln>
            <a:effectLst/>
          </p:spPr>
          <p:txBody>
            <a:bodyPr>
              <a:spAutoFit/>
            </a:bodyPr>
            <a:lstStyle/>
            <a:p>
              <a:pPr algn="ctr" defTabSz="554492"/>
              <a:endParaRPr lang="en-US" sz="1500" b="1">
                <a:solidFill>
                  <a:prstClr val="black"/>
                </a:solidFill>
                <a:latin typeface="Georgia" panose="02040502050405020303" pitchFamily="18" charset="0"/>
                <a:ea typeface="Calibri"/>
                <a:cs typeface="Calibri"/>
              </a:endParaRPr>
            </a:p>
            <a:p>
              <a:pPr algn="ctr" defTabSz="554492"/>
              <a:endParaRPr lang="en-US" sz="1500" b="1">
                <a:solidFill>
                  <a:prstClr val="black"/>
                </a:solidFill>
                <a:latin typeface="Georgia" panose="02040502050405020303" pitchFamily="18" charset="0"/>
                <a:ea typeface="Calibri"/>
                <a:cs typeface="Calibri"/>
              </a:endParaRPr>
            </a:p>
          </p:txBody>
        </p:sp>
      </p:grpSp>
      <p:grpSp>
        <p:nvGrpSpPr>
          <p:cNvPr id="113" name="Group 178"/>
          <p:cNvGrpSpPr>
            <a:grpSpLocks/>
          </p:cNvGrpSpPr>
          <p:nvPr/>
        </p:nvGrpSpPr>
        <p:grpSpPr bwMode="auto">
          <a:xfrm>
            <a:off x="8625937" y="5580147"/>
            <a:ext cx="1222075" cy="877302"/>
            <a:chOff x="4400" y="3200"/>
            <a:chExt cx="800" cy="560"/>
          </a:xfrm>
          <a:solidFill>
            <a:srgbClr val="171738"/>
          </a:solidFill>
        </p:grpSpPr>
        <p:sp>
          <p:nvSpPr>
            <p:cNvPr id="115" name="Heir"/>
            <p:cNvSpPr>
              <a:spLocks noChangeArrowheads="1"/>
            </p:cNvSpPr>
            <p:nvPr/>
          </p:nvSpPr>
          <p:spPr bwMode="auto">
            <a:xfrm>
              <a:off x="4400" y="3200"/>
              <a:ext cx="800" cy="560"/>
            </a:xfrm>
            <a:prstGeom prst="rect">
              <a:avLst/>
            </a:prstGeom>
            <a:grpFill/>
            <a:ln w="9525">
              <a:noFill/>
              <a:miter lim="800000"/>
              <a:headEnd/>
              <a:tailEnd/>
            </a:ln>
            <a:effectLst/>
          </p:spPr>
          <p:txBody>
            <a:bodyPr wrap="none" anchor="ctr"/>
            <a:lstStyle/>
            <a:p>
              <a:pPr defTabSz="554492"/>
              <a:endParaRPr lang="en-US">
                <a:solidFill>
                  <a:prstClr val="black"/>
                </a:solidFill>
                <a:latin typeface="Georgia" panose="02040502050405020303" pitchFamily="18" charset="0"/>
                <a:ea typeface="Calibri"/>
                <a:cs typeface="Calibri"/>
              </a:endParaRPr>
            </a:p>
          </p:txBody>
        </p:sp>
        <p:sp>
          <p:nvSpPr>
            <p:cNvPr id="116" name="HeirT"/>
            <p:cNvSpPr txBox="1">
              <a:spLocks noChangeArrowheads="1"/>
            </p:cNvSpPr>
            <p:nvPr/>
          </p:nvSpPr>
          <p:spPr bwMode="auto">
            <a:xfrm>
              <a:off x="4930" y="3368"/>
              <a:ext cx="270" cy="206"/>
            </a:xfrm>
            <a:prstGeom prst="rect">
              <a:avLst/>
            </a:prstGeom>
            <a:grpFill/>
            <a:ln w="9525">
              <a:noFill/>
              <a:miter lim="800000"/>
              <a:headEnd/>
              <a:tailEnd/>
            </a:ln>
            <a:effectLst/>
          </p:spPr>
          <p:txBody>
            <a:bodyPr>
              <a:spAutoFit/>
            </a:bodyPr>
            <a:lstStyle/>
            <a:p>
              <a:pPr algn="ctr" defTabSz="554492"/>
              <a:endParaRPr lang="en-US" sz="1500" b="1">
                <a:solidFill>
                  <a:prstClr val="black"/>
                </a:solidFill>
                <a:latin typeface="Georgia" panose="02040502050405020303" pitchFamily="18" charset="0"/>
                <a:ea typeface="Calibri"/>
                <a:cs typeface="Calibri"/>
              </a:endParaRPr>
            </a:p>
          </p:txBody>
        </p:sp>
      </p:grpSp>
      <p:sp>
        <p:nvSpPr>
          <p:cNvPr id="117" name="Text Box 288"/>
          <p:cNvSpPr txBox="1">
            <a:spLocks noChangeArrowheads="1"/>
          </p:cNvSpPr>
          <p:nvPr/>
        </p:nvSpPr>
        <p:spPr bwMode="auto">
          <a:xfrm>
            <a:off x="3453586" y="5753312"/>
            <a:ext cx="1378904" cy="523220"/>
          </a:xfrm>
          <a:prstGeom prst="rect">
            <a:avLst/>
          </a:prstGeom>
          <a:noFill/>
          <a:ln w="9525">
            <a:noFill/>
            <a:miter lim="800000"/>
            <a:headEnd/>
            <a:tailEnd/>
          </a:ln>
          <a:effectLst/>
        </p:spPr>
        <p:txBody>
          <a:bodyPr wrap="none">
            <a:spAutoFit/>
          </a:bodyPr>
          <a:lstStyle/>
          <a:p>
            <a:pPr algn="ctr" defTabSz="554492"/>
            <a:r>
              <a:rPr lang="en-US" sz="1400" b="1">
                <a:solidFill>
                  <a:prstClr val="white"/>
                </a:solidFill>
                <a:latin typeface="Georgia" panose="02040502050405020303" pitchFamily="18" charset="0"/>
                <a:ea typeface="Calibri"/>
                <a:cs typeface="Calibri"/>
              </a:rPr>
              <a:t>IRS</a:t>
            </a:r>
          </a:p>
          <a:p>
            <a:pPr algn="ctr" defTabSz="554492"/>
            <a:r>
              <a:rPr lang="en-US" sz="1400" b="1">
                <a:solidFill>
                  <a:prstClr val="white"/>
                </a:solidFill>
                <a:latin typeface="Georgia" panose="02040502050405020303" pitchFamily="18" charset="0"/>
                <a:ea typeface="Calibri"/>
                <a:cs typeface="Calibri"/>
              </a:rPr>
              <a:t>$22,489,000</a:t>
            </a:r>
          </a:p>
        </p:txBody>
      </p:sp>
      <p:sp>
        <p:nvSpPr>
          <p:cNvPr id="118" name="Text Box 291"/>
          <p:cNvSpPr txBox="1">
            <a:spLocks noChangeArrowheads="1"/>
          </p:cNvSpPr>
          <p:nvPr/>
        </p:nvSpPr>
        <p:spPr bwMode="auto">
          <a:xfrm>
            <a:off x="8572599" y="5647266"/>
            <a:ext cx="1343025" cy="954107"/>
          </a:xfrm>
          <a:prstGeom prst="rect">
            <a:avLst/>
          </a:prstGeom>
          <a:noFill/>
          <a:ln w="9525">
            <a:noFill/>
            <a:miter lim="800000"/>
            <a:headEnd/>
            <a:tailEnd/>
          </a:ln>
          <a:effectLst/>
        </p:spPr>
        <p:txBody>
          <a:bodyPr>
            <a:spAutoFit/>
          </a:bodyPr>
          <a:lstStyle/>
          <a:p>
            <a:pPr algn="ctr" defTabSz="554492"/>
            <a:r>
              <a:rPr lang="en-US" sz="1400" b="1">
                <a:solidFill>
                  <a:prstClr val="white"/>
                </a:solidFill>
                <a:latin typeface="Georgia" panose="02040502050405020303" pitchFamily="18" charset="0"/>
                <a:ea typeface="Calibri"/>
                <a:cs typeface="Calibri"/>
              </a:rPr>
              <a:t>Fookes Children</a:t>
            </a:r>
          </a:p>
          <a:p>
            <a:pPr algn="ctr" defTabSz="554492"/>
            <a:r>
              <a:rPr lang="en-US" sz="1400" b="1">
                <a:solidFill>
                  <a:prstClr val="white"/>
                </a:solidFill>
                <a:latin typeface="Georgia" panose="02040502050405020303" pitchFamily="18" charset="0"/>
                <a:ea typeface="Calibri"/>
                <a:cs typeface="Calibri"/>
              </a:rPr>
              <a:t>$60,758,000</a:t>
            </a:r>
            <a:endParaRPr lang="en-US" sz="1400">
              <a:solidFill>
                <a:prstClr val="white"/>
              </a:solidFill>
              <a:latin typeface="Georgia" panose="02040502050405020303" pitchFamily="18" charset="0"/>
              <a:ea typeface="Calibri"/>
              <a:cs typeface="Calibri"/>
            </a:endParaRPr>
          </a:p>
        </p:txBody>
      </p:sp>
      <p:grpSp>
        <p:nvGrpSpPr>
          <p:cNvPr id="119" name="Group 339"/>
          <p:cNvGrpSpPr>
            <a:grpSpLocks/>
          </p:cNvGrpSpPr>
          <p:nvPr/>
        </p:nvGrpSpPr>
        <p:grpSpPr bwMode="auto">
          <a:xfrm>
            <a:off x="6394045" y="3828954"/>
            <a:ext cx="1222075" cy="877303"/>
            <a:chOff x="4400" y="3200"/>
            <a:chExt cx="800" cy="560"/>
          </a:xfrm>
          <a:solidFill>
            <a:srgbClr val="171738"/>
          </a:solidFill>
        </p:grpSpPr>
        <p:sp>
          <p:nvSpPr>
            <p:cNvPr id="121" name="Heir"/>
            <p:cNvSpPr>
              <a:spLocks noChangeArrowheads="1"/>
            </p:cNvSpPr>
            <p:nvPr/>
          </p:nvSpPr>
          <p:spPr bwMode="auto">
            <a:xfrm>
              <a:off x="4400" y="3200"/>
              <a:ext cx="800" cy="560"/>
            </a:xfrm>
            <a:prstGeom prst="rect">
              <a:avLst/>
            </a:prstGeom>
            <a:grpFill/>
            <a:ln w="9525">
              <a:noFill/>
              <a:miter lim="800000"/>
              <a:headEnd/>
              <a:tailEnd/>
            </a:ln>
            <a:effectLst/>
          </p:spPr>
          <p:txBody>
            <a:bodyPr wrap="none" anchor="ctr"/>
            <a:lstStyle/>
            <a:p>
              <a:pPr defTabSz="554492"/>
              <a:endParaRPr lang="en-US">
                <a:solidFill>
                  <a:prstClr val="black"/>
                </a:solidFill>
                <a:latin typeface="Georgia" panose="02040502050405020303" pitchFamily="18" charset="0"/>
                <a:ea typeface="Calibri"/>
                <a:cs typeface="Calibri"/>
              </a:endParaRPr>
            </a:p>
          </p:txBody>
        </p:sp>
        <p:sp>
          <p:nvSpPr>
            <p:cNvPr id="122" name="HeirT"/>
            <p:cNvSpPr txBox="1">
              <a:spLocks noChangeArrowheads="1"/>
            </p:cNvSpPr>
            <p:nvPr/>
          </p:nvSpPr>
          <p:spPr bwMode="auto">
            <a:xfrm>
              <a:off x="4930" y="3368"/>
              <a:ext cx="270" cy="206"/>
            </a:xfrm>
            <a:prstGeom prst="rect">
              <a:avLst/>
            </a:prstGeom>
            <a:grpFill/>
            <a:ln w="9525">
              <a:noFill/>
              <a:miter lim="800000"/>
              <a:headEnd/>
              <a:tailEnd/>
            </a:ln>
            <a:effectLst/>
          </p:spPr>
          <p:txBody>
            <a:bodyPr>
              <a:spAutoFit/>
            </a:bodyPr>
            <a:lstStyle/>
            <a:p>
              <a:pPr algn="ctr" defTabSz="554492"/>
              <a:endParaRPr lang="en-US" sz="1500" b="1">
                <a:solidFill>
                  <a:prstClr val="black"/>
                </a:solidFill>
                <a:latin typeface="Georgia" panose="02040502050405020303" pitchFamily="18" charset="0"/>
                <a:ea typeface="Calibri"/>
                <a:cs typeface="Calibri"/>
              </a:endParaRPr>
            </a:p>
          </p:txBody>
        </p:sp>
      </p:grpSp>
      <p:sp>
        <p:nvSpPr>
          <p:cNvPr id="123" name="Text Box 343"/>
          <p:cNvSpPr txBox="1">
            <a:spLocks noChangeArrowheads="1"/>
          </p:cNvSpPr>
          <p:nvPr/>
        </p:nvSpPr>
        <p:spPr bwMode="auto">
          <a:xfrm>
            <a:off x="6347024" y="4031495"/>
            <a:ext cx="1311100" cy="523220"/>
          </a:xfrm>
          <a:prstGeom prst="rect">
            <a:avLst/>
          </a:prstGeom>
          <a:noFill/>
          <a:ln w="9525">
            <a:noFill/>
            <a:miter lim="800000"/>
            <a:headEnd/>
            <a:tailEnd/>
          </a:ln>
          <a:effectLst/>
        </p:spPr>
        <p:txBody>
          <a:bodyPr wrap="square">
            <a:spAutoFit/>
          </a:bodyPr>
          <a:lstStyle/>
          <a:p>
            <a:pPr algn="ctr" defTabSz="554492"/>
            <a:r>
              <a:rPr lang="en-US" sz="1400" b="1">
                <a:solidFill>
                  <a:prstClr val="white"/>
                </a:solidFill>
                <a:latin typeface="Georgia" panose="02040502050405020303" pitchFamily="18" charset="0"/>
                <a:ea typeface="Calibri"/>
                <a:cs typeface="Calibri"/>
              </a:rPr>
              <a:t>Deborah</a:t>
            </a:r>
          </a:p>
          <a:p>
            <a:pPr algn="ctr" defTabSz="554492"/>
            <a:r>
              <a:rPr lang="en-US" sz="1400" b="1">
                <a:solidFill>
                  <a:prstClr val="white"/>
                </a:solidFill>
                <a:latin typeface="Georgia" panose="02040502050405020303" pitchFamily="18" charset="0"/>
                <a:ea typeface="Calibri"/>
                <a:cs typeface="Calibri"/>
              </a:rPr>
              <a:t>$12,071,000</a:t>
            </a:r>
          </a:p>
        </p:txBody>
      </p:sp>
      <p:sp>
        <p:nvSpPr>
          <p:cNvPr id="125" name="Text Box 412"/>
          <p:cNvSpPr txBox="1">
            <a:spLocks noChangeArrowheads="1"/>
          </p:cNvSpPr>
          <p:nvPr/>
        </p:nvSpPr>
        <p:spPr bwMode="auto">
          <a:xfrm>
            <a:off x="3540324" y="4954064"/>
            <a:ext cx="1190625" cy="646331"/>
          </a:xfrm>
          <a:prstGeom prst="rect">
            <a:avLst/>
          </a:prstGeom>
          <a:noFill/>
          <a:ln w="9525">
            <a:noFill/>
            <a:miter lim="800000"/>
            <a:headEnd/>
            <a:tailEnd/>
          </a:ln>
          <a:effectLst/>
        </p:spPr>
        <p:txBody>
          <a:bodyPr wrap="square">
            <a:spAutoFit/>
          </a:bodyPr>
          <a:lstStyle/>
          <a:p>
            <a:pPr algn="r" defTabSz="554492"/>
            <a:r>
              <a:rPr lang="en-US" sz="1200">
                <a:solidFill>
                  <a:prstClr val="black"/>
                </a:solidFill>
                <a:latin typeface="Georgia" panose="02040502050405020303" pitchFamily="18" charset="0"/>
                <a:ea typeface="Calibri"/>
                <a:cs typeface="Calibri"/>
              </a:rPr>
              <a:t>(10) Estate</a:t>
            </a:r>
          </a:p>
          <a:p>
            <a:pPr algn="r" defTabSz="554492"/>
            <a:r>
              <a:rPr lang="en-US" sz="1200">
                <a:solidFill>
                  <a:prstClr val="black"/>
                </a:solidFill>
                <a:latin typeface="Georgia" panose="02040502050405020303" pitchFamily="18" charset="0"/>
                <a:ea typeface="Calibri"/>
                <a:cs typeface="Calibri"/>
              </a:rPr>
              <a:t>Taxes</a:t>
            </a:r>
          </a:p>
          <a:p>
            <a:pPr algn="r" defTabSz="554492"/>
            <a:r>
              <a:rPr lang="en-US" sz="1200">
                <a:solidFill>
                  <a:prstClr val="black"/>
                </a:solidFill>
                <a:latin typeface="Georgia" panose="02040502050405020303" pitchFamily="18" charset="0"/>
                <a:ea typeface="Calibri"/>
                <a:cs typeface="Calibri"/>
              </a:rPr>
              <a:t>$8,088,000</a:t>
            </a:r>
            <a:endParaRPr lang="en-US" sz="1200">
              <a:solidFill>
                <a:srgbClr val="A8332F"/>
              </a:solidFill>
              <a:latin typeface="Georgia" panose="02040502050405020303" pitchFamily="18" charset="0"/>
              <a:ea typeface="Calibri"/>
              <a:cs typeface="Calibri"/>
            </a:endParaRPr>
          </a:p>
        </p:txBody>
      </p:sp>
      <p:sp>
        <p:nvSpPr>
          <p:cNvPr id="126" name="Line 457"/>
          <p:cNvSpPr>
            <a:spLocks noChangeShapeType="1"/>
          </p:cNvSpPr>
          <p:nvPr/>
        </p:nvSpPr>
        <p:spPr bwMode="auto">
          <a:xfrm>
            <a:off x="5572792" y="5011779"/>
            <a:ext cx="0" cy="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137" name="B"/>
          <p:cNvSpPr>
            <a:spLocks noChangeArrowheads="1"/>
          </p:cNvSpPr>
          <p:nvPr/>
        </p:nvSpPr>
        <p:spPr bwMode="auto">
          <a:xfrm>
            <a:off x="3526750" y="3832422"/>
            <a:ext cx="1222075" cy="874378"/>
          </a:xfrm>
          <a:prstGeom prst="rect">
            <a:avLst/>
          </a:prstGeom>
          <a:solidFill>
            <a:srgbClr val="C9A84C"/>
          </a:solidFill>
          <a:ln w="9525">
            <a:noFill/>
            <a:miter lim="800000"/>
            <a:headEnd/>
            <a:tailEnd/>
          </a:ln>
          <a:effectLst/>
        </p:spPr>
        <p:txBody>
          <a:bodyPr wrap="none" anchor="ctr"/>
          <a:lstStyle/>
          <a:p>
            <a:pPr defTabSz="554492"/>
            <a:endParaRPr lang="en-US">
              <a:solidFill>
                <a:prstClr val="black"/>
              </a:solidFill>
              <a:latin typeface="Georgia" panose="02040502050405020303" pitchFamily="18" charset="0"/>
              <a:ea typeface="Calibri"/>
              <a:cs typeface="Calibri"/>
            </a:endParaRPr>
          </a:p>
        </p:txBody>
      </p:sp>
      <p:sp>
        <p:nvSpPr>
          <p:cNvPr id="139" name="Text Box 343"/>
          <p:cNvSpPr txBox="1">
            <a:spLocks noChangeArrowheads="1"/>
          </p:cNvSpPr>
          <p:nvPr/>
        </p:nvSpPr>
        <p:spPr bwMode="auto">
          <a:xfrm>
            <a:off x="3411160" y="4016632"/>
            <a:ext cx="1422184" cy="523220"/>
          </a:xfrm>
          <a:prstGeom prst="rect">
            <a:avLst/>
          </a:prstGeom>
          <a:noFill/>
          <a:ln w="9525">
            <a:noFill/>
            <a:miter lim="800000"/>
            <a:headEnd/>
            <a:tailEnd/>
          </a:ln>
          <a:effectLst/>
        </p:spPr>
        <p:txBody>
          <a:bodyPr wrap="none">
            <a:spAutoFit/>
          </a:bodyPr>
          <a:lstStyle/>
          <a:p>
            <a:pPr algn="ctr" defTabSz="554492"/>
            <a:r>
              <a:rPr lang="en-US" sz="1400" b="1">
                <a:solidFill>
                  <a:prstClr val="white"/>
                </a:solidFill>
                <a:latin typeface="Georgia" panose="02040502050405020303" pitchFamily="18" charset="0"/>
                <a:ea typeface="Calibri"/>
                <a:cs typeface="Calibri"/>
              </a:rPr>
              <a:t>Marital Trust</a:t>
            </a:r>
          </a:p>
          <a:p>
            <a:pPr algn="ctr" defTabSz="554492"/>
            <a:r>
              <a:rPr lang="en-US" sz="1400" b="1">
                <a:solidFill>
                  <a:prstClr val="white"/>
                </a:solidFill>
                <a:latin typeface="Georgia" panose="02040502050405020303" pitchFamily="18" charset="0"/>
                <a:ea typeface="Calibri"/>
                <a:cs typeface="Calibri"/>
              </a:rPr>
              <a:t>$20,219,000</a:t>
            </a:r>
          </a:p>
        </p:txBody>
      </p:sp>
      <p:sp>
        <p:nvSpPr>
          <p:cNvPr id="143" name="Text Box 414"/>
          <p:cNvSpPr txBox="1">
            <a:spLocks noChangeArrowheads="1"/>
          </p:cNvSpPr>
          <p:nvPr/>
        </p:nvSpPr>
        <p:spPr bwMode="auto">
          <a:xfrm>
            <a:off x="1443198" y="4969847"/>
            <a:ext cx="1119976" cy="646331"/>
          </a:xfrm>
          <a:prstGeom prst="rect">
            <a:avLst/>
          </a:prstGeom>
          <a:noFill/>
          <a:ln w="9525">
            <a:noFill/>
            <a:miter lim="800000"/>
            <a:headEnd/>
            <a:tailEnd/>
          </a:ln>
          <a:effectLst/>
        </p:spPr>
        <p:txBody>
          <a:bodyPr wrap="square">
            <a:spAutoFit/>
          </a:bodyPr>
          <a:lstStyle/>
          <a:p>
            <a:pPr algn="r" defTabSz="554492"/>
            <a:r>
              <a:rPr lang="en-US" sz="1200">
                <a:solidFill>
                  <a:prstClr val="black"/>
                </a:solidFill>
                <a:latin typeface="Georgia" panose="02040502050405020303" pitchFamily="18" charset="0"/>
                <a:ea typeface="Calibri"/>
                <a:cs typeface="Calibri"/>
              </a:rPr>
              <a:t>(9)Estate Taxes </a:t>
            </a:r>
          </a:p>
          <a:p>
            <a:pPr algn="r" defTabSz="554492"/>
            <a:r>
              <a:rPr lang="en-US" sz="1200">
                <a:solidFill>
                  <a:prstClr val="black"/>
                </a:solidFill>
                <a:latin typeface="Georgia" panose="02040502050405020303" pitchFamily="18" charset="0"/>
                <a:ea typeface="Calibri"/>
                <a:cs typeface="Calibri"/>
              </a:rPr>
              <a:t>$14,271,000 </a:t>
            </a:r>
          </a:p>
        </p:txBody>
      </p:sp>
      <p:sp>
        <p:nvSpPr>
          <p:cNvPr id="146" name="B"/>
          <p:cNvSpPr>
            <a:spLocks noChangeArrowheads="1"/>
          </p:cNvSpPr>
          <p:nvPr/>
        </p:nvSpPr>
        <p:spPr bwMode="auto">
          <a:xfrm>
            <a:off x="3502001" y="2835015"/>
            <a:ext cx="1222075" cy="874378"/>
          </a:xfrm>
          <a:prstGeom prst="rect">
            <a:avLst/>
          </a:prstGeom>
          <a:solidFill>
            <a:srgbClr val="C9A84C"/>
          </a:solidFill>
          <a:ln w="9525">
            <a:noFill/>
            <a:miter lim="800000"/>
            <a:headEnd/>
            <a:tailEnd/>
          </a:ln>
          <a:effectLst/>
        </p:spPr>
        <p:txBody>
          <a:bodyPr wrap="none" anchor="ctr"/>
          <a:lstStyle/>
          <a:p>
            <a:pPr defTabSz="554492"/>
            <a:endParaRPr lang="en-US">
              <a:solidFill>
                <a:prstClr val="black"/>
              </a:solidFill>
              <a:latin typeface="Georgia" panose="02040502050405020303" pitchFamily="18" charset="0"/>
              <a:ea typeface="Calibri"/>
              <a:cs typeface="Calibri"/>
            </a:endParaRPr>
          </a:p>
        </p:txBody>
      </p:sp>
      <p:sp>
        <p:nvSpPr>
          <p:cNvPr id="148" name="Text Box 343"/>
          <p:cNvSpPr txBox="1">
            <a:spLocks noChangeArrowheads="1"/>
          </p:cNvSpPr>
          <p:nvPr/>
        </p:nvSpPr>
        <p:spPr bwMode="auto">
          <a:xfrm>
            <a:off x="3434515" y="2892071"/>
            <a:ext cx="1356462" cy="738664"/>
          </a:xfrm>
          <a:prstGeom prst="rect">
            <a:avLst/>
          </a:prstGeom>
          <a:noFill/>
          <a:ln w="9525">
            <a:noFill/>
            <a:miter lim="800000"/>
            <a:headEnd/>
            <a:tailEnd/>
          </a:ln>
          <a:effectLst/>
        </p:spPr>
        <p:txBody>
          <a:bodyPr wrap="none">
            <a:spAutoFit/>
          </a:bodyPr>
          <a:lstStyle/>
          <a:p>
            <a:pPr algn="ctr" defTabSz="554492"/>
            <a:r>
              <a:rPr lang="en-US" sz="1400" b="1">
                <a:solidFill>
                  <a:prstClr val="white"/>
                </a:solidFill>
                <a:latin typeface="Georgia" panose="02040502050405020303" pitchFamily="18" charset="0"/>
                <a:ea typeface="Calibri"/>
                <a:cs typeface="Calibri"/>
              </a:rPr>
              <a:t>Survivor’s</a:t>
            </a:r>
          </a:p>
          <a:p>
            <a:pPr algn="ctr" defTabSz="554492"/>
            <a:r>
              <a:rPr lang="en-US" sz="1400" b="1">
                <a:solidFill>
                  <a:prstClr val="white"/>
                </a:solidFill>
                <a:latin typeface="Georgia" panose="02040502050405020303" pitchFamily="18" charset="0"/>
                <a:ea typeface="Calibri"/>
                <a:cs typeface="Calibri"/>
              </a:rPr>
              <a:t>Trust</a:t>
            </a:r>
          </a:p>
          <a:p>
            <a:pPr algn="ctr" defTabSz="554492"/>
            <a:r>
              <a:rPr lang="en-US" sz="1400" b="1">
                <a:solidFill>
                  <a:prstClr val="white"/>
                </a:solidFill>
                <a:latin typeface="Georgia" panose="02040502050405020303" pitchFamily="18" charset="0"/>
                <a:ea typeface="Calibri"/>
                <a:cs typeface="Calibri"/>
              </a:rPr>
              <a:t>$37,346,000</a:t>
            </a:r>
          </a:p>
        </p:txBody>
      </p:sp>
      <p:grpSp>
        <p:nvGrpSpPr>
          <p:cNvPr id="2" name="Group 334">
            <a:extLst>
              <a:ext uri="{FF2B5EF4-FFF2-40B4-BE49-F238E27FC236}">
                <a16:creationId xmlns:a16="http://schemas.microsoft.com/office/drawing/2014/main" id="{65145700-5271-AAAA-458B-B188E45FE2B2}"/>
              </a:ext>
            </a:extLst>
          </p:cNvPr>
          <p:cNvGrpSpPr>
            <a:grpSpLocks/>
          </p:cNvGrpSpPr>
          <p:nvPr/>
        </p:nvGrpSpPr>
        <p:grpSpPr bwMode="auto">
          <a:xfrm>
            <a:off x="6409618" y="5588617"/>
            <a:ext cx="1223603" cy="874378"/>
            <a:chOff x="3480" y="1976"/>
            <a:chExt cx="801" cy="560"/>
          </a:xfrm>
          <a:solidFill>
            <a:srgbClr val="C9A84C"/>
          </a:solidFill>
        </p:grpSpPr>
        <p:sp>
          <p:nvSpPr>
            <p:cNvPr id="3" name="B">
              <a:extLst>
                <a:ext uri="{FF2B5EF4-FFF2-40B4-BE49-F238E27FC236}">
                  <a16:creationId xmlns:a16="http://schemas.microsoft.com/office/drawing/2014/main" id="{7785427B-8DAB-B35D-2A79-2E97E6B3313F}"/>
                </a:ext>
              </a:extLst>
            </p:cNvPr>
            <p:cNvSpPr>
              <a:spLocks noChangeArrowheads="1"/>
            </p:cNvSpPr>
            <p:nvPr/>
          </p:nvSpPr>
          <p:spPr bwMode="auto">
            <a:xfrm>
              <a:off x="3480" y="1976"/>
              <a:ext cx="800" cy="560"/>
            </a:xfrm>
            <a:prstGeom prst="rect">
              <a:avLst/>
            </a:prstGeom>
            <a:grpFill/>
            <a:ln w="9525">
              <a:noFill/>
              <a:miter lim="800000"/>
              <a:headEnd/>
              <a:tailEnd/>
            </a:ln>
            <a:effectLst/>
          </p:spPr>
          <p:txBody>
            <a:bodyPr wrap="none" anchor="ctr"/>
            <a:lstStyle/>
            <a:p>
              <a:pPr defTabSz="554492"/>
              <a:endParaRPr lang="en-US">
                <a:solidFill>
                  <a:prstClr val="black"/>
                </a:solidFill>
                <a:latin typeface="Georgia" panose="02040502050405020303" pitchFamily="18" charset="0"/>
                <a:ea typeface="Calibri"/>
                <a:cs typeface="Calibri"/>
              </a:endParaRPr>
            </a:p>
          </p:txBody>
        </p:sp>
        <p:sp>
          <p:nvSpPr>
            <p:cNvPr id="4" name="BT">
              <a:extLst>
                <a:ext uri="{FF2B5EF4-FFF2-40B4-BE49-F238E27FC236}">
                  <a16:creationId xmlns:a16="http://schemas.microsoft.com/office/drawing/2014/main" id="{ACE21054-3DC2-C8F0-0201-1B5DFC1A4738}"/>
                </a:ext>
              </a:extLst>
            </p:cNvPr>
            <p:cNvSpPr txBox="1">
              <a:spLocks noChangeArrowheads="1"/>
            </p:cNvSpPr>
            <p:nvPr/>
          </p:nvSpPr>
          <p:spPr bwMode="auto">
            <a:xfrm>
              <a:off x="4021" y="2055"/>
              <a:ext cx="260" cy="197"/>
            </a:xfrm>
            <a:prstGeom prst="rect">
              <a:avLst/>
            </a:prstGeom>
            <a:grpFill/>
            <a:ln w="9525">
              <a:noFill/>
              <a:miter lim="800000"/>
              <a:headEnd/>
              <a:tailEnd/>
            </a:ln>
            <a:effectLst/>
          </p:spPr>
          <p:txBody>
            <a:bodyPr>
              <a:spAutoFit/>
            </a:bodyPr>
            <a:lstStyle/>
            <a:p>
              <a:pPr algn="ctr" defTabSz="554492"/>
              <a:endParaRPr lang="en-US" sz="1400" b="1">
                <a:solidFill>
                  <a:prstClr val="black"/>
                </a:solidFill>
                <a:latin typeface="Georgia" panose="02040502050405020303" pitchFamily="18" charset="0"/>
                <a:ea typeface="Calibri"/>
                <a:cs typeface="Calibri"/>
              </a:endParaRPr>
            </a:p>
          </p:txBody>
        </p:sp>
      </p:grpSp>
      <p:sp>
        <p:nvSpPr>
          <p:cNvPr id="5" name="Text Box 343">
            <a:extLst>
              <a:ext uri="{FF2B5EF4-FFF2-40B4-BE49-F238E27FC236}">
                <a16:creationId xmlns:a16="http://schemas.microsoft.com/office/drawing/2014/main" id="{CCD36AF3-B98B-C25A-DABA-081F97347F25}"/>
              </a:ext>
            </a:extLst>
          </p:cNvPr>
          <p:cNvSpPr txBox="1">
            <a:spLocks noChangeArrowheads="1"/>
          </p:cNvSpPr>
          <p:nvPr/>
        </p:nvSpPr>
        <p:spPr bwMode="auto">
          <a:xfrm>
            <a:off x="6357218" y="5650530"/>
            <a:ext cx="1321193" cy="954107"/>
          </a:xfrm>
          <a:prstGeom prst="rect">
            <a:avLst/>
          </a:prstGeom>
          <a:noFill/>
          <a:ln w="9525">
            <a:noFill/>
            <a:miter lim="800000"/>
            <a:headEnd/>
            <a:tailEnd/>
          </a:ln>
          <a:effectLst/>
        </p:spPr>
        <p:txBody>
          <a:bodyPr wrap="square">
            <a:spAutoFit/>
          </a:bodyPr>
          <a:lstStyle/>
          <a:p>
            <a:pPr algn="ctr" defTabSz="554492"/>
            <a:r>
              <a:rPr lang="en-US" sz="1400" b="1">
                <a:solidFill>
                  <a:prstClr val="white"/>
                </a:solidFill>
                <a:latin typeface="Georgia" panose="02040502050405020303" pitchFamily="18" charset="0"/>
                <a:ea typeface="Calibri"/>
                <a:cs typeface="Calibri"/>
              </a:rPr>
              <a:t>Children’s Trusts</a:t>
            </a:r>
          </a:p>
          <a:p>
            <a:pPr algn="ctr" defTabSz="554492"/>
            <a:r>
              <a:rPr lang="en-US" sz="1400" b="1">
                <a:solidFill>
                  <a:prstClr val="white"/>
                </a:solidFill>
                <a:latin typeface="Georgia" panose="02040502050405020303" pitchFamily="18" charset="0"/>
                <a:ea typeface="Calibri"/>
                <a:cs typeface="Calibri"/>
              </a:rPr>
              <a:t>$59,823,000</a:t>
            </a:r>
          </a:p>
        </p:txBody>
      </p:sp>
      <p:sp>
        <p:nvSpPr>
          <p:cNvPr id="7" name="Line 357">
            <a:extLst>
              <a:ext uri="{FF2B5EF4-FFF2-40B4-BE49-F238E27FC236}">
                <a16:creationId xmlns:a16="http://schemas.microsoft.com/office/drawing/2014/main" id="{63A46602-9FA7-0AA1-2B0B-FE662D092F3B}"/>
              </a:ext>
            </a:extLst>
          </p:cNvPr>
          <p:cNvSpPr>
            <a:spLocks noChangeShapeType="1"/>
          </p:cNvSpPr>
          <p:nvPr/>
        </p:nvSpPr>
        <p:spPr bwMode="auto">
          <a:xfrm>
            <a:off x="9094823" y="1040271"/>
            <a:ext cx="0" cy="2788920"/>
          </a:xfrm>
          <a:prstGeom prst="line">
            <a:avLst/>
          </a:prstGeom>
          <a:noFill/>
          <a:ln w="9525">
            <a:solidFill>
              <a:schemeClr val="tx1"/>
            </a:solidFill>
            <a:round/>
            <a:headEnd type="none"/>
            <a:tailEnd type="triangle"/>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10" name="Line 346">
            <a:extLst>
              <a:ext uri="{FF2B5EF4-FFF2-40B4-BE49-F238E27FC236}">
                <a16:creationId xmlns:a16="http://schemas.microsoft.com/office/drawing/2014/main" id="{FB2A688D-B6FB-070C-8B0A-B33D8A1588DA}"/>
              </a:ext>
            </a:extLst>
          </p:cNvPr>
          <p:cNvSpPr>
            <a:spLocks noChangeShapeType="1"/>
          </p:cNvSpPr>
          <p:nvPr/>
        </p:nvSpPr>
        <p:spPr bwMode="auto">
          <a:xfrm>
            <a:off x="4093636" y="1670613"/>
            <a:ext cx="0" cy="1143000"/>
          </a:xfrm>
          <a:prstGeom prst="line">
            <a:avLst/>
          </a:prstGeom>
          <a:noFill/>
          <a:ln w="9525">
            <a:solidFill>
              <a:schemeClr val="tx1"/>
            </a:solidFill>
            <a:round/>
            <a:headEnd/>
            <a:tailEnd type="triangle" w="med" len="me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11" name="Line 459">
            <a:extLst>
              <a:ext uri="{FF2B5EF4-FFF2-40B4-BE49-F238E27FC236}">
                <a16:creationId xmlns:a16="http://schemas.microsoft.com/office/drawing/2014/main" id="{1541DB62-AFF2-82CC-F5C7-2C080AA76CD2}"/>
              </a:ext>
            </a:extLst>
          </p:cNvPr>
          <p:cNvSpPr>
            <a:spLocks noChangeShapeType="1"/>
          </p:cNvSpPr>
          <p:nvPr/>
        </p:nvSpPr>
        <p:spPr bwMode="auto">
          <a:xfrm>
            <a:off x="3123033" y="1044799"/>
            <a:ext cx="0" cy="292608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12" name="Line 384">
            <a:extLst>
              <a:ext uri="{FF2B5EF4-FFF2-40B4-BE49-F238E27FC236}">
                <a16:creationId xmlns:a16="http://schemas.microsoft.com/office/drawing/2014/main" id="{16C41EB8-B77E-C90E-BA41-7E770BF90C06}"/>
              </a:ext>
            </a:extLst>
          </p:cNvPr>
          <p:cNvSpPr>
            <a:spLocks noChangeShapeType="1"/>
          </p:cNvSpPr>
          <p:nvPr/>
        </p:nvSpPr>
        <p:spPr bwMode="auto">
          <a:xfrm>
            <a:off x="3117939" y="3976156"/>
            <a:ext cx="411480" cy="0"/>
          </a:xfrm>
          <a:prstGeom prst="line">
            <a:avLst/>
          </a:prstGeom>
          <a:noFill/>
          <a:ln w="9525">
            <a:solidFill>
              <a:schemeClr val="tx1"/>
            </a:solidFill>
            <a:round/>
            <a:headEnd/>
            <a:tailEnd type="triangle" w="med" len="me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17" name="Line 364">
            <a:extLst>
              <a:ext uri="{FF2B5EF4-FFF2-40B4-BE49-F238E27FC236}">
                <a16:creationId xmlns:a16="http://schemas.microsoft.com/office/drawing/2014/main" id="{C7F41AEF-6B8F-32F6-855C-2DB46B2316F9}"/>
              </a:ext>
            </a:extLst>
          </p:cNvPr>
          <p:cNvSpPr>
            <a:spLocks noChangeShapeType="1"/>
          </p:cNvSpPr>
          <p:nvPr/>
        </p:nvSpPr>
        <p:spPr bwMode="auto">
          <a:xfrm rot="5400000">
            <a:off x="5089387" y="4991940"/>
            <a:ext cx="0" cy="3328416"/>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18" name="Line 384">
            <a:extLst>
              <a:ext uri="{FF2B5EF4-FFF2-40B4-BE49-F238E27FC236}">
                <a16:creationId xmlns:a16="http://schemas.microsoft.com/office/drawing/2014/main" id="{266FC14C-F6F2-64BF-61B1-2D3D982972E8}"/>
              </a:ext>
            </a:extLst>
          </p:cNvPr>
          <p:cNvSpPr>
            <a:spLocks noChangeShapeType="1"/>
          </p:cNvSpPr>
          <p:nvPr/>
        </p:nvSpPr>
        <p:spPr bwMode="auto">
          <a:xfrm rot="16200000">
            <a:off x="6662155" y="6564708"/>
            <a:ext cx="182880" cy="0"/>
          </a:xfrm>
          <a:prstGeom prst="line">
            <a:avLst/>
          </a:prstGeom>
          <a:noFill/>
          <a:ln w="9525">
            <a:solidFill>
              <a:schemeClr val="tx1"/>
            </a:solidFill>
            <a:round/>
            <a:headEnd/>
            <a:tailEnd type="triangle" w="med" len="me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23" name="Line 364">
            <a:extLst>
              <a:ext uri="{FF2B5EF4-FFF2-40B4-BE49-F238E27FC236}">
                <a16:creationId xmlns:a16="http://schemas.microsoft.com/office/drawing/2014/main" id="{C5725771-1B26-EA5E-5AA1-FFF2349DFE6B}"/>
              </a:ext>
            </a:extLst>
          </p:cNvPr>
          <p:cNvSpPr>
            <a:spLocks noChangeShapeType="1"/>
          </p:cNvSpPr>
          <p:nvPr/>
        </p:nvSpPr>
        <p:spPr bwMode="auto">
          <a:xfrm rot="10800000">
            <a:off x="6087918" y="3642421"/>
            <a:ext cx="0" cy="237744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defTabSz="554492"/>
            <a:endParaRPr lang="en-US">
              <a:solidFill>
                <a:prstClr val="black"/>
              </a:solidFill>
              <a:latin typeface="Georgia" panose="02040502050405020303" pitchFamily="18" charset="0"/>
              <a:ea typeface="Calibri"/>
              <a:cs typeface="Calibri"/>
            </a:endParaRPr>
          </a:p>
        </p:txBody>
      </p:sp>
      <p:sp>
        <p:nvSpPr>
          <p:cNvPr id="24" name="Line 357">
            <a:extLst>
              <a:ext uri="{FF2B5EF4-FFF2-40B4-BE49-F238E27FC236}">
                <a16:creationId xmlns:a16="http://schemas.microsoft.com/office/drawing/2014/main" id="{71D0D7D3-58E3-20FD-2FBE-64272BC158FC}"/>
              </a:ext>
            </a:extLst>
          </p:cNvPr>
          <p:cNvSpPr>
            <a:spLocks noChangeShapeType="1"/>
          </p:cNvSpPr>
          <p:nvPr/>
        </p:nvSpPr>
        <p:spPr bwMode="auto">
          <a:xfrm rot="16200000">
            <a:off x="6258919" y="5868986"/>
            <a:ext cx="0" cy="301752"/>
          </a:xfrm>
          <a:prstGeom prst="line">
            <a:avLst/>
          </a:prstGeom>
          <a:noFill/>
          <a:ln w="9525">
            <a:solidFill>
              <a:schemeClr val="tx1"/>
            </a:solidFill>
            <a:prstDash val="dash"/>
            <a:round/>
            <a:headEnd type="none"/>
            <a:tailEnd type="triangle"/>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26" name="Line 364">
            <a:extLst>
              <a:ext uri="{FF2B5EF4-FFF2-40B4-BE49-F238E27FC236}">
                <a16:creationId xmlns:a16="http://schemas.microsoft.com/office/drawing/2014/main" id="{DF3027D5-1F21-4EE2-0143-7D7250B188A1}"/>
              </a:ext>
            </a:extLst>
          </p:cNvPr>
          <p:cNvSpPr>
            <a:spLocks noChangeShapeType="1"/>
          </p:cNvSpPr>
          <p:nvPr/>
        </p:nvSpPr>
        <p:spPr bwMode="auto">
          <a:xfrm rot="10800000">
            <a:off x="2517842" y="3308708"/>
            <a:ext cx="0" cy="27432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defTabSz="554492"/>
            <a:endParaRPr lang="en-US">
              <a:solidFill>
                <a:prstClr val="black"/>
              </a:solidFill>
              <a:latin typeface="Georgia" panose="02040502050405020303" pitchFamily="18" charset="0"/>
              <a:ea typeface="Calibri"/>
              <a:cs typeface="Calibri"/>
            </a:endParaRPr>
          </a:p>
        </p:txBody>
      </p:sp>
      <p:sp>
        <p:nvSpPr>
          <p:cNvPr id="27" name="Line 357">
            <a:extLst>
              <a:ext uri="{FF2B5EF4-FFF2-40B4-BE49-F238E27FC236}">
                <a16:creationId xmlns:a16="http://schemas.microsoft.com/office/drawing/2014/main" id="{ECB8CB8B-66D9-F268-BA6E-BC4A2C2F896E}"/>
              </a:ext>
            </a:extLst>
          </p:cNvPr>
          <p:cNvSpPr>
            <a:spLocks noChangeShapeType="1"/>
          </p:cNvSpPr>
          <p:nvPr/>
        </p:nvSpPr>
        <p:spPr bwMode="auto">
          <a:xfrm rot="16200000">
            <a:off x="3034987" y="5566309"/>
            <a:ext cx="0" cy="996696"/>
          </a:xfrm>
          <a:prstGeom prst="line">
            <a:avLst/>
          </a:prstGeom>
          <a:noFill/>
          <a:ln w="9525">
            <a:solidFill>
              <a:schemeClr val="tx1"/>
            </a:solidFill>
            <a:prstDash val="dash"/>
            <a:round/>
            <a:headEnd type="none"/>
            <a:tailEnd type="triangle"/>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29" name="Line 346">
            <a:extLst>
              <a:ext uri="{FF2B5EF4-FFF2-40B4-BE49-F238E27FC236}">
                <a16:creationId xmlns:a16="http://schemas.microsoft.com/office/drawing/2014/main" id="{F30F0AFD-7D15-7E75-B47B-A22DB6B78464}"/>
              </a:ext>
            </a:extLst>
          </p:cNvPr>
          <p:cNvSpPr>
            <a:spLocks noChangeShapeType="1"/>
          </p:cNvSpPr>
          <p:nvPr/>
        </p:nvSpPr>
        <p:spPr bwMode="auto">
          <a:xfrm>
            <a:off x="6581435" y="3275549"/>
            <a:ext cx="0" cy="557784"/>
          </a:xfrm>
          <a:prstGeom prst="line">
            <a:avLst/>
          </a:prstGeom>
          <a:noFill/>
          <a:ln w="9525">
            <a:solidFill>
              <a:schemeClr val="tx1"/>
            </a:solidFill>
            <a:round/>
            <a:headEnd/>
            <a:tailEnd type="triangle" w="med" len="me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31" name="Line 459">
            <a:extLst>
              <a:ext uri="{FF2B5EF4-FFF2-40B4-BE49-F238E27FC236}">
                <a16:creationId xmlns:a16="http://schemas.microsoft.com/office/drawing/2014/main" id="{396F5F5C-3E83-A337-2EB6-FCAD26D50762}"/>
              </a:ext>
            </a:extLst>
          </p:cNvPr>
          <p:cNvSpPr>
            <a:spLocks noChangeShapeType="1"/>
          </p:cNvSpPr>
          <p:nvPr/>
        </p:nvSpPr>
        <p:spPr bwMode="auto">
          <a:xfrm>
            <a:off x="9035121" y="5147699"/>
            <a:ext cx="0" cy="429768"/>
          </a:xfrm>
          <a:prstGeom prst="line">
            <a:avLst/>
          </a:prstGeom>
          <a:noFill/>
          <a:ln w="9525">
            <a:solidFill>
              <a:schemeClr val="tx1"/>
            </a:solidFill>
            <a:round/>
            <a:headEnd type="none"/>
            <a:tailEnd type="triangle"/>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32" name="Line 364">
            <a:extLst>
              <a:ext uri="{FF2B5EF4-FFF2-40B4-BE49-F238E27FC236}">
                <a16:creationId xmlns:a16="http://schemas.microsoft.com/office/drawing/2014/main" id="{42EA28FF-2784-8CED-6DD8-FF6BE9442847}"/>
              </a:ext>
            </a:extLst>
          </p:cNvPr>
          <p:cNvSpPr>
            <a:spLocks noChangeShapeType="1"/>
          </p:cNvSpPr>
          <p:nvPr/>
        </p:nvSpPr>
        <p:spPr bwMode="auto">
          <a:xfrm rot="5400000">
            <a:off x="8574035" y="4691640"/>
            <a:ext cx="0" cy="91440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34" name="Line 364">
            <a:extLst>
              <a:ext uri="{FF2B5EF4-FFF2-40B4-BE49-F238E27FC236}">
                <a16:creationId xmlns:a16="http://schemas.microsoft.com/office/drawing/2014/main" id="{637A0613-2CEA-95B9-3143-DE604EFBD588}"/>
              </a:ext>
            </a:extLst>
          </p:cNvPr>
          <p:cNvSpPr>
            <a:spLocks noChangeShapeType="1"/>
          </p:cNvSpPr>
          <p:nvPr/>
        </p:nvSpPr>
        <p:spPr bwMode="auto">
          <a:xfrm rot="10800000">
            <a:off x="5114926" y="4559225"/>
            <a:ext cx="0" cy="146304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pPr defTabSz="554492"/>
            <a:endParaRPr lang="en-US">
              <a:solidFill>
                <a:prstClr val="black"/>
              </a:solidFill>
              <a:latin typeface="Georgia" panose="02040502050405020303" pitchFamily="18" charset="0"/>
              <a:ea typeface="Calibri"/>
              <a:cs typeface="Calibri"/>
            </a:endParaRPr>
          </a:p>
        </p:txBody>
      </p:sp>
      <p:sp>
        <p:nvSpPr>
          <p:cNvPr id="35" name="Line 357">
            <a:extLst>
              <a:ext uri="{FF2B5EF4-FFF2-40B4-BE49-F238E27FC236}">
                <a16:creationId xmlns:a16="http://schemas.microsoft.com/office/drawing/2014/main" id="{7DDB420B-C995-4EBA-1BCC-B31CD258BFFA}"/>
              </a:ext>
            </a:extLst>
          </p:cNvPr>
          <p:cNvSpPr>
            <a:spLocks noChangeShapeType="1"/>
          </p:cNvSpPr>
          <p:nvPr/>
        </p:nvSpPr>
        <p:spPr bwMode="auto">
          <a:xfrm rot="5400000">
            <a:off x="4943089" y="5866805"/>
            <a:ext cx="0" cy="347472"/>
          </a:xfrm>
          <a:prstGeom prst="line">
            <a:avLst/>
          </a:prstGeom>
          <a:noFill/>
          <a:ln w="9525">
            <a:solidFill>
              <a:schemeClr val="tx1"/>
            </a:solidFill>
            <a:prstDash val="dash"/>
            <a:round/>
            <a:headEnd type="none"/>
            <a:tailEnd type="triangle"/>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38" name="Line 459">
            <a:extLst>
              <a:ext uri="{FF2B5EF4-FFF2-40B4-BE49-F238E27FC236}">
                <a16:creationId xmlns:a16="http://schemas.microsoft.com/office/drawing/2014/main" id="{B19F929B-76D1-78CA-A822-BCFCDDA4F2FE}"/>
              </a:ext>
            </a:extLst>
          </p:cNvPr>
          <p:cNvSpPr>
            <a:spLocks noChangeShapeType="1"/>
          </p:cNvSpPr>
          <p:nvPr/>
        </p:nvSpPr>
        <p:spPr bwMode="auto">
          <a:xfrm>
            <a:off x="10184459" y="4158696"/>
            <a:ext cx="0" cy="2478024"/>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39" name="Line 364">
            <a:extLst>
              <a:ext uri="{FF2B5EF4-FFF2-40B4-BE49-F238E27FC236}">
                <a16:creationId xmlns:a16="http://schemas.microsoft.com/office/drawing/2014/main" id="{61B6958E-27FC-170C-1E2B-1731AA64D9EB}"/>
              </a:ext>
            </a:extLst>
          </p:cNvPr>
          <p:cNvSpPr>
            <a:spLocks noChangeShapeType="1"/>
          </p:cNvSpPr>
          <p:nvPr/>
        </p:nvSpPr>
        <p:spPr bwMode="auto">
          <a:xfrm rot="5400000">
            <a:off x="8707703" y="5169120"/>
            <a:ext cx="0" cy="2953512"/>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40" name="Line 384">
            <a:extLst>
              <a:ext uri="{FF2B5EF4-FFF2-40B4-BE49-F238E27FC236}">
                <a16:creationId xmlns:a16="http://schemas.microsoft.com/office/drawing/2014/main" id="{12A914A7-26E1-432E-1169-60DC1B4C6C9A}"/>
              </a:ext>
            </a:extLst>
          </p:cNvPr>
          <p:cNvSpPr>
            <a:spLocks noChangeShapeType="1"/>
          </p:cNvSpPr>
          <p:nvPr/>
        </p:nvSpPr>
        <p:spPr bwMode="auto">
          <a:xfrm rot="16200000">
            <a:off x="7135529" y="6554436"/>
            <a:ext cx="182880" cy="0"/>
          </a:xfrm>
          <a:prstGeom prst="line">
            <a:avLst/>
          </a:prstGeom>
          <a:noFill/>
          <a:ln w="9525">
            <a:solidFill>
              <a:schemeClr val="tx1"/>
            </a:solidFill>
            <a:round/>
            <a:headEnd/>
            <a:tailEnd type="triangle" w="med" len="me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41" name="Text Box 414">
            <a:extLst>
              <a:ext uri="{FF2B5EF4-FFF2-40B4-BE49-F238E27FC236}">
                <a16:creationId xmlns:a16="http://schemas.microsoft.com/office/drawing/2014/main" id="{1AE7EC66-E31B-9BFE-93AB-86C4A740AD6E}"/>
              </a:ext>
            </a:extLst>
          </p:cNvPr>
          <p:cNvSpPr txBox="1">
            <a:spLocks noChangeArrowheads="1"/>
          </p:cNvSpPr>
          <p:nvPr/>
        </p:nvSpPr>
        <p:spPr bwMode="auto">
          <a:xfrm>
            <a:off x="2353819" y="4959579"/>
            <a:ext cx="1119976" cy="646331"/>
          </a:xfrm>
          <a:prstGeom prst="rect">
            <a:avLst/>
          </a:prstGeom>
          <a:noFill/>
          <a:ln w="9525">
            <a:noFill/>
            <a:miter lim="800000"/>
            <a:headEnd/>
            <a:tailEnd/>
          </a:ln>
          <a:effectLst/>
        </p:spPr>
        <p:txBody>
          <a:bodyPr wrap="square">
            <a:spAutoFit/>
          </a:bodyPr>
          <a:lstStyle/>
          <a:p>
            <a:pPr algn="r" defTabSz="554492"/>
            <a:r>
              <a:rPr lang="en-US" sz="1200">
                <a:solidFill>
                  <a:prstClr val="black"/>
                </a:solidFill>
                <a:latin typeface="Georgia" panose="02040502050405020303" pitchFamily="18" charset="0"/>
                <a:ea typeface="Calibri"/>
                <a:cs typeface="Calibri"/>
              </a:rPr>
              <a:t>(15)Assets</a:t>
            </a:r>
          </a:p>
          <a:p>
            <a:pPr algn="r" defTabSz="554492"/>
            <a:r>
              <a:rPr lang="en-US" sz="1200">
                <a:solidFill>
                  <a:prstClr val="black"/>
                </a:solidFill>
                <a:latin typeface="Georgia" panose="02040502050405020303" pitchFamily="18" charset="0"/>
                <a:ea typeface="Calibri"/>
                <a:cs typeface="Calibri"/>
              </a:rPr>
              <a:t>to Trust </a:t>
            </a:r>
          </a:p>
          <a:p>
            <a:pPr algn="r" defTabSz="554492"/>
            <a:r>
              <a:rPr lang="en-US" sz="1200">
                <a:solidFill>
                  <a:prstClr val="black"/>
                </a:solidFill>
                <a:latin typeface="Georgia" panose="02040502050405020303" pitchFamily="18" charset="0"/>
                <a:ea typeface="Calibri"/>
                <a:cs typeface="Calibri"/>
              </a:rPr>
              <a:t>$12,132,000</a:t>
            </a:r>
          </a:p>
        </p:txBody>
      </p:sp>
      <p:sp>
        <p:nvSpPr>
          <p:cNvPr id="42" name="Text Box 414">
            <a:extLst>
              <a:ext uri="{FF2B5EF4-FFF2-40B4-BE49-F238E27FC236}">
                <a16:creationId xmlns:a16="http://schemas.microsoft.com/office/drawing/2014/main" id="{58AF1318-A2A1-5C26-DD31-76E77BAA1B08}"/>
              </a:ext>
            </a:extLst>
          </p:cNvPr>
          <p:cNvSpPr txBox="1">
            <a:spLocks noChangeArrowheads="1"/>
          </p:cNvSpPr>
          <p:nvPr/>
        </p:nvSpPr>
        <p:spPr bwMode="auto">
          <a:xfrm>
            <a:off x="6055442" y="4941256"/>
            <a:ext cx="1190625" cy="646331"/>
          </a:xfrm>
          <a:prstGeom prst="rect">
            <a:avLst/>
          </a:prstGeom>
          <a:noFill/>
          <a:ln w="9525">
            <a:noFill/>
            <a:miter lim="800000"/>
            <a:headEnd/>
            <a:tailEnd/>
          </a:ln>
          <a:effectLst/>
        </p:spPr>
        <p:txBody>
          <a:bodyPr>
            <a:spAutoFit/>
          </a:bodyPr>
          <a:lstStyle/>
          <a:p>
            <a:pPr defTabSz="554492"/>
            <a:r>
              <a:rPr lang="en-US" sz="1200">
                <a:solidFill>
                  <a:prstClr val="black"/>
                </a:solidFill>
                <a:latin typeface="Georgia" panose="02040502050405020303" pitchFamily="18" charset="0"/>
                <a:ea typeface="Calibri"/>
                <a:cs typeface="Calibri"/>
              </a:rPr>
              <a:t>(13) Assets</a:t>
            </a:r>
          </a:p>
          <a:p>
            <a:pPr defTabSz="554492"/>
            <a:r>
              <a:rPr lang="en-US" sz="1200">
                <a:solidFill>
                  <a:prstClr val="black"/>
                </a:solidFill>
                <a:latin typeface="Georgia" panose="02040502050405020303" pitchFamily="18" charset="0"/>
                <a:ea typeface="Calibri"/>
                <a:cs typeface="Calibri"/>
              </a:rPr>
              <a:t>to Trust</a:t>
            </a:r>
          </a:p>
          <a:p>
            <a:pPr defTabSz="554492"/>
            <a:r>
              <a:rPr lang="en-US" sz="1200">
                <a:solidFill>
                  <a:prstClr val="black"/>
                </a:solidFill>
                <a:latin typeface="Georgia" panose="02040502050405020303" pitchFamily="18" charset="0"/>
                <a:ea typeface="Calibri"/>
                <a:cs typeface="Calibri"/>
              </a:rPr>
              <a:t>$23,075,000</a:t>
            </a:r>
            <a:endParaRPr lang="en-US" sz="1200">
              <a:solidFill>
                <a:srgbClr val="A8332F"/>
              </a:solidFill>
              <a:latin typeface="Georgia" panose="02040502050405020303" pitchFamily="18" charset="0"/>
              <a:ea typeface="Calibri"/>
              <a:cs typeface="Calibri"/>
            </a:endParaRPr>
          </a:p>
        </p:txBody>
      </p:sp>
      <p:sp>
        <p:nvSpPr>
          <p:cNvPr id="43" name="Text Box 414">
            <a:extLst>
              <a:ext uri="{FF2B5EF4-FFF2-40B4-BE49-F238E27FC236}">
                <a16:creationId xmlns:a16="http://schemas.microsoft.com/office/drawing/2014/main" id="{ED054E4A-7DDF-8AF6-7680-2D9A02C60294}"/>
              </a:ext>
            </a:extLst>
          </p:cNvPr>
          <p:cNvSpPr txBox="1">
            <a:spLocks noChangeArrowheads="1"/>
          </p:cNvSpPr>
          <p:nvPr/>
        </p:nvSpPr>
        <p:spPr bwMode="auto">
          <a:xfrm>
            <a:off x="7888971" y="4942990"/>
            <a:ext cx="1190625" cy="646331"/>
          </a:xfrm>
          <a:prstGeom prst="rect">
            <a:avLst/>
          </a:prstGeom>
          <a:noFill/>
          <a:ln w="9525">
            <a:noFill/>
            <a:miter lim="800000"/>
            <a:headEnd/>
            <a:tailEnd/>
          </a:ln>
          <a:effectLst/>
        </p:spPr>
        <p:txBody>
          <a:bodyPr>
            <a:spAutoFit/>
          </a:bodyPr>
          <a:lstStyle/>
          <a:p>
            <a:pPr algn="r" defTabSz="554492"/>
            <a:r>
              <a:rPr lang="en-US" sz="1200">
                <a:solidFill>
                  <a:prstClr val="black"/>
                </a:solidFill>
                <a:latin typeface="Georgia" panose="02040502050405020303" pitchFamily="18" charset="0"/>
                <a:ea typeface="Calibri"/>
                <a:cs typeface="Calibri"/>
              </a:rPr>
              <a:t>(11) Assets</a:t>
            </a:r>
          </a:p>
          <a:p>
            <a:pPr algn="r" defTabSz="554492"/>
            <a:r>
              <a:rPr lang="en-US" sz="1200">
                <a:solidFill>
                  <a:prstClr val="black"/>
                </a:solidFill>
                <a:latin typeface="Georgia" panose="02040502050405020303" pitchFamily="18" charset="0"/>
                <a:ea typeface="Calibri"/>
                <a:cs typeface="Calibri"/>
              </a:rPr>
              <a:t>to Children</a:t>
            </a:r>
          </a:p>
          <a:p>
            <a:pPr algn="r" defTabSz="554492"/>
            <a:r>
              <a:rPr lang="en-US" sz="1200">
                <a:solidFill>
                  <a:prstClr val="black"/>
                </a:solidFill>
                <a:latin typeface="Georgia" panose="02040502050405020303" pitchFamily="18" charset="0"/>
                <a:ea typeface="Calibri"/>
                <a:cs typeface="Calibri"/>
              </a:rPr>
              <a:t>$935,000</a:t>
            </a:r>
            <a:endParaRPr lang="en-US" sz="1200">
              <a:solidFill>
                <a:srgbClr val="A8332F"/>
              </a:solidFill>
              <a:latin typeface="Georgia" panose="02040502050405020303" pitchFamily="18" charset="0"/>
              <a:ea typeface="Calibri"/>
              <a:cs typeface="Calibri"/>
            </a:endParaRPr>
          </a:p>
        </p:txBody>
      </p:sp>
      <p:sp>
        <p:nvSpPr>
          <p:cNvPr id="44" name="Text Box 414">
            <a:extLst>
              <a:ext uri="{FF2B5EF4-FFF2-40B4-BE49-F238E27FC236}">
                <a16:creationId xmlns:a16="http://schemas.microsoft.com/office/drawing/2014/main" id="{AD373CC7-A5CC-0244-EEFB-A862E727D62B}"/>
              </a:ext>
            </a:extLst>
          </p:cNvPr>
          <p:cNvSpPr txBox="1">
            <a:spLocks noChangeArrowheads="1"/>
          </p:cNvSpPr>
          <p:nvPr/>
        </p:nvSpPr>
        <p:spPr bwMode="auto">
          <a:xfrm>
            <a:off x="9065510" y="1888082"/>
            <a:ext cx="1190625" cy="1015663"/>
          </a:xfrm>
          <a:prstGeom prst="rect">
            <a:avLst/>
          </a:prstGeom>
          <a:noFill/>
          <a:ln w="9525">
            <a:noFill/>
            <a:miter lim="800000"/>
            <a:headEnd/>
            <a:tailEnd/>
          </a:ln>
          <a:effectLst/>
        </p:spPr>
        <p:txBody>
          <a:bodyPr>
            <a:spAutoFit/>
          </a:bodyPr>
          <a:lstStyle/>
          <a:p>
            <a:pPr defTabSz="554492"/>
            <a:r>
              <a:rPr lang="en-US" sz="1200">
                <a:solidFill>
                  <a:prstClr val="black"/>
                </a:solidFill>
                <a:latin typeface="Georgia" panose="02040502050405020303" pitchFamily="18" charset="0"/>
                <a:ea typeface="Calibri"/>
                <a:cs typeface="Calibri"/>
              </a:rPr>
              <a:t>(3) Josh’s Applicable Exclusion</a:t>
            </a:r>
          </a:p>
          <a:p>
            <a:pPr defTabSz="554492"/>
            <a:r>
              <a:rPr lang="en-US" sz="1200">
                <a:solidFill>
                  <a:prstClr val="black"/>
                </a:solidFill>
                <a:latin typeface="Georgia" panose="02040502050405020303" pitchFamily="18" charset="0"/>
                <a:ea typeface="Calibri"/>
                <a:cs typeface="Calibri"/>
              </a:rPr>
              <a:t>to Trust</a:t>
            </a:r>
          </a:p>
          <a:p>
            <a:pPr defTabSz="554492"/>
            <a:r>
              <a:rPr lang="en-US" sz="1200">
                <a:solidFill>
                  <a:prstClr val="black"/>
                </a:solidFill>
                <a:latin typeface="Georgia" panose="02040502050405020303" pitchFamily="18" charset="0"/>
                <a:ea typeface="Calibri"/>
                <a:cs typeface="Calibri"/>
              </a:rPr>
              <a:t>$13,610,000</a:t>
            </a:r>
          </a:p>
        </p:txBody>
      </p:sp>
      <p:sp>
        <p:nvSpPr>
          <p:cNvPr id="45" name="Text Box 414">
            <a:extLst>
              <a:ext uri="{FF2B5EF4-FFF2-40B4-BE49-F238E27FC236}">
                <a16:creationId xmlns:a16="http://schemas.microsoft.com/office/drawing/2014/main" id="{2A008D00-896B-C416-73C5-E4AA8807BB50}"/>
              </a:ext>
            </a:extLst>
          </p:cNvPr>
          <p:cNvSpPr txBox="1">
            <a:spLocks noChangeArrowheads="1"/>
          </p:cNvSpPr>
          <p:nvPr/>
        </p:nvSpPr>
        <p:spPr bwMode="auto">
          <a:xfrm>
            <a:off x="4133989" y="2230702"/>
            <a:ext cx="1082386" cy="646331"/>
          </a:xfrm>
          <a:prstGeom prst="rect">
            <a:avLst/>
          </a:prstGeom>
          <a:noFill/>
          <a:ln w="9525">
            <a:noFill/>
            <a:miter lim="800000"/>
            <a:headEnd/>
            <a:tailEnd/>
          </a:ln>
          <a:effectLst/>
        </p:spPr>
        <p:txBody>
          <a:bodyPr>
            <a:spAutoFit/>
          </a:bodyPr>
          <a:lstStyle/>
          <a:p>
            <a:pPr defTabSz="554492"/>
            <a:r>
              <a:rPr lang="en-US" sz="1200">
                <a:solidFill>
                  <a:prstClr val="black"/>
                </a:solidFill>
                <a:latin typeface="Georgia" panose="02040502050405020303" pitchFamily="18" charset="0"/>
                <a:ea typeface="Calibri"/>
                <a:cs typeface="Calibri"/>
              </a:rPr>
              <a:t>(2) Assets</a:t>
            </a:r>
          </a:p>
          <a:p>
            <a:pPr defTabSz="554492"/>
            <a:r>
              <a:rPr lang="en-US" sz="1200">
                <a:solidFill>
                  <a:prstClr val="black"/>
                </a:solidFill>
                <a:latin typeface="Georgia" panose="02040502050405020303" pitchFamily="18" charset="0"/>
                <a:ea typeface="Calibri"/>
                <a:cs typeface="Calibri"/>
              </a:rPr>
              <a:t>to Trust</a:t>
            </a:r>
          </a:p>
          <a:p>
            <a:pPr defTabSz="554492"/>
            <a:r>
              <a:rPr lang="en-US" sz="1200">
                <a:solidFill>
                  <a:prstClr val="black"/>
                </a:solidFill>
                <a:latin typeface="Georgia" panose="02040502050405020303" pitchFamily="18" charset="0"/>
                <a:ea typeface="Calibri"/>
                <a:cs typeface="Calibri"/>
              </a:rPr>
              <a:t>$37,346,000</a:t>
            </a:r>
          </a:p>
        </p:txBody>
      </p:sp>
      <p:sp>
        <p:nvSpPr>
          <p:cNvPr id="46" name="Text Box 408">
            <a:extLst>
              <a:ext uri="{FF2B5EF4-FFF2-40B4-BE49-F238E27FC236}">
                <a16:creationId xmlns:a16="http://schemas.microsoft.com/office/drawing/2014/main" id="{1048238B-14B7-9BDF-F943-1B4B849F7054}"/>
              </a:ext>
            </a:extLst>
          </p:cNvPr>
          <p:cNvSpPr txBox="1">
            <a:spLocks noChangeArrowheads="1"/>
          </p:cNvSpPr>
          <p:nvPr/>
        </p:nvSpPr>
        <p:spPr bwMode="auto">
          <a:xfrm>
            <a:off x="7535868" y="6045698"/>
            <a:ext cx="1137452" cy="461665"/>
          </a:xfrm>
          <a:prstGeom prst="rect">
            <a:avLst/>
          </a:prstGeom>
          <a:noFill/>
          <a:ln w="9525">
            <a:noFill/>
            <a:miter lim="800000"/>
            <a:headEnd/>
            <a:tailEnd/>
          </a:ln>
          <a:effectLst/>
        </p:spPr>
        <p:txBody>
          <a:bodyPr wrap="square">
            <a:spAutoFit/>
          </a:bodyPr>
          <a:lstStyle/>
          <a:p>
            <a:pPr algn="ctr" defTabSz="554492"/>
            <a:r>
              <a:rPr lang="en-US" sz="1200">
                <a:solidFill>
                  <a:prstClr val="black"/>
                </a:solidFill>
                <a:latin typeface="Georgia" panose="02040502050405020303" pitchFamily="18" charset="0"/>
                <a:ea typeface="Calibri"/>
                <a:cs typeface="Calibri"/>
              </a:rPr>
              <a:t>(16) Income and Principal</a:t>
            </a:r>
          </a:p>
        </p:txBody>
      </p:sp>
      <p:sp>
        <p:nvSpPr>
          <p:cNvPr id="13" name="Text Box 408">
            <a:extLst>
              <a:ext uri="{FF2B5EF4-FFF2-40B4-BE49-F238E27FC236}">
                <a16:creationId xmlns:a16="http://schemas.microsoft.com/office/drawing/2014/main" id="{C04482FD-891B-8F56-631D-A9C8CCA0CAEF}"/>
              </a:ext>
            </a:extLst>
          </p:cNvPr>
          <p:cNvSpPr txBox="1">
            <a:spLocks noChangeArrowheads="1"/>
          </p:cNvSpPr>
          <p:nvPr/>
        </p:nvSpPr>
        <p:spPr bwMode="auto">
          <a:xfrm>
            <a:off x="4949566" y="3063257"/>
            <a:ext cx="1112838" cy="461665"/>
          </a:xfrm>
          <a:prstGeom prst="rect">
            <a:avLst/>
          </a:prstGeom>
          <a:noFill/>
          <a:ln w="9525">
            <a:noFill/>
            <a:miter lim="800000"/>
            <a:headEnd/>
            <a:tailEnd/>
          </a:ln>
          <a:effectLst/>
        </p:spPr>
        <p:txBody>
          <a:bodyPr>
            <a:spAutoFit/>
          </a:bodyPr>
          <a:lstStyle/>
          <a:p>
            <a:pPr algn="ctr" defTabSz="554492"/>
            <a:r>
              <a:rPr lang="en-US" sz="1200">
                <a:solidFill>
                  <a:prstClr val="black"/>
                </a:solidFill>
                <a:latin typeface="Georgia" panose="02040502050405020303" pitchFamily="18" charset="0"/>
                <a:ea typeface="Calibri"/>
                <a:cs typeface="Calibri"/>
              </a:rPr>
              <a:t>(5) Income and Principal</a:t>
            </a:r>
          </a:p>
        </p:txBody>
      </p:sp>
      <p:sp>
        <p:nvSpPr>
          <p:cNvPr id="16" name="Line 364">
            <a:extLst>
              <a:ext uri="{FF2B5EF4-FFF2-40B4-BE49-F238E27FC236}">
                <a16:creationId xmlns:a16="http://schemas.microsoft.com/office/drawing/2014/main" id="{658129B8-2B4B-9071-6D30-2EB02E71E0DC}"/>
              </a:ext>
            </a:extLst>
          </p:cNvPr>
          <p:cNvSpPr>
            <a:spLocks noChangeShapeType="1"/>
          </p:cNvSpPr>
          <p:nvPr/>
        </p:nvSpPr>
        <p:spPr bwMode="auto">
          <a:xfrm>
            <a:off x="8105873" y="4601195"/>
            <a:ext cx="0" cy="548640"/>
          </a:xfrm>
          <a:prstGeom prst="line">
            <a:avLst/>
          </a:prstGeom>
          <a:noFill/>
          <a:ln w="9525">
            <a:solidFill>
              <a:schemeClr val="tx1"/>
            </a:solidFill>
            <a:round/>
            <a:headEnd/>
            <a:tailEnd/>
          </a:ln>
          <a:effectLst/>
        </p:spPr>
        <p:txBody>
          <a:bodyPr/>
          <a:lstStyle/>
          <a:p>
            <a:pPr defTabSz="554492"/>
            <a:endParaRPr lang="en-US">
              <a:solidFill>
                <a:prstClr val="black"/>
              </a:solidFill>
              <a:latin typeface="Georgia" panose="02040502050405020303" pitchFamily="18" charset="0"/>
              <a:ea typeface="Calibri"/>
              <a:cs typeface="Calibri"/>
            </a:endParaRPr>
          </a:p>
        </p:txBody>
      </p:sp>
      <p:sp>
        <p:nvSpPr>
          <p:cNvPr id="19" name="Text Box 414">
            <a:extLst>
              <a:ext uri="{FF2B5EF4-FFF2-40B4-BE49-F238E27FC236}">
                <a16:creationId xmlns:a16="http://schemas.microsoft.com/office/drawing/2014/main" id="{CAF97A7A-2958-BB2A-B762-D10B62E118DC}"/>
              </a:ext>
            </a:extLst>
          </p:cNvPr>
          <p:cNvSpPr txBox="1">
            <a:spLocks noChangeArrowheads="1"/>
          </p:cNvSpPr>
          <p:nvPr/>
        </p:nvSpPr>
        <p:spPr bwMode="auto">
          <a:xfrm>
            <a:off x="7118014" y="4950460"/>
            <a:ext cx="1190625" cy="646331"/>
          </a:xfrm>
          <a:prstGeom prst="rect">
            <a:avLst/>
          </a:prstGeom>
          <a:noFill/>
          <a:ln w="9525">
            <a:noFill/>
            <a:miter lim="800000"/>
            <a:headEnd/>
            <a:tailEnd/>
          </a:ln>
          <a:effectLst/>
        </p:spPr>
        <p:txBody>
          <a:bodyPr>
            <a:spAutoFit/>
          </a:bodyPr>
          <a:lstStyle/>
          <a:p>
            <a:pPr defTabSz="554492"/>
            <a:r>
              <a:rPr lang="en-US" sz="1200">
                <a:solidFill>
                  <a:prstClr val="black"/>
                </a:solidFill>
                <a:latin typeface="Georgia" panose="02040502050405020303" pitchFamily="18" charset="0"/>
                <a:ea typeface="Calibri"/>
                <a:cs typeface="Calibri"/>
              </a:rPr>
              <a:t>(12) Assets</a:t>
            </a:r>
          </a:p>
          <a:p>
            <a:pPr defTabSz="554492"/>
            <a:r>
              <a:rPr lang="en-US" sz="1200">
                <a:solidFill>
                  <a:prstClr val="black"/>
                </a:solidFill>
                <a:latin typeface="Georgia" panose="02040502050405020303" pitchFamily="18" charset="0"/>
                <a:ea typeface="Calibri"/>
                <a:cs typeface="Calibri"/>
              </a:rPr>
              <a:t>to Trust</a:t>
            </a:r>
          </a:p>
          <a:p>
            <a:pPr defTabSz="554492"/>
            <a:r>
              <a:rPr lang="en-US" sz="1200">
                <a:solidFill>
                  <a:prstClr val="black"/>
                </a:solidFill>
                <a:latin typeface="Georgia" panose="02040502050405020303" pitchFamily="18" charset="0"/>
                <a:ea typeface="Calibri"/>
                <a:cs typeface="Calibri"/>
              </a:rPr>
              <a:t>$11,006,000</a:t>
            </a:r>
            <a:endParaRPr lang="en-US" sz="1200">
              <a:solidFill>
                <a:srgbClr val="A8332F"/>
              </a:solidFill>
              <a:latin typeface="Georgia" panose="02040502050405020303" pitchFamily="18" charset="0"/>
              <a:ea typeface="Calibri"/>
              <a:cs typeface="Calibri"/>
            </a:endParaRPr>
          </a:p>
        </p:txBody>
      </p:sp>
      <p:sp>
        <p:nvSpPr>
          <p:cNvPr id="33" name="Shape 0">
            <a:extLst>
              <a:ext uri="{FF2B5EF4-FFF2-40B4-BE49-F238E27FC236}">
                <a16:creationId xmlns:a16="http://schemas.microsoft.com/office/drawing/2014/main" id="{33F7D0A5-453E-518C-3A1C-C63A4BE24B08}"/>
              </a:ext>
            </a:extLst>
          </p:cNvPr>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21" name="TextBox 20">
            <a:extLst>
              <a:ext uri="{FF2B5EF4-FFF2-40B4-BE49-F238E27FC236}">
                <a16:creationId xmlns:a16="http://schemas.microsoft.com/office/drawing/2014/main" id="{0341E783-C51E-1F2E-E1F3-385F46157539}"/>
              </a:ext>
            </a:extLst>
          </p:cNvPr>
          <p:cNvSpPr txBox="1"/>
          <p:nvPr/>
        </p:nvSpPr>
        <p:spPr>
          <a:xfrm>
            <a:off x="530331" y="310431"/>
            <a:ext cx="2512291" cy="646331"/>
          </a:xfrm>
          <a:prstGeom prst="rect">
            <a:avLst/>
          </a:prstGeom>
          <a:noFill/>
        </p:spPr>
        <p:txBody>
          <a:bodyPr wrap="square" rtlCol="0">
            <a:spAutoFit/>
          </a:bodyPr>
          <a:lstStyle/>
          <a:p>
            <a:r>
              <a:rPr lang="en-US">
                <a:solidFill>
                  <a:srgbClr val="A8332F"/>
                </a:solidFill>
                <a:latin typeface="Calibri"/>
                <a:ea typeface="Calibri"/>
                <a:cs typeface="Calibri"/>
              </a:rPr>
              <a:t>Paste in from the </a:t>
            </a:r>
            <a:r>
              <a:rPr lang="en-US" err="1">
                <a:solidFill>
                  <a:srgbClr val="A8332F"/>
                </a:solidFill>
                <a:latin typeface="Calibri"/>
                <a:ea typeface="Calibri"/>
                <a:cs typeface="Calibri"/>
              </a:rPr>
              <a:t>powerpoint</a:t>
            </a:r>
            <a:r>
              <a:rPr lang="en-US">
                <a:solidFill>
                  <a:srgbClr val="A8332F"/>
                </a:solidFill>
                <a:latin typeface="Calibri"/>
                <a:ea typeface="Calibri"/>
                <a:cs typeface="Calibri"/>
              </a:rPr>
              <a:t> slide</a:t>
            </a:r>
          </a:p>
        </p:txBody>
      </p:sp>
      <p:pic>
        <p:nvPicPr>
          <p:cNvPr id="149"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3" name="Text 1"/>
          <p:cNvSpPr/>
          <p:nvPr/>
        </p:nvSpPr>
        <p:spPr>
          <a:xfrm>
            <a:off x="548640" y="201168"/>
            <a:ext cx="10972800" cy="201168"/>
          </a:xfrm>
          <a:prstGeom prst="rect">
            <a:avLst/>
          </a:prstGeom>
          <a:noFill/>
          <a:ln/>
        </p:spPr>
        <p:txBody>
          <a:bodyPr wrap="square" lIns="0" tIns="0" rIns="0" bIns="0" rtlCol="0" anchor="t"/>
          <a:lstStyle/>
          <a:p>
            <a:pPr marL="0" indent="0" algn="l">
              <a:buNone/>
            </a:pPr>
            <a:r>
              <a:rPr lang="en-US" sz="1350" kern="0" spc="300">
                <a:solidFill>
                  <a:srgbClr val="C9A84C"/>
                </a:solidFill>
                <a:latin typeface="Calibri" pitchFamily="34" charset="0"/>
                <a:ea typeface="Calibri" pitchFamily="34" charset="-122"/>
                <a:cs typeface="Calibri" pitchFamily="34" charset="-120"/>
              </a:rPr>
              <a:t>CURRENT PLAN ANALYSIS</a:t>
            </a:r>
            <a:endParaRPr lang="en-US" sz="1350"/>
          </a:p>
        </p:txBody>
      </p:sp>
      <p:sp>
        <p:nvSpPr>
          <p:cNvPr id="4" name="Text 2"/>
          <p:cNvSpPr/>
          <p:nvPr/>
        </p:nvSpPr>
        <p:spPr>
          <a:xfrm>
            <a:off x="548640" y="457200"/>
            <a:ext cx="10515600" cy="822960"/>
          </a:xfrm>
          <a:prstGeom prst="rect">
            <a:avLst/>
          </a:prstGeom>
          <a:noFill/>
          <a:ln/>
        </p:spPr>
        <p:txBody>
          <a:bodyPr wrap="square" lIns="0" tIns="0" rIns="0" bIns="0" rtlCol="0" anchor="t"/>
          <a:lstStyle/>
          <a:p>
            <a:pPr/>
            <a:r>
              <a:rPr lang="en-US" sz="2800">
                <a:solidFill>
                  <a:srgbClr val="171738"/>
                </a:solidFill>
                <a:latin typeface="Georgia" pitchFamily="34" charset="0"/>
                <a:ea typeface="Georgia" pitchFamily="34" charset="-122"/>
                <a:cs typeface="Georgia" pitchFamily="34" charset="-120"/>
              </a:rPr>
              <a:t>Goals and Intentions</a:t>
            </a:r>
            <a:endParaRPr lang="en-US" sz="28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Text 7"/>
          <p:cNvSpPr/>
          <p:nvPr/>
        </p:nvSpPr>
        <p:spPr>
          <a:xfrm>
            <a:off x="548640" y="1600200"/>
            <a:ext cx="11091672" cy="4389120"/>
          </a:xfrm>
          <a:prstGeom prst="rect">
            <a:avLst/>
          </a:prstGeom>
          <a:noFill/>
          <a:ln/>
        </p:spPr>
        <p:txBody>
          <a:bodyPr wrap="square" lIns="0" tIns="0" rIns="0" bIns="0" rtlCol="0" anchor="t"/>
          <a:lstStyle/>
          <a:p>
            <a:pPr marL="285750" indent="-285750" algn="l">
              <a:spcAft>
                <a:spcPts val="1200"/>
              </a:spcAft>
              <a:buClr>
                <a:srgbClr val="4A7C59"/>
              </a:buClr>
              <a:buSzPct val="120000"/>
              <a:buFont typeface="Wingdings" panose="05000000000000000000" pitchFamily="2" charset="2"/>
              <a:buChar char="ü"/>
            </a:pPr>
            <a:r>
              <a:rPr lang="en-US" sz="1750">
                <a:solidFill>
                  <a:srgbClr val="8B7355"/>
                </a:solidFill>
                <a:latin typeface="Calibri" pitchFamily="34" charset="0"/>
                <a:ea typeface="Calibri" pitchFamily="34" charset="-122"/>
                <a:cs typeface="Calibri" pitchFamily="34" charset="-120"/>
              </a:rPr>
              <a:t>Maintain our annual lifestyle spending at $425,000 </a:t>
            </a:r>
          </a:p>
          <a:p>
            <a:pPr marL="285750" indent="-285750" algn="l">
              <a:spcAft>
                <a:spcPts val="1200"/>
              </a:spcAft>
              <a:buClr>
                <a:srgbClr val="4A7C59"/>
              </a:buClr>
              <a:buSzPct val="120000"/>
              <a:buFont typeface="Wingdings" panose="05000000000000000000" pitchFamily="2" charset="2"/>
              <a:buChar char="ü"/>
            </a:pPr>
            <a:r>
              <a:rPr lang="en-US" sz="1750">
                <a:solidFill>
                  <a:srgbClr val="8B7355"/>
                </a:solidFill>
                <a:latin typeface="Calibri" pitchFamily="34" charset="0"/>
                <a:ea typeface="Calibri" pitchFamily="34" charset="-122"/>
                <a:cs typeface="Calibri" pitchFamily="34" charset="-120"/>
              </a:rPr>
              <a:t>Maintain no less than $250,000 in personal emergency reserves</a:t>
            </a:r>
          </a:p>
          <a:p>
            <a:pPr marL="285750" indent="-285750" algn="l">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Support Natalie’s healing and next steps while remaining attentive to the needs of the whole family</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Strengthen family unity and communication</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Sell our Fort Worth lake property and invest up to $7,000,000 for a home in Montana</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Establish a coordinated advisory team</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Build margin and bandwidth for Clay in his business involvement</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Equip our children and grandchildren to steward future family wealth and responsibility</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Provide an inheritance of $25,000,000 to each of our children through trust structures.</a:t>
            </a:r>
          </a:p>
        </p:txBody>
      </p:sp>
      <p:pic>
        <p:nvPicPr>
          <p:cNvPr id="10"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1"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3" name="Text 1"/>
          <p:cNvSpPr/>
          <p:nvPr/>
        </p:nvSpPr>
        <p:spPr>
          <a:xfrm>
            <a:off x="548640" y="201168"/>
            <a:ext cx="10972800" cy="201168"/>
          </a:xfrm>
          <a:prstGeom prst="rect">
            <a:avLst/>
          </a:prstGeom>
          <a:noFill/>
          <a:ln/>
        </p:spPr>
        <p:txBody>
          <a:bodyPr wrap="square" lIns="0" tIns="0" rIns="0" bIns="0" rtlCol="0" anchor="t"/>
          <a:lstStyle/>
          <a:p>
            <a:pPr marL="0" indent="0" algn="l">
              <a:buNone/>
            </a:pPr>
            <a:r>
              <a:rPr lang="en-US" sz="1350" kern="0" spc="300">
                <a:solidFill>
                  <a:srgbClr val="C9A84C"/>
                </a:solidFill>
                <a:latin typeface="Calibri" pitchFamily="34" charset="0"/>
                <a:ea typeface="Calibri" pitchFamily="34" charset="-122"/>
                <a:cs typeface="Calibri" pitchFamily="34" charset="-120"/>
              </a:rPr>
              <a:t>CURRENT PLAN ANALYSIS</a:t>
            </a:r>
            <a:endParaRPr lang="en-US" sz="1350"/>
          </a:p>
        </p:txBody>
      </p:sp>
      <p:sp>
        <p:nvSpPr>
          <p:cNvPr id="4" name="Text 2"/>
          <p:cNvSpPr/>
          <p:nvPr/>
        </p:nvSpPr>
        <p:spPr>
          <a:xfrm>
            <a:off x="548640" y="457200"/>
            <a:ext cx="10515600" cy="822960"/>
          </a:xfrm>
          <a:prstGeom prst="rect">
            <a:avLst/>
          </a:prstGeom>
          <a:noFill/>
          <a:ln/>
        </p:spPr>
        <p:txBody>
          <a:bodyPr wrap="square" lIns="0" tIns="0" rIns="0" bIns="0" rtlCol="0" anchor="t"/>
          <a:lstStyle/>
          <a:p>
            <a:pPr/>
            <a:r>
              <a:rPr lang="en-US" sz="2800">
                <a:solidFill>
                  <a:srgbClr val="171738"/>
                </a:solidFill>
                <a:latin typeface="Georgia" pitchFamily="34" charset="0"/>
                <a:ea typeface="Georgia" pitchFamily="34" charset="-122"/>
                <a:cs typeface="Georgia" pitchFamily="34" charset="-120"/>
              </a:rPr>
              <a:t>Goals and Intentions</a:t>
            </a:r>
            <a:endParaRPr lang="en-US" sz="28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Text 7"/>
          <p:cNvSpPr/>
          <p:nvPr/>
        </p:nvSpPr>
        <p:spPr>
          <a:xfrm>
            <a:off x="548640" y="1600200"/>
            <a:ext cx="11091672" cy="4389120"/>
          </a:xfrm>
          <a:prstGeom prst="rect">
            <a:avLst/>
          </a:prstGeom>
          <a:noFill/>
          <a:ln/>
        </p:spPr>
        <p:txBody>
          <a:bodyPr wrap="square" lIns="0" tIns="0" rIns="0" bIns="0" rtlCol="0" anchor="t"/>
          <a:lstStyle/>
          <a:p>
            <a:pPr marL="285750" indent="-285750" algn="l">
              <a:spcAft>
                <a:spcPts val="1200"/>
              </a:spcAft>
              <a:buClr>
                <a:srgbClr val="4A7C59"/>
              </a:buClr>
              <a:buSzPct val="120000"/>
              <a:buFont typeface="Wingdings" panose="05000000000000000000" pitchFamily="2" charset="2"/>
              <a:buChar char="ü"/>
            </a:pPr>
            <a:r>
              <a:rPr lang="en-US" sz="1750">
                <a:solidFill>
                  <a:srgbClr val="8B7355"/>
                </a:solidFill>
                <a:latin typeface="Calibri" pitchFamily="34" charset="0"/>
                <a:ea typeface="Calibri" pitchFamily="34" charset="-122"/>
                <a:cs typeface="Calibri" pitchFamily="34" charset="-120"/>
              </a:rPr>
              <a:t>Maintain our annual lifestyle spending at $425,000 </a:t>
            </a:r>
          </a:p>
          <a:p>
            <a:pPr marL="285750" indent="-285750" algn="l">
              <a:spcAft>
                <a:spcPts val="1200"/>
              </a:spcAft>
              <a:buClr>
                <a:srgbClr val="4A7C59"/>
              </a:buClr>
              <a:buSzPct val="120000"/>
              <a:buFont typeface="Wingdings" panose="05000000000000000000" pitchFamily="2" charset="2"/>
              <a:buChar char="ü"/>
            </a:pPr>
            <a:r>
              <a:rPr lang="en-US" sz="1750">
                <a:solidFill>
                  <a:srgbClr val="8B7355"/>
                </a:solidFill>
                <a:latin typeface="Calibri" pitchFamily="34" charset="0"/>
                <a:ea typeface="Calibri" pitchFamily="34" charset="-122"/>
                <a:cs typeface="Calibri" pitchFamily="34" charset="-120"/>
              </a:rPr>
              <a:t>Maintain no less than $250,000 in personal emergency reserves</a:t>
            </a:r>
          </a:p>
          <a:p>
            <a:pPr marL="285750" indent="-285750" algn="l">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Support Natalie’s healing and next steps while remaining attentive to the needs of the whole family</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Strengthen family unity and communication</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Sell our Fort Worth lake property and invest up to $7,000,000 for a home in Montana</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Establish a coordinated advisory team</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Build margin and bandwidth for Clay in his business involvement</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Equip our children and grandchildren to steward future family wealth and responsibility</a:t>
            </a:r>
          </a:p>
          <a:p>
            <a:pPr marL="285750" indent="-285750">
              <a:spcAft>
                <a:spcPts val="1200"/>
              </a:spcAft>
              <a:buClr>
                <a:srgbClr val="A8332F"/>
              </a:buClr>
              <a:buSzPct val="120000"/>
              <a:buFont typeface="Calibri" panose="020F0502020204030204" pitchFamily="34" charset="0"/>
              <a:buChar char="×"/>
            </a:pPr>
            <a:r>
              <a:rPr lang="en-US" sz="1750">
                <a:solidFill>
                  <a:srgbClr val="8B7355"/>
                </a:solidFill>
                <a:latin typeface="Calibri" pitchFamily="34" charset="0"/>
                <a:ea typeface="Calibri" pitchFamily="34" charset="-122"/>
                <a:cs typeface="Calibri" pitchFamily="34" charset="-120"/>
              </a:rPr>
              <a:t>Provide an inheritance of $25,000,000 to each of our children through trust structures.</a:t>
            </a:r>
          </a:p>
        </p:txBody>
      </p:sp>
      <p:pic>
        <p:nvPicPr>
          <p:cNvPr id="10"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1"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66E04-4B2C-3B10-E0C8-8134E7E163E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D9B2CFF-D400-1D6C-1957-A3B0C2FF93A8}"/>
              </a:ext>
            </a:extLst>
          </p:cNvPr>
          <p:cNvSpPr/>
          <p:nvPr/>
        </p:nvSpPr>
        <p:spPr>
          <a:xfrm>
            <a:off x="609600" y="268224"/>
            <a:ext cx="8534400" cy="268224"/>
          </a:xfrm>
          <a:prstGeom prst="rect">
            <a:avLst/>
          </a:prstGeom>
          <a:noFill/>
          <a:ln/>
        </p:spPr>
        <p:txBody>
          <a:bodyPr wrap="square" rtlCol="0" anchor="ctr"/>
          <a:lstStyle/>
          <a:p>
            <a:r>
              <a:rPr lang="en-US" sz="1467" kern="0" spc="467">
                <a:solidFill>
                  <a:srgbClr val="C9A84C"/>
                </a:solidFill>
                <a:latin typeface="Calibri" pitchFamily="34" charset="0"/>
                <a:ea typeface="Calibri" pitchFamily="34" charset="-122"/>
                <a:cs typeface="Calibri" pitchFamily="34" charset="-120"/>
              </a:rPr>
              <a:t>FAMILY CAPITAL GAP ANALYSIS</a:t>
            </a:r>
            <a:endParaRPr lang="en-US" sz="1467">
              <a:solidFill>
                <a:srgbClr val="C9A84C"/>
              </a:solidFill>
            </a:endParaRPr>
          </a:p>
        </p:txBody>
      </p:sp>
      <p:sp>
        <p:nvSpPr>
          <p:cNvPr id="4" name="Text 1">
            <a:extLst>
              <a:ext uri="{FF2B5EF4-FFF2-40B4-BE49-F238E27FC236}">
                <a16:creationId xmlns:a16="http://schemas.microsoft.com/office/drawing/2014/main" id="{99830E9C-5A68-6C8C-C129-E786CD01F650}"/>
              </a:ext>
            </a:extLst>
          </p:cNvPr>
          <p:cNvSpPr/>
          <p:nvPr/>
        </p:nvSpPr>
        <p:spPr>
          <a:xfrm>
            <a:off x="609600" y="585216"/>
            <a:ext cx="8534400" cy="792480"/>
          </a:xfrm>
          <a:prstGeom prst="rect">
            <a:avLst/>
          </a:prstGeom>
          <a:noFill/>
          <a:ln/>
        </p:spPr>
        <p:txBody>
          <a:bodyPr wrap="square" rtlCol="0" anchor="ctr"/>
          <a:lstStyle/>
          <a:p>
            <a:r>
              <a:rPr lang="en-US" sz="3467">
                <a:solidFill>
                  <a:srgbClr val="171738"/>
                </a:solidFill>
                <a:latin typeface="Georgia" pitchFamily="34" charset="0"/>
                <a:ea typeface="Georgia" pitchFamily="34" charset="-122"/>
                <a:cs typeface="Georgia" pitchFamily="34" charset="-120"/>
              </a:rPr>
              <a:t>Gap Analysis of Your Current Goals</a:t>
            </a:r>
            <a:endParaRPr lang="en-US" sz="3467">
              <a:solidFill>
                <a:srgbClr val="171738"/>
              </a:solidFill>
            </a:endParaRPr>
          </a:p>
        </p:txBody>
      </p:sp>
      <p:sp>
        <p:nvSpPr>
          <p:cNvPr id="6" name="Text 3">
            <a:extLst>
              <a:ext uri="{FF2B5EF4-FFF2-40B4-BE49-F238E27FC236}">
                <a16:creationId xmlns:a16="http://schemas.microsoft.com/office/drawing/2014/main" id="{8EA9F267-B6CC-3468-B76C-85E253F349C1}"/>
              </a:ext>
            </a:extLst>
          </p:cNvPr>
          <p:cNvSpPr/>
          <p:nvPr/>
        </p:nvSpPr>
        <p:spPr>
          <a:xfrm>
            <a:off x="609600" y="1645920"/>
            <a:ext cx="10607040" cy="341376"/>
          </a:xfrm>
          <a:prstGeom prst="rect">
            <a:avLst/>
          </a:prstGeom>
          <a:noFill/>
          <a:ln/>
        </p:spPr>
        <p:txBody>
          <a:bodyPr wrap="square" rtlCol="0" anchor="ctr"/>
          <a:lstStyle/>
          <a:p>
            <a:r>
              <a:rPr lang="en-US" sz="1467" i="1">
                <a:solidFill>
                  <a:srgbClr val="8B7355"/>
                </a:solidFill>
                <a:latin typeface="Calibri" pitchFamily="34" charset="0"/>
                <a:ea typeface="Calibri" pitchFamily="34" charset="-122"/>
                <a:cs typeface="Calibri" pitchFamily="34" charset="-120"/>
              </a:rPr>
              <a:t>Based on today's assessment, here is where your current plan stands:</a:t>
            </a:r>
            <a:endParaRPr lang="en-US" sz="1467"/>
          </a:p>
        </p:txBody>
      </p:sp>
      <p:graphicFrame>
        <p:nvGraphicFramePr>
          <p:cNvPr id="7" name="Chart 0">
            <a:extLst>
              <a:ext uri="{FF2B5EF4-FFF2-40B4-BE49-F238E27FC236}">
                <a16:creationId xmlns:a16="http://schemas.microsoft.com/office/drawing/2014/main" id="{112964CA-3172-89D3-7077-4D682243F9D9}"/>
              </a:ext>
            </a:extLst>
          </p:cNvPr>
          <p:cNvGraphicFramePr/>
          <p:nvPr/>
        </p:nvGraphicFramePr>
        <p:xfrm>
          <a:off x="487680" y="2011680"/>
          <a:ext cx="5120640" cy="39014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a:extLst>
              <a:ext uri="{FF2B5EF4-FFF2-40B4-BE49-F238E27FC236}">
                <a16:creationId xmlns:a16="http://schemas.microsoft.com/office/drawing/2014/main" id="{97F13D96-D5D5-B270-87ED-27C3481513E1}"/>
              </a:ext>
            </a:extLst>
          </p:cNvPr>
          <p:cNvSpPr/>
          <p:nvPr/>
        </p:nvSpPr>
        <p:spPr>
          <a:xfrm>
            <a:off x="1889760" y="3352800"/>
            <a:ext cx="2194560" cy="609600"/>
          </a:xfrm>
          <a:prstGeom prst="rect">
            <a:avLst/>
          </a:prstGeom>
          <a:noFill/>
          <a:ln/>
        </p:spPr>
        <p:txBody>
          <a:bodyPr wrap="square" rtlCol="0" anchor="ctr"/>
          <a:lstStyle/>
          <a:p>
            <a:pPr algn="ctr"/>
            <a:r>
              <a:rPr lang="en-US" sz="3733" b="1">
                <a:solidFill>
                  <a:srgbClr val="171738"/>
                </a:solidFill>
                <a:latin typeface="Georgia" pitchFamily="34" charset="0"/>
                <a:ea typeface="Georgia" pitchFamily="34" charset="-122"/>
                <a:cs typeface="Georgia" pitchFamily="34" charset="-120"/>
              </a:rPr>
              <a:t>17</a:t>
            </a:r>
            <a:endParaRPr lang="en-US" sz="3733"/>
          </a:p>
        </p:txBody>
      </p:sp>
      <p:sp>
        <p:nvSpPr>
          <p:cNvPr id="9" name="Text 5">
            <a:extLst>
              <a:ext uri="{FF2B5EF4-FFF2-40B4-BE49-F238E27FC236}">
                <a16:creationId xmlns:a16="http://schemas.microsoft.com/office/drawing/2014/main" id="{CF3CF416-2EE8-C685-A56C-0AF79B220357}"/>
              </a:ext>
            </a:extLst>
          </p:cNvPr>
          <p:cNvSpPr/>
          <p:nvPr/>
        </p:nvSpPr>
        <p:spPr>
          <a:xfrm>
            <a:off x="1889760" y="3925824"/>
            <a:ext cx="2194560" cy="341376"/>
          </a:xfrm>
          <a:prstGeom prst="rect">
            <a:avLst/>
          </a:prstGeom>
          <a:noFill/>
          <a:ln/>
        </p:spPr>
        <p:txBody>
          <a:bodyPr wrap="square" rtlCol="0" anchor="ctr"/>
          <a:lstStyle/>
          <a:p>
            <a:pPr algn="ctr"/>
            <a:r>
              <a:rPr lang="en-US" sz="1333">
                <a:solidFill>
                  <a:srgbClr val="8B7355"/>
                </a:solidFill>
                <a:latin typeface="Calibri" pitchFamily="34" charset="0"/>
                <a:ea typeface="Calibri" pitchFamily="34" charset="-122"/>
                <a:cs typeface="Calibri" pitchFamily="34" charset="-120"/>
              </a:rPr>
              <a:t>Total Goals</a:t>
            </a:r>
            <a:endParaRPr lang="en-US" sz="1333"/>
          </a:p>
        </p:txBody>
      </p:sp>
      <p:sp>
        <p:nvSpPr>
          <p:cNvPr id="10" name="Shape 6">
            <a:extLst>
              <a:ext uri="{FF2B5EF4-FFF2-40B4-BE49-F238E27FC236}">
                <a16:creationId xmlns:a16="http://schemas.microsoft.com/office/drawing/2014/main" id="{3685E710-A4CF-EA66-4892-1A8E58229269}"/>
              </a:ext>
            </a:extLst>
          </p:cNvPr>
          <p:cNvSpPr/>
          <p:nvPr/>
        </p:nvSpPr>
        <p:spPr>
          <a:xfrm>
            <a:off x="6096000" y="2048256"/>
            <a:ext cx="5608320" cy="1645920"/>
          </a:xfrm>
          <a:prstGeom prst="rect">
            <a:avLst/>
          </a:prstGeom>
          <a:solidFill>
            <a:srgbClr val="F4EFE4"/>
          </a:solidFill>
          <a:ln w="19050">
            <a:solidFill>
              <a:srgbClr val="4A7C59"/>
            </a:solidFill>
            <a:prstDash val="solid"/>
          </a:ln>
        </p:spPr>
        <p:txBody>
          <a:bodyPr/>
          <a:lstStyle/>
          <a:p>
            <a:endParaRPr lang="en-US" sz="2400"/>
          </a:p>
        </p:txBody>
      </p:sp>
      <p:sp>
        <p:nvSpPr>
          <p:cNvPr id="11" name="Shape 7">
            <a:extLst>
              <a:ext uri="{FF2B5EF4-FFF2-40B4-BE49-F238E27FC236}">
                <a16:creationId xmlns:a16="http://schemas.microsoft.com/office/drawing/2014/main" id="{96AEA8F4-C55E-EB66-EDA3-6C7E6EC3C08D}"/>
              </a:ext>
            </a:extLst>
          </p:cNvPr>
          <p:cNvSpPr/>
          <p:nvPr/>
        </p:nvSpPr>
        <p:spPr>
          <a:xfrm>
            <a:off x="6096000" y="2048256"/>
            <a:ext cx="5608320" cy="54864"/>
          </a:xfrm>
          <a:prstGeom prst="rect">
            <a:avLst/>
          </a:prstGeom>
          <a:solidFill>
            <a:srgbClr val="4A7C59"/>
          </a:solidFill>
          <a:ln w="12700">
            <a:solidFill>
              <a:srgbClr val="4A7C59"/>
            </a:solidFill>
            <a:prstDash val="solid"/>
          </a:ln>
        </p:spPr>
        <p:txBody>
          <a:bodyPr/>
          <a:lstStyle/>
          <a:p>
            <a:endParaRPr lang="en-US" sz="2400"/>
          </a:p>
        </p:txBody>
      </p:sp>
      <p:sp>
        <p:nvSpPr>
          <p:cNvPr id="12" name="Text 8">
            <a:extLst>
              <a:ext uri="{FF2B5EF4-FFF2-40B4-BE49-F238E27FC236}">
                <a16:creationId xmlns:a16="http://schemas.microsoft.com/office/drawing/2014/main" id="{BD4FDD84-6AB4-8BBC-AF94-B236D40D594B}"/>
              </a:ext>
            </a:extLst>
          </p:cNvPr>
          <p:cNvSpPr/>
          <p:nvPr/>
        </p:nvSpPr>
        <p:spPr>
          <a:xfrm>
            <a:off x="6217920" y="2097024"/>
            <a:ext cx="1463040" cy="1158240"/>
          </a:xfrm>
          <a:prstGeom prst="rect">
            <a:avLst/>
          </a:prstGeom>
          <a:noFill/>
          <a:ln/>
        </p:spPr>
        <p:txBody>
          <a:bodyPr wrap="square" rtlCol="0" anchor="ctr"/>
          <a:lstStyle/>
          <a:p>
            <a:r>
              <a:rPr lang="en-US" sz="6400">
                <a:solidFill>
                  <a:srgbClr val="4A7C59"/>
                </a:solidFill>
                <a:latin typeface="Georgia" pitchFamily="34" charset="0"/>
                <a:ea typeface="Georgia" pitchFamily="34" charset="-122"/>
                <a:cs typeface="Georgia" pitchFamily="34" charset="-120"/>
              </a:rPr>
              <a:t>5</a:t>
            </a:r>
            <a:endParaRPr lang="en-US" sz="6400"/>
          </a:p>
        </p:txBody>
      </p:sp>
      <p:sp>
        <p:nvSpPr>
          <p:cNvPr id="13" name="Text 9">
            <a:extLst>
              <a:ext uri="{FF2B5EF4-FFF2-40B4-BE49-F238E27FC236}">
                <a16:creationId xmlns:a16="http://schemas.microsoft.com/office/drawing/2014/main" id="{EB0C8B37-E508-A912-8344-314EED8FE5A3}"/>
              </a:ext>
            </a:extLst>
          </p:cNvPr>
          <p:cNvSpPr/>
          <p:nvPr/>
        </p:nvSpPr>
        <p:spPr>
          <a:xfrm>
            <a:off x="7741920" y="2292096"/>
            <a:ext cx="3718560" cy="463296"/>
          </a:xfrm>
          <a:prstGeom prst="rect">
            <a:avLst/>
          </a:prstGeom>
          <a:noFill/>
          <a:ln/>
        </p:spPr>
        <p:txBody>
          <a:bodyPr wrap="square" rtlCol="0" anchor="ctr"/>
          <a:lstStyle/>
          <a:p>
            <a:r>
              <a:rPr lang="en-US" sz="2133">
                <a:solidFill>
                  <a:srgbClr val="4A7C59"/>
                </a:solidFill>
                <a:latin typeface="Calibri" pitchFamily="34" charset="0"/>
                <a:ea typeface="Calibri" pitchFamily="34" charset="-122"/>
                <a:cs typeface="Calibri" pitchFamily="34" charset="-120"/>
              </a:rPr>
              <a:t>Goals Met</a:t>
            </a:r>
            <a:endParaRPr lang="en-US" sz="2133"/>
          </a:p>
        </p:txBody>
      </p:sp>
      <p:sp>
        <p:nvSpPr>
          <p:cNvPr id="14" name="Text 10">
            <a:extLst>
              <a:ext uri="{FF2B5EF4-FFF2-40B4-BE49-F238E27FC236}">
                <a16:creationId xmlns:a16="http://schemas.microsoft.com/office/drawing/2014/main" id="{C19B48BA-4B9F-6ECF-4FD1-7A0BC7E560B7}"/>
              </a:ext>
            </a:extLst>
          </p:cNvPr>
          <p:cNvSpPr/>
          <p:nvPr/>
        </p:nvSpPr>
        <p:spPr>
          <a:xfrm>
            <a:off x="6315456" y="3316224"/>
            <a:ext cx="5242560" cy="268224"/>
          </a:xfrm>
          <a:prstGeom prst="rect">
            <a:avLst/>
          </a:prstGeom>
          <a:noFill/>
          <a:ln/>
        </p:spPr>
        <p:txBody>
          <a:bodyPr wrap="square" rtlCol="0" anchor="ctr"/>
          <a:lstStyle/>
          <a:p>
            <a:r>
              <a:rPr lang="en-US" sz="1067" kern="0" spc="267">
                <a:solidFill>
                  <a:srgbClr val="4A7C59"/>
                </a:solidFill>
                <a:latin typeface="Calibri" pitchFamily="34" charset="0"/>
                <a:ea typeface="Calibri" pitchFamily="34" charset="-122"/>
                <a:cs typeface="Calibri" pitchFamily="34" charset="-120"/>
              </a:rPr>
              <a:t>CURRENT PLAN STATUS</a:t>
            </a:r>
            <a:endParaRPr lang="en-US" sz="1067"/>
          </a:p>
        </p:txBody>
      </p:sp>
      <p:sp>
        <p:nvSpPr>
          <p:cNvPr id="15" name="Shape 11">
            <a:extLst>
              <a:ext uri="{FF2B5EF4-FFF2-40B4-BE49-F238E27FC236}">
                <a16:creationId xmlns:a16="http://schemas.microsoft.com/office/drawing/2014/main" id="{EA9CB8DB-1131-2811-4075-F3A886A28101}"/>
              </a:ext>
            </a:extLst>
          </p:cNvPr>
          <p:cNvSpPr/>
          <p:nvPr/>
        </p:nvSpPr>
        <p:spPr>
          <a:xfrm>
            <a:off x="6096000" y="3925824"/>
            <a:ext cx="5608320" cy="1645920"/>
          </a:xfrm>
          <a:prstGeom prst="rect">
            <a:avLst/>
          </a:prstGeom>
          <a:solidFill>
            <a:srgbClr val="F4EFE4"/>
          </a:solidFill>
          <a:ln w="19050">
            <a:solidFill>
              <a:srgbClr val="A8332F"/>
            </a:solidFill>
            <a:prstDash val="solid"/>
          </a:ln>
        </p:spPr>
        <p:txBody>
          <a:bodyPr/>
          <a:lstStyle/>
          <a:p>
            <a:endParaRPr lang="en-US" sz="2400"/>
          </a:p>
        </p:txBody>
      </p:sp>
      <p:sp>
        <p:nvSpPr>
          <p:cNvPr id="16" name="Shape 12">
            <a:extLst>
              <a:ext uri="{FF2B5EF4-FFF2-40B4-BE49-F238E27FC236}">
                <a16:creationId xmlns:a16="http://schemas.microsoft.com/office/drawing/2014/main" id="{8402F1C4-DD37-9AC5-4340-7715115CF7D1}"/>
              </a:ext>
            </a:extLst>
          </p:cNvPr>
          <p:cNvSpPr/>
          <p:nvPr/>
        </p:nvSpPr>
        <p:spPr>
          <a:xfrm>
            <a:off x="6096000" y="3925824"/>
            <a:ext cx="5608320" cy="54864"/>
          </a:xfrm>
          <a:prstGeom prst="rect">
            <a:avLst/>
          </a:prstGeom>
          <a:solidFill>
            <a:srgbClr val="A8332F"/>
          </a:solidFill>
          <a:ln w="12700">
            <a:solidFill>
              <a:srgbClr val="A8332F"/>
            </a:solidFill>
            <a:prstDash val="solid"/>
          </a:ln>
        </p:spPr>
        <p:txBody>
          <a:bodyPr/>
          <a:lstStyle/>
          <a:p>
            <a:endParaRPr lang="en-US" sz="2400"/>
          </a:p>
        </p:txBody>
      </p:sp>
      <p:sp>
        <p:nvSpPr>
          <p:cNvPr id="17" name="Text 13">
            <a:extLst>
              <a:ext uri="{FF2B5EF4-FFF2-40B4-BE49-F238E27FC236}">
                <a16:creationId xmlns:a16="http://schemas.microsoft.com/office/drawing/2014/main" id="{F1C42C29-DBAE-DB9A-4EBA-AB39F9D88C2D}"/>
              </a:ext>
            </a:extLst>
          </p:cNvPr>
          <p:cNvSpPr/>
          <p:nvPr/>
        </p:nvSpPr>
        <p:spPr>
          <a:xfrm>
            <a:off x="6217920" y="3974592"/>
            <a:ext cx="1828800" cy="1158240"/>
          </a:xfrm>
          <a:prstGeom prst="rect">
            <a:avLst/>
          </a:prstGeom>
          <a:noFill/>
          <a:ln/>
        </p:spPr>
        <p:txBody>
          <a:bodyPr wrap="square" rtlCol="0" anchor="ctr"/>
          <a:lstStyle/>
          <a:p>
            <a:r>
              <a:rPr lang="en-US" sz="6400">
                <a:solidFill>
                  <a:srgbClr val="A8332F"/>
                </a:solidFill>
                <a:latin typeface="Georgia" pitchFamily="34" charset="0"/>
                <a:ea typeface="Georgia" pitchFamily="34" charset="-122"/>
                <a:cs typeface="Georgia" pitchFamily="34" charset="-120"/>
              </a:rPr>
              <a:t>12</a:t>
            </a:r>
            <a:endParaRPr lang="en-US" sz="6400"/>
          </a:p>
        </p:txBody>
      </p:sp>
      <p:sp>
        <p:nvSpPr>
          <p:cNvPr id="18" name="Text 14">
            <a:extLst>
              <a:ext uri="{FF2B5EF4-FFF2-40B4-BE49-F238E27FC236}">
                <a16:creationId xmlns:a16="http://schemas.microsoft.com/office/drawing/2014/main" id="{75D2323E-06E7-64EA-BCC9-9E6E1BE29A0A}"/>
              </a:ext>
            </a:extLst>
          </p:cNvPr>
          <p:cNvSpPr/>
          <p:nvPr/>
        </p:nvSpPr>
        <p:spPr>
          <a:xfrm>
            <a:off x="8107680" y="4169664"/>
            <a:ext cx="3352800" cy="463296"/>
          </a:xfrm>
          <a:prstGeom prst="rect">
            <a:avLst/>
          </a:prstGeom>
          <a:noFill/>
          <a:ln/>
        </p:spPr>
        <p:txBody>
          <a:bodyPr wrap="square" rtlCol="0" anchor="ctr"/>
          <a:lstStyle/>
          <a:p>
            <a:r>
              <a:rPr lang="en-US" sz="2133">
                <a:solidFill>
                  <a:srgbClr val="A8332F"/>
                </a:solidFill>
                <a:latin typeface="Calibri" pitchFamily="34" charset="0"/>
                <a:ea typeface="Calibri" pitchFamily="34" charset="-122"/>
                <a:cs typeface="Calibri" pitchFamily="34" charset="-120"/>
              </a:rPr>
              <a:t>Goals Missed</a:t>
            </a:r>
            <a:endParaRPr lang="en-US" sz="2133"/>
          </a:p>
        </p:txBody>
      </p:sp>
      <p:sp>
        <p:nvSpPr>
          <p:cNvPr id="19" name="Text 15">
            <a:extLst>
              <a:ext uri="{FF2B5EF4-FFF2-40B4-BE49-F238E27FC236}">
                <a16:creationId xmlns:a16="http://schemas.microsoft.com/office/drawing/2014/main" id="{78407D94-B8B4-4F71-B8CA-489CD68567EA}"/>
              </a:ext>
            </a:extLst>
          </p:cNvPr>
          <p:cNvSpPr/>
          <p:nvPr/>
        </p:nvSpPr>
        <p:spPr>
          <a:xfrm>
            <a:off x="6315456" y="5193792"/>
            <a:ext cx="5242560" cy="268224"/>
          </a:xfrm>
          <a:prstGeom prst="rect">
            <a:avLst/>
          </a:prstGeom>
          <a:noFill/>
          <a:ln/>
        </p:spPr>
        <p:txBody>
          <a:bodyPr wrap="square" rtlCol="0" anchor="ctr"/>
          <a:lstStyle/>
          <a:p>
            <a:r>
              <a:rPr lang="en-US" sz="1067" kern="0" spc="267">
                <a:solidFill>
                  <a:srgbClr val="A8332F"/>
                </a:solidFill>
                <a:latin typeface="Calibri" pitchFamily="34" charset="0"/>
                <a:ea typeface="Calibri" pitchFamily="34" charset="-122"/>
                <a:cs typeface="Calibri" pitchFamily="34" charset="-120"/>
              </a:rPr>
              <a:t>OPPORTUNITY TO IMPROVE</a:t>
            </a:r>
            <a:endParaRPr lang="en-US" sz="1067"/>
          </a:p>
        </p:txBody>
      </p:sp>
      <p:sp>
        <p:nvSpPr>
          <p:cNvPr id="20" name="Shape 16">
            <a:extLst>
              <a:ext uri="{FF2B5EF4-FFF2-40B4-BE49-F238E27FC236}">
                <a16:creationId xmlns:a16="http://schemas.microsoft.com/office/drawing/2014/main" id="{758B7287-3C12-3A7F-6165-6C1F164D9C6E}"/>
              </a:ext>
            </a:extLst>
          </p:cNvPr>
          <p:cNvSpPr/>
          <p:nvPr/>
        </p:nvSpPr>
        <p:spPr>
          <a:xfrm>
            <a:off x="609600" y="5754624"/>
            <a:ext cx="11155680" cy="512064"/>
          </a:xfrm>
          <a:prstGeom prst="rect">
            <a:avLst/>
          </a:prstGeom>
          <a:solidFill>
            <a:srgbClr val="FFFFFF"/>
          </a:solidFill>
          <a:ln w="12700">
            <a:solidFill>
              <a:srgbClr val="171738"/>
            </a:solidFill>
            <a:prstDash val="solid"/>
          </a:ln>
        </p:spPr>
        <p:txBody>
          <a:bodyPr/>
          <a:lstStyle/>
          <a:p>
            <a:endParaRPr lang="en-US" sz="2400"/>
          </a:p>
        </p:txBody>
      </p:sp>
      <p:sp>
        <p:nvSpPr>
          <p:cNvPr id="21" name="Text 17">
            <a:extLst>
              <a:ext uri="{FF2B5EF4-FFF2-40B4-BE49-F238E27FC236}">
                <a16:creationId xmlns:a16="http://schemas.microsoft.com/office/drawing/2014/main" id="{D545BB88-21F0-6D94-181F-A83DE657437B}"/>
              </a:ext>
            </a:extLst>
          </p:cNvPr>
          <p:cNvSpPr/>
          <p:nvPr/>
        </p:nvSpPr>
        <p:spPr>
          <a:xfrm>
            <a:off x="829056" y="5754624"/>
            <a:ext cx="6705600" cy="512064"/>
          </a:xfrm>
          <a:prstGeom prst="rect">
            <a:avLst/>
          </a:prstGeom>
          <a:noFill/>
          <a:ln/>
        </p:spPr>
        <p:txBody>
          <a:bodyPr wrap="square" rtlCol="0" anchor="ctr"/>
          <a:lstStyle/>
          <a:p>
            <a:r>
              <a:rPr lang="en-US" sz="1267" kern="0" spc="200">
                <a:solidFill>
                  <a:srgbClr val="171738"/>
                </a:solidFill>
                <a:latin typeface="Calibri" pitchFamily="34" charset="0"/>
                <a:ea typeface="Calibri" pitchFamily="34" charset="-122"/>
                <a:cs typeface="Calibri" pitchFamily="34" charset="-120"/>
              </a:rPr>
              <a:t>TOTAL COST OF INACTION:</a:t>
            </a:r>
            <a:endParaRPr lang="en-US" sz="1267"/>
          </a:p>
        </p:txBody>
      </p:sp>
      <p:sp>
        <p:nvSpPr>
          <p:cNvPr id="22" name="Text 18">
            <a:extLst>
              <a:ext uri="{FF2B5EF4-FFF2-40B4-BE49-F238E27FC236}">
                <a16:creationId xmlns:a16="http://schemas.microsoft.com/office/drawing/2014/main" id="{3143F069-B2BB-B9A8-731D-FAF26E647959}"/>
              </a:ext>
            </a:extLst>
          </p:cNvPr>
          <p:cNvSpPr/>
          <p:nvPr/>
        </p:nvSpPr>
        <p:spPr>
          <a:xfrm>
            <a:off x="6705600" y="5754624"/>
            <a:ext cx="4840224" cy="512064"/>
          </a:xfrm>
          <a:prstGeom prst="rect">
            <a:avLst/>
          </a:prstGeom>
          <a:noFill/>
          <a:ln/>
        </p:spPr>
        <p:txBody>
          <a:bodyPr wrap="square" rtlCol="0" anchor="ctr"/>
          <a:lstStyle/>
          <a:p>
            <a:pPr algn="r"/>
            <a:r>
              <a:rPr lang="en-US" sz="2667" b="1">
                <a:solidFill>
                  <a:srgbClr val="A8332F"/>
                </a:solidFill>
                <a:latin typeface="Georgia" pitchFamily="34" charset="0"/>
                <a:ea typeface="Georgia" pitchFamily="34" charset="-122"/>
                <a:cs typeface="Georgia" pitchFamily="34" charset="-120"/>
              </a:rPr>
              <a:t>$4,019,000</a:t>
            </a:r>
            <a:endParaRPr lang="en-US" sz="2667"/>
          </a:p>
        </p:txBody>
      </p:sp>
      <p:sp>
        <p:nvSpPr>
          <p:cNvPr id="26" name="Shape 2">
            <a:extLst>
              <a:ext uri="{FF2B5EF4-FFF2-40B4-BE49-F238E27FC236}">
                <a16:creationId xmlns:a16="http://schemas.microsoft.com/office/drawing/2014/main" id="{DCF90D73-B812-BF3C-F5A7-AD15D370E329}"/>
              </a:ext>
            </a:extLst>
          </p:cNvPr>
          <p:cNvSpPr/>
          <p:nvPr/>
        </p:nvSpPr>
        <p:spPr>
          <a:xfrm>
            <a:off x="670560" y="1560576"/>
            <a:ext cx="1463040" cy="0"/>
          </a:xfrm>
          <a:prstGeom prst="line">
            <a:avLst/>
          </a:prstGeom>
          <a:noFill/>
          <a:ln w="19050">
            <a:solidFill>
              <a:srgbClr val="C9A84C"/>
            </a:solidFill>
            <a:prstDash val="solid"/>
          </a:ln>
        </p:spPr>
        <p:txBody>
          <a:bodyPr/>
          <a:lstStyle/>
          <a:p>
            <a:endParaRPr lang="en-US" sz="2400"/>
          </a:p>
        </p:txBody>
      </p:sp>
      <p:sp>
        <p:nvSpPr>
          <p:cNvPr id="5" name="Shape 5">
            <a:extLst>
              <a:ext uri="{FF2B5EF4-FFF2-40B4-BE49-F238E27FC236}">
                <a16:creationId xmlns:a16="http://schemas.microsoft.com/office/drawing/2014/main" id="{A7C9F817-3DAE-134F-4F28-2D7A9AD6B1DA}"/>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24" name="Text 6">
            <a:extLst>
              <a:ext uri="{FF2B5EF4-FFF2-40B4-BE49-F238E27FC236}">
                <a16:creationId xmlns:a16="http://schemas.microsoft.com/office/drawing/2014/main" id="{3CD99582-AB4F-97F7-9D8C-AAE45AE26236}"/>
              </a:ext>
            </a:extLst>
          </p:cNvPr>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27" name="Text 7">
            <a:extLst>
              <a:ext uri="{FF2B5EF4-FFF2-40B4-BE49-F238E27FC236}">
                <a16:creationId xmlns:a16="http://schemas.microsoft.com/office/drawing/2014/main" id="{C15EE7DC-DA2A-FCCE-51AF-81538C2D69F2}"/>
              </a:ext>
            </a:extLst>
          </p:cNvPr>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28" name="Paradiem Logo" descr="paradiem-logo-navy.png"/>
          <p:cNvPicPr>
            <a:picLocks noChangeAspect="1"/>
          </p:cNvPicPr>
          <p:nvPr/>
        </p:nvPicPr>
        <p:blipFill>
          <a:blip r:embed="rId4"/>
          <a:stretch>
            <a:fillRect/>
          </a:stretch>
        </p:blipFill>
        <p:spPr>
          <a:xfrm>
            <a:off x="10241584" y="192024"/>
            <a:ext cx="1401775" cy="406047"/>
          </a:xfrm>
          <a:prstGeom prst="rect">
            <a:avLst/>
          </a:prstGeom>
        </p:spPr>
      </p:pic>
      <p:sp>
        <p:nvSpPr>
          <p:cNvPr id="29"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extLst>
      <p:ext uri="{BB962C8B-B14F-4D97-AF65-F5344CB8AC3E}">
        <p14:creationId xmlns:p14="http://schemas.microsoft.com/office/powerpoint/2010/main" val="19319642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2">
    <p:bg>
      <p:bgPr>
        <a:solidFill>
          <a:srgbClr val="171738"/>
        </a:solidFill>
        <a:effectLst/>
      </p:bgPr>
    </p:bg>
    <p:spTree>
      <p:nvGrpSpPr>
        <p:cNvPr id="1" name=""/>
        <p:cNvGrpSpPr/>
        <p:nvPr/>
      </p:nvGrpSpPr>
      <p:grpSpPr>
        <a:xfrm>
          <a:off x="0" y="0"/>
          <a:ext cx="0" cy="0"/>
          <a:chOff x="0" y="0"/>
          <a:chExt cx="0" cy="0"/>
        </a:xfrm>
      </p:grpSpPr>
      <p:sp>
        <p:nvSpPr>
          <p:cNvPr id="2" name="Shape 0"/>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3" name="Text 1"/>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5" name="Text 3"/>
          <p:cNvSpPr/>
          <p:nvPr/>
        </p:nvSpPr>
        <p:spPr>
          <a:xfrm>
            <a:off x="1371600" y="2560320"/>
            <a:ext cx="9418320" cy="1645920"/>
          </a:xfrm>
          <a:prstGeom prst="rect">
            <a:avLst/>
          </a:prstGeom>
          <a:noFill/>
          <a:ln/>
        </p:spPr>
        <p:txBody>
          <a:bodyPr wrap="square" lIns="0" tIns="0" rIns="0" bIns="0" rtlCol="0" anchor="ctr"/>
          <a:lstStyle/>
          <a:p>
            <a:pPr marL="0" indent="0" algn="l">
              <a:buNone/>
            </a:pPr>
            <a:r>
              <a:rPr lang="en-US" sz="5200">
                <a:solidFill>
                  <a:srgbClr val="FFFFFF"/>
                </a:solidFill>
                <a:latin typeface="Georgia" pitchFamily="34" charset="0"/>
                <a:ea typeface="Georgia" pitchFamily="34" charset="-122"/>
                <a:cs typeface="Georgia" pitchFamily="34" charset="-120"/>
              </a:rPr>
              <a:t>What's top of mind?</a:t>
            </a:r>
            <a:endParaRPr lang="en-US" sz="5200"/>
          </a:p>
        </p:txBody>
      </p:sp>
      <p:sp>
        <p:nvSpPr>
          <p:cNvPr id="6" name="Shape 4"/>
          <p:cNvSpPr/>
          <p:nvPr/>
        </p:nvSpPr>
        <p:spPr>
          <a:xfrm>
            <a:off x="1371600" y="4251960"/>
            <a:ext cx="1645920" cy="0"/>
          </a:xfrm>
          <a:prstGeom prst="line">
            <a:avLst/>
          </a:prstGeom>
          <a:noFill/>
          <a:ln w="31750">
            <a:solidFill>
              <a:srgbClr val="C9A84C"/>
            </a:solidFill>
            <a:prstDash val="solid"/>
          </a:ln>
        </p:spPr>
        <p:txBody>
          <a:bodyPr/>
          <a:lstStyle/>
          <a:p>
            <a:endParaRPr lang="en-US"/>
          </a:p>
        </p:txBody>
      </p:sp>
      <p:pic>
        <p:nvPicPr>
          <p:cNvPr id="7" name="Paradiem Logo" descr="paradiem-logo-parchment.png"/>
          <p:cNvPicPr>
            <a:picLocks noChangeAspect="1"/>
          </p:cNvPicPr>
          <p:nvPr/>
        </p:nvPicPr>
        <p:blipFill>
          <a:blip r:embed="rId3"/>
          <a:stretch>
            <a:fillRect/>
          </a:stretch>
        </p:blipFill>
        <p:spPr>
          <a:xfrm>
            <a:off x="10241584" y="192024"/>
            <a:ext cx="1401775" cy="406047"/>
          </a:xfrm>
          <a:prstGeom prst="rect">
            <a:avLst/>
          </a:prstGeom>
        </p:spPr>
      </p:pic>
      <p:sp>
        <p:nvSpPr>
          <p:cNvPr id="8"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a:r>
              <a:rPr lang="en-US" sz="2800">
                <a:solidFill>
                  <a:srgbClr val="171738"/>
                </a:solidFill>
                <a:latin typeface="Georgia" pitchFamily="34" charset="0"/>
                <a:ea typeface="Georgia" pitchFamily="34" charset="-122"/>
                <a:cs typeface="Georgia" pitchFamily="34" charset="-120"/>
              </a:rPr>
              <a:t>Your Team &amp; Advocates</a:t>
            </a:r>
            <a:endParaRPr lang="en-US" sz="28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10" name="Shape 8"/>
          <p:cNvSpPr/>
          <p:nvPr/>
        </p:nvSpPr>
        <p:spPr>
          <a:xfrm>
            <a:off x="548640"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12" name="Shape 10"/>
          <p:cNvSpPr/>
          <p:nvPr/>
        </p:nvSpPr>
        <p:spPr>
          <a:xfrm>
            <a:off x="822960" y="3566160"/>
            <a:ext cx="2057400" cy="0"/>
          </a:xfrm>
          <a:prstGeom prst="line">
            <a:avLst/>
          </a:prstGeom>
          <a:noFill/>
          <a:ln w="19050">
            <a:solidFill>
              <a:srgbClr val="C9A84C"/>
            </a:solidFill>
            <a:prstDash val="solid"/>
          </a:ln>
        </p:spPr>
        <p:txBody>
          <a:bodyPr/>
          <a:lstStyle/>
          <a:p>
            <a:endParaRPr lang="en-US"/>
          </a:p>
        </p:txBody>
      </p:sp>
      <p:sp>
        <p:nvSpPr>
          <p:cNvPr id="13" name="Text 11"/>
          <p:cNvSpPr/>
          <p:nvPr/>
        </p:nvSpPr>
        <p:spPr>
          <a:xfrm>
            <a:off x="685800" y="3703320"/>
            <a:ext cx="2331720" cy="365760"/>
          </a:xfrm>
          <a:prstGeom prst="rect">
            <a:avLst/>
          </a:prstGeom>
          <a:noFill/>
          <a:ln/>
        </p:spPr>
        <p:txBody>
          <a:bodyPr wrap="square" lIns="0" tIns="0" rIns="0" bIns="0" rtlCol="0" anchor="t"/>
          <a:lstStyle/>
          <a:p>
            <a:pPr algn="ctr"/>
            <a:r>
              <a:rPr lang="en-US" sz="1900" b="1">
                <a:solidFill>
                  <a:srgbClr val="171738"/>
                </a:solidFill>
                <a:latin typeface="Georgia" pitchFamily="34" charset="0"/>
                <a:ea typeface="Georgia" pitchFamily="34" charset="-122"/>
                <a:cs typeface="Georgia" pitchFamily="34" charset="-120"/>
              </a:rPr>
              <a:t>Eric L. Dunavant</a:t>
            </a:r>
            <a:endParaRPr lang="en-US" sz="1900"/>
          </a:p>
        </p:txBody>
      </p:sp>
      <p:sp>
        <p:nvSpPr>
          <p:cNvPr id="14" name="Text 12"/>
          <p:cNvSpPr/>
          <p:nvPr/>
        </p:nvSpPr>
        <p:spPr>
          <a:xfrm>
            <a:off x="685800" y="4114800"/>
            <a:ext cx="2331720" cy="502920"/>
          </a:xfrm>
          <a:prstGeom prst="rect">
            <a:avLst/>
          </a:prstGeom>
          <a:noFill/>
          <a:ln/>
        </p:spPr>
        <p:txBody>
          <a:bodyPr wrap="square" lIns="0" tIns="0" rIns="0" bIns="0" rtlCol="0" anchor="t"/>
          <a:lstStyle/>
          <a:p>
            <a:pPr algn="ctr">
              <a:lnSpc>
                <a:spcPct val="120000"/>
              </a:lnSpc>
            </a:pPr>
            <a:r>
              <a:rPr lang="en-US" sz="1650">
                <a:solidFill>
                  <a:srgbClr val="8B7355"/>
                </a:solidFill>
                <a:latin typeface="Calibri"/>
                <a:ea typeface="Calibri"/>
                <a:cs typeface="Calibri"/>
              </a:rPr>
              <a:t>Founder &amp; President</a:t>
            </a:r>
            <a:endParaRPr lang="en-US" sz="1650"/>
          </a:p>
        </p:txBody>
      </p:sp>
      <p:sp>
        <p:nvSpPr>
          <p:cNvPr id="15" name="Shape 13"/>
          <p:cNvSpPr/>
          <p:nvPr/>
        </p:nvSpPr>
        <p:spPr>
          <a:xfrm>
            <a:off x="3456432"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16" name="Shape 14"/>
          <p:cNvSpPr/>
          <p:nvPr/>
        </p:nvSpPr>
        <p:spPr>
          <a:xfrm>
            <a:off x="3456432"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18" name="Shape 16"/>
          <p:cNvSpPr/>
          <p:nvPr/>
        </p:nvSpPr>
        <p:spPr>
          <a:xfrm>
            <a:off x="3730752" y="3566160"/>
            <a:ext cx="2057400" cy="0"/>
          </a:xfrm>
          <a:prstGeom prst="line">
            <a:avLst/>
          </a:prstGeom>
          <a:noFill/>
          <a:ln w="19050">
            <a:solidFill>
              <a:srgbClr val="C9A84C"/>
            </a:solidFill>
            <a:prstDash val="solid"/>
          </a:ln>
        </p:spPr>
        <p:txBody>
          <a:bodyPr/>
          <a:lstStyle/>
          <a:p>
            <a:endParaRPr lang="en-US"/>
          </a:p>
        </p:txBody>
      </p:sp>
      <p:sp>
        <p:nvSpPr>
          <p:cNvPr id="19" name="Text 17"/>
          <p:cNvSpPr/>
          <p:nvPr/>
        </p:nvSpPr>
        <p:spPr>
          <a:xfrm>
            <a:off x="3593592" y="3703320"/>
            <a:ext cx="2331720" cy="365760"/>
          </a:xfrm>
          <a:prstGeom prst="rect">
            <a:avLst/>
          </a:prstGeom>
          <a:noFill/>
          <a:ln/>
        </p:spPr>
        <p:txBody>
          <a:bodyPr wrap="square" lIns="0" tIns="0" rIns="0" bIns="0" rtlCol="0" anchor="t"/>
          <a:lstStyle/>
          <a:p>
            <a:pPr algn="ctr"/>
            <a:r>
              <a:rPr lang="en-US" sz="1900" b="1">
                <a:solidFill>
                  <a:srgbClr val="171738"/>
                </a:solidFill>
                <a:latin typeface="Georgia" pitchFamily="34" charset="0"/>
                <a:ea typeface="Georgia" pitchFamily="34" charset="-122"/>
                <a:cs typeface="Georgia" pitchFamily="34" charset="-120"/>
              </a:rPr>
              <a:t>Drew Brown</a:t>
            </a:r>
            <a:endParaRPr lang="en-US" sz="1900"/>
          </a:p>
        </p:txBody>
      </p:sp>
      <p:sp>
        <p:nvSpPr>
          <p:cNvPr id="20" name="Text 18"/>
          <p:cNvSpPr/>
          <p:nvPr/>
        </p:nvSpPr>
        <p:spPr>
          <a:xfrm>
            <a:off x="3593592" y="4114800"/>
            <a:ext cx="2331720" cy="502920"/>
          </a:xfrm>
          <a:prstGeom prst="rect">
            <a:avLst/>
          </a:prstGeom>
          <a:noFill/>
          <a:ln/>
        </p:spPr>
        <p:txBody>
          <a:bodyPr wrap="square" lIns="0" tIns="0" rIns="0" bIns="0" rtlCol="0" anchor="t"/>
          <a:lstStyle/>
          <a:p>
            <a:pPr marL="0" indent="0" algn="ctr">
              <a:lnSpc>
                <a:spcPct val="120000"/>
              </a:lnSpc>
              <a:buNone/>
            </a:pPr>
            <a:r>
              <a:rPr lang="en-US" sz="1650">
                <a:solidFill>
                  <a:srgbClr val="8B7355"/>
                </a:solidFill>
                <a:latin typeface="Calibri" pitchFamily="34" charset="0"/>
                <a:ea typeface="Calibri" pitchFamily="34" charset="-122"/>
                <a:cs typeface="Calibri" pitchFamily="34" charset="-120"/>
              </a:rPr>
              <a:t>CEO</a:t>
            </a:r>
            <a:endParaRPr lang="en-US" sz="1650"/>
          </a:p>
        </p:txBody>
      </p:sp>
      <p:sp>
        <p:nvSpPr>
          <p:cNvPr id="21" name="Shape 19"/>
          <p:cNvSpPr/>
          <p:nvPr/>
        </p:nvSpPr>
        <p:spPr>
          <a:xfrm>
            <a:off x="6364224" y="1664208"/>
            <a:ext cx="2606040" cy="3657600"/>
          </a:xfrm>
          <a:prstGeom prst="rect">
            <a:avLst/>
          </a:prstGeom>
          <a:solidFill>
            <a:srgbClr val="F4EFE4"/>
          </a:solidFill>
          <a:ln w="6350">
            <a:solidFill>
              <a:srgbClr val="F4EFE4"/>
            </a:solidFill>
            <a:prstDash val="solid"/>
          </a:ln>
        </p:spPr>
        <p:txBody>
          <a:bodyPr/>
          <a:lstStyle/>
          <a:p>
            <a:endParaRPr lang="en-US"/>
          </a:p>
        </p:txBody>
      </p:sp>
      <p:sp>
        <p:nvSpPr>
          <p:cNvPr id="22" name="Shape 20"/>
          <p:cNvSpPr/>
          <p:nvPr/>
        </p:nvSpPr>
        <p:spPr>
          <a:xfrm>
            <a:off x="6364224"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24" name="Shape 22"/>
          <p:cNvSpPr/>
          <p:nvPr/>
        </p:nvSpPr>
        <p:spPr>
          <a:xfrm>
            <a:off x="6638544" y="3566160"/>
            <a:ext cx="2057400" cy="0"/>
          </a:xfrm>
          <a:prstGeom prst="line">
            <a:avLst/>
          </a:prstGeom>
          <a:noFill/>
          <a:ln w="19050">
            <a:solidFill>
              <a:srgbClr val="C9A84C"/>
            </a:solidFill>
            <a:prstDash val="solid"/>
          </a:ln>
        </p:spPr>
        <p:txBody>
          <a:bodyPr/>
          <a:lstStyle/>
          <a:p>
            <a:endParaRPr lang="en-US"/>
          </a:p>
        </p:txBody>
      </p:sp>
      <p:sp>
        <p:nvSpPr>
          <p:cNvPr id="25" name="Text 23"/>
          <p:cNvSpPr/>
          <p:nvPr/>
        </p:nvSpPr>
        <p:spPr>
          <a:xfrm>
            <a:off x="6501384" y="3703320"/>
            <a:ext cx="2331720" cy="365760"/>
          </a:xfrm>
          <a:prstGeom prst="rect">
            <a:avLst/>
          </a:prstGeom>
          <a:noFill/>
          <a:ln/>
        </p:spPr>
        <p:txBody>
          <a:bodyPr wrap="square" lIns="0" tIns="0" rIns="0" bIns="0" rtlCol="0" anchor="t"/>
          <a:lstStyle/>
          <a:p>
            <a:pPr algn="ctr"/>
            <a:r>
              <a:rPr lang="en-US" sz="1900" b="1">
                <a:solidFill>
                  <a:srgbClr val="171738"/>
                </a:solidFill>
                <a:latin typeface="Georgia" pitchFamily="34" charset="0"/>
                <a:ea typeface="Georgia" pitchFamily="34" charset="-122"/>
                <a:cs typeface="Georgia" pitchFamily="34" charset="-120"/>
              </a:rPr>
              <a:t>Chris Callahan</a:t>
            </a:r>
            <a:endParaRPr lang="en-US" sz="1900"/>
          </a:p>
        </p:txBody>
      </p:sp>
      <p:sp>
        <p:nvSpPr>
          <p:cNvPr id="26" name="Text 24"/>
          <p:cNvSpPr/>
          <p:nvPr/>
        </p:nvSpPr>
        <p:spPr>
          <a:xfrm>
            <a:off x="6501384" y="4114800"/>
            <a:ext cx="2331720" cy="640080"/>
          </a:xfrm>
          <a:prstGeom prst="rect">
            <a:avLst/>
          </a:prstGeom>
          <a:noFill/>
          <a:ln/>
        </p:spPr>
        <p:txBody>
          <a:bodyPr wrap="square" lIns="0" tIns="0" rIns="0" bIns="0" rtlCol="0" anchor="t"/>
          <a:lstStyle/>
          <a:p>
            <a:pPr algn="ctr">
              <a:lnSpc>
                <a:spcPct val="120000"/>
              </a:lnSpc>
            </a:pPr>
            <a:r>
              <a:rPr lang="en-US" sz="1650">
                <a:solidFill>
                  <a:srgbClr val="8B7355"/>
                </a:solidFill>
                <a:latin typeface="Calibri"/>
                <a:ea typeface="Calibri"/>
                <a:cs typeface="Calibri"/>
              </a:rPr>
              <a:t>Director of Relationship Management</a:t>
            </a:r>
            <a:endParaRPr lang="en-US" sz="1650">
              <a:solidFill>
                <a:srgbClr val="8B7355"/>
              </a:solidFill>
              <a:ea typeface="Calibri"/>
              <a:cs typeface="Calibri"/>
            </a:endParaRPr>
          </a:p>
        </p:txBody>
      </p:sp>
      <p:sp>
        <p:nvSpPr>
          <p:cNvPr id="27" name="Shape 25"/>
          <p:cNvSpPr/>
          <p:nvPr/>
        </p:nvSpPr>
        <p:spPr>
          <a:xfrm>
            <a:off x="9272016"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28" name="Shape 26"/>
          <p:cNvSpPr/>
          <p:nvPr/>
        </p:nvSpPr>
        <p:spPr>
          <a:xfrm>
            <a:off x="9272016"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30" name="Shape 28"/>
          <p:cNvSpPr/>
          <p:nvPr/>
        </p:nvSpPr>
        <p:spPr>
          <a:xfrm>
            <a:off x="9546336" y="3566160"/>
            <a:ext cx="2057400" cy="0"/>
          </a:xfrm>
          <a:prstGeom prst="line">
            <a:avLst/>
          </a:prstGeom>
          <a:noFill/>
          <a:ln w="19050">
            <a:solidFill>
              <a:srgbClr val="C9A84C"/>
            </a:solidFill>
            <a:prstDash val="solid"/>
          </a:ln>
        </p:spPr>
        <p:txBody>
          <a:bodyPr/>
          <a:lstStyle/>
          <a:p>
            <a:endParaRPr lang="en-US"/>
          </a:p>
        </p:txBody>
      </p:sp>
      <p:sp>
        <p:nvSpPr>
          <p:cNvPr id="31" name="Text 29"/>
          <p:cNvSpPr/>
          <p:nvPr/>
        </p:nvSpPr>
        <p:spPr>
          <a:xfrm>
            <a:off x="9409176" y="3703320"/>
            <a:ext cx="2331720" cy="365760"/>
          </a:xfrm>
          <a:prstGeom prst="rect">
            <a:avLst/>
          </a:prstGeom>
          <a:noFill/>
          <a:ln/>
        </p:spPr>
        <p:txBody>
          <a:bodyPr wrap="square" lIns="0" tIns="0" rIns="0" bIns="0" rtlCol="0" anchor="t"/>
          <a:lstStyle/>
          <a:p>
            <a:pPr marL="0" indent="0" algn="ctr">
              <a:buNone/>
            </a:pPr>
            <a:r>
              <a:rPr lang="en-US" sz="1900" b="1">
                <a:solidFill>
                  <a:srgbClr val="171738"/>
                </a:solidFill>
                <a:latin typeface="Georgia" pitchFamily="34" charset="0"/>
                <a:ea typeface="Georgia" pitchFamily="34" charset="-122"/>
                <a:cs typeface="Georgia" pitchFamily="34" charset="-120"/>
              </a:rPr>
              <a:t>Ray Marie Fenger</a:t>
            </a:r>
            <a:endParaRPr lang="en-US" sz="1900"/>
          </a:p>
        </p:txBody>
      </p:sp>
      <p:sp>
        <p:nvSpPr>
          <p:cNvPr id="32" name="Text 30"/>
          <p:cNvSpPr/>
          <p:nvPr/>
        </p:nvSpPr>
        <p:spPr>
          <a:xfrm>
            <a:off x="9409176" y="4114800"/>
            <a:ext cx="2331720" cy="502920"/>
          </a:xfrm>
          <a:prstGeom prst="rect">
            <a:avLst/>
          </a:prstGeom>
          <a:noFill/>
          <a:ln/>
        </p:spPr>
        <p:txBody>
          <a:bodyPr wrap="square" lIns="0" tIns="0" rIns="0" bIns="0" rtlCol="0" anchor="t"/>
          <a:lstStyle/>
          <a:p>
            <a:pPr algn="ctr">
              <a:lnSpc>
                <a:spcPct val="120000"/>
              </a:lnSpc>
            </a:pPr>
            <a:r>
              <a:rPr lang="en-US" sz="1650">
                <a:solidFill>
                  <a:srgbClr val="8B7355"/>
                </a:solidFill>
                <a:latin typeface="Calibri"/>
                <a:ea typeface="Calibri"/>
                <a:cs typeface="Calibri"/>
              </a:rPr>
              <a:t>Chief Compliance Officer &amp; Director of Operations</a:t>
            </a:r>
            <a:endParaRPr lang="en-US" sz="1650" err="1"/>
          </a:p>
        </p:txBody>
      </p:sp>
      <p:pic>
        <p:nvPicPr>
          <p:cNvPr id="34" name="Picture 33">
            <a:extLst>
              <a:ext uri="{FF2B5EF4-FFF2-40B4-BE49-F238E27FC236}">
                <a16:creationId xmlns:a16="http://schemas.microsoft.com/office/drawing/2014/main" id="{1A089032-E076-8CBA-ED15-ECA04CEF1F8C}"/>
              </a:ext>
            </a:extLst>
          </p:cNvPr>
          <p:cNvPicPr>
            <a:picLocks noChangeAspect="1"/>
          </p:cNvPicPr>
          <p:nvPr/>
        </p:nvPicPr>
        <p:blipFill>
          <a:blip r:embed="rId3"/>
          <a:stretch>
            <a:fillRect/>
          </a:stretch>
        </p:blipFill>
        <p:spPr>
          <a:xfrm>
            <a:off x="6929609" y="1884611"/>
            <a:ext cx="1366533" cy="1704409"/>
          </a:xfrm>
          <a:prstGeom prst="ellipse">
            <a:avLst/>
          </a:prstGeom>
          <a:ln>
            <a:noFill/>
          </a:ln>
          <a:effectLst>
            <a:softEdge rad="112500"/>
          </a:effectLst>
        </p:spPr>
      </p:pic>
      <p:pic>
        <p:nvPicPr>
          <p:cNvPr id="38" name="Picture 37">
            <a:extLst>
              <a:ext uri="{FF2B5EF4-FFF2-40B4-BE49-F238E27FC236}">
                <a16:creationId xmlns:a16="http://schemas.microsoft.com/office/drawing/2014/main" id="{DBC7EA75-05A9-5D1D-FCFB-9273444BEA40}"/>
              </a:ext>
            </a:extLst>
          </p:cNvPr>
          <p:cNvPicPr>
            <a:picLocks noChangeAspect="1"/>
          </p:cNvPicPr>
          <p:nvPr/>
        </p:nvPicPr>
        <p:blipFill>
          <a:blip r:embed="rId4"/>
          <a:stretch>
            <a:fillRect/>
          </a:stretch>
        </p:blipFill>
        <p:spPr>
          <a:xfrm>
            <a:off x="3840480" y="1884611"/>
            <a:ext cx="1655115" cy="1655115"/>
          </a:xfrm>
          <a:prstGeom prst="ellipse">
            <a:avLst/>
          </a:prstGeom>
          <a:ln>
            <a:noFill/>
          </a:ln>
          <a:effectLst>
            <a:softEdge rad="112500"/>
          </a:effectLst>
        </p:spPr>
      </p:pic>
      <p:pic>
        <p:nvPicPr>
          <p:cNvPr id="40" name="Picture 39">
            <a:extLst>
              <a:ext uri="{FF2B5EF4-FFF2-40B4-BE49-F238E27FC236}">
                <a16:creationId xmlns:a16="http://schemas.microsoft.com/office/drawing/2014/main" id="{C6AC953E-A470-B52B-22C0-2638FB09D775}"/>
              </a:ext>
            </a:extLst>
          </p:cNvPr>
          <p:cNvPicPr>
            <a:picLocks noChangeAspect="1"/>
          </p:cNvPicPr>
          <p:nvPr/>
        </p:nvPicPr>
        <p:blipFill>
          <a:blip r:embed="rId5"/>
          <a:stretch>
            <a:fillRect/>
          </a:stretch>
        </p:blipFill>
        <p:spPr>
          <a:xfrm>
            <a:off x="1309116" y="1865376"/>
            <a:ext cx="1085088" cy="1627632"/>
          </a:xfrm>
          <a:prstGeom prst="ellipse">
            <a:avLst/>
          </a:prstGeom>
          <a:ln>
            <a:noFill/>
          </a:ln>
          <a:effectLst>
            <a:softEdge rad="112500"/>
          </a:effectLst>
        </p:spPr>
      </p:pic>
      <p:pic>
        <p:nvPicPr>
          <p:cNvPr id="42" name="Picture 41">
            <a:extLst>
              <a:ext uri="{FF2B5EF4-FFF2-40B4-BE49-F238E27FC236}">
                <a16:creationId xmlns:a16="http://schemas.microsoft.com/office/drawing/2014/main" id="{81202718-19DF-B65E-D388-42663199CD46}"/>
              </a:ext>
            </a:extLst>
          </p:cNvPr>
          <p:cNvPicPr>
            <a:picLocks noChangeAspect="1"/>
          </p:cNvPicPr>
          <p:nvPr/>
        </p:nvPicPr>
        <p:blipFill>
          <a:blip r:embed="rId6"/>
          <a:stretch>
            <a:fillRect/>
          </a:stretch>
        </p:blipFill>
        <p:spPr>
          <a:xfrm>
            <a:off x="9921837" y="1755648"/>
            <a:ext cx="1306398" cy="1802385"/>
          </a:xfrm>
          <a:prstGeom prst="ellipse">
            <a:avLst/>
          </a:prstGeom>
          <a:ln>
            <a:noFill/>
          </a:ln>
          <a:effectLst>
            <a:softEdge rad="112500"/>
          </a:effectLst>
        </p:spPr>
      </p:pic>
      <p:pic>
        <p:nvPicPr>
          <p:cNvPr id="43" name="Paradiem Logo" descr="paradiem-logo-navy.png"/>
          <p:cNvPicPr>
            <a:picLocks noChangeAspect="1"/>
          </p:cNvPicPr>
          <p:nvPr/>
        </p:nvPicPr>
        <p:blipFill>
          <a:blip r:embed="rId7"/>
          <a:stretch>
            <a:fillRect/>
          </a:stretch>
        </p:blipFill>
        <p:spPr>
          <a:xfrm>
            <a:off x="10241584" y="192024"/>
            <a:ext cx="1401775" cy="406047"/>
          </a:xfrm>
          <a:prstGeom prst="rect">
            <a:avLst/>
          </a:prstGeom>
        </p:spPr>
      </p:pic>
      <p:sp>
        <p:nvSpPr>
          <p:cNvPr id="44"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800">
                <a:solidFill>
                  <a:srgbClr val="171738"/>
                </a:solidFill>
                <a:latin typeface="Georgia" pitchFamily="34" charset="0"/>
                <a:ea typeface="Georgia" pitchFamily="34" charset="-122"/>
                <a:cs typeface="Georgia" pitchFamily="34" charset="-120"/>
              </a:rPr>
              <a:t>Your Team &amp; Advocates</a:t>
            </a:r>
            <a:endParaRPr lang="en-US" sz="28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10" name="Shape 8"/>
          <p:cNvSpPr/>
          <p:nvPr/>
        </p:nvSpPr>
        <p:spPr>
          <a:xfrm>
            <a:off x="548640"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12" name="Shape 10"/>
          <p:cNvSpPr/>
          <p:nvPr/>
        </p:nvSpPr>
        <p:spPr>
          <a:xfrm>
            <a:off x="822960" y="3566160"/>
            <a:ext cx="2057400" cy="0"/>
          </a:xfrm>
          <a:prstGeom prst="line">
            <a:avLst/>
          </a:prstGeom>
          <a:noFill/>
          <a:ln w="19050">
            <a:solidFill>
              <a:srgbClr val="C9A84C"/>
            </a:solidFill>
            <a:prstDash val="solid"/>
          </a:ln>
        </p:spPr>
        <p:txBody>
          <a:bodyPr/>
          <a:lstStyle/>
          <a:p>
            <a:endParaRPr lang="en-US"/>
          </a:p>
        </p:txBody>
      </p:sp>
      <p:sp>
        <p:nvSpPr>
          <p:cNvPr id="13" name="Text 11"/>
          <p:cNvSpPr/>
          <p:nvPr/>
        </p:nvSpPr>
        <p:spPr>
          <a:xfrm>
            <a:off x="685800" y="3703320"/>
            <a:ext cx="2331720" cy="365760"/>
          </a:xfrm>
          <a:prstGeom prst="rect">
            <a:avLst/>
          </a:prstGeom>
          <a:noFill/>
          <a:ln/>
        </p:spPr>
        <p:txBody>
          <a:bodyPr wrap="square" lIns="0" tIns="0" rIns="0" bIns="0" rtlCol="0" anchor="t"/>
          <a:lstStyle/>
          <a:p>
            <a:pPr marL="0" indent="0" algn="ctr">
              <a:buNone/>
            </a:pPr>
            <a:r>
              <a:rPr lang="en-US" sz="1900" b="1">
                <a:solidFill>
                  <a:srgbClr val="171738"/>
                </a:solidFill>
                <a:latin typeface="Georgia" pitchFamily="34" charset="0"/>
                <a:ea typeface="Georgia" pitchFamily="34" charset="-122"/>
                <a:cs typeface="Georgia" pitchFamily="34" charset="-120"/>
              </a:rPr>
              <a:t>Dani Wauchope</a:t>
            </a:r>
            <a:endParaRPr lang="en-US" sz="1900"/>
          </a:p>
        </p:txBody>
      </p:sp>
      <p:sp>
        <p:nvSpPr>
          <p:cNvPr id="14" name="Text 12"/>
          <p:cNvSpPr/>
          <p:nvPr/>
        </p:nvSpPr>
        <p:spPr>
          <a:xfrm>
            <a:off x="685800" y="4114800"/>
            <a:ext cx="2331720" cy="502920"/>
          </a:xfrm>
          <a:prstGeom prst="rect">
            <a:avLst/>
          </a:prstGeom>
          <a:noFill/>
          <a:ln/>
        </p:spPr>
        <p:txBody>
          <a:bodyPr wrap="square" lIns="0" tIns="0" rIns="0" bIns="0" rtlCol="0" anchor="t"/>
          <a:lstStyle/>
          <a:p>
            <a:pPr marL="0" indent="0" algn="ctr">
              <a:lnSpc>
                <a:spcPct val="120000"/>
              </a:lnSpc>
              <a:buNone/>
            </a:pPr>
            <a:r>
              <a:rPr lang="en-US" sz="1650">
                <a:solidFill>
                  <a:srgbClr val="8B7355"/>
                </a:solidFill>
                <a:latin typeface="Calibri" pitchFamily="34" charset="0"/>
                <a:ea typeface="Calibri" pitchFamily="34" charset="-122"/>
                <a:cs typeface="Calibri" pitchFamily="34" charset="-120"/>
              </a:rPr>
              <a:t>Chief Planning Strategist</a:t>
            </a:r>
            <a:endParaRPr lang="en-US" sz="1650"/>
          </a:p>
        </p:txBody>
      </p:sp>
      <p:sp>
        <p:nvSpPr>
          <p:cNvPr id="15" name="Shape 13"/>
          <p:cNvSpPr/>
          <p:nvPr/>
        </p:nvSpPr>
        <p:spPr>
          <a:xfrm>
            <a:off x="3456432"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16" name="Shape 14"/>
          <p:cNvSpPr/>
          <p:nvPr/>
        </p:nvSpPr>
        <p:spPr>
          <a:xfrm>
            <a:off x="3456432"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18" name="Shape 16"/>
          <p:cNvSpPr/>
          <p:nvPr/>
        </p:nvSpPr>
        <p:spPr>
          <a:xfrm>
            <a:off x="3730752" y="3566160"/>
            <a:ext cx="2057400" cy="0"/>
          </a:xfrm>
          <a:prstGeom prst="line">
            <a:avLst/>
          </a:prstGeom>
          <a:noFill/>
          <a:ln w="19050">
            <a:solidFill>
              <a:srgbClr val="C9A84C"/>
            </a:solidFill>
            <a:prstDash val="solid"/>
          </a:ln>
        </p:spPr>
        <p:txBody>
          <a:bodyPr/>
          <a:lstStyle/>
          <a:p>
            <a:endParaRPr lang="en-US"/>
          </a:p>
        </p:txBody>
      </p:sp>
      <p:sp>
        <p:nvSpPr>
          <p:cNvPr id="19" name="Text 17"/>
          <p:cNvSpPr/>
          <p:nvPr/>
        </p:nvSpPr>
        <p:spPr>
          <a:xfrm>
            <a:off x="3593592" y="3703320"/>
            <a:ext cx="2331720" cy="365760"/>
          </a:xfrm>
          <a:prstGeom prst="rect">
            <a:avLst/>
          </a:prstGeom>
          <a:noFill/>
          <a:ln/>
        </p:spPr>
        <p:txBody>
          <a:bodyPr wrap="square" lIns="0" tIns="0" rIns="0" bIns="0" rtlCol="0" anchor="t"/>
          <a:lstStyle/>
          <a:p>
            <a:pPr marL="0" indent="0" algn="ctr">
              <a:buNone/>
            </a:pPr>
            <a:r>
              <a:rPr lang="en-US" sz="1900" b="1">
                <a:solidFill>
                  <a:srgbClr val="171738"/>
                </a:solidFill>
                <a:latin typeface="Georgia" pitchFamily="34" charset="0"/>
                <a:ea typeface="Georgia" pitchFamily="34" charset="-122"/>
                <a:cs typeface="Georgia" pitchFamily="34" charset="-120"/>
              </a:rPr>
              <a:t>Carl Drury</a:t>
            </a:r>
            <a:endParaRPr lang="en-US" sz="1900"/>
          </a:p>
        </p:txBody>
      </p:sp>
      <p:sp>
        <p:nvSpPr>
          <p:cNvPr id="20" name="Text 18"/>
          <p:cNvSpPr/>
          <p:nvPr/>
        </p:nvSpPr>
        <p:spPr>
          <a:xfrm>
            <a:off x="3593592" y="4114800"/>
            <a:ext cx="2331720" cy="502920"/>
          </a:xfrm>
          <a:prstGeom prst="rect">
            <a:avLst/>
          </a:prstGeom>
          <a:noFill/>
          <a:ln/>
        </p:spPr>
        <p:txBody>
          <a:bodyPr wrap="square" lIns="0" tIns="0" rIns="0" bIns="0" rtlCol="0" anchor="t"/>
          <a:lstStyle/>
          <a:p>
            <a:pPr marL="0" indent="0" algn="ctr">
              <a:lnSpc>
                <a:spcPct val="120000"/>
              </a:lnSpc>
              <a:buNone/>
            </a:pPr>
            <a:r>
              <a:rPr lang="en-US" sz="1650">
                <a:solidFill>
                  <a:srgbClr val="8B7355"/>
                </a:solidFill>
                <a:latin typeface="Calibri" pitchFamily="34" charset="0"/>
                <a:ea typeface="Calibri" pitchFamily="34" charset="-122"/>
                <a:cs typeface="Calibri" pitchFamily="34" charset="-120"/>
              </a:rPr>
              <a:t>Senior Planning Strategist</a:t>
            </a:r>
            <a:endParaRPr lang="en-US" sz="1650"/>
          </a:p>
        </p:txBody>
      </p:sp>
      <p:sp>
        <p:nvSpPr>
          <p:cNvPr id="21" name="Shape 19"/>
          <p:cNvSpPr/>
          <p:nvPr/>
        </p:nvSpPr>
        <p:spPr>
          <a:xfrm>
            <a:off x="6364224"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22" name="Shape 20"/>
          <p:cNvSpPr/>
          <p:nvPr/>
        </p:nvSpPr>
        <p:spPr>
          <a:xfrm>
            <a:off x="6364224"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24" name="Shape 22"/>
          <p:cNvSpPr/>
          <p:nvPr/>
        </p:nvSpPr>
        <p:spPr>
          <a:xfrm>
            <a:off x="6638544" y="3566160"/>
            <a:ext cx="2057400" cy="0"/>
          </a:xfrm>
          <a:prstGeom prst="line">
            <a:avLst/>
          </a:prstGeom>
          <a:noFill/>
          <a:ln w="19050">
            <a:solidFill>
              <a:srgbClr val="C9A84C"/>
            </a:solidFill>
            <a:prstDash val="solid"/>
          </a:ln>
        </p:spPr>
        <p:txBody>
          <a:bodyPr/>
          <a:lstStyle/>
          <a:p>
            <a:endParaRPr lang="en-US"/>
          </a:p>
        </p:txBody>
      </p:sp>
      <p:sp>
        <p:nvSpPr>
          <p:cNvPr id="25" name="Text 23"/>
          <p:cNvSpPr/>
          <p:nvPr/>
        </p:nvSpPr>
        <p:spPr>
          <a:xfrm>
            <a:off x="6501384" y="3703320"/>
            <a:ext cx="2331720" cy="365760"/>
          </a:xfrm>
          <a:prstGeom prst="rect">
            <a:avLst/>
          </a:prstGeom>
          <a:noFill/>
          <a:ln/>
        </p:spPr>
        <p:txBody>
          <a:bodyPr wrap="square" lIns="0" tIns="0" rIns="0" bIns="0" rtlCol="0" anchor="t"/>
          <a:lstStyle/>
          <a:p>
            <a:pPr algn="ctr"/>
            <a:r>
              <a:rPr lang="en-US" sz="1900" b="1">
                <a:solidFill>
                  <a:srgbClr val="171738"/>
                </a:solidFill>
                <a:latin typeface="Georgia" pitchFamily="34" charset="0"/>
                <a:ea typeface="Georgia" pitchFamily="34" charset="-122"/>
                <a:cs typeface="Georgia" pitchFamily="34" charset="-120"/>
              </a:rPr>
              <a:t>Thea Lowery</a:t>
            </a:r>
            <a:endParaRPr lang="en-US" sz="1900"/>
          </a:p>
        </p:txBody>
      </p:sp>
      <p:sp>
        <p:nvSpPr>
          <p:cNvPr id="26" name="Text 24"/>
          <p:cNvSpPr/>
          <p:nvPr/>
        </p:nvSpPr>
        <p:spPr>
          <a:xfrm>
            <a:off x="6501384" y="4114800"/>
            <a:ext cx="2331720" cy="502920"/>
          </a:xfrm>
          <a:prstGeom prst="rect">
            <a:avLst/>
          </a:prstGeom>
          <a:noFill/>
          <a:ln/>
        </p:spPr>
        <p:txBody>
          <a:bodyPr wrap="square" lIns="0" tIns="0" rIns="0" bIns="0" rtlCol="0" anchor="t"/>
          <a:lstStyle/>
          <a:p>
            <a:pPr algn="ctr">
              <a:lnSpc>
                <a:spcPct val="120000"/>
              </a:lnSpc>
            </a:pPr>
            <a:r>
              <a:rPr lang="en-US" sz="1650">
                <a:solidFill>
                  <a:srgbClr val="8B7355"/>
                </a:solidFill>
                <a:latin typeface="Calibri" pitchFamily="34" charset="0"/>
                <a:ea typeface="Calibri" pitchFamily="34" charset="-122"/>
                <a:cs typeface="Calibri" pitchFamily="34" charset="-120"/>
              </a:rPr>
              <a:t>Chief Relational Strategist</a:t>
            </a:r>
            <a:endParaRPr lang="en-US" sz="1650"/>
          </a:p>
        </p:txBody>
      </p:sp>
      <p:sp>
        <p:nvSpPr>
          <p:cNvPr id="27" name="Shape 25"/>
          <p:cNvSpPr/>
          <p:nvPr/>
        </p:nvSpPr>
        <p:spPr>
          <a:xfrm>
            <a:off x="9272016"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28" name="Shape 26"/>
          <p:cNvSpPr/>
          <p:nvPr/>
        </p:nvSpPr>
        <p:spPr>
          <a:xfrm>
            <a:off x="9272016"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30" name="Shape 28"/>
          <p:cNvSpPr/>
          <p:nvPr/>
        </p:nvSpPr>
        <p:spPr>
          <a:xfrm>
            <a:off x="9546336" y="3566160"/>
            <a:ext cx="2057400" cy="0"/>
          </a:xfrm>
          <a:prstGeom prst="line">
            <a:avLst/>
          </a:prstGeom>
          <a:noFill/>
          <a:ln w="19050">
            <a:solidFill>
              <a:srgbClr val="C9A84C"/>
            </a:solidFill>
            <a:prstDash val="solid"/>
          </a:ln>
        </p:spPr>
        <p:txBody>
          <a:bodyPr/>
          <a:lstStyle/>
          <a:p>
            <a:endParaRPr lang="en-US"/>
          </a:p>
        </p:txBody>
      </p:sp>
      <p:sp>
        <p:nvSpPr>
          <p:cNvPr id="31" name="Text 29"/>
          <p:cNvSpPr/>
          <p:nvPr/>
        </p:nvSpPr>
        <p:spPr>
          <a:xfrm>
            <a:off x="9409176" y="3703320"/>
            <a:ext cx="2331720" cy="365760"/>
          </a:xfrm>
          <a:prstGeom prst="rect">
            <a:avLst/>
          </a:prstGeom>
          <a:noFill/>
          <a:ln/>
        </p:spPr>
        <p:txBody>
          <a:bodyPr wrap="square" lIns="0" tIns="0" rIns="0" bIns="0" rtlCol="0" anchor="t"/>
          <a:lstStyle/>
          <a:p>
            <a:pPr marL="0" indent="0" algn="ctr">
              <a:buNone/>
            </a:pPr>
            <a:r>
              <a:rPr lang="en-US" sz="1900" b="1">
                <a:solidFill>
                  <a:srgbClr val="171738"/>
                </a:solidFill>
                <a:latin typeface="Georgia" pitchFamily="34" charset="0"/>
                <a:ea typeface="Georgia" pitchFamily="34" charset="-122"/>
                <a:cs typeface="Georgia" pitchFamily="34" charset="-120"/>
              </a:rPr>
              <a:t>Caleb Kelso Jr.</a:t>
            </a:r>
            <a:endParaRPr lang="en-US" sz="1900"/>
          </a:p>
        </p:txBody>
      </p:sp>
      <p:sp>
        <p:nvSpPr>
          <p:cNvPr id="32" name="Text 30"/>
          <p:cNvSpPr/>
          <p:nvPr/>
        </p:nvSpPr>
        <p:spPr>
          <a:xfrm>
            <a:off x="9409176" y="4114800"/>
            <a:ext cx="2331720" cy="502920"/>
          </a:xfrm>
          <a:prstGeom prst="rect">
            <a:avLst/>
          </a:prstGeom>
          <a:noFill/>
          <a:ln/>
        </p:spPr>
        <p:txBody>
          <a:bodyPr wrap="square" lIns="0" tIns="0" rIns="0" bIns="0" rtlCol="0" anchor="t"/>
          <a:lstStyle/>
          <a:p>
            <a:pPr marL="0" indent="0" algn="ctr">
              <a:lnSpc>
                <a:spcPct val="120000"/>
              </a:lnSpc>
              <a:buNone/>
            </a:pPr>
            <a:r>
              <a:rPr lang="en-US" sz="1650">
                <a:solidFill>
                  <a:srgbClr val="8B7355"/>
                </a:solidFill>
                <a:latin typeface="Calibri" pitchFamily="34" charset="0"/>
                <a:ea typeface="Calibri" pitchFamily="34" charset="-122"/>
                <a:cs typeface="Calibri" pitchFamily="34" charset="-120"/>
              </a:rPr>
              <a:t>Financial Planning</a:t>
            </a:r>
            <a:endParaRPr lang="en-US" sz="1650"/>
          </a:p>
          <a:p>
            <a:pPr marL="0" indent="0" algn="ctr">
              <a:lnSpc>
                <a:spcPct val="120000"/>
              </a:lnSpc>
              <a:buNone/>
            </a:pPr>
            <a:r>
              <a:rPr lang="en-US" sz="1650">
                <a:solidFill>
                  <a:srgbClr val="8B7355"/>
                </a:solidFill>
                <a:latin typeface="Calibri" pitchFamily="34" charset="0"/>
                <a:ea typeface="Calibri" pitchFamily="34" charset="-122"/>
                <a:cs typeface="Calibri" pitchFamily="34" charset="-120"/>
              </a:rPr>
              <a:t>Associate</a:t>
            </a:r>
            <a:endParaRPr lang="en-US" sz="1650"/>
          </a:p>
        </p:txBody>
      </p:sp>
      <p:pic>
        <p:nvPicPr>
          <p:cNvPr id="36" name="Picture 35">
            <a:extLst>
              <a:ext uri="{FF2B5EF4-FFF2-40B4-BE49-F238E27FC236}">
                <a16:creationId xmlns:a16="http://schemas.microsoft.com/office/drawing/2014/main" id="{79515436-8439-0B19-BC54-7DBFB624F43A}"/>
              </a:ext>
            </a:extLst>
          </p:cNvPr>
          <p:cNvPicPr>
            <a:picLocks noChangeAspect="1"/>
          </p:cNvPicPr>
          <p:nvPr/>
        </p:nvPicPr>
        <p:blipFill>
          <a:blip r:embed="rId3"/>
          <a:stretch>
            <a:fillRect/>
          </a:stretch>
        </p:blipFill>
        <p:spPr>
          <a:xfrm>
            <a:off x="4020209" y="1965960"/>
            <a:ext cx="1495044" cy="1495044"/>
          </a:xfrm>
          <a:prstGeom prst="ellipse">
            <a:avLst/>
          </a:prstGeom>
          <a:ln>
            <a:noFill/>
          </a:ln>
          <a:effectLst>
            <a:softEdge rad="112500"/>
          </a:effectLst>
        </p:spPr>
      </p:pic>
      <p:pic>
        <p:nvPicPr>
          <p:cNvPr id="38" name="Picture 37">
            <a:extLst>
              <a:ext uri="{FF2B5EF4-FFF2-40B4-BE49-F238E27FC236}">
                <a16:creationId xmlns:a16="http://schemas.microsoft.com/office/drawing/2014/main" id="{7F171F31-00E4-E8DD-B00D-4F7F28B0B8F0}"/>
              </a:ext>
            </a:extLst>
          </p:cNvPr>
          <p:cNvPicPr>
            <a:picLocks noChangeAspect="1"/>
          </p:cNvPicPr>
          <p:nvPr/>
        </p:nvPicPr>
        <p:blipFill>
          <a:blip r:embed="rId4"/>
          <a:stretch>
            <a:fillRect/>
          </a:stretch>
        </p:blipFill>
        <p:spPr>
          <a:xfrm>
            <a:off x="1198027" y="1801368"/>
            <a:ext cx="1339935" cy="1737360"/>
          </a:xfrm>
          <a:prstGeom prst="ellipse">
            <a:avLst/>
          </a:prstGeom>
          <a:ln>
            <a:noFill/>
          </a:ln>
          <a:effectLst>
            <a:softEdge rad="112500"/>
          </a:effectLst>
        </p:spPr>
      </p:pic>
      <p:pic>
        <p:nvPicPr>
          <p:cNvPr id="1026" name="Picture 2">
            <a:extLst>
              <a:ext uri="{FF2B5EF4-FFF2-40B4-BE49-F238E27FC236}">
                <a16:creationId xmlns:a16="http://schemas.microsoft.com/office/drawing/2014/main" id="{6480055D-4706-B9F9-355A-C54D5FC163B3}"/>
              </a:ext>
            </a:extLst>
          </p:cNvPr>
          <p:cNvPicPr>
            <a:picLocks noChangeAspect="1" noChangeArrowheads="1"/>
          </p:cNvPicPr>
          <p:nvPr/>
        </p:nvPicPr>
        <p:blipFill>
          <a:blip r:embed="rId5"/>
          <a:srcRect t="1162" b="1162"/>
          <a:stretch/>
        </p:blipFill>
        <p:spPr bwMode="auto">
          <a:xfrm>
            <a:off x="10033517" y="1948957"/>
            <a:ext cx="1083038" cy="1530996"/>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45B147E3-C103-EE32-DB3F-B63CF9D74376}"/>
              </a:ext>
            </a:extLst>
          </p:cNvPr>
          <p:cNvPicPr>
            <a:picLocks noChangeAspect="1"/>
          </p:cNvPicPr>
          <p:nvPr/>
        </p:nvPicPr>
        <p:blipFill>
          <a:blip r:embed="rId6"/>
          <a:stretch>
            <a:fillRect/>
          </a:stretch>
        </p:blipFill>
        <p:spPr>
          <a:xfrm>
            <a:off x="6768998" y="1905808"/>
            <a:ext cx="1741517" cy="1555196"/>
          </a:xfrm>
          <a:prstGeom prst="ellipse">
            <a:avLst/>
          </a:prstGeom>
          <a:ln>
            <a:noFill/>
          </a:ln>
          <a:effectLst>
            <a:softEdge rad="112500"/>
          </a:effectLst>
        </p:spPr>
      </p:pic>
      <p:pic>
        <p:nvPicPr>
          <p:cNvPr id="1027" name="Paradiem Logo" descr="paradiem-logo-navy.png"/>
          <p:cNvPicPr>
            <a:picLocks noChangeAspect="1"/>
          </p:cNvPicPr>
          <p:nvPr/>
        </p:nvPicPr>
        <p:blipFill>
          <a:blip r:embed="rId7"/>
          <a:stretch>
            <a:fillRect/>
          </a:stretch>
        </p:blipFill>
        <p:spPr>
          <a:xfrm>
            <a:off x="10241584" y="192024"/>
            <a:ext cx="1401775" cy="406047"/>
          </a:xfrm>
          <a:prstGeom prst="rect">
            <a:avLst/>
          </a:prstGeom>
        </p:spPr>
      </p:pic>
      <p:sp>
        <p:nvSpPr>
          <p:cNvPr id="1028"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58E552-68B1-75CF-0734-C87A6D30B56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5A23E0F-C0A5-C66C-1703-FBF8571020B4}"/>
              </a:ext>
            </a:extLst>
          </p:cNvPr>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4" name="Text 2">
            <a:extLst>
              <a:ext uri="{FF2B5EF4-FFF2-40B4-BE49-F238E27FC236}">
                <a16:creationId xmlns:a16="http://schemas.microsoft.com/office/drawing/2014/main" id="{D32357F7-4CCD-42AD-D984-CBA36F015F01}"/>
              </a:ext>
            </a:extLst>
          </p:cNvPr>
          <p:cNvSpPr/>
          <p:nvPr/>
        </p:nvSpPr>
        <p:spPr>
          <a:xfrm>
            <a:off x="548640" y="457200"/>
            <a:ext cx="10515600" cy="822960"/>
          </a:xfrm>
          <a:prstGeom prst="rect">
            <a:avLst/>
          </a:prstGeom>
          <a:noFill/>
          <a:ln/>
        </p:spPr>
        <p:txBody>
          <a:bodyPr wrap="square" lIns="0" tIns="0" rIns="0" bIns="0" rtlCol="0" anchor="t"/>
          <a:lstStyle/>
          <a:p>
            <a:pPr/>
            <a:r>
              <a:rPr lang="en-US" sz="2800">
                <a:solidFill>
                  <a:srgbClr val="171738"/>
                </a:solidFill>
                <a:latin typeface="Georgia" pitchFamily="34" charset="0"/>
                <a:ea typeface="Georgia" pitchFamily="34" charset="-122"/>
                <a:cs typeface="Georgia" pitchFamily="34" charset="-120"/>
              </a:rPr>
              <a:t>Your Team &amp; Advocates</a:t>
            </a:r>
            <a:endParaRPr lang="en-US" sz="2800"/>
          </a:p>
        </p:txBody>
      </p:sp>
      <p:sp>
        <p:nvSpPr>
          <p:cNvPr id="5" name="Shape 3">
            <a:extLst>
              <a:ext uri="{FF2B5EF4-FFF2-40B4-BE49-F238E27FC236}">
                <a16:creationId xmlns:a16="http://schemas.microsoft.com/office/drawing/2014/main" id="{57AA8D8C-0CF9-E29D-CE49-AFEE5BB433E8}"/>
              </a:ext>
            </a:extLst>
          </p:cNvPr>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a:extLst>
              <a:ext uri="{FF2B5EF4-FFF2-40B4-BE49-F238E27FC236}">
                <a16:creationId xmlns:a16="http://schemas.microsoft.com/office/drawing/2014/main" id="{7D11190B-EE14-6819-A82C-6F4210C58B62}"/>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a:extLst>
              <a:ext uri="{FF2B5EF4-FFF2-40B4-BE49-F238E27FC236}">
                <a16:creationId xmlns:a16="http://schemas.microsoft.com/office/drawing/2014/main" id="{4681885E-1C7D-573C-49C9-79020750FCDE}"/>
              </a:ext>
            </a:extLst>
          </p:cNvPr>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a:extLst>
              <a:ext uri="{FF2B5EF4-FFF2-40B4-BE49-F238E27FC236}">
                <a16:creationId xmlns:a16="http://schemas.microsoft.com/office/drawing/2014/main" id="{747B0896-8629-CA85-4C58-69D1FFB68621}"/>
              </a:ext>
            </a:extLst>
          </p:cNvPr>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a:extLst>
              <a:ext uri="{FF2B5EF4-FFF2-40B4-BE49-F238E27FC236}">
                <a16:creationId xmlns:a16="http://schemas.microsoft.com/office/drawing/2014/main" id="{70FF220D-F2F2-019C-D84F-70AA64001645}"/>
              </a:ext>
            </a:extLst>
          </p:cNvPr>
          <p:cNvSpPr/>
          <p:nvPr/>
        </p:nvSpPr>
        <p:spPr>
          <a:xfrm>
            <a:off x="548640"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10" name="Shape 8">
            <a:extLst>
              <a:ext uri="{FF2B5EF4-FFF2-40B4-BE49-F238E27FC236}">
                <a16:creationId xmlns:a16="http://schemas.microsoft.com/office/drawing/2014/main" id="{AC8C6684-F81E-2F91-8BDE-57C73F33A3F4}"/>
              </a:ext>
            </a:extLst>
          </p:cNvPr>
          <p:cNvSpPr/>
          <p:nvPr/>
        </p:nvSpPr>
        <p:spPr>
          <a:xfrm>
            <a:off x="548640"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12" name="Shape 10">
            <a:extLst>
              <a:ext uri="{FF2B5EF4-FFF2-40B4-BE49-F238E27FC236}">
                <a16:creationId xmlns:a16="http://schemas.microsoft.com/office/drawing/2014/main" id="{32919348-6019-EFED-2EF9-EE418FB053FA}"/>
              </a:ext>
            </a:extLst>
          </p:cNvPr>
          <p:cNvSpPr/>
          <p:nvPr/>
        </p:nvSpPr>
        <p:spPr>
          <a:xfrm>
            <a:off x="822960" y="3566160"/>
            <a:ext cx="2057400" cy="0"/>
          </a:xfrm>
          <a:prstGeom prst="line">
            <a:avLst/>
          </a:prstGeom>
          <a:noFill/>
          <a:ln w="19050">
            <a:solidFill>
              <a:srgbClr val="C9A84C"/>
            </a:solidFill>
            <a:prstDash val="solid"/>
          </a:ln>
        </p:spPr>
        <p:txBody>
          <a:bodyPr/>
          <a:lstStyle/>
          <a:p>
            <a:endParaRPr lang="en-US"/>
          </a:p>
        </p:txBody>
      </p:sp>
      <p:sp>
        <p:nvSpPr>
          <p:cNvPr id="13" name="Text 11">
            <a:extLst>
              <a:ext uri="{FF2B5EF4-FFF2-40B4-BE49-F238E27FC236}">
                <a16:creationId xmlns:a16="http://schemas.microsoft.com/office/drawing/2014/main" id="{8BCF3CB3-E556-358B-B792-F10AE86EC8EF}"/>
              </a:ext>
            </a:extLst>
          </p:cNvPr>
          <p:cNvSpPr/>
          <p:nvPr/>
        </p:nvSpPr>
        <p:spPr>
          <a:xfrm>
            <a:off x="685800" y="3703320"/>
            <a:ext cx="2331720" cy="365760"/>
          </a:xfrm>
          <a:prstGeom prst="rect">
            <a:avLst/>
          </a:prstGeom>
          <a:noFill/>
          <a:ln/>
        </p:spPr>
        <p:txBody>
          <a:bodyPr wrap="square" lIns="0" tIns="0" rIns="0" bIns="0" rtlCol="0" anchor="t"/>
          <a:lstStyle/>
          <a:p>
            <a:pPr marL="0" indent="0" algn="ctr">
              <a:buNone/>
            </a:pPr>
            <a:r>
              <a:rPr lang="en-US" sz="1900" b="1">
                <a:solidFill>
                  <a:srgbClr val="171738"/>
                </a:solidFill>
                <a:latin typeface="Georgia" pitchFamily="34" charset="0"/>
                <a:ea typeface="Georgia" pitchFamily="34" charset="-122"/>
                <a:cs typeface="Georgia" pitchFamily="34" charset="-120"/>
              </a:rPr>
              <a:t>Matthew Sullivan</a:t>
            </a:r>
            <a:endParaRPr lang="en-US" sz="1900"/>
          </a:p>
        </p:txBody>
      </p:sp>
      <p:sp>
        <p:nvSpPr>
          <p:cNvPr id="14" name="Text 12">
            <a:extLst>
              <a:ext uri="{FF2B5EF4-FFF2-40B4-BE49-F238E27FC236}">
                <a16:creationId xmlns:a16="http://schemas.microsoft.com/office/drawing/2014/main" id="{DC421FEA-C1F8-EDA1-DA65-520D917FE84A}"/>
              </a:ext>
            </a:extLst>
          </p:cNvPr>
          <p:cNvSpPr/>
          <p:nvPr/>
        </p:nvSpPr>
        <p:spPr>
          <a:xfrm>
            <a:off x="685800" y="4114800"/>
            <a:ext cx="2331720" cy="502920"/>
          </a:xfrm>
          <a:prstGeom prst="rect">
            <a:avLst/>
          </a:prstGeom>
          <a:noFill/>
          <a:ln/>
        </p:spPr>
        <p:txBody>
          <a:bodyPr wrap="square" lIns="0" tIns="0" rIns="0" bIns="0" rtlCol="0" anchor="t"/>
          <a:lstStyle/>
          <a:p>
            <a:pPr marL="0" indent="0" algn="ctr">
              <a:lnSpc>
                <a:spcPct val="120000"/>
              </a:lnSpc>
              <a:buNone/>
            </a:pPr>
            <a:r>
              <a:rPr lang="en-US" sz="1650">
                <a:solidFill>
                  <a:srgbClr val="8B7355"/>
                </a:solidFill>
                <a:latin typeface="Calibri" pitchFamily="34" charset="0"/>
                <a:ea typeface="Calibri" pitchFamily="34" charset="-122"/>
                <a:cs typeface="Calibri" pitchFamily="34" charset="-120"/>
              </a:rPr>
              <a:t>Relationship Manager </a:t>
            </a:r>
            <a:endParaRPr lang="en-US" sz="1650"/>
          </a:p>
        </p:txBody>
      </p:sp>
      <p:sp>
        <p:nvSpPr>
          <p:cNvPr id="15" name="Shape 13">
            <a:extLst>
              <a:ext uri="{FF2B5EF4-FFF2-40B4-BE49-F238E27FC236}">
                <a16:creationId xmlns:a16="http://schemas.microsoft.com/office/drawing/2014/main" id="{1DFE37E2-CBDA-3129-A75A-D5A327E657E1}"/>
              </a:ext>
            </a:extLst>
          </p:cNvPr>
          <p:cNvSpPr/>
          <p:nvPr/>
        </p:nvSpPr>
        <p:spPr>
          <a:xfrm>
            <a:off x="3456432"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16" name="Shape 14">
            <a:extLst>
              <a:ext uri="{FF2B5EF4-FFF2-40B4-BE49-F238E27FC236}">
                <a16:creationId xmlns:a16="http://schemas.microsoft.com/office/drawing/2014/main" id="{E720F017-6430-79E9-05CF-E348C01C3BD8}"/>
              </a:ext>
            </a:extLst>
          </p:cNvPr>
          <p:cNvSpPr/>
          <p:nvPr/>
        </p:nvSpPr>
        <p:spPr>
          <a:xfrm>
            <a:off x="3456432"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18" name="Shape 16">
            <a:extLst>
              <a:ext uri="{FF2B5EF4-FFF2-40B4-BE49-F238E27FC236}">
                <a16:creationId xmlns:a16="http://schemas.microsoft.com/office/drawing/2014/main" id="{6EA36400-E153-A094-ED2B-D7A49C6C5117}"/>
              </a:ext>
            </a:extLst>
          </p:cNvPr>
          <p:cNvSpPr/>
          <p:nvPr/>
        </p:nvSpPr>
        <p:spPr>
          <a:xfrm>
            <a:off x="3730752" y="3566160"/>
            <a:ext cx="2057400" cy="0"/>
          </a:xfrm>
          <a:prstGeom prst="line">
            <a:avLst/>
          </a:prstGeom>
          <a:noFill/>
          <a:ln w="19050">
            <a:solidFill>
              <a:srgbClr val="C9A84C"/>
            </a:solidFill>
            <a:prstDash val="solid"/>
          </a:ln>
        </p:spPr>
        <p:txBody>
          <a:bodyPr/>
          <a:lstStyle/>
          <a:p>
            <a:endParaRPr lang="en-US"/>
          </a:p>
        </p:txBody>
      </p:sp>
      <p:sp>
        <p:nvSpPr>
          <p:cNvPr id="19" name="Text 17">
            <a:extLst>
              <a:ext uri="{FF2B5EF4-FFF2-40B4-BE49-F238E27FC236}">
                <a16:creationId xmlns:a16="http://schemas.microsoft.com/office/drawing/2014/main" id="{6E082E28-5648-33E8-A611-2D034190B89D}"/>
              </a:ext>
            </a:extLst>
          </p:cNvPr>
          <p:cNvSpPr/>
          <p:nvPr/>
        </p:nvSpPr>
        <p:spPr>
          <a:xfrm>
            <a:off x="3546297" y="3703320"/>
            <a:ext cx="2502408" cy="365760"/>
          </a:xfrm>
          <a:prstGeom prst="rect">
            <a:avLst/>
          </a:prstGeom>
          <a:noFill/>
          <a:ln/>
        </p:spPr>
        <p:txBody>
          <a:bodyPr wrap="square" lIns="0" tIns="0" rIns="0" bIns="0" rtlCol="0" anchor="t"/>
          <a:lstStyle/>
          <a:p>
            <a:pPr marL="0" indent="0" algn="ctr">
              <a:buNone/>
            </a:pPr>
            <a:r>
              <a:rPr lang="en-US" sz="1900" b="1">
                <a:solidFill>
                  <a:srgbClr val="171738"/>
                </a:solidFill>
                <a:latin typeface="Georgia" pitchFamily="34" charset="0"/>
                <a:ea typeface="Georgia" pitchFamily="34" charset="-122"/>
                <a:cs typeface="Georgia" pitchFamily="34" charset="-120"/>
              </a:rPr>
              <a:t>Domnic Davenport</a:t>
            </a:r>
            <a:endParaRPr lang="en-US" sz="1900"/>
          </a:p>
        </p:txBody>
      </p:sp>
      <p:sp>
        <p:nvSpPr>
          <p:cNvPr id="20" name="Text 18">
            <a:extLst>
              <a:ext uri="{FF2B5EF4-FFF2-40B4-BE49-F238E27FC236}">
                <a16:creationId xmlns:a16="http://schemas.microsoft.com/office/drawing/2014/main" id="{EB45D4B4-ECC3-9D73-50BB-31F894818795}"/>
              </a:ext>
            </a:extLst>
          </p:cNvPr>
          <p:cNvSpPr/>
          <p:nvPr/>
        </p:nvSpPr>
        <p:spPr>
          <a:xfrm>
            <a:off x="3593592" y="4114800"/>
            <a:ext cx="2331720" cy="502920"/>
          </a:xfrm>
          <a:prstGeom prst="rect">
            <a:avLst/>
          </a:prstGeom>
          <a:noFill/>
          <a:ln/>
        </p:spPr>
        <p:txBody>
          <a:bodyPr wrap="square" lIns="0" tIns="0" rIns="0" bIns="0" rtlCol="0" anchor="t"/>
          <a:lstStyle/>
          <a:p>
            <a:pPr marL="0" indent="0" algn="ctr">
              <a:lnSpc>
                <a:spcPct val="120000"/>
              </a:lnSpc>
              <a:buNone/>
            </a:pPr>
            <a:r>
              <a:rPr lang="en-US" sz="1650">
                <a:solidFill>
                  <a:srgbClr val="8B7355"/>
                </a:solidFill>
                <a:latin typeface="Calibri" pitchFamily="34" charset="0"/>
                <a:ea typeface="Calibri" pitchFamily="34" charset="-122"/>
                <a:cs typeface="Calibri" pitchFamily="34" charset="-120"/>
              </a:rPr>
              <a:t>Associate Relationship Manager</a:t>
            </a:r>
            <a:endParaRPr lang="en-US" sz="1650"/>
          </a:p>
        </p:txBody>
      </p:sp>
      <p:sp>
        <p:nvSpPr>
          <p:cNvPr id="21" name="Shape 19">
            <a:extLst>
              <a:ext uri="{FF2B5EF4-FFF2-40B4-BE49-F238E27FC236}">
                <a16:creationId xmlns:a16="http://schemas.microsoft.com/office/drawing/2014/main" id="{EF51BCBA-3FF4-03BA-4C11-CFE3215D0749}"/>
              </a:ext>
            </a:extLst>
          </p:cNvPr>
          <p:cNvSpPr/>
          <p:nvPr/>
        </p:nvSpPr>
        <p:spPr>
          <a:xfrm>
            <a:off x="6364224"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22" name="Shape 20">
            <a:extLst>
              <a:ext uri="{FF2B5EF4-FFF2-40B4-BE49-F238E27FC236}">
                <a16:creationId xmlns:a16="http://schemas.microsoft.com/office/drawing/2014/main" id="{F46F1F5B-5253-D35E-DCB0-A6A025D6D4FE}"/>
              </a:ext>
            </a:extLst>
          </p:cNvPr>
          <p:cNvSpPr/>
          <p:nvPr/>
        </p:nvSpPr>
        <p:spPr>
          <a:xfrm>
            <a:off x="6364224"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24" name="Shape 22">
            <a:extLst>
              <a:ext uri="{FF2B5EF4-FFF2-40B4-BE49-F238E27FC236}">
                <a16:creationId xmlns:a16="http://schemas.microsoft.com/office/drawing/2014/main" id="{99356D10-3779-D12C-7CAE-7F80B30B07A6}"/>
              </a:ext>
            </a:extLst>
          </p:cNvPr>
          <p:cNvSpPr/>
          <p:nvPr/>
        </p:nvSpPr>
        <p:spPr>
          <a:xfrm>
            <a:off x="6638544" y="3566160"/>
            <a:ext cx="2057400" cy="0"/>
          </a:xfrm>
          <a:prstGeom prst="line">
            <a:avLst/>
          </a:prstGeom>
          <a:noFill/>
          <a:ln w="19050">
            <a:solidFill>
              <a:srgbClr val="C9A84C"/>
            </a:solidFill>
            <a:prstDash val="solid"/>
          </a:ln>
        </p:spPr>
        <p:txBody>
          <a:bodyPr/>
          <a:lstStyle/>
          <a:p>
            <a:endParaRPr lang="en-US"/>
          </a:p>
        </p:txBody>
      </p:sp>
      <p:sp>
        <p:nvSpPr>
          <p:cNvPr id="25" name="Text 23">
            <a:extLst>
              <a:ext uri="{FF2B5EF4-FFF2-40B4-BE49-F238E27FC236}">
                <a16:creationId xmlns:a16="http://schemas.microsoft.com/office/drawing/2014/main" id="{F34211BA-85D4-2BF0-5DCC-5025FB4757FE}"/>
              </a:ext>
            </a:extLst>
          </p:cNvPr>
          <p:cNvSpPr/>
          <p:nvPr/>
        </p:nvSpPr>
        <p:spPr>
          <a:xfrm>
            <a:off x="6501384" y="3703320"/>
            <a:ext cx="2331720" cy="365760"/>
          </a:xfrm>
          <a:prstGeom prst="rect">
            <a:avLst/>
          </a:prstGeom>
          <a:noFill/>
          <a:ln/>
        </p:spPr>
        <p:txBody>
          <a:bodyPr wrap="square" lIns="0" tIns="0" rIns="0" bIns="0" rtlCol="0" anchor="t"/>
          <a:lstStyle/>
          <a:p>
            <a:pPr marL="0" indent="0" algn="ctr">
              <a:buNone/>
            </a:pPr>
            <a:r>
              <a:rPr lang="en-US" sz="1900" b="1">
                <a:solidFill>
                  <a:srgbClr val="171738"/>
                </a:solidFill>
                <a:latin typeface="Georgia" pitchFamily="34" charset="0"/>
                <a:ea typeface="Georgia" pitchFamily="34" charset="-122"/>
                <a:cs typeface="Georgia" pitchFamily="34" charset="-120"/>
              </a:rPr>
              <a:t>Carson Rich</a:t>
            </a:r>
            <a:endParaRPr lang="en-US" sz="1900"/>
          </a:p>
        </p:txBody>
      </p:sp>
      <p:sp>
        <p:nvSpPr>
          <p:cNvPr id="26" name="Text 24">
            <a:extLst>
              <a:ext uri="{FF2B5EF4-FFF2-40B4-BE49-F238E27FC236}">
                <a16:creationId xmlns:a16="http://schemas.microsoft.com/office/drawing/2014/main" id="{A05F9F59-1287-1D51-3638-5A02B9BB6BCF}"/>
              </a:ext>
            </a:extLst>
          </p:cNvPr>
          <p:cNvSpPr/>
          <p:nvPr/>
        </p:nvSpPr>
        <p:spPr>
          <a:xfrm>
            <a:off x="6501384" y="4114800"/>
            <a:ext cx="2331720" cy="502920"/>
          </a:xfrm>
          <a:prstGeom prst="rect">
            <a:avLst/>
          </a:prstGeom>
          <a:noFill/>
          <a:ln/>
        </p:spPr>
        <p:txBody>
          <a:bodyPr wrap="square" lIns="0" tIns="0" rIns="0" bIns="0" rtlCol="0" anchor="t"/>
          <a:lstStyle/>
          <a:p>
            <a:pPr algn="ctr">
              <a:lnSpc>
                <a:spcPct val="120000"/>
              </a:lnSpc>
            </a:pPr>
            <a:r>
              <a:rPr lang="en-US" sz="1650">
                <a:solidFill>
                  <a:srgbClr val="8B7355"/>
                </a:solidFill>
                <a:latin typeface="Calibri"/>
                <a:ea typeface="Calibri"/>
                <a:cs typeface="Calibri"/>
              </a:rPr>
              <a:t>Senior Research &amp; </a:t>
            </a:r>
            <a:endParaRPr lang="en-US" sz="1650">
              <a:solidFill>
                <a:srgbClr val="1C1713"/>
              </a:solidFill>
              <a:latin typeface="Calibri"/>
              <a:ea typeface="Calibri"/>
              <a:cs typeface="Calibri"/>
            </a:endParaRPr>
          </a:p>
          <a:p>
            <a:pPr marL="0" indent="0" algn="ctr">
              <a:lnSpc>
                <a:spcPct val="120000"/>
              </a:lnSpc>
              <a:buNone/>
            </a:pPr>
            <a:r>
              <a:rPr lang="en-US" sz="1650">
                <a:solidFill>
                  <a:srgbClr val="8B7355"/>
                </a:solidFill>
                <a:latin typeface="Calibri"/>
                <a:ea typeface="Calibri"/>
                <a:cs typeface="Calibri"/>
              </a:rPr>
              <a:t>Trading Associate</a:t>
            </a:r>
            <a:endParaRPr lang="en-US" sz="1650">
              <a:latin typeface="Calibri"/>
              <a:ea typeface="Calibri"/>
              <a:cs typeface="Calibri"/>
            </a:endParaRPr>
          </a:p>
        </p:txBody>
      </p:sp>
      <p:sp>
        <p:nvSpPr>
          <p:cNvPr id="27" name="Shape 25">
            <a:extLst>
              <a:ext uri="{FF2B5EF4-FFF2-40B4-BE49-F238E27FC236}">
                <a16:creationId xmlns:a16="http://schemas.microsoft.com/office/drawing/2014/main" id="{292F9F33-10CB-7E2E-C1F7-129C0CA7F5F0}"/>
              </a:ext>
            </a:extLst>
          </p:cNvPr>
          <p:cNvSpPr/>
          <p:nvPr/>
        </p:nvSpPr>
        <p:spPr>
          <a:xfrm>
            <a:off x="9272016" y="1691640"/>
            <a:ext cx="2606040" cy="3657600"/>
          </a:xfrm>
          <a:prstGeom prst="rect">
            <a:avLst/>
          </a:prstGeom>
          <a:solidFill>
            <a:srgbClr val="F4EFE4"/>
          </a:solidFill>
          <a:ln w="6350">
            <a:solidFill>
              <a:srgbClr val="F4EFE4"/>
            </a:solidFill>
            <a:prstDash val="solid"/>
          </a:ln>
        </p:spPr>
        <p:txBody>
          <a:bodyPr/>
          <a:lstStyle/>
          <a:p>
            <a:endParaRPr lang="en-US"/>
          </a:p>
        </p:txBody>
      </p:sp>
      <p:sp>
        <p:nvSpPr>
          <p:cNvPr id="28" name="Shape 26">
            <a:extLst>
              <a:ext uri="{FF2B5EF4-FFF2-40B4-BE49-F238E27FC236}">
                <a16:creationId xmlns:a16="http://schemas.microsoft.com/office/drawing/2014/main" id="{D63E74AC-757A-2F9B-DA6A-5AA22249FC98}"/>
              </a:ext>
            </a:extLst>
          </p:cNvPr>
          <p:cNvSpPr/>
          <p:nvPr/>
        </p:nvSpPr>
        <p:spPr>
          <a:xfrm>
            <a:off x="9272016" y="1691640"/>
            <a:ext cx="2606040" cy="64008"/>
          </a:xfrm>
          <a:prstGeom prst="rect">
            <a:avLst/>
          </a:prstGeom>
          <a:solidFill>
            <a:srgbClr val="171738"/>
          </a:solidFill>
          <a:ln w="12700">
            <a:solidFill>
              <a:srgbClr val="171738"/>
            </a:solidFill>
            <a:prstDash val="solid"/>
          </a:ln>
        </p:spPr>
        <p:txBody>
          <a:bodyPr/>
          <a:lstStyle/>
          <a:p>
            <a:endParaRPr lang="en-US"/>
          </a:p>
        </p:txBody>
      </p:sp>
      <p:sp>
        <p:nvSpPr>
          <p:cNvPr id="30" name="Shape 28">
            <a:extLst>
              <a:ext uri="{FF2B5EF4-FFF2-40B4-BE49-F238E27FC236}">
                <a16:creationId xmlns:a16="http://schemas.microsoft.com/office/drawing/2014/main" id="{4C2E6FCA-CA0D-25AD-7CC1-932208BEDA5F}"/>
              </a:ext>
            </a:extLst>
          </p:cNvPr>
          <p:cNvSpPr/>
          <p:nvPr/>
        </p:nvSpPr>
        <p:spPr>
          <a:xfrm>
            <a:off x="9546336" y="3566160"/>
            <a:ext cx="2057400" cy="0"/>
          </a:xfrm>
          <a:prstGeom prst="line">
            <a:avLst/>
          </a:prstGeom>
          <a:noFill/>
          <a:ln w="19050">
            <a:solidFill>
              <a:srgbClr val="C9A84C"/>
            </a:solidFill>
            <a:prstDash val="solid"/>
          </a:ln>
        </p:spPr>
        <p:txBody>
          <a:bodyPr/>
          <a:lstStyle/>
          <a:p>
            <a:endParaRPr lang="en-US"/>
          </a:p>
        </p:txBody>
      </p:sp>
      <p:sp>
        <p:nvSpPr>
          <p:cNvPr id="31" name="Text 29">
            <a:extLst>
              <a:ext uri="{FF2B5EF4-FFF2-40B4-BE49-F238E27FC236}">
                <a16:creationId xmlns:a16="http://schemas.microsoft.com/office/drawing/2014/main" id="{3B4330F8-2470-C6E5-E942-C0DA5A9F8920}"/>
              </a:ext>
            </a:extLst>
          </p:cNvPr>
          <p:cNvSpPr/>
          <p:nvPr/>
        </p:nvSpPr>
        <p:spPr>
          <a:xfrm>
            <a:off x="9409176" y="3703320"/>
            <a:ext cx="2331720" cy="365760"/>
          </a:xfrm>
          <a:prstGeom prst="rect">
            <a:avLst/>
          </a:prstGeom>
          <a:noFill/>
          <a:ln/>
        </p:spPr>
        <p:txBody>
          <a:bodyPr wrap="square" lIns="0" tIns="0" rIns="0" bIns="0" rtlCol="0" anchor="t"/>
          <a:lstStyle/>
          <a:p>
            <a:pPr marL="0" indent="0" algn="ctr">
              <a:buNone/>
            </a:pPr>
            <a:r>
              <a:rPr lang="en-US" sz="1900" b="1">
                <a:solidFill>
                  <a:srgbClr val="171738"/>
                </a:solidFill>
                <a:latin typeface="Georgia" pitchFamily="34" charset="0"/>
                <a:ea typeface="Georgia" pitchFamily="34" charset="-122"/>
                <a:cs typeface="Georgia" pitchFamily="34" charset="-120"/>
              </a:rPr>
              <a:t>Gavin Morel</a:t>
            </a:r>
            <a:endParaRPr lang="en-US" sz="1900"/>
          </a:p>
        </p:txBody>
      </p:sp>
      <p:sp>
        <p:nvSpPr>
          <p:cNvPr id="32" name="Text 30">
            <a:extLst>
              <a:ext uri="{FF2B5EF4-FFF2-40B4-BE49-F238E27FC236}">
                <a16:creationId xmlns:a16="http://schemas.microsoft.com/office/drawing/2014/main" id="{14D3A67A-A0CD-CC1D-CF64-F95FCF641DA8}"/>
              </a:ext>
            </a:extLst>
          </p:cNvPr>
          <p:cNvSpPr/>
          <p:nvPr/>
        </p:nvSpPr>
        <p:spPr>
          <a:xfrm>
            <a:off x="9409176" y="4114800"/>
            <a:ext cx="2331720" cy="502920"/>
          </a:xfrm>
          <a:prstGeom prst="rect">
            <a:avLst/>
          </a:prstGeom>
          <a:noFill/>
          <a:ln/>
        </p:spPr>
        <p:txBody>
          <a:bodyPr wrap="square" lIns="0" tIns="0" rIns="0" bIns="0" rtlCol="0" anchor="t"/>
          <a:lstStyle/>
          <a:p>
            <a:pPr algn="ctr">
              <a:lnSpc>
                <a:spcPct val="120000"/>
              </a:lnSpc>
            </a:pPr>
            <a:r>
              <a:rPr lang="en-US" sz="1650">
                <a:solidFill>
                  <a:srgbClr val="8B7355"/>
                </a:solidFill>
                <a:latin typeface="Calibri"/>
                <a:ea typeface="Calibri"/>
                <a:cs typeface="Calibri"/>
              </a:rPr>
              <a:t> Executive Operations Assistant</a:t>
            </a:r>
            <a:endParaRPr lang="en-US" sz="1650">
              <a:latin typeface="Calibri"/>
              <a:ea typeface="Calibri"/>
              <a:cs typeface="Calibri"/>
            </a:endParaRPr>
          </a:p>
        </p:txBody>
      </p:sp>
      <p:pic>
        <p:nvPicPr>
          <p:cNvPr id="34" name="Picture 33">
            <a:extLst>
              <a:ext uri="{FF2B5EF4-FFF2-40B4-BE49-F238E27FC236}">
                <a16:creationId xmlns:a16="http://schemas.microsoft.com/office/drawing/2014/main" id="{17653C38-2A5D-A01E-49AE-76081CCCDFCB}"/>
              </a:ext>
            </a:extLst>
          </p:cNvPr>
          <p:cNvPicPr>
            <a:picLocks noChangeAspect="1"/>
          </p:cNvPicPr>
          <p:nvPr/>
        </p:nvPicPr>
        <p:blipFill>
          <a:blip r:embed="rId3"/>
          <a:stretch>
            <a:fillRect/>
          </a:stretch>
        </p:blipFill>
        <p:spPr>
          <a:xfrm>
            <a:off x="1186768" y="1765988"/>
            <a:ext cx="1329783" cy="1789832"/>
          </a:xfrm>
          <a:prstGeom prst="ellipse">
            <a:avLst/>
          </a:prstGeom>
          <a:ln>
            <a:noFill/>
          </a:ln>
          <a:effectLst>
            <a:softEdge rad="112500"/>
          </a:effectLst>
        </p:spPr>
      </p:pic>
      <p:pic>
        <p:nvPicPr>
          <p:cNvPr id="36" name="Picture 35">
            <a:extLst>
              <a:ext uri="{FF2B5EF4-FFF2-40B4-BE49-F238E27FC236}">
                <a16:creationId xmlns:a16="http://schemas.microsoft.com/office/drawing/2014/main" id="{E9858F78-B010-6A57-4E21-D799C65B9960}"/>
              </a:ext>
            </a:extLst>
          </p:cNvPr>
          <p:cNvPicPr>
            <a:picLocks noChangeAspect="1"/>
          </p:cNvPicPr>
          <p:nvPr/>
        </p:nvPicPr>
        <p:blipFill>
          <a:blip r:embed="rId4"/>
          <a:stretch>
            <a:fillRect/>
          </a:stretch>
        </p:blipFill>
        <p:spPr>
          <a:xfrm>
            <a:off x="4121355" y="1774313"/>
            <a:ext cx="1276193" cy="1754894"/>
          </a:xfrm>
          <a:prstGeom prst="ellipse">
            <a:avLst/>
          </a:prstGeom>
          <a:ln>
            <a:noFill/>
          </a:ln>
          <a:effectLst>
            <a:softEdge rad="112500"/>
          </a:effectLst>
        </p:spPr>
      </p:pic>
      <p:pic>
        <p:nvPicPr>
          <p:cNvPr id="38" name="Picture 37">
            <a:extLst>
              <a:ext uri="{FF2B5EF4-FFF2-40B4-BE49-F238E27FC236}">
                <a16:creationId xmlns:a16="http://schemas.microsoft.com/office/drawing/2014/main" id="{0BA6FA3B-5061-FE09-ADC6-70A1C00A10B1}"/>
              </a:ext>
            </a:extLst>
          </p:cNvPr>
          <p:cNvPicPr>
            <a:picLocks noChangeAspect="1"/>
          </p:cNvPicPr>
          <p:nvPr/>
        </p:nvPicPr>
        <p:blipFill>
          <a:blip r:embed="rId5"/>
          <a:stretch>
            <a:fillRect/>
          </a:stretch>
        </p:blipFill>
        <p:spPr>
          <a:xfrm>
            <a:off x="7061217" y="1826179"/>
            <a:ext cx="1212053" cy="1694261"/>
          </a:xfrm>
          <a:prstGeom prst="ellipse">
            <a:avLst/>
          </a:prstGeom>
          <a:ln>
            <a:noFill/>
          </a:ln>
          <a:effectLst>
            <a:softEdge rad="112500"/>
          </a:effectLst>
        </p:spPr>
      </p:pic>
      <p:pic>
        <p:nvPicPr>
          <p:cNvPr id="40" name="Picture 39">
            <a:extLst>
              <a:ext uri="{FF2B5EF4-FFF2-40B4-BE49-F238E27FC236}">
                <a16:creationId xmlns:a16="http://schemas.microsoft.com/office/drawing/2014/main" id="{1236004A-EDEA-248C-AA51-7B1F5B246E9D}"/>
              </a:ext>
            </a:extLst>
          </p:cNvPr>
          <p:cNvPicPr>
            <a:picLocks noChangeAspect="1"/>
          </p:cNvPicPr>
          <p:nvPr/>
        </p:nvPicPr>
        <p:blipFill>
          <a:blip r:embed="rId6"/>
          <a:stretch>
            <a:fillRect/>
          </a:stretch>
        </p:blipFill>
        <p:spPr>
          <a:xfrm>
            <a:off x="9915010" y="1808840"/>
            <a:ext cx="1320052" cy="1712018"/>
          </a:xfrm>
          <a:prstGeom prst="ellipse">
            <a:avLst/>
          </a:prstGeom>
          <a:ln>
            <a:noFill/>
          </a:ln>
          <a:effectLst>
            <a:softEdge rad="112500"/>
          </a:effectLst>
        </p:spPr>
      </p:pic>
      <p:pic>
        <p:nvPicPr>
          <p:cNvPr id="41" name="Paradiem Logo" descr="paradiem-logo-navy.png"/>
          <p:cNvPicPr>
            <a:picLocks noChangeAspect="1"/>
          </p:cNvPicPr>
          <p:nvPr/>
        </p:nvPicPr>
        <p:blipFill>
          <a:blip r:embed="rId7"/>
          <a:stretch>
            <a:fillRect/>
          </a:stretch>
        </p:blipFill>
        <p:spPr>
          <a:xfrm>
            <a:off x="10241584" y="192024"/>
            <a:ext cx="1401775" cy="406047"/>
          </a:xfrm>
          <a:prstGeom prst="rect">
            <a:avLst/>
          </a:prstGeom>
        </p:spPr>
      </p:pic>
      <p:sp>
        <p:nvSpPr>
          <p:cNvPr id="42"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extLst>
      <p:ext uri="{BB962C8B-B14F-4D97-AF65-F5344CB8AC3E}">
        <p14:creationId xmlns:p14="http://schemas.microsoft.com/office/powerpoint/2010/main" val="773651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70560" y="268224"/>
            <a:ext cx="10972800" cy="268224"/>
          </a:xfrm>
          <a:prstGeom prst="rect">
            <a:avLst/>
          </a:prstGeom>
          <a:noFill/>
          <a:ln/>
        </p:spPr>
        <p:txBody>
          <a:bodyPr wrap="square" lIns="0" tIns="0" rIns="0" bIns="0" rtlCol="0" anchor="t"/>
          <a:lstStyle/>
          <a:p>
            <a:pPr defTabSz="1219170"/>
            <a:r>
              <a:rPr lang="en-US" sz="1400" kern="0" spc="400">
                <a:solidFill>
                  <a:srgbClr val="C9A84C"/>
                </a:solidFill>
                <a:latin typeface="Calibri" pitchFamily="34" charset="0"/>
                <a:ea typeface="Calibri" pitchFamily="34" charset="-122"/>
                <a:cs typeface="Calibri" pitchFamily="34" charset="-120"/>
              </a:rPr>
              <a:t>THE FULL SCOPE OF ENGAGEMENT</a:t>
            </a:r>
            <a:endParaRPr lang="en-US" sz="1400">
              <a:solidFill>
                <a:prstClr val="black"/>
              </a:solidFill>
              <a:latin typeface="Calibri" panose="020F0502020204030204"/>
            </a:endParaRPr>
          </a:p>
        </p:txBody>
      </p:sp>
      <p:sp>
        <p:nvSpPr>
          <p:cNvPr id="3" name="Text 1"/>
          <p:cNvSpPr/>
          <p:nvPr/>
        </p:nvSpPr>
        <p:spPr>
          <a:xfrm>
            <a:off x="670560" y="609600"/>
            <a:ext cx="10972800" cy="914400"/>
          </a:xfrm>
          <a:prstGeom prst="rect">
            <a:avLst/>
          </a:prstGeom>
          <a:noFill/>
          <a:ln/>
        </p:spPr>
        <p:txBody>
          <a:bodyPr wrap="square" lIns="0" tIns="0" rIns="0" bIns="0" rtlCol="0" anchor="t"/>
          <a:lstStyle/>
          <a:p>
            <a:pPr defTabSz="1219170"/>
            <a:r>
              <a:rPr lang="en-US" sz="3467">
                <a:solidFill>
                  <a:srgbClr val="171738"/>
                </a:solidFill>
                <a:latin typeface="Georgia" pitchFamily="34" charset="0"/>
                <a:ea typeface="Georgia" pitchFamily="34" charset="-122"/>
                <a:cs typeface="Georgia" pitchFamily="34" charset="-120"/>
              </a:rPr>
              <a:t>Family Capital Blueprint</a:t>
            </a:r>
            <a:endParaRPr lang="en-US" sz="3467">
              <a:solidFill>
                <a:prstClr val="black"/>
              </a:solidFill>
              <a:latin typeface="Calibri" panose="020F0502020204030204"/>
            </a:endParaRPr>
          </a:p>
        </p:txBody>
      </p:sp>
      <p:sp>
        <p:nvSpPr>
          <p:cNvPr id="4" name="Shape 2"/>
          <p:cNvSpPr/>
          <p:nvPr/>
        </p:nvSpPr>
        <p:spPr>
          <a:xfrm>
            <a:off x="670560" y="1560576"/>
            <a:ext cx="10972800" cy="0"/>
          </a:xfrm>
          <a:prstGeom prst="line">
            <a:avLst/>
          </a:prstGeom>
          <a:no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5" name="Text 3"/>
          <p:cNvSpPr/>
          <p:nvPr/>
        </p:nvSpPr>
        <p:spPr>
          <a:xfrm>
            <a:off x="548640" y="1731264"/>
            <a:ext cx="3596640" cy="731520"/>
          </a:xfrm>
          <a:prstGeom prst="rect">
            <a:avLst/>
          </a:prstGeom>
          <a:noFill/>
          <a:ln/>
        </p:spPr>
        <p:txBody>
          <a:bodyPr wrap="square" lIns="0" tIns="0" rIns="0" bIns="0" rtlCol="0" anchor="t"/>
          <a:lstStyle/>
          <a:p>
            <a:pPr algn="ctr" defTabSz="1219170">
              <a:lnSpc>
                <a:spcPct val="125000"/>
              </a:lnSpc>
            </a:pPr>
            <a:r>
              <a:rPr lang="en-US" sz="1467">
                <a:solidFill>
                  <a:srgbClr val="171738"/>
                </a:solidFill>
                <a:latin typeface="Georgia" pitchFamily="34" charset="0"/>
                <a:ea typeface="Georgia" pitchFamily="34" charset="-122"/>
                <a:cs typeface="Georgia" pitchFamily="34" charset="-120"/>
              </a:rPr>
              <a:t>100-Year Vision</a:t>
            </a:r>
            <a:endParaRPr lang="en-US" sz="1467">
              <a:solidFill>
                <a:prstClr val="black"/>
              </a:solidFill>
              <a:latin typeface="Calibri" panose="020F0502020204030204"/>
            </a:endParaRPr>
          </a:p>
        </p:txBody>
      </p:sp>
      <p:sp>
        <p:nvSpPr>
          <p:cNvPr id="6" name="Shape 4"/>
          <p:cNvSpPr/>
          <p:nvPr/>
        </p:nvSpPr>
        <p:spPr>
          <a:xfrm>
            <a:off x="792480" y="2560320"/>
            <a:ext cx="3108960" cy="0"/>
          </a:xfrm>
          <a:prstGeom prst="line">
            <a:avLst/>
          </a:prstGeom>
          <a:noFill/>
          <a:ln w="12700">
            <a:solidFill>
              <a:srgbClr val="171738"/>
            </a:solidFill>
            <a:prstDash val="solid"/>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731520" y="2706624"/>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8" name="Shape 6"/>
          <p:cNvSpPr/>
          <p:nvPr/>
        </p:nvSpPr>
        <p:spPr>
          <a:xfrm>
            <a:off x="731520" y="2706624"/>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9" name="Text 7"/>
          <p:cNvSpPr/>
          <p:nvPr/>
        </p:nvSpPr>
        <p:spPr>
          <a:xfrm>
            <a:off x="865632" y="2755392"/>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Goal &amp; Vision Alignment</a:t>
            </a:r>
            <a:endParaRPr lang="en-US" sz="1133">
              <a:solidFill>
                <a:prstClr val="black"/>
              </a:solidFill>
              <a:latin typeface="Calibri" panose="020F0502020204030204"/>
            </a:endParaRPr>
          </a:p>
        </p:txBody>
      </p:sp>
      <p:sp>
        <p:nvSpPr>
          <p:cNvPr id="10" name="Shape 8"/>
          <p:cNvSpPr/>
          <p:nvPr/>
        </p:nvSpPr>
        <p:spPr>
          <a:xfrm>
            <a:off x="731520" y="3267456"/>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11" name="Shape 9"/>
          <p:cNvSpPr/>
          <p:nvPr/>
        </p:nvSpPr>
        <p:spPr>
          <a:xfrm>
            <a:off x="731520" y="3267456"/>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12" name="Text 10"/>
          <p:cNvSpPr/>
          <p:nvPr/>
        </p:nvSpPr>
        <p:spPr>
          <a:xfrm>
            <a:off x="865632" y="3316224"/>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Advisory Collaboration</a:t>
            </a:r>
            <a:endParaRPr lang="en-US" sz="1133">
              <a:solidFill>
                <a:prstClr val="black"/>
              </a:solidFill>
              <a:latin typeface="Calibri" panose="020F0502020204030204"/>
            </a:endParaRPr>
          </a:p>
        </p:txBody>
      </p:sp>
      <p:sp>
        <p:nvSpPr>
          <p:cNvPr id="13" name="Shape 11"/>
          <p:cNvSpPr/>
          <p:nvPr/>
        </p:nvSpPr>
        <p:spPr>
          <a:xfrm>
            <a:off x="731520" y="3828288"/>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14" name="Shape 12"/>
          <p:cNvSpPr/>
          <p:nvPr/>
        </p:nvSpPr>
        <p:spPr>
          <a:xfrm>
            <a:off x="731520" y="3828288"/>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15" name="Text 13"/>
          <p:cNvSpPr/>
          <p:nvPr/>
        </p:nvSpPr>
        <p:spPr>
          <a:xfrm>
            <a:off x="865632" y="3877056"/>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Implementation Guidance</a:t>
            </a:r>
            <a:endParaRPr lang="en-US" sz="1133">
              <a:solidFill>
                <a:prstClr val="black"/>
              </a:solidFill>
              <a:latin typeface="Calibri" panose="020F0502020204030204"/>
            </a:endParaRPr>
          </a:p>
        </p:txBody>
      </p:sp>
      <p:sp>
        <p:nvSpPr>
          <p:cNvPr id="16" name="Shape 14"/>
          <p:cNvSpPr/>
          <p:nvPr/>
        </p:nvSpPr>
        <p:spPr>
          <a:xfrm>
            <a:off x="731520" y="4389120"/>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17" name="Shape 15"/>
          <p:cNvSpPr/>
          <p:nvPr/>
        </p:nvSpPr>
        <p:spPr>
          <a:xfrm>
            <a:off x="731520" y="4389120"/>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18" name="Text 16"/>
          <p:cNvSpPr/>
          <p:nvPr/>
        </p:nvSpPr>
        <p:spPr>
          <a:xfrm>
            <a:off x="865632" y="4437888"/>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Annual Calibration</a:t>
            </a:r>
            <a:endParaRPr lang="en-US" sz="1133">
              <a:solidFill>
                <a:prstClr val="black"/>
              </a:solidFill>
              <a:latin typeface="Calibri" panose="020F0502020204030204"/>
            </a:endParaRPr>
          </a:p>
        </p:txBody>
      </p:sp>
      <p:sp>
        <p:nvSpPr>
          <p:cNvPr id="19" name="Shape 17"/>
          <p:cNvSpPr/>
          <p:nvPr/>
        </p:nvSpPr>
        <p:spPr>
          <a:xfrm>
            <a:off x="731520" y="4949952"/>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20" name="Shape 18"/>
          <p:cNvSpPr/>
          <p:nvPr/>
        </p:nvSpPr>
        <p:spPr>
          <a:xfrm>
            <a:off x="731520" y="4949952"/>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21" name="Text 19"/>
          <p:cNvSpPr/>
          <p:nvPr/>
        </p:nvSpPr>
        <p:spPr>
          <a:xfrm>
            <a:off x="865632" y="4998720"/>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Community Events</a:t>
            </a:r>
            <a:endParaRPr lang="en-US" sz="1133">
              <a:solidFill>
                <a:prstClr val="black"/>
              </a:solidFill>
              <a:latin typeface="Calibri" panose="020F0502020204030204"/>
            </a:endParaRPr>
          </a:p>
        </p:txBody>
      </p:sp>
      <p:sp>
        <p:nvSpPr>
          <p:cNvPr id="22" name="Text 20"/>
          <p:cNvSpPr/>
          <p:nvPr/>
        </p:nvSpPr>
        <p:spPr>
          <a:xfrm>
            <a:off x="4425696" y="1731264"/>
            <a:ext cx="3596640" cy="731520"/>
          </a:xfrm>
          <a:prstGeom prst="rect">
            <a:avLst/>
          </a:prstGeom>
          <a:noFill/>
          <a:ln/>
        </p:spPr>
        <p:txBody>
          <a:bodyPr wrap="square" lIns="0" tIns="0" rIns="0" bIns="0" rtlCol="0" anchor="t"/>
          <a:lstStyle/>
          <a:p>
            <a:pPr algn="ctr" defTabSz="1219170">
              <a:lnSpc>
                <a:spcPct val="125000"/>
              </a:lnSpc>
            </a:pPr>
            <a:r>
              <a:rPr lang="en-US" sz="1467">
                <a:solidFill>
                  <a:srgbClr val="171738"/>
                </a:solidFill>
                <a:latin typeface="Georgia" pitchFamily="34" charset="0"/>
                <a:ea typeface="Georgia" pitchFamily="34" charset="-122"/>
                <a:cs typeface="Georgia" pitchFamily="34" charset="-120"/>
              </a:rPr>
              <a:t>Preparing the Family</a:t>
            </a:r>
            <a:endParaRPr lang="en-US" sz="1467">
              <a:solidFill>
                <a:prstClr val="black"/>
              </a:solidFill>
              <a:latin typeface="Calibri" panose="020F0502020204030204"/>
            </a:endParaRPr>
          </a:p>
          <a:p>
            <a:pPr algn="ctr" defTabSz="1219170">
              <a:lnSpc>
                <a:spcPct val="125000"/>
              </a:lnSpc>
            </a:pPr>
            <a:r>
              <a:rPr lang="en-US" sz="1467">
                <a:solidFill>
                  <a:srgbClr val="171738"/>
                </a:solidFill>
                <a:latin typeface="Georgia" pitchFamily="34" charset="0"/>
                <a:ea typeface="Georgia" pitchFamily="34" charset="-122"/>
                <a:cs typeface="Georgia" pitchFamily="34" charset="-120"/>
              </a:rPr>
              <a:t>for the Money</a:t>
            </a:r>
            <a:endParaRPr lang="en-US" sz="1467">
              <a:solidFill>
                <a:prstClr val="black"/>
              </a:solidFill>
              <a:latin typeface="Calibri" panose="020F0502020204030204"/>
            </a:endParaRPr>
          </a:p>
        </p:txBody>
      </p:sp>
      <p:sp>
        <p:nvSpPr>
          <p:cNvPr id="23" name="Shape 21"/>
          <p:cNvSpPr/>
          <p:nvPr/>
        </p:nvSpPr>
        <p:spPr>
          <a:xfrm>
            <a:off x="4669536" y="2560320"/>
            <a:ext cx="3108960" cy="0"/>
          </a:xfrm>
          <a:prstGeom prst="line">
            <a:avLst/>
          </a:prstGeom>
          <a:noFill/>
          <a:ln w="12700">
            <a:solidFill>
              <a:srgbClr val="171738"/>
            </a:solidFill>
            <a:prstDash val="solid"/>
          </a:ln>
        </p:spPr>
        <p:txBody>
          <a:bodyPr/>
          <a:lstStyle/>
          <a:p>
            <a:pPr defTabSz="1219170"/>
            <a:endParaRPr lang="en-US" sz="2400">
              <a:solidFill>
                <a:prstClr val="black"/>
              </a:solidFill>
              <a:latin typeface="Calibri" panose="020F0502020204030204"/>
            </a:endParaRPr>
          </a:p>
        </p:txBody>
      </p:sp>
      <p:sp>
        <p:nvSpPr>
          <p:cNvPr id="24" name="Shape 22"/>
          <p:cNvSpPr/>
          <p:nvPr/>
        </p:nvSpPr>
        <p:spPr>
          <a:xfrm>
            <a:off x="4608576" y="2706624"/>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25" name="Shape 23"/>
          <p:cNvSpPr/>
          <p:nvPr/>
        </p:nvSpPr>
        <p:spPr>
          <a:xfrm>
            <a:off x="4608576" y="2706624"/>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26" name="Text 24"/>
          <p:cNvSpPr/>
          <p:nvPr/>
        </p:nvSpPr>
        <p:spPr>
          <a:xfrm>
            <a:off x="4742688" y="2755392"/>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Legacy Alignment</a:t>
            </a:r>
            <a:endParaRPr lang="en-US" sz="1133">
              <a:solidFill>
                <a:prstClr val="black"/>
              </a:solidFill>
              <a:latin typeface="Calibri" panose="020F0502020204030204"/>
            </a:endParaRPr>
          </a:p>
        </p:txBody>
      </p:sp>
      <p:sp>
        <p:nvSpPr>
          <p:cNvPr id="27" name="Shape 25"/>
          <p:cNvSpPr/>
          <p:nvPr/>
        </p:nvSpPr>
        <p:spPr>
          <a:xfrm>
            <a:off x="4608576" y="3267456"/>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28" name="Shape 26"/>
          <p:cNvSpPr/>
          <p:nvPr/>
        </p:nvSpPr>
        <p:spPr>
          <a:xfrm>
            <a:off x="4608576" y="3267456"/>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29" name="Text 27"/>
          <p:cNvSpPr/>
          <p:nvPr/>
        </p:nvSpPr>
        <p:spPr>
          <a:xfrm>
            <a:off x="4742688" y="3316224"/>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Inheritance Optimization</a:t>
            </a:r>
            <a:endParaRPr lang="en-US" sz="1133">
              <a:solidFill>
                <a:prstClr val="black"/>
              </a:solidFill>
              <a:latin typeface="Calibri" panose="020F0502020204030204"/>
            </a:endParaRPr>
          </a:p>
        </p:txBody>
      </p:sp>
      <p:sp>
        <p:nvSpPr>
          <p:cNvPr id="30" name="Shape 28"/>
          <p:cNvSpPr/>
          <p:nvPr/>
        </p:nvSpPr>
        <p:spPr>
          <a:xfrm>
            <a:off x="4608576" y="3828288"/>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31" name="Shape 29"/>
          <p:cNvSpPr/>
          <p:nvPr/>
        </p:nvSpPr>
        <p:spPr>
          <a:xfrm>
            <a:off x="4608576" y="3828288"/>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32" name="Text 30"/>
          <p:cNvSpPr/>
          <p:nvPr/>
        </p:nvSpPr>
        <p:spPr>
          <a:xfrm>
            <a:off x="4742688" y="3877056"/>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Family Advocacy</a:t>
            </a:r>
            <a:endParaRPr lang="en-US" sz="1133">
              <a:solidFill>
                <a:prstClr val="black"/>
              </a:solidFill>
              <a:latin typeface="Calibri" panose="020F0502020204030204"/>
            </a:endParaRPr>
          </a:p>
        </p:txBody>
      </p:sp>
      <p:sp>
        <p:nvSpPr>
          <p:cNvPr id="33" name="Text 31"/>
          <p:cNvSpPr/>
          <p:nvPr/>
        </p:nvSpPr>
        <p:spPr>
          <a:xfrm>
            <a:off x="8302752" y="1731264"/>
            <a:ext cx="3596640" cy="731520"/>
          </a:xfrm>
          <a:prstGeom prst="rect">
            <a:avLst/>
          </a:prstGeom>
          <a:noFill/>
          <a:ln/>
        </p:spPr>
        <p:txBody>
          <a:bodyPr wrap="square" lIns="0" tIns="0" rIns="0" bIns="0" rtlCol="0" anchor="t"/>
          <a:lstStyle/>
          <a:p>
            <a:pPr algn="ctr" defTabSz="1219170">
              <a:lnSpc>
                <a:spcPct val="125000"/>
              </a:lnSpc>
            </a:pPr>
            <a:r>
              <a:rPr lang="en-US" sz="1467">
                <a:solidFill>
                  <a:srgbClr val="171738"/>
                </a:solidFill>
                <a:latin typeface="Georgia" pitchFamily="34" charset="0"/>
                <a:ea typeface="Georgia" pitchFamily="34" charset="-122"/>
                <a:cs typeface="Georgia" pitchFamily="34" charset="-120"/>
              </a:rPr>
              <a:t>Preparing the Money</a:t>
            </a:r>
            <a:endParaRPr lang="en-US" sz="1467">
              <a:solidFill>
                <a:prstClr val="black"/>
              </a:solidFill>
              <a:latin typeface="Calibri" panose="020F0502020204030204"/>
            </a:endParaRPr>
          </a:p>
          <a:p>
            <a:pPr algn="ctr" defTabSz="1219170">
              <a:lnSpc>
                <a:spcPct val="125000"/>
              </a:lnSpc>
            </a:pPr>
            <a:r>
              <a:rPr lang="en-US" sz="1467">
                <a:solidFill>
                  <a:srgbClr val="171738"/>
                </a:solidFill>
                <a:latin typeface="Georgia" pitchFamily="34" charset="0"/>
                <a:ea typeface="Georgia" pitchFamily="34" charset="-122"/>
                <a:cs typeface="Georgia" pitchFamily="34" charset="-120"/>
              </a:rPr>
              <a:t>for the Family</a:t>
            </a:r>
            <a:endParaRPr lang="en-US" sz="1467">
              <a:solidFill>
                <a:prstClr val="black"/>
              </a:solidFill>
              <a:latin typeface="Calibri" panose="020F0502020204030204"/>
            </a:endParaRPr>
          </a:p>
        </p:txBody>
      </p:sp>
      <p:sp>
        <p:nvSpPr>
          <p:cNvPr id="34" name="Shape 32"/>
          <p:cNvSpPr/>
          <p:nvPr/>
        </p:nvSpPr>
        <p:spPr>
          <a:xfrm>
            <a:off x="8546592" y="2560320"/>
            <a:ext cx="3108960" cy="0"/>
          </a:xfrm>
          <a:prstGeom prst="line">
            <a:avLst/>
          </a:prstGeom>
          <a:noFill/>
          <a:ln w="12700">
            <a:solidFill>
              <a:srgbClr val="171738"/>
            </a:solidFill>
            <a:prstDash val="solid"/>
          </a:ln>
        </p:spPr>
        <p:txBody>
          <a:bodyPr/>
          <a:lstStyle/>
          <a:p>
            <a:pPr defTabSz="1219170"/>
            <a:endParaRPr lang="en-US" sz="2400">
              <a:solidFill>
                <a:prstClr val="black"/>
              </a:solidFill>
              <a:latin typeface="Calibri" panose="020F0502020204030204"/>
            </a:endParaRPr>
          </a:p>
        </p:txBody>
      </p:sp>
      <p:sp>
        <p:nvSpPr>
          <p:cNvPr id="35" name="Shape 33"/>
          <p:cNvSpPr/>
          <p:nvPr/>
        </p:nvSpPr>
        <p:spPr>
          <a:xfrm>
            <a:off x="8485632" y="2706624"/>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36" name="Shape 34"/>
          <p:cNvSpPr/>
          <p:nvPr/>
        </p:nvSpPr>
        <p:spPr>
          <a:xfrm>
            <a:off x="8485632" y="2706624"/>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37" name="Text 35"/>
          <p:cNvSpPr/>
          <p:nvPr/>
        </p:nvSpPr>
        <p:spPr>
          <a:xfrm>
            <a:off x="8619744" y="2755392"/>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Cash Flow Prioritization</a:t>
            </a:r>
            <a:endParaRPr lang="en-US" sz="1133">
              <a:solidFill>
                <a:prstClr val="black"/>
              </a:solidFill>
              <a:latin typeface="Calibri" panose="020F0502020204030204"/>
            </a:endParaRPr>
          </a:p>
        </p:txBody>
      </p:sp>
      <p:sp>
        <p:nvSpPr>
          <p:cNvPr id="38" name="Shape 36"/>
          <p:cNvSpPr/>
          <p:nvPr/>
        </p:nvSpPr>
        <p:spPr>
          <a:xfrm>
            <a:off x="8485632" y="3267456"/>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39" name="Shape 37"/>
          <p:cNvSpPr/>
          <p:nvPr/>
        </p:nvSpPr>
        <p:spPr>
          <a:xfrm>
            <a:off x="8485632" y="3267456"/>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40" name="Text 38"/>
          <p:cNvSpPr/>
          <p:nvPr/>
        </p:nvSpPr>
        <p:spPr>
          <a:xfrm>
            <a:off x="8619744" y="3316224"/>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Tax Planning</a:t>
            </a:r>
            <a:endParaRPr lang="en-US" sz="1133">
              <a:solidFill>
                <a:prstClr val="black"/>
              </a:solidFill>
              <a:latin typeface="Calibri" panose="020F0502020204030204"/>
            </a:endParaRPr>
          </a:p>
        </p:txBody>
      </p:sp>
      <p:sp>
        <p:nvSpPr>
          <p:cNvPr id="41" name="Shape 39"/>
          <p:cNvSpPr/>
          <p:nvPr/>
        </p:nvSpPr>
        <p:spPr>
          <a:xfrm>
            <a:off x="8485632" y="3828288"/>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42" name="Shape 40"/>
          <p:cNvSpPr/>
          <p:nvPr/>
        </p:nvSpPr>
        <p:spPr>
          <a:xfrm>
            <a:off x="8485632" y="3828288"/>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43" name="Text 41"/>
          <p:cNvSpPr/>
          <p:nvPr/>
        </p:nvSpPr>
        <p:spPr>
          <a:xfrm>
            <a:off x="8619744" y="3877056"/>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Business Strategy</a:t>
            </a:r>
            <a:endParaRPr lang="en-US" sz="1133">
              <a:solidFill>
                <a:prstClr val="black"/>
              </a:solidFill>
              <a:latin typeface="Calibri" panose="020F0502020204030204"/>
            </a:endParaRPr>
          </a:p>
        </p:txBody>
      </p:sp>
      <p:sp>
        <p:nvSpPr>
          <p:cNvPr id="44" name="Shape 42"/>
          <p:cNvSpPr/>
          <p:nvPr/>
        </p:nvSpPr>
        <p:spPr>
          <a:xfrm>
            <a:off x="8485632" y="4389120"/>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45" name="Shape 43"/>
          <p:cNvSpPr/>
          <p:nvPr/>
        </p:nvSpPr>
        <p:spPr>
          <a:xfrm>
            <a:off x="8485632" y="4389120"/>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46" name="Text 44"/>
          <p:cNvSpPr/>
          <p:nvPr/>
        </p:nvSpPr>
        <p:spPr>
          <a:xfrm>
            <a:off x="8619744" y="4437888"/>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Estate Planning</a:t>
            </a:r>
            <a:endParaRPr lang="en-US" sz="1133">
              <a:solidFill>
                <a:prstClr val="black"/>
              </a:solidFill>
              <a:latin typeface="Calibri" panose="020F0502020204030204"/>
            </a:endParaRPr>
          </a:p>
        </p:txBody>
      </p:sp>
      <p:sp>
        <p:nvSpPr>
          <p:cNvPr id="47" name="Shape 45"/>
          <p:cNvSpPr/>
          <p:nvPr/>
        </p:nvSpPr>
        <p:spPr>
          <a:xfrm>
            <a:off x="8485632" y="4949952"/>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48" name="Shape 46"/>
          <p:cNvSpPr/>
          <p:nvPr/>
        </p:nvSpPr>
        <p:spPr>
          <a:xfrm>
            <a:off x="8485632" y="4949952"/>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49" name="Text 47"/>
          <p:cNvSpPr/>
          <p:nvPr/>
        </p:nvSpPr>
        <p:spPr>
          <a:xfrm>
            <a:off x="8619744" y="4998720"/>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Investment Strategy</a:t>
            </a:r>
            <a:endParaRPr lang="en-US" sz="1133">
              <a:solidFill>
                <a:prstClr val="black"/>
              </a:solidFill>
              <a:latin typeface="Calibri" panose="020F0502020204030204"/>
            </a:endParaRPr>
          </a:p>
        </p:txBody>
      </p:sp>
      <p:sp>
        <p:nvSpPr>
          <p:cNvPr id="50" name="Shape 48"/>
          <p:cNvSpPr/>
          <p:nvPr/>
        </p:nvSpPr>
        <p:spPr>
          <a:xfrm>
            <a:off x="8485632" y="5510784"/>
            <a:ext cx="3230880" cy="438912"/>
          </a:xfrm>
          <a:prstGeom prst="rect">
            <a:avLst/>
          </a:prstGeom>
          <a:solidFill>
            <a:srgbClr val="F4EFE4"/>
          </a:solidFill>
          <a:ln w="6350">
            <a:solidFill>
              <a:srgbClr val="F4EFE4"/>
            </a:solidFill>
            <a:prstDash val="solid"/>
          </a:ln>
        </p:spPr>
        <p:txBody>
          <a:bodyPr/>
          <a:lstStyle/>
          <a:p>
            <a:pPr defTabSz="1219170"/>
            <a:endParaRPr lang="en-US" sz="2400">
              <a:solidFill>
                <a:prstClr val="black"/>
              </a:solidFill>
              <a:latin typeface="Calibri" panose="020F0502020204030204"/>
            </a:endParaRPr>
          </a:p>
        </p:txBody>
      </p:sp>
      <p:sp>
        <p:nvSpPr>
          <p:cNvPr id="51" name="Shape 49"/>
          <p:cNvSpPr/>
          <p:nvPr/>
        </p:nvSpPr>
        <p:spPr>
          <a:xfrm>
            <a:off x="8485632" y="5510784"/>
            <a:ext cx="48768" cy="438912"/>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52" name="Text 50"/>
          <p:cNvSpPr/>
          <p:nvPr/>
        </p:nvSpPr>
        <p:spPr>
          <a:xfrm>
            <a:off x="8619744" y="5559552"/>
            <a:ext cx="2987040" cy="341376"/>
          </a:xfrm>
          <a:prstGeom prst="rect">
            <a:avLst/>
          </a:prstGeom>
          <a:noFill/>
          <a:ln/>
        </p:spPr>
        <p:txBody>
          <a:bodyPr wrap="square" lIns="0" tIns="0" rIns="0" bIns="0" rtlCol="0" anchor="ctr"/>
          <a:lstStyle/>
          <a:p>
            <a:pPr defTabSz="1219170"/>
            <a:r>
              <a:rPr lang="en-US" sz="1133">
                <a:solidFill>
                  <a:srgbClr val="171738"/>
                </a:solidFill>
                <a:latin typeface="Calibri" pitchFamily="34" charset="0"/>
                <a:ea typeface="Calibri" pitchFamily="34" charset="-122"/>
                <a:cs typeface="Calibri" pitchFamily="34" charset="-120"/>
              </a:rPr>
              <a:t>Charitable Optimization</a:t>
            </a:r>
            <a:endParaRPr lang="en-US" sz="1133">
              <a:solidFill>
                <a:prstClr val="black"/>
              </a:solidFill>
              <a:latin typeface="Calibri" panose="020F0502020204030204"/>
            </a:endParaRPr>
          </a:p>
        </p:txBody>
      </p:sp>
      <p:sp>
        <p:nvSpPr>
          <p:cNvPr id="59" name="Shape 35">
            <a:extLst>
              <a:ext uri="{FF2B5EF4-FFF2-40B4-BE49-F238E27FC236}">
                <a16:creationId xmlns:a16="http://schemas.microsoft.com/office/drawing/2014/main" id="{66108D79-46E7-C3C0-16EA-837A3CE15909}"/>
              </a:ext>
            </a:extLst>
          </p:cNvPr>
          <p:cNvSpPr/>
          <p:nvPr/>
        </p:nvSpPr>
        <p:spPr>
          <a:xfrm>
            <a:off x="548640" y="5547360"/>
            <a:ext cx="5486400" cy="792480"/>
          </a:xfrm>
          <a:prstGeom prst="rect">
            <a:avLst/>
          </a:prstGeom>
          <a:solidFill>
            <a:srgbClr val="171738"/>
          </a:solidFill>
          <a:ln w="12700">
            <a:solidFill>
              <a:srgbClr val="1C1713"/>
            </a:solidFill>
            <a:prstDash val="solid"/>
          </a:ln>
        </p:spPr>
        <p:txBody>
          <a:bodyPr/>
          <a:lstStyle/>
          <a:p>
            <a:pPr defTabSz="1219170"/>
            <a:endParaRPr lang="en-US" sz="2400">
              <a:solidFill>
                <a:prstClr val="black"/>
              </a:solidFill>
              <a:latin typeface="Calibri" panose="020F0502020204030204"/>
            </a:endParaRPr>
          </a:p>
        </p:txBody>
      </p:sp>
      <p:sp>
        <p:nvSpPr>
          <p:cNvPr id="61" name="Text 36">
            <a:extLst>
              <a:ext uri="{FF2B5EF4-FFF2-40B4-BE49-F238E27FC236}">
                <a16:creationId xmlns:a16="http://schemas.microsoft.com/office/drawing/2014/main" id="{1AA6010D-1525-432F-E947-64D1FA1ACD8D}"/>
              </a:ext>
            </a:extLst>
          </p:cNvPr>
          <p:cNvSpPr/>
          <p:nvPr/>
        </p:nvSpPr>
        <p:spPr>
          <a:xfrm>
            <a:off x="768096" y="5620512"/>
            <a:ext cx="3413760" cy="268224"/>
          </a:xfrm>
          <a:prstGeom prst="rect">
            <a:avLst/>
          </a:prstGeom>
          <a:noFill/>
          <a:ln/>
        </p:spPr>
        <p:txBody>
          <a:bodyPr wrap="square" lIns="0" tIns="0" rIns="0" bIns="0" rtlCol="0" anchor="ctr"/>
          <a:lstStyle/>
          <a:p>
            <a:pPr defTabSz="1219170"/>
            <a:r>
              <a:rPr lang="en-US" sz="1400">
                <a:solidFill>
                  <a:srgbClr val="FFFFFF"/>
                </a:solidFill>
                <a:latin typeface="Calibri"/>
                <a:ea typeface="Calibri"/>
                <a:cs typeface="Calibri"/>
              </a:rPr>
              <a:t>Engagement Investment</a:t>
            </a:r>
            <a:endParaRPr lang="en-US" sz="1400">
              <a:solidFill>
                <a:prstClr val="black"/>
              </a:solidFill>
              <a:latin typeface="Calibri"/>
              <a:ea typeface="Calibri"/>
              <a:cs typeface="Calibri"/>
            </a:endParaRPr>
          </a:p>
        </p:txBody>
      </p:sp>
      <p:sp>
        <p:nvSpPr>
          <p:cNvPr id="63" name="Text 37">
            <a:extLst>
              <a:ext uri="{FF2B5EF4-FFF2-40B4-BE49-F238E27FC236}">
                <a16:creationId xmlns:a16="http://schemas.microsoft.com/office/drawing/2014/main" id="{CFDEAAE9-608E-6247-D7F8-B50A65629EAC}"/>
              </a:ext>
            </a:extLst>
          </p:cNvPr>
          <p:cNvSpPr/>
          <p:nvPr/>
        </p:nvSpPr>
        <p:spPr>
          <a:xfrm>
            <a:off x="768096" y="5852160"/>
            <a:ext cx="4082428" cy="341376"/>
          </a:xfrm>
          <a:prstGeom prst="rect">
            <a:avLst/>
          </a:prstGeom>
          <a:noFill/>
          <a:ln/>
        </p:spPr>
        <p:txBody>
          <a:bodyPr wrap="square" lIns="0" tIns="0" rIns="0" bIns="0" rtlCol="0" anchor="ctr"/>
          <a:lstStyle/>
          <a:p>
            <a:pPr defTabSz="1219170"/>
            <a:r>
              <a:rPr lang="en-US" sz="2000">
                <a:solidFill>
                  <a:srgbClr val="FFFFFF"/>
                </a:solidFill>
                <a:latin typeface="Georgia" pitchFamily="34" charset="0"/>
                <a:ea typeface="Georgia" pitchFamily="34" charset="-122"/>
                <a:cs typeface="Georgia" pitchFamily="34" charset="-120"/>
              </a:rPr>
              <a:t>$6,500 / mo. – (1</a:t>
            </a:r>
            <a:r>
              <a:rPr lang="en-US" sz="2000" baseline="30000">
                <a:solidFill>
                  <a:srgbClr val="FFFFFF"/>
                </a:solidFill>
                <a:latin typeface="Georgia" pitchFamily="34" charset="0"/>
                <a:ea typeface="Georgia" pitchFamily="34" charset="-122"/>
                <a:cs typeface="Georgia" pitchFamily="34" charset="-120"/>
              </a:rPr>
              <a:t>st</a:t>
            </a:r>
            <a:r>
              <a:rPr lang="en-US" sz="2000">
                <a:solidFill>
                  <a:srgbClr val="FFFFFF"/>
                </a:solidFill>
                <a:latin typeface="Georgia" pitchFamily="34" charset="0"/>
                <a:ea typeface="Georgia" pitchFamily="34" charset="-122"/>
                <a:cs typeface="Georgia" pitchFamily="34" charset="-120"/>
              </a:rPr>
              <a:t> 12 Months)</a:t>
            </a:r>
            <a:endParaRPr lang="en-US" sz="2000">
              <a:solidFill>
                <a:prstClr val="black"/>
              </a:solidFill>
              <a:latin typeface="Calibri" panose="020F0502020204030204"/>
            </a:endParaRPr>
          </a:p>
        </p:txBody>
      </p:sp>
      <p:sp>
        <p:nvSpPr>
          <p:cNvPr id="57" name="Shape 5">
            <a:extLst>
              <a:ext uri="{FF2B5EF4-FFF2-40B4-BE49-F238E27FC236}">
                <a16:creationId xmlns:a16="http://schemas.microsoft.com/office/drawing/2014/main" id="{C6B543A9-EBBA-76D6-4590-08AEC1C662C3}"/>
              </a:ext>
            </a:extLst>
          </p:cNvPr>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60" name="Text 6">
            <a:extLst>
              <a:ext uri="{FF2B5EF4-FFF2-40B4-BE49-F238E27FC236}">
                <a16:creationId xmlns:a16="http://schemas.microsoft.com/office/drawing/2014/main" id="{876573E6-2EE0-7820-9CCA-035031C4B720}"/>
              </a:ext>
            </a:extLst>
          </p:cNvPr>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64" name="Text 7">
            <a:extLst>
              <a:ext uri="{FF2B5EF4-FFF2-40B4-BE49-F238E27FC236}">
                <a16:creationId xmlns:a16="http://schemas.microsoft.com/office/drawing/2014/main" id="{D0CB8FD7-8B8F-1372-5F2C-4803CBF9ECAC}"/>
              </a:ext>
            </a:extLst>
          </p:cNvPr>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5"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66"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61">
    <p:bg>
      <p:bgPr>
        <a:solidFill>
          <a:srgbClr val="171738"/>
        </a:solidFill>
        <a:effectLst/>
      </p:bgPr>
    </p:bg>
    <p:spTree>
      <p:nvGrpSpPr>
        <p:cNvPr id="1" name=""/>
        <p:cNvGrpSpPr/>
        <p:nvPr/>
      </p:nvGrpSpPr>
      <p:grpSpPr>
        <a:xfrm>
          <a:off x="0" y="0"/>
          <a:ext cx="0" cy="0"/>
          <a:chOff x="0" y="0"/>
          <a:chExt cx="0" cy="0"/>
        </a:xfrm>
      </p:grpSpPr>
      <p:sp>
        <p:nvSpPr>
          <p:cNvPr id="2" name="Shape 0"/>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3" name="Text 1"/>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5" name="Text 3"/>
          <p:cNvSpPr/>
          <p:nvPr/>
        </p:nvSpPr>
        <p:spPr>
          <a:xfrm>
            <a:off x="1371600" y="2011680"/>
            <a:ext cx="9418320" cy="2286000"/>
          </a:xfrm>
          <a:prstGeom prst="rect">
            <a:avLst/>
          </a:prstGeom>
          <a:noFill/>
          <a:ln/>
        </p:spPr>
        <p:txBody>
          <a:bodyPr wrap="square" lIns="0" tIns="0" rIns="0" bIns="0" rtlCol="0" anchor="ctr"/>
          <a:lstStyle/>
          <a:p>
            <a:pPr marL="0" indent="0" algn="l">
              <a:lnSpc>
                <a:spcPct val="110000"/>
              </a:lnSpc>
              <a:buNone/>
            </a:pPr>
            <a:r>
              <a:rPr lang="en-US" sz="5200" dirty="0">
                <a:solidFill>
                  <a:srgbClr val="FFFFFF"/>
                </a:solidFill>
                <a:latin typeface="Georgia" pitchFamily="34" charset="0"/>
                <a:ea typeface="Georgia" pitchFamily="34" charset="-122"/>
                <a:cs typeface="Georgia" pitchFamily="34" charset="-120"/>
              </a:rPr>
              <a:t>Timeline and</a:t>
            </a:r>
            <a:endParaRPr lang="en-US" sz="5200" dirty="0"/>
          </a:p>
          <a:p>
            <a:pPr marL="0" indent="0" algn="l">
              <a:lnSpc>
                <a:spcPct val="110000"/>
              </a:lnSpc>
              <a:buNone/>
            </a:pPr>
            <a:r>
              <a:rPr lang="en-US" sz="5200" dirty="0">
                <a:solidFill>
                  <a:srgbClr val="FFFFFF"/>
                </a:solidFill>
                <a:latin typeface="Georgia" pitchFamily="34" charset="0"/>
                <a:ea typeface="Georgia" pitchFamily="34" charset="-122"/>
                <a:cs typeface="Georgia" pitchFamily="34" charset="-120"/>
              </a:rPr>
              <a:t>Next Steps</a:t>
            </a:r>
            <a:endParaRPr lang="en-US" sz="5200" dirty="0"/>
          </a:p>
        </p:txBody>
      </p:sp>
      <p:sp>
        <p:nvSpPr>
          <p:cNvPr id="6" name="Shape 4"/>
          <p:cNvSpPr/>
          <p:nvPr/>
        </p:nvSpPr>
        <p:spPr>
          <a:xfrm>
            <a:off x="1371600" y="4343400"/>
            <a:ext cx="1645920" cy="0"/>
          </a:xfrm>
          <a:prstGeom prst="line">
            <a:avLst/>
          </a:prstGeom>
          <a:noFill/>
          <a:ln w="31750">
            <a:solidFill>
              <a:srgbClr val="C9A84C"/>
            </a:solidFill>
            <a:prstDash val="solid"/>
          </a:ln>
        </p:spPr>
        <p:txBody>
          <a:bodyPr/>
          <a:lstStyle/>
          <a:p>
            <a:endParaRPr lang="en-US"/>
          </a:p>
        </p:txBody>
      </p:sp>
      <p:pic>
        <p:nvPicPr>
          <p:cNvPr id="7" name="Paradiem Logo" descr="paradiem-logo-parchment.png"/>
          <p:cNvPicPr>
            <a:picLocks noChangeAspect="1"/>
          </p:cNvPicPr>
          <p:nvPr/>
        </p:nvPicPr>
        <p:blipFill>
          <a:blip r:embed="rId3"/>
          <a:stretch>
            <a:fillRect/>
          </a:stretch>
        </p:blipFill>
        <p:spPr>
          <a:xfrm>
            <a:off x="10241584" y="192024"/>
            <a:ext cx="1401775" cy="406047"/>
          </a:xfrm>
          <a:prstGeom prst="rect">
            <a:avLst/>
          </a:prstGeom>
        </p:spPr>
      </p:pic>
      <p:sp>
        <p:nvSpPr>
          <p:cNvPr id="8"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3" name="Text 1"/>
          <p:cNvSpPr/>
          <p:nvPr/>
        </p:nvSpPr>
        <p:spPr>
          <a:xfrm>
            <a:off x="548640" y="201168"/>
            <a:ext cx="10972800" cy="201168"/>
          </a:xfrm>
          <a:prstGeom prst="rect">
            <a:avLst/>
          </a:prstGeom>
          <a:noFill/>
          <a:ln/>
        </p:spPr>
        <p:txBody>
          <a:bodyPr wrap="square" lIns="0" tIns="0" rIns="0" bIns="0" rtlCol="0" anchor="t"/>
          <a:lstStyle/>
          <a:p>
            <a:pPr marL="0" indent="0" algn="l">
              <a:buNone/>
            </a:pPr>
            <a:r>
              <a:rPr lang="en-US" sz="1350" kern="0" spc="300">
                <a:solidFill>
                  <a:srgbClr val="C9A84C"/>
                </a:solidFill>
                <a:latin typeface="Calibri" pitchFamily="34" charset="0"/>
                <a:ea typeface="Calibri" pitchFamily="34" charset="-122"/>
                <a:cs typeface="Calibri" pitchFamily="34" charset="-120"/>
              </a:rPr>
              <a:t>TIMELINE</a:t>
            </a:r>
            <a:endParaRPr lang="en-US" sz="1350"/>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71738"/>
                </a:solidFill>
                <a:latin typeface="Georgia" pitchFamily="34" charset="0"/>
                <a:ea typeface="Georgia" pitchFamily="34" charset="-122"/>
                <a:cs typeface="Georgia" pitchFamily="34" charset="-120"/>
              </a:rPr>
              <a:t>Timeline</a:t>
            </a:r>
            <a:endParaRPr lang="en-US" sz="2600"/>
          </a:p>
          <a:p>
            <a:pPr marL="0" indent="0" algn="l">
              <a:buNone/>
            </a:pPr>
            <a:r>
              <a:rPr lang="en-US" sz="2600">
                <a:solidFill>
                  <a:srgbClr val="171738"/>
                </a:solidFill>
                <a:latin typeface="Georgia" pitchFamily="34" charset="0"/>
                <a:ea typeface="Georgia" pitchFamily="34" charset="-122"/>
                <a:cs typeface="Georgia" pitchFamily="34" charset="-120"/>
              </a:rPr>
              <a:t>First Year</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11" name="TextBox 10">
            <a:extLst>
              <a:ext uri="{FF2B5EF4-FFF2-40B4-BE49-F238E27FC236}">
                <a16:creationId xmlns:a16="http://schemas.microsoft.com/office/drawing/2014/main" id="{1107FCCE-9344-E85E-E5A9-E61C5C6A7A95}"/>
              </a:ext>
            </a:extLst>
          </p:cNvPr>
          <p:cNvSpPr txBox="1"/>
          <p:nvPr/>
        </p:nvSpPr>
        <p:spPr>
          <a:xfrm>
            <a:off x="3383280" y="3032236"/>
            <a:ext cx="5032710" cy="369332"/>
          </a:xfrm>
          <a:prstGeom prst="rect">
            <a:avLst/>
          </a:prstGeom>
          <a:noFill/>
        </p:spPr>
        <p:txBody>
          <a:bodyPr wrap="square" rtlCol="0">
            <a:spAutoFit/>
          </a:bodyPr>
          <a:lstStyle/>
          <a:p>
            <a:r>
              <a:rPr lang="en-US">
                <a:solidFill>
                  <a:srgbClr val="A8332F"/>
                </a:solidFill>
                <a:latin typeface="Calibri"/>
                <a:ea typeface="Calibri"/>
                <a:cs typeface="Calibri"/>
              </a:rPr>
              <a:t>Paste in from Excel</a:t>
            </a:r>
          </a:p>
        </p:txBody>
      </p:sp>
      <p:pic>
        <p:nvPicPr>
          <p:cNvPr id="12"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13"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71738"/>
          </a:solidFill>
          <a:ln w="12700">
            <a:solidFill>
              <a:srgbClr val="171738"/>
            </a:solidFill>
            <a:prstDash val="solid"/>
          </a:ln>
        </p:spPr>
        <p:txBody>
          <a:bodyPr/>
          <a:lstStyle/>
          <a:p>
            <a:endParaRPr lang="en-US"/>
          </a:p>
        </p:txBody>
      </p:sp>
      <p:sp>
        <p:nvSpPr>
          <p:cNvPr id="3" name="Text 1"/>
          <p:cNvSpPr/>
          <p:nvPr/>
        </p:nvSpPr>
        <p:spPr>
          <a:xfrm>
            <a:off x="548640" y="201168"/>
            <a:ext cx="10972800" cy="201168"/>
          </a:xfrm>
          <a:prstGeom prst="rect">
            <a:avLst/>
          </a:prstGeom>
          <a:noFill/>
          <a:ln/>
        </p:spPr>
        <p:txBody>
          <a:bodyPr wrap="square" lIns="0" tIns="0" rIns="0" bIns="0" rtlCol="0" anchor="t"/>
          <a:lstStyle/>
          <a:p>
            <a:pPr marL="0" indent="0" algn="l">
              <a:buNone/>
            </a:pPr>
            <a:r>
              <a:rPr lang="en-US" sz="1350" kern="0" spc="300">
                <a:solidFill>
                  <a:srgbClr val="C9A84C"/>
                </a:solidFill>
                <a:latin typeface="Calibri" pitchFamily="34" charset="0"/>
                <a:ea typeface="Calibri" pitchFamily="34" charset="-122"/>
                <a:cs typeface="Calibri" pitchFamily="34" charset="-120"/>
              </a:rPr>
              <a:t>ACTION PLAN</a:t>
            </a:r>
            <a:endParaRPr lang="en-US" sz="1350"/>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800">
                <a:solidFill>
                  <a:srgbClr val="171738"/>
                </a:solidFill>
                <a:latin typeface="Georgia" pitchFamily="34" charset="0"/>
                <a:ea typeface="Georgia" pitchFamily="34" charset="-122"/>
                <a:cs typeface="Georgia" pitchFamily="34" charset="-120"/>
              </a:rPr>
              <a:t>Next Steps</a:t>
            </a:r>
            <a:endParaRPr lang="en-US" sz="28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F4EFE4"/>
          </a:solidFill>
          <a:ln w="12700">
            <a:solidFill>
              <a:srgbClr val="F4EFE4"/>
            </a:solidFill>
            <a:prstDash val="solid"/>
          </a:ln>
        </p:spPr>
        <p:txBody>
          <a:bodyPr/>
          <a:lstStyle/>
          <a:p>
            <a:endParaRPr lang="en-US"/>
          </a:p>
        </p:txBody>
      </p:sp>
      <p:sp>
        <p:nvSpPr>
          <p:cNvPr id="7" name="Text 5"/>
          <p:cNvSpPr/>
          <p:nvPr/>
        </p:nvSpPr>
        <p:spPr>
          <a:xfrm>
            <a:off x="411480" y="6510528"/>
            <a:ext cx="2757257" cy="228600"/>
          </a:xfrm>
          <a:prstGeom prst="rect">
            <a:avLst/>
          </a:prstGeom>
          <a:noFill/>
          <a:ln/>
        </p:spPr>
        <p:txBody>
          <a:bodyPr wrap="square" lIns="0" tIns="0" rIns="0" bIns="0" rtlCol="0" anchor="ctr"/>
          <a:lstStyle/>
          <a:p>
            <a:pPr marL="0" indent="0" algn="l">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9185856" y="6510528"/>
            <a:ext cx="2591615" cy="228600"/>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691640"/>
            <a:ext cx="11091672" cy="685800"/>
          </a:xfrm>
          <a:prstGeom prst="rect">
            <a:avLst/>
          </a:prstGeom>
          <a:solidFill>
            <a:srgbClr val="F4EFE4"/>
          </a:solidFill>
          <a:ln w="6350">
            <a:solidFill>
              <a:srgbClr val="F4EFE4"/>
            </a:solidFill>
            <a:prstDash val="solid"/>
          </a:ln>
        </p:spPr>
        <p:txBody>
          <a:bodyPr/>
          <a:lstStyle/>
          <a:p>
            <a:endParaRPr lang="en-US"/>
          </a:p>
        </p:txBody>
      </p:sp>
      <p:sp>
        <p:nvSpPr>
          <p:cNvPr id="10" name="Shape 8"/>
          <p:cNvSpPr/>
          <p:nvPr/>
        </p:nvSpPr>
        <p:spPr>
          <a:xfrm>
            <a:off x="548640" y="1691640"/>
            <a:ext cx="64008" cy="685800"/>
          </a:xfrm>
          <a:prstGeom prst="rect">
            <a:avLst/>
          </a:prstGeom>
          <a:solidFill>
            <a:srgbClr val="C9A84C"/>
          </a:solidFill>
          <a:ln w="12700">
            <a:solidFill>
              <a:srgbClr val="C9A84C"/>
            </a:solidFill>
            <a:prstDash val="solid"/>
          </a:ln>
        </p:spPr>
        <p:txBody>
          <a:bodyPr/>
          <a:lstStyle/>
          <a:p>
            <a:endParaRPr lang="en-US"/>
          </a:p>
        </p:txBody>
      </p:sp>
      <p:sp>
        <p:nvSpPr>
          <p:cNvPr id="11" name="Text 9"/>
          <p:cNvSpPr/>
          <p:nvPr/>
        </p:nvSpPr>
        <p:spPr>
          <a:xfrm>
            <a:off x="731520" y="1783080"/>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01</a:t>
            </a:r>
            <a:endParaRPr lang="en-US" sz="2500"/>
          </a:p>
        </p:txBody>
      </p:sp>
      <p:sp>
        <p:nvSpPr>
          <p:cNvPr id="12" name="Text 10"/>
          <p:cNvSpPr/>
          <p:nvPr/>
        </p:nvSpPr>
        <p:spPr>
          <a:xfrm>
            <a:off x="1417320" y="1783080"/>
            <a:ext cx="9966960" cy="502920"/>
          </a:xfrm>
          <a:prstGeom prst="rect">
            <a:avLst/>
          </a:prstGeom>
          <a:noFill/>
          <a:ln/>
        </p:spPr>
        <p:txBody>
          <a:bodyPr wrap="square" lIns="0" tIns="0" rIns="0" bIns="0" rtlCol="0" anchor="ctr"/>
          <a:lstStyle/>
          <a:p>
            <a:pPr marL="0" indent="0" algn="l">
              <a:buNone/>
            </a:pPr>
            <a:r>
              <a:rPr lang="en-US" sz="2000">
                <a:solidFill>
                  <a:srgbClr val="171738"/>
                </a:solidFill>
                <a:latin typeface="Calibri" pitchFamily="34" charset="0"/>
                <a:ea typeface="Calibri" pitchFamily="34" charset="-122"/>
                <a:cs typeface="Calibri" pitchFamily="34" charset="-120"/>
              </a:rPr>
              <a:t>Cash Flow and Financial Analysis</a:t>
            </a:r>
            <a:endParaRPr lang="en-US" sz="2000"/>
          </a:p>
        </p:txBody>
      </p:sp>
      <p:sp>
        <p:nvSpPr>
          <p:cNvPr id="13" name="Shape 11"/>
          <p:cNvSpPr/>
          <p:nvPr/>
        </p:nvSpPr>
        <p:spPr>
          <a:xfrm>
            <a:off x="548640" y="2496312"/>
            <a:ext cx="11091672" cy="685800"/>
          </a:xfrm>
          <a:prstGeom prst="rect">
            <a:avLst/>
          </a:prstGeom>
          <a:solidFill>
            <a:srgbClr val="F4EFE4"/>
          </a:solidFill>
          <a:ln w="6350">
            <a:solidFill>
              <a:srgbClr val="F4EFE4"/>
            </a:solidFill>
            <a:prstDash val="solid"/>
          </a:ln>
        </p:spPr>
        <p:txBody>
          <a:bodyPr/>
          <a:lstStyle/>
          <a:p>
            <a:endParaRPr lang="en-US"/>
          </a:p>
        </p:txBody>
      </p:sp>
      <p:sp>
        <p:nvSpPr>
          <p:cNvPr id="14" name="Shape 12"/>
          <p:cNvSpPr/>
          <p:nvPr/>
        </p:nvSpPr>
        <p:spPr>
          <a:xfrm>
            <a:off x="548640" y="2496312"/>
            <a:ext cx="64008" cy="685800"/>
          </a:xfrm>
          <a:prstGeom prst="rect">
            <a:avLst/>
          </a:prstGeom>
          <a:solidFill>
            <a:srgbClr val="C9A84C"/>
          </a:solidFill>
          <a:ln w="12700">
            <a:solidFill>
              <a:srgbClr val="C9A84C"/>
            </a:solidFill>
            <a:prstDash val="solid"/>
          </a:ln>
        </p:spPr>
        <p:txBody>
          <a:bodyPr/>
          <a:lstStyle/>
          <a:p>
            <a:endParaRPr lang="en-US"/>
          </a:p>
        </p:txBody>
      </p:sp>
      <p:sp>
        <p:nvSpPr>
          <p:cNvPr id="15" name="Text 13"/>
          <p:cNvSpPr/>
          <p:nvPr/>
        </p:nvSpPr>
        <p:spPr>
          <a:xfrm>
            <a:off x="731520" y="2587752"/>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02</a:t>
            </a:r>
            <a:endParaRPr lang="en-US" sz="2500"/>
          </a:p>
        </p:txBody>
      </p:sp>
      <p:sp>
        <p:nvSpPr>
          <p:cNvPr id="16" name="Text 14"/>
          <p:cNvSpPr/>
          <p:nvPr/>
        </p:nvSpPr>
        <p:spPr>
          <a:xfrm>
            <a:off x="1417320" y="2587752"/>
            <a:ext cx="9966960" cy="502920"/>
          </a:xfrm>
          <a:prstGeom prst="rect">
            <a:avLst/>
          </a:prstGeom>
          <a:noFill/>
          <a:ln/>
        </p:spPr>
        <p:txBody>
          <a:bodyPr wrap="square" lIns="0" tIns="0" rIns="0" bIns="0" rtlCol="0" anchor="ctr"/>
          <a:lstStyle/>
          <a:p>
            <a:r>
              <a:rPr lang="en-US" sz="2000">
                <a:solidFill>
                  <a:srgbClr val="171738"/>
                </a:solidFill>
                <a:latin typeface="Calibri" pitchFamily="34" charset="0"/>
                <a:ea typeface="Calibri" pitchFamily="34" charset="-122"/>
                <a:cs typeface="Calibri" pitchFamily="34" charset="-120"/>
              </a:rPr>
              <a:t>Generational Impact Retreat</a:t>
            </a:r>
            <a:endParaRPr lang="en-US" sz="2000"/>
          </a:p>
        </p:txBody>
      </p:sp>
      <p:sp>
        <p:nvSpPr>
          <p:cNvPr id="17" name="Shape 15"/>
          <p:cNvSpPr/>
          <p:nvPr/>
        </p:nvSpPr>
        <p:spPr>
          <a:xfrm>
            <a:off x="548640" y="3300984"/>
            <a:ext cx="11091672" cy="685800"/>
          </a:xfrm>
          <a:prstGeom prst="rect">
            <a:avLst/>
          </a:prstGeom>
          <a:solidFill>
            <a:srgbClr val="F4EFE4"/>
          </a:solidFill>
          <a:ln w="6350">
            <a:solidFill>
              <a:srgbClr val="F4EFE4"/>
            </a:solidFill>
            <a:prstDash val="solid"/>
          </a:ln>
        </p:spPr>
        <p:txBody>
          <a:bodyPr/>
          <a:lstStyle/>
          <a:p>
            <a:endParaRPr lang="en-US"/>
          </a:p>
        </p:txBody>
      </p:sp>
      <p:sp>
        <p:nvSpPr>
          <p:cNvPr id="18" name="Shape 16"/>
          <p:cNvSpPr/>
          <p:nvPr/>
        </p:nvSpPr>
        <p:spPr>
          <a:xfrm>
            <a:off x="548640" y="3300984"/>
            <a:ext cx="64008" cy="685800"/>
          </a:xfrm>
          <a:prstGeom prst="rect">
            <a:avLst/>
          </a:prstGeom>
          <a:solidFill>
            <a:srgbClr val="C9A84C"/>
          </a:solidFill>
          <a:ln w="12700">
            <a:solidFill>
              <a:srgbClr val="C9A84C"/>
            </a:solidFill>
            <a:prstDash val="solid"/>
          </a:ln>
        </p:spPr>
        <p:txBody>
          <a:bodyPr/>
          <a:lstStyle/>
          <a:p>
            <a:endParaRPr lang="en-US"/>
          </a:p>
        </p:txBody>
      </p:sp>
      <p:sp>
        <p:nvSpPr>
          <p:cNvPr id="19" name="Text 17"/>
          <p:cNvSpPr/>
          <p:nvPr/>
        </p:nvSpPr>
        <p:spPr>
          <a:xfrm>
            <a:off x="731520" y="3392424"/>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03</a:t>
            </a:r>
            <a:endParaRPr lang="en-US" sz="2500"/>
          </a:p>
        </p:txBody>
      </p:sp>
      <p:sp>
        <p:nvSpPr>
          <p:cNvPr id="20" name="Text 18"/>
          <p:cNvSpPr/>
          <p:nvPr/>
        </p:nvSpPr>
        <p:spPr>
          <a:xfrm>
            <a:off x="1417320" y="3392424"/>
            <a:ext cx="9966960" cy="502920"/>
          </a:xfrm>
          <a:prstGeom prst="rect">
            <a:avLst/>
          </a:prstGeom>
          <a:noFill/>
          <a:ln/>
        </p:spPr>
        <p:txBody>
          <a:bodyPr wrap="square" lIns="0" tIns="0" rIns="0" bIns="0" rtlCol="0" anchor="ctr"/>
          <a:lstStyle/>
          <a:p>
            <a:pPr marL="0" indent="0" algn="l">
              <a:buNone/>
            </a:pPr>
            <a:r>
              <a:rPr lang="en-US" sz="2000">
                <a:solidFill>
                  <a:srgbClr val="171738"/>
                </a:solidFill>
                <a:latin typeface="Calibri" pitchFamily="34" charset="0"/>
                <a:ea typeface="Calibri" pitchFamily="34" charset="-122"/>
                <a:cs typeface="Calibri" pitchFamily="34" charset="-120"/>
              </a:rPr>
              <a:t>Finalize Goals and Intentions</a:t>
            </a:r>
            <a:endParaRPr lang="en-US" sz="2000"/>
          </a:p>
        </p:txBody>
      </p:sp>
      <p:sp>
        <p:nvSpPr>
          <p:cNvPr id="21" name="Shape 19"/>
          <p:cNvSpPr/>
          <p:nvPr/>
        </p:nvSpPr>
        <p:spPr>
          <a:xfrm>
            <a:off x="548640" y="4105656"/>
            <a:ext cx="11091672" cy="685800"/>
          </a:xfrm>
          <a:prstGeom prst="rect">
            <a:avLst/>
          </a:prstGeom>
          <a:solidFill>
            <a:srgbClr val="F4EFE4"/>
          </a:solidFill>
          <a:ln w="6350">
            <a:solidFill>
              <a:srgbClr val="F4EFE4"/>
            </a:solidFill>
            <a:prstDash val="solid"/>
          </a:ln>
        </p:spPr>
        <p:txBody>
          <a:bodyPr/>
          <a:lstStyle/>
          <a:p>
            <a:endParaRPr lang="en-US"/>
          </a:p>
        </p:txBody>
      </p:sp>
      <p:sp>
        <p:nvSpPr>
          <p:cNvPr id="22" name="Shape 20"/>
          <p:cNvSpPr/>
          <p:nvPr/>
        </p:nvSpPr>
        <p:spPr>
          <a:xfrm>
            <a:off x="548640" y="4105656"/>
            <a:ext cx="64008" cy="685800"/>
          </a:xfrm>
          <a:prstGeom prst="rect">
            <a:avLst/>
          </a:prstGeom>
          <a:solidFill>
            <a:srgbClr val="C9A84C"/>
          </a:solidFill>
          <a:ln w="12700">
            <a:solidFill>
              <a:srgbClr val="C9A84C"/>
            </a:solidFill>
            <a:prstDash val="solid"/>
          </a:ln>
        </p:spPr>
        <p:txBody>
          <a:bodyPr/>
          <a:lstStyle/>
          <a:p>
            <a:endParaRPr lang="en-US"/>
          </a:p>
        </p:txBody>
      </p:sp>
      <p:sp>
        <p:nvSpPr>
          <p:cNvPr id="23" name="Text 21"/>
          <p:cNvSpPr/>
          <p:nvPr/>
        </p:nvSpPr>
        <p:spPr>
          <a:xfrm>
            <a:off x="731520" y="4197096"/>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04</a:t>
            </a:r>
            <a:endParaRPr lang="en-US" sz="2500"/>
          </a:p>
        </p:txBody>
      </p:sp>
      <p:sp>
        <p:nvSpPr>
          <p:cNvPr id="24" name="Text 22"/>
          <p:cNvSpPr/>
          <p:nvPr/>
        </p:nvSpPr>
        <p:spPr>
          <a:xfrm>
            <a:off x="1417320" y="4197096"/>
            <a:ext cx="9966960" cy="502920"/>
          </a:xfrm>
          <a:prstGeom prst="rect">
            <a:avLst/>
          </a:prstGeom>
          <a:noFill/>
          <a:ln/>
        </p:spPr>
        <p:txBody>
          <a:bodyPr wrap="square" lIns="0" tIns="0" rIns="0" bIns="0" rtlCol="0" anchor="ctr"/>
          <a:lstStyle/>
          <a:p>
            <a:pPr marL="0" indent="0" algn="l">
              <a:buNone/>
            </a:pPr>
            <a:r>
              <a:rPr lang="en-US" sz="2000">
                <a:solidFill>
                  <a:srgbClr val="171738"/>
                </a:solidFill>
                <a:latin typeface="Calibri" pitchFamily="34" charset="0"/>
                <a:ea typeface="Calibri" pitchFamily="34" charset="-122"/>
                <a:cs typeface="Calibri" pitchFamily="34" charset="-120"/>
              </a:rPr>
              <a:t>Introduction to Advisors</a:t>
            </a:r>
            <a:endParaRPr lang="en-US" sz="2000"/>
          </a:p>
        </p:txBody>
      </p:sp>
      <p:sp>
        <p:nvSpPr>
          <p:cNvPr id="25" name="Shape 23"/>
          <p:cNvSpPr/>
          <p:nvPr/>
        </p:nvSpPr>
        <p:spPr>
          <a:xfrm>
            <a:off x="548640" y="4910328"/>
            <a:ext cx="11091672" cy="685800"/>
          </a:xfrm>
          <a:prstGeom prst="rect">
            <a:avLst/>
          </a:prstGeom>
          <a:solidFill>
            <a:srgbClr val="F4EFE4"/>
          </a:solidFill>
          <a:ln w="6350">
            <a:solidFill>
              <a:srgbClr val="F4EFE4"/>
            </a:solidFill>
            <a:prstDash val="solid"/>
          </a:ln>
        </p:spPr>
        <p:txBody>
          <a:bodyPr/>
          <a:lstStyle/>
          <a:p>
            <a:endParaRPr lang="en-US"/>
          </a:p>
        </p:txBody>
      </p:sp>
      <p:sp>
        <p:nvSpPr>
          <p:cNvPr id="26" name="Shape 24"/>
          <p:cNvSpPr/>
          <p:nvPr/>
        </p:nvSpPr>
        <p:spPr>
          <a:xfrm>
            <a:off x="548640" y="4910328"/>
            <a:ext cx="64008" cy="685800"/>
          </a:xfrm>
          <a:prstGeom prst="rect">
            <a:avLst/>
          </a:prstGeom>
          <a:solidFill>
            <a:srgbClr val="C9A84C"/>
          </a:solidFill>
          <a:ln w="12700">
            <a:solidFill>
              <a:srgbClr val="C9A84C"/>
            </a:solidFill>
            <a:prstDash val="solid"/>
          </a:ln>
        </p:spPr>
        <p:txBody>
          <a:bodyPr/>
          <a:lstStyle/>
          <a:p>
            <a:endParaRPr lang="en-US"/>
          </a:p>
        </p:txBody>
      </p:sp>
      <p:sp>
        <p:nvSpPr>
          <p:cNvPr id="27" name="Text 25"/>
          <p:cNvSpPr/>
          <p:nvPr/>
        </p:nvSpPr>
        <p:spPr>
          <a:xfrm>
            <a:off x="731520" y="5001768"/>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05</a:t>
            </a:r>
            <a:endParaRPr lang="en-US" sz="2500"/>
          </a:p>
        </p:txBody>
      </p:sp>
      <p:sp>
        <p:nvSpPr>
          <p:cNvPr id="28" name="Text 26"/>
          <p:cNvSpPr/>
          <p:nvPr/>
        </p:nvSpPr>
        <p:spPr>
          <a:xfrm>
            <a:off x="1417320" y="5001768"/>
            <a:ext cx="9966960" cy="502920"/>
          </a:xfrm>
          <a:prstGeom prst="rect">
            <a:avLst/>
          </a:prstGeom>
          <a:noFill/>
          <a:ln/>
        </p:spPr>
        <p:txBody>
          <a:bodyPr wrap="square" lIns="0" tIns="0" rIns="0" bIns="0" rtlCol="0" anchor="ctr"/>
          <a:lstStyle/>
          <a:p>
            <a:pPr marL="0" indent="0" algn="l">
              <a:buNone/>
            </a:pPr>
            <a:r>
              <a:rPr lang="en-US" sz="2000">
                <a:solidFill>
                  <a:srgbClr val="171738"/>
                </a:solidFill>
                <a:latin typeface="Calibri" pitchFamily="34" charset="0"/>
                <a:ea typeface="Calibri" pitchFamily="34" charset="-122"/>
                <a:cs typeface="Calibri" pitchFamily="34" charset="-120"/>
              </a:rPr>
              <a:t>Paradiem Planning Day </a:t>
            </a:r>
            <a:endParaRPr lang="en-US" sz="2000"/>
          </a:p>
        </p:txBody>
      </p:sp>
      <p:pic>
        <p:nvPicPr>
          <p:cNvPr id="29" name="Paradiem Logo" descr="paradiem-logo-navy.png"/>
          <p:cNvPicPr>
            <a:picLocks noChangeAspect="1"/>
          </p:cNvPicPr>
          <p:nvPr/>
        </p:nvPicPr>
        <p:blipFill>
          <a:blip r:embed="rId3"/>
          <a:stretch>
            <a:fillRect/>
          </a:stretch>
        </p:blipFill>
        <p:spPr>
          <a:xfrm>
            <a:off x="10241584" y="192024"/>
            <a:ext cx="1401775" cy="406047"/>
          </a:xfrm>
          <a:prstGeom prst="rect">
            <a:avLst/>
          </a:prstGeom>
        </p:spPr>
      </p:pic>
      <p:sp>
        <p:nvSpPr>
          <p:cNvPr id="30" name="Paradiem Disclosure"/>
          <p:cNvSpPr txBox="1"/>
          <p:nvPr/>
        </p:nvSpPr>
        <p:spPr>
          <a:xfrm>
            <a:off x="3260177" y="6510528"/>
            <a:ext cx="5834239" cy="228600"/>
          </a:xfrm>
          <a:prstGeom prst="rect">
            <a:avLst/>
          </a:prstGeom>
          <a:noFill/>
        </p:spPr>
        <p:txBody>
          <a:bodyPr wrap="square" lIns="0" rIns="0" tIns="0" bIns="0" anchor="ctr">
            <a:spAutoFit/>
          </a:bodyPr>
          <a:lstStyle/>
          <a:p>
            <a:pPr algn="ctr"/>
            <a:r>
              <a:rPr sz="800" i="1" b="0">
                <a:solidFill>
                  <a:srgbClr val="8B7355"/>
                </a:solidFill>
                <a:latin typeface="Calibri"/>
              </a:rPr>
              <a:t>Paradiem LLC. is a Registered Investment Advisor.</a:t>
            </a:r>
          </a:p>
        </p:txBody>
      </p:sp>
    </p:spTree>
  </p:cSld>
  <p:clrMapOvr>
    <a:masterClrMapping/>
  </p:clrMapOvr>
</p:sld>
</file>

<file path=ppt/theme/theme1.xml><?xml version="1.0" encoding="utf-8"?>
<a:theme xmlns:a="http://schemas.openxmlformats.org/drawingml/2006/main" name="Office Theme">
  <a:themeElements>
    <a:clrScheme name="Paradiem">
      <a:dk1>
        <a:srgbClr val="171738"/>
      </a:dk1>
      <a:lt1>
        <a:srgbClr val="FFFFFF"/>
      </a:lt1>
      <a:dk2>
        <a:srgbClr val="1C1713"/>
      </a:dk2>
      <a:lt2>
        <a:srgbClr val="F4EFE4"/>
      </a:lt2>
      <a:accent1>
        <a:srgbClr val="171738"/>
      </a:accent1>
      <a:accent2>
        <a:srgbClr val="C9A84C"/>
      </a:accent2>
      <a:accent3>
        <a:srgbClr val="8B7355"/>
      </a:accent3>
      <a:accent4>
        <a:srgbClr val="B8B4AC"/>
      </a:accent4>
      <a:accent5>
        <a:srgbClr val="1C1713"/>
      </a:accent5>
      <a:accent6>
        <a:srgbClr val="F4EFE4"/>
      </a:accent6>
      <a:hlink>
        <a:srgbClr val="171738"/>
      </a:hlink>
      <a:folHlink>
        <a:srgbClr val="8B7355"/>
      </a:folHlink>
    </a:clrScheme>
    <a:fontScheme name="Paradiem">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C1713">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Paradiem">
      <a:dk1>
        <a:srgbClr val="171738"/>
      </a:dk1>
      <a:lt1>
        <a:srgbClr val="FFFFFF"/>
      </a:lt1>
      <a:dk2>
        <a:srgbClr val="1C1713"/>
      </a:dk2>
      <a:lt2>
        <a:srgbClr val="F4EFE4"/>
      </a:lt2>
      <a:accent1>
        <a:srgbClr val="171738"/>
      </a:accent1>
      <a:accent2>
        <a:srgbClr val="C9A84C"/>
      </a:accent2>
      <a:accent3>
        <a:srgbClr val="8B7355"/>
      </a:accent3>
      <a:accent4>
        <a:srgbClr val="B8B4AC"/>
      </a:accent4>
      <a:accent5>
        <a:srgbClr val="1C1713"/>
      </a:accent5>
      <a:accent6>
        <a:srgbClr val="F4EFE4"/>
      </a:accent6>
      <a:hlink>
        <a:srgbClr val="171738"/>
      </a:hlink>
      <a:folHlink>
        <a:srgbClr val="8B7355"/>
      </a:folHlink>
    </a:clrScheme>
    <a:fontScheme name="Paradiem">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1C1713">
                <a:alpha val="38000"/>
              </a:srgbClr>
            </a:outerShdw>
          </a:effectLst>
        </a:effectStyle>
        <a:effectStyle>
          <a:effectLst>
            <a:outerShdw blurRad="40000" dist="23000" dir="5400000" rotWithShape="0">
              <a:srgbClr val="1C1713">
                <a:alpha val="35000"/>
              </a:srgbClr>
            </a:outerShdw>
          </a:effectLst>
        </a:effectStyle>
        <a:effectStyle>
          <a:effectLst>
            <a:outerShdw blurRad="40000" dist="23000" dir="5400000" rotWithShape="0">
              <a:srgbClr val="1C171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aradiem">
      <a:dk1>
        <a:srgbClr val="171738"/>
      </a:dk1>
      <a:lt1>
        <a:srgbClr val="FFFFFF"/>
      </a:lt1>
      <a:dk2>
        <a:srgbClr val="1C1713"/>
      </a:dk2>
      <a:lt2>
        <a:srgbClr val="F4EFE4"/>
      </a:lt2>
      <a:accent1>
        <a:srgbClr val="171738"/>
      </a:accent1>
      <a:accent2>
        <a:srgbClr val="C9A84C"/>
      </a:accent2>
      <a:accent3>
        <a:srgbClr val="8B7355"/>
      </a:accent3>
      <a:accent4>
        <a:srgbClr val="B8B4AC"/>
      </a:accent4>
      <a:accent5>
        <a:srgbClr val="1C1713"/>
      </a:accent5>
      <a:accent6>
        <a:srgbClr val="F4EFE4"/>
      </a:accent6>
      <a:hlink>
        <a:srgbClr val="171738"/>
      </a:hlink>
      <a:folHlink>
        <a:srgbClr val="8B7355"/>
      </a:folHlink>
    </a:clrScheme>
    <a:fontScheme name="Paradiem">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C1713">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EC6E793-A71D-437C-BCAD-F3D15E08AC7D}">
  <we:reference id="WA200010001" version="1.0.0.1" store="Omex" storeType="OMEX"/>
  <we:alternateReferences>
    <we:reference id="WA200010001" version="1.0.0.1" store="WA200010001" storeType="OMEX"/>
  </we:alternateReferences>
  <we:properties>
    <we:property name="claude.fileId" value="&quot;dd225de2-f58b-4e33-baf1-5da717335a1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4e0f139-a05e-4648-b2c4-85db3342f1de" xsi:nil="true"/>
    <lcf76f155ced4ddcb4097134ff3c332f xmlns="f81db414-e767-4efd-96da-519fb591062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3249B9FB51E244909FC47AFACC01D0" ma:contentTypeVersion="19" ma:contentTypeDescription="Create a new document." ma:contentTypeScope="" ma:versionID="8dab4875f99982f28de3e73be2f4990b">
  <xsd:schema xmlns:xsd="http://www.w3.org/2001/XMLSchema" xmlns:xs="http://www.w3.org/2001/XMLSchema" xmlns:p="http://schemas.microsoft.com/office/2006/metadata/properties" xmlns:ns2="84e0f139-a05e-4648-b2c4-85db3342f1de" xmlns:ns3="f81db414-e767-4efd-96da-519fb591062c" targetNamespace="http://schemas.microsoft.com/office/2006/metadata/properties" ma:root="true" ma:fieldsID="4255c6cba3b57ff61717c527bff205f4" ns2:_="" ns3:_="">
    <xsd:import namespace="84e0f139-a05e-4648-b2c4-85db3342f1de"/>
    <xsd:import namespace="f81db414-e767-4efd-96da-519fb591062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ServiceOCR"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e0f139-a05e-4648-b2c4-85db3342f1d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fb8337-54ac-468b-868f-b7da74f9b45a}" ma:internalName="TaxCatchAll" ma:showField="CatchAllData" ma:web="84e0f139-a05e-4648-b2c4-85db3342f1d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81db414-e767-4efd-96da-519fb591062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95fcf94-0bd8-4f15-98ed-e43d1d4da61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27D64ED-4F88-4774-BA3D-DA6BE0BEAB96}">
  <ds:schemaRefs>
    <ds:schemaRef ds:uri="http://schemas.microsoft.com/sharepoint/v3/contenttype/forms"/>
  </ds:schemaRefs>
</ds:datastoreItem>
</file>

<file path=customXml/itemProps2.xml><?xml version="1.0" encoding="utf-8"?>
<ds:datastoreItem xmlns:ds="http://schemas.openxmlformats.org/officeDocument/2006/customXml" ds:itemID="{2EDD4131-B84D-4A5D-AB57-C34CB2DB1763}">
  <ds:schemaRefs>
    <ds:schemaRef ds:uri="84e0f139-a05e-4648-b2c4-85db3342f1de"/>
    <ds:schemaRef ds:uri="f81db414-e767-4efd-96da-519fb591062c"/>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F707A51-A1AC-46E3-B8C9-2F8AC9C1EF8F}">
  <ds:schemaRefs>
    <ds:schemaRef ds:uri="84e0f139-a05e-4648-b2c4-85db3342f1de"/>
    <ds:schemaRef ds:uri="f81db414-e767-4efd-96da-519fb591062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96</TotalTime>
  <Words>4627</Words>
  <Application>Microsoft Office PowerPoint</Application>
  <PresentationFormat>Widescreen</PresentationFormat>
  <Paragraphs>672</Paragraphs>
  <Slides>45</Slides>
  <Notes>44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45</vt:i4>
      </vt:variant>
    </vt:vector>
  </HeadingPairs>
  <TitlesOfParts>
    <vt:vector size="53" baseType="lpstr">
      <vt:lpstr>Aptos</vt:lpstr>
      <vt:lpstr>Arial</vt:lpstr>
      <vt:lpstr>Calibri</vt:lpstr>
      <vt:lpstr>Georgia</vt:lpstr>
      <vt:lpstr>Tahoma</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Carson Rich</cp:lastModifiedBy>
  <cp:revision>3</cp:revision>
  <dcterms:created xsi:type="dcterms:W3CDTF">2026-05-12T21:04:29Z</dcterms:created>
  <dcterms:modified xsi:type="dcterms:W3CDTF">2026-10-21T17:16:11Z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0x010100BE3249B9FB51E244909FC47AFACC01D0</vt:lpwstr>
  </property>
  <property fmtid="{D5CDD505-2E9C-101B-9397-08002B2CF9AE}" pid="3" name="MediaServiceImageTags">
    <vt:lpwstr/>
  </property>
</Properties>
</file>