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sldIdLst>
    <p:sldId id="256" r:id="rId5"/>
    <p:sldId id="291" r:id="rId6"/>
    <p:sldId id="292" r:id="rId7"/>
    <p:sldId id="293"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1591" r:id="rId25"/>
    <p:sldId id="1577" r:id="rId26"/>
    <p:sldId id="1592" r:id="rId27"/>
    <p:sldId id="1639" r:id="rId28"/>
    <p:sldId id="1637" r:id="rId29"/>
    <p:sldId id="1629" r:id="rId30"/>
    <p:sldId id="1630" r:id="rId31"/>
    <p:sldId id="281" r:id="rId32"/>
    <p:sldId id="282" r:id="rId33"/>
    <p:sldId id="283" r:id="rId34"/>
    <p:sldId id="284" r:id="rId35"/>
    <p:sldId id="1631" r:id="rId36"/>
    <p:sldId id="1632" r:id="rId37"/>
    <p:sldId id="1633" r:id="rId38"/>
    <p:sldId id="1634" r:id="rId39"/>
    <p:sldId id="288" r:id="rId40"/>
    <p:sldId id="289" r:id="rId41"/>
    <p:sldId id="290" r:id="rId42"/>
    <p:sldId id="316" r:id="rId43"/>
    <p:sldId id="317" r:id="rId44"/>
    <p:sldId id="318"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F0FB3A-B86F-4387-B785-9B76106A0643}" v="5" dt="2026-10-21T17:16:43.773"/>
    <p1510:client id="{D7736203-9925-4ADA-9CEF-10845B8D98F7}" v="2" dt="2026-10-21T16:39:37.406"/>
    <p1510:client id="{E478901B-3466-4A5F-85B9-87D633C451A3}" v="26" dt="2026-10-20T18:20:02.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4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Marie Fenger" userId="de0a8e25-62c2-4ae1-b94b-9b0fa1f46dda" providerId="ADAL" clId="{88E79A37-4900-4701-81A7-930706B7794E}"/>
    <pc:docChg chg="modSld">
      <pc:chgData name="Ray Marie Fenger" userId="de0a8e25-62c2-4ae1-b94b-9b0fa1f46dda" providerId="ADAL" clId="{88E79A37-4900-4701-81A7-930706B7794E}" dt="2026-10-21T16:39:37.406" v="2"/>
      <pc:docMkLst>
        <pc:docMk/>
      </pc:docMkLst>
      <pc:sldChg chg="modSp">
        <pc:chgData name="Ray Marie Fenger" userId="de0a8e25-62c2-4ae1-b94b-9b0fa1f46dda" providerId="ADAL" clId="{88E79A37-4900-4701-81A7-930706B7794E}" dt="2026-10-21T16:39:37.406" v="2"/>
        <pc:sldMkLst>
          <pc:docMk/>
          <pc:sldMk cId="3144602787" sldId="1641"/>
        </pc:sldMkLst>
        <pc:spChg chg="mod">
          <ac:chgData name="Ray Marie Fenger" userId="de0a8e25-62c2-4ae1-b94b-9b0fa1f46dda" providerId="ADAL" clId="{88E79A37-4900-4701-81A7-930706B7794E}" dt="2026-10-21T16:39:37.406" v="2"/>
          <ac:spMkLst>
            <pc:docMk/>
            <pc:sldMk cId="3144602787" sldId="1641"/>
            <ac:spMk id="83" creationId="{4419961B-5985-B98B-986A-635236ACE61B}"/>
          </ac:spMkLst>
        </pc:spChg>
      </pc:sldChg>
      <pc:sldChg chg="modSp mod">
        <pc:chgData name="Ray Marie Fenger" userId="de0a8e25-62c2-4ae1-b94b-9b0fa1f46dda" providerId="ADAL" clId="{88E79A37-4900-4701-81A7-930706B7794E}" dt="2026-10-21T16:39:14.400" v="1" actId="1076"/>
        <pc:sldMkLst>
          <pc:docMk/>
          <pc:sldMk cId="1015541825" sldId="1642"/>
        </pc:sldMkLst>
        <pc:spChg chg="mod">
          <ac:chgData name="Ray Marie Fenger" userId="de0a8e25-62c2-4ae1-b94b-9b0fa1f46dda" providerId="ADAL" clId="{88E79A37-4900-4701-81A7-930706B7794E}" dt="2026-10-21T16:39:14.400" v="1" actId="1076"/>
          <ac:spMkLst>
            <pc:docMk/>
            <pc:sldMk cId="1015541825" sldId="1642"/>
            <ac:spMk id="31" creationId="{00000000-0000-0000-0000-000000000000}"/>
          </ac:spMkLst>
        </pc:spChg>
      </pc:sldChg>
    </pc:docChg>
  </pc:docChgLst>
  <pc:docChgLst>
    <pc:chgData name="Carson Rich" userId="95bbbf96-521e-499e-9a6e-ff27f58c592a" providerId="ADAL" clId="{66DB57C9-4C7B-4674-B77A-B69F828806FB}"/>
    <pc:docChg chg="addSld delSld modSld sldOrd">
      <pc:chgData name="Carson Rich" userId="95bbbf96-521e-499e-9a6e-ff27f58c592a" providerId="ADAL" clId="{66DB57C9-4C7B-4674-B77A-B69F828806FB}" dt="2026-10-21T17:16:51.895" v="10"/>
      <pc:docMkLst>
        <pc:docMk/>
      </pc:docMkLst>
      <pc:sldChg chg="del">
        <pc:chgData name="Carson Rich" userId="95bbbf96-521e-499e-9a6e-ff27f58c592a" providerId="ADAL" clId="{66DB57C9-4C7B-4674-B77A-B69F828806FB}" dt="2026-10-21T14:51:12.003" v="4" actId="2696"/>
        <pc:sldMkLst>
          <pc:docMk/>
          <pc:sldMk cId="0" sldId="1613"/>
        </pc:sldMkLst>
      </pc:sldChg>
      <pc:sldChg chg="modSp del mod">
        <pc:chgData name="Carson Rich" userId="95bbbf96-521e-499e-9a6e-ff27f58c592a" providerId="ADAL" clId="{66DB57C9-4C7B-4674-B77A-B69F828806FB}" dt="2026-10-21T14:50:51.806" v="2" actId="2696"/>
        <pc:sldMkLst>
          <pc:docMk/>
          <pc:sldMk cId="2130756272" sldId="1628"/>
        </pc:sldMkLst>
        <pc:spChg chg="mod">
          <ac:chgData name="Carson Rich" userId="95bbbf96-521e-499e-9a6e-ff27f58c592a" providerId="ADAL" clId="{66DB57C9-4C7B-4674-B77A-B69F828806FB}" dt="2026-10-21T14:50:12.470" v="0" actId="13926"/>
          <ac:spMkLst>
            <pc:docMk/>
            <pc:sldMk cId="2130756272" sldId="1628"/>
            <ac:spMk id="5" creationId="{B7EB8BE4-5D80-601E-6B5E-9A308501F5E1}"/>
          </ac:spMkLst>
        </pc:spChg>
      </pc:sldChg>
      <pc:sldChg chg="add">
        <pc:chgData name="Carson Rich" userId="95bbbf96-521e-499e-9a6e-ff27f58c592a" providerId="ADAL" clId="{66DB57C9-4C7B-4674-B77A-B69F828806FB}" dt="2026-10-21T17:16:43.773" v="7"/>
        <pc:sldMkLst>
          <pc:docMk/>
          <pc:sldMk cId="1889619839" sldId="1637"/>
        </pc:sldMkLst>
      </pc:sldChg>
      <pc:sldChg chg="add ord">
        <pc:chgData name="Carson Rich" userId="95bbbf96-521e-499e-9a6e-ff27f58c592a" providerId="ADAL" clId="{66DB57C9-4C7B-4674-B77A-B69F828806FB}" dt="2026-10-21T17:16:51.895" v="10"/>
        <pc:sldMkLst>
          <pc:docMk/>
          <pc:sldMk cId="1992084746" sldId="1639"/>
        </pc:sldMkLst>
      </pc:sldChg>
      <pc:sldChg chg="add del">
        <pc:chgData name="Carson Rich" userId="95bbbf96-521e-499e-9a6e-ff27f58c592a" providerId="ADAL" clId="{66DB57C9-4C7B-4674-B77A-B69F828806FB}" dt="2026-10-21T17:16:34.874" v="6" actId="2696"/>
        <pc:sldMkLst>
          <pc:docMk/>
          <pc:sldMk cId="3144602787" sldId="1641"/>
        </pc:sldMkLst>
      </pc:sldChg>
      <pc:sldChg chg="add del">
        <pc:chgData name="Carson Rich" userId="95bbbf96-521e-499e-9a6e-ff27f58c592a" providerId="ADAL" clId="{66DB57C9-4C7B-4674-B77A-B69F828806FB}" dt="2026-10-21T17:16:49.855" v="8" actId="2696"/>
        <pc:sldMkLst>
          <pc:docMk/>
          <pc:sldMk cId="1015541825" sldId="1642"/>
        </pc:sldMkLst>
      </pc:sldChg>
    </pc:docChg>
  </pc:docChgLst>
  <pc:docChgLst>
    <pc:chgData name="Gavin Morel" userId="883e0459-6674-4202-a7ec-e6efbd5d63d8" providerId="ADAL" clId="{310838E5-F94C-4723-B75D-F99DD4F45CDB}"/>
    <pc:docChg chg="modSld">
      <pc:chgData name="Gavin Morel" userId="883e0459-6674-4202-a7ec-e6efbd5d63d8" providerId="ADAL" clId="{310838E5-F94C-4723-B75D-F99DD4F45CDB}" dt="2026-10-20T18:58:05.289" v="33" actId="1035"/>
      <pc:docMkLst>
        <pc:docMk/>
      </pc:docMkLst>
      <pc:sldChg chg="modSp mod">
        <pc:chgData name="Gavin Morel" userId="883e0459-6674-4202-a7ec-e6efbd5d63d8" providerId="ADAL" clId="{310838E5-F94C-4723-B75D-F99DD4F45CDB}" dt="2026-10-20T18:58:05.289" v="33" actId="1035"/>
        <pc:sldMkLst>
          <pc:docMk/>
          <pc:sldMk cId="0" sldId="256"/>
        </pc:sldMkLst>
        <pc:spChg chg="mod">
          <ac:chgData name="Gavin Morel" userId="883e0459-6674-4202-a7ec-e6efbd5d63d8" providerId="ADAL" clId="{310838E5-F94C-4723-B75D-F99DD4F45CDB}" dt="2026-10-20T18:58:05.289" v="33" actId="1035"/>
          <ac:spMkLst>
            <pc:docMk/>
            <pc:sldMk cId="0" sldId="256"/>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8192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9343-C899-C56A-752C-D64EBBD68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BE152-5B7B-942D-CCBA-89C2339CC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4327FC-9D9A-7E6A-2E6E-CD49CCD474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11E255-95F9-422B-8322-EC1C12AC97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3322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63A5-1477-E126-3EDE-9CBD9B9F3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6B581-6F4B-BD23-E471-3A35E27C30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55AFE6-43CE-0CAA-2B7C-2CAA36E6B2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DB93A0-F98D-BC45-C259-6F797195816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5874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8E964-4651-FF33-B99B-817114BCBE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B99A6-6C1F-7CD5-0F93-B92C4D048F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55DCF9-EB6C-120D-039D-A0897E1894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BB050C-F5E9-4C05-6878-B15370862DC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944047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BE9D1-9C4D-7173-672C-98F6D96A1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2D763-FABC-AD53-762D-5C49C94DD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A7C4C-AB87-85F8-B3CF-26E068AE03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628A80-207C-D8E3-9B0C-087283E3898A}"/>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9483176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CDF86-4349-2A3A-11F6-51E425D60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A66F2-A953-E2E1-2876-4BE262335B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D73BB6-4CBB-3B74-F2FD-732A6D7FB7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EC6B07-B923-BEB2-9815-9F92963A16D0}"/>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568073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E7FE8-EB4B-FDE3-E7A7-6AF1EB08D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3E5C1-7B3D-8507-50F8-E1369B74F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ECD0E-92EC-9A3F-7EE9-1539E637CB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2E3D5F-BE4E-7ED6-FEB8-FBC27C176AB5}"/>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4286773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adviserinfo.sec.gov/"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 name="Shape 4"/>
          <p:cNvSpPr/>
          <p:nvPr/>
        </p:nvSpPr>
        <p:spPr>
          <a:xfrm>
            <a:off x="320040" y="822960"/>
            <a:ext cx="64008" cy="5029200"/>
          </a:xfrm>
          <a:prstGeom prst="rect">
            <a:avLst/>
          </a:prstGeom>
          <a:solidFill>
            <a:srgbClr val="17173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174175" y="502920"/>
            <a:ext cx="2468880" cy="715152"/>
          </a:xfrm>
          <a:prstGeom prst="rect">
            <a:avLst/>
          </a:prstGeom>
        </p:spPr>
      </p:pic>
      <p:sp>
        <p:nvSpPr>
          <p:cNvPr id="8" name="Text 5"/>
          <p:cNvSpPr/>
          <p:nvPr/>
        </p:nvSpPr>
        <p:spPr>
          <a:xfrm>
            <a:off x="822960" y="987552"/>
            <a:ext cx="7772400" cy="1645920"/>
          </a:xfrm>
          <a:prstGeom prst="rect">
            <a:avLst/>
          </a:prstGeom>
          <a:noFill/>
          <a:ln/>
        </p:spPr>
        <p:txBody>
          <a:bodyPr wrap="square" lIns="0" tIns="0" rIns="0" bIns="0" rtlCol="0" anchor="t"/>
          <a:lstStyle/>
          <a:p>
            <a:pPr marL="0" indent="0">
              <a:spcAft>
                <a:spcPts val="400"/>
              </a:spcAft>
              <a:buNone/>
            </a:pPr>
            <a:r>
              <a:rPr lang="en-US" sz="3680" dirty="0">
                <a:solidFill>
                  <a:srgbClr val="171738"/>
                </a:solidFill>
                <a:latin typeface="Georgia" pitchFamily="34" charset="0"/>
                <a:ea typeface="Georgia" pitchFamily="34" charset="-122"/>
                <a:cs typeface="Georgia" pitchFamily="34" charset="-120"/>
              </a:rPr>
              <a:t>Family Capital Gap Analysis + Blueprint</a:t>
            </a:r>
          </a:p>
          <a:p>
            <a:pPr marL="0" indent="0">
              <a:spcAft>
                <a:spcPts val="400"/>
              </a:spcAft>
              <a:buNone/>
            </a:pPr>
            <a:endParaRPr lang="en-US" sz="3680" dirty="0"/>
          </a:p>
          <a:p>
            <a:pPr lvl="0" defTabSz="685800">
              <a:lnSpc>
                <a:spcPct val="115000"/>
              </a:lnSpc>
              <a:defRPr/>
            </a:pPr>
            <a:r>
              <a:rPr lang="en-US" sz="3680" dirty="0">
                <a:solidFill>
                  <a:srgbClr val="1A1E3A"/>
                </a:solidFill>
                <a:latin typeface="Georgia" pitchFamily="34" charset="0"/>
              </a:rPr>
              <a:t>Mr. and Mrs. ______</a:t>
            </a:r>
            <a:endParaRPr lang="en-US" sz="3680" dirty="0">
              <a:solidFill>
                <a:prstClr val="black"/>
              </a:solidFill>
            </a:endParaRPr>
          </a:p>
        </p:txBody>
      </p:sp>
      <p:sp>
        <p:nvSpPr>
          <p:cNvPr id="9" name="Shape 6"/>
          <p:cNvSpPr/>
          <p:nvPr/>
        </p:nvSpPr>
        <p:spPr>
          <a:xfrm>
            <a:off x="822960" y="3429000"/>
            <a:ext cx="914400" cy="27432"/>
          </a:xfrm>
          <a:prstGeom prst="rect">
            <a:avLst/>
          </a:prstGeom>
          <a:solidFill>
            <a:srgbClr val="C9A84C"/>
          </a:solidFill>
          <a:ln/>
        </p:spPr>
        <p:txBody>
          <a:bodyPr/>
          <a:lstStyle/>
          <a:p>
            <a:endParaRPr lang="en-US"/>
          </a:p>
        </p:txBody>
      </p:sp>
      <p:sp>
        <p:nvSpPr>
          <p:cNvPr id="10" name="Text 7"/>
          <p:cNvSpPr/>
          <p:nvPr/>
        </p:nvSpPr>
        <p:spPr>
          <a:xfrm>
            <a:off x="822960" y="3611880"/>
            <a:ext cx="7315200" cy="365760"/>
          </a:xfrm>
          <a:prstGeom prst="rect">
            <a:avLst/>
          </a:prstGeom>
          <a:noFill/>
          <a:ln/>
        </p:spPr>
        <p:txBody>
          <a:bodyPr wrap="square" lIns="0" tIns="0" rIns="0" bIns="0" rtlCol="0" anchor="ctr"/>
          <a:lstStyle/>
          <a:p>
            <a:pPr marL="0" indent="0">
              <a:buNone/>
            </a:pPr>
            <a:r>
              <a:rPr lang="en-US" sz="1500">
                <a:solidFill>
                  <a:srgbClr val="8B7355"/>
                </a:solidFill>
                <a:latin typeface="Calibri" pitchFamily="34" charset="0"/>
                <a:ea typeface="Calibri" pitchFamily="34" charset="-122"/>
                <a:cs typeface="Calibri" pitchFamily="34" charset="-120"/>
              </a:rPr>
              <a:t>Aligning Family &amp; Capital With a 100-Year Vision</a:t>
            </a:r>
            <a:endParaRPr lang="en-US" sz="1500"/>
          </a:p>
        </p:txBody>
      </p:sp>
      <p:sp>
        <p:nvSpPr>
          <p:cNvPr id="11" name="Text 8"/>
          <p:cNvSpPr/>
          <p:nvPr/>
        </p:nvSpPr>
        <p:spPr>
          <a:xfrm>
            <a:off x="822960" y="4709160"/>
            <a:ext cx="7315200" cy="457200"/>
          </a:xfrm>
          <a:prstGeom prst="rect">
            <a:avLst/>
          </a:prstGeom>
          <a:noFill/>
          <a:ln/>
        </p:spPr>
        <p:txBody>
          <a:bodyPr wrap="square" lIns="0" tIns="0" rIns="0" bIns="0" rtlCol="0" anchor="ctr"/>
          <a:lstStyle/>
          <a:p>
            <a:pPr marL="0" indent="0">
              <a:buNone/>
            </a:pPr>
            <a:r>
              <a:rPr lang="en-US" sz="2000">
                <a:solidFill>
                  <a:srgbClr val="171738"/>
                </a:solidFill>
                <a:latin typeface="Georgia" pitchFamily="34" charset="0"/>
                <a:ea typeface="Georgia" pitchFamily="34" charset="-122"/>
                <a:cs typeface="Georgia" pitchFamily="34" charset="-120"/>
              </a:rPr>
              <a:t>Presented  |  March 3rd, 2026</a:t>
            </a:r>
            <a:endParaRPr lang="en-US" sz="2000"/>
          </a:p>
        </p:txBody>
      </p:sp>
      <p:sp>
        <p:nvSpPr>
          <p:cNvPr id="19" name="Shape 0">
            <a:extLst>
              <a:ext uri="{FF2B5EF4-FFF2-40B4-BE49-F238E27FC236}">
                <a16:creationId xmlns:a16="http://schemas.microsoft.com/office/drawing/2014/main" id="{EAE406FC-A0D3-CC21-8BA9-1F4E1F86C05A}"/>
              </a:ext>
            </a:extLst>
          </p:cNvPr>
          <p:cNvSpPr/>
          <p:nvPr/>
        </p:nvSpPr>
        <p:spPr>
          <a:xfrm>
            <a:off x="0" y="6547104"/>
            <a:ext cx="12191695" cy="310896"/>
          </a:xfrm>
          <a:prstGeom prst="rect">
            <a:avLst/>
          </a:prstGeom>
          <a:solidFill>
            <a:srgbClr val="F1EEE6"/>
          </a:solidFill>
          <a:ln/>
        </p:spPr>
        <p:txBody>
          <a:bodyPr/>
          <a:lstStyle/>
          <a:p>
            <a:endParaRPr lang="en-US"/>
          </a:p>
        </p:txBody>
      </p:sp>
      <p:sp>
        <p:nvSpPr>
          <p:cNvPr id="21" name="Text 1">
            <a:extLst>
              <a:ext uri="{FF2B5EF4-FFF2-40B4-BE49-F238E27FC236}">
                <a16:creationId xmlns:a16="http://schemas.microsoft.com/office/drawing/2014/main" id="{54939261-E89E-8357-B24C-B157CC4A1B5B}"/>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3" name="Text 2">
            <a:extLst>
              <a:ext uri="{FF2B5EF4-FFF2-40B4-BE49-F238E27FC236}">
                <a16:creationId xmlns:a16="http://schemas.microsoft.com/office/drawing/2014/main" id="{4613623B-EE27-EFDF-C6CD-D287A5D71BD3}"/>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25" name="Text 3">
            <a:extLst>
              <a:ext uri="{FF2B5EF4-FFF2-40B4-BE49-F238E27FC236}">
                <a16:creationId xmlns:a16="http://schemas.microsoft.com/office/drawing/2014/main" id="{3CCAFE36-8E56-875B-7DBE-3F256E4B2B97}"/>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r>
              <a:rPr lang="en-US" sz="1000" kern="0" spc="400">
                <a:solidFill>
                  <a:srgbClr val="C9A84C"/>
                </a:solidFill>
                <a:latin typeface="Calibri" pitchFamily="34" charset="0"/>
                <a:ea typeface="Calibri" pitchFamily="34" charset="-122"/>
                <a:cs typeface="Calibri" pitchFamily="34" charset="-120"/>
              </a:rPr>
              <a:t>DISCLOSURES</a:t>
            </a:r>
            <a:endParaRPr lang="en-US" sz="1000"/>
          </a:p>
        </p:txBody>
      </p:sp>
      <p:sp>
        <p:nvSpPr>
          <p:cNvPr id="3" name="Text 1"/>
          <p:cNvSpPr/>
          <p:nvPr/>
        </p:nvSpPr>
        <p:spPr>
          <a:xfrm>
            <a:off x="670561" y="550986"/>
            <a:ext cx="11031415" cy="699477"/>
          </a:xfrm>
          <a:prstGeom prst="rect">
            <a:avLst/>
          </a:prstGeom>
          <a:noFill/>
          <a:ln/>
        </p:spPr>
        <p:txBody>
          <a:bodyPr wrap="square" lIns="0" tIns="0" rIns="0" bIns="0" rtlCol="0" anchor="t"/>
          <a:lstStyle/>
          <a:p>
            <a:r>
              <a:rPr lang="en-US" sz="3467">
                <a:solidFill>
                  <a:srgbClr val="1A1E3A"/>
                </a:solidFill>
                <a:latin typeface="Georgia" pitchFamily="34" charset="0"/>
                <a:ea typeface="Georgia" pitchFamily="34" charset="-122"/>
                <a:cs typeface="Georgia" pitchFamily="34" charset="-120"/>
              </a:rPr>
              <a:t>Legal Disclosures &amp; Important Information</a:t>
            </a:r>
            <a:endParaRPr lang="en-US" sz="3467"/>
          </a:p>
        </p:txBody>
      </p:sp>
      <p:sp>
        <p:nvSpPr>
          <p:cNvPr id="4" name="Shape 2"/>
          <p:cNvSpPr/>
          <p:nvPr/>
        </p:nvSpPr>
        <p:spPr>
          <a:xfrm>
            <a:off x="670560" y="1296981"/>
            <a:ext cx="1463040" cy="0"/>
          </a:xfrm>
          <a:prstGeom prst="line">
            <a:avLst/>
          </a:prstGeom>
          <a:noFill/>
          <a:ln w="19050">
            <a:solidFill>
              <a:srgbClr val="C9A84C"/>
            </a:solidFill>
            <a:prstDash val="solid"/>
          </a:ln>
        </p:spPr>
        <p:txBody>
          <a:bodyPr/>
          <a:lstStyle/>
          <a:p>
            <a:endParaRPr lang="en-US" sz="2400"/>
          </a:p>
        </p:txBody>
      </p:sp>
      <p:sp>
        <p:nvSpPr>
          <p:cNvPr id="5" name="Shape 3"/>
          <p:cNvSpPr/>
          <p:nvPr/>
        </p:nvSpPr>
        <p:spPr>
          <a:xfrm>
            <a:off x="670560" y="1382325"/>
            <a:ext cx="10850880" cy="73152"/>
          </a:xfrm>
          <a:prstGeom prst="rect">
            <a:avLst/>
          </a:prstGeom>
          <a:solidFill>
            <a:srgbClr val="E8E7E2"/>
          </a:solidFill>
          <a:ln w="12700">
            <a:solidFill>
              <a:srgbClr val="000000"/>
            </a:solidFill>
            <a:prstDash val="solid"/>
          </a:ln>
        </p:spPr>
        <p:txBody>
          <a:bodyPr/>
          <a:lstStyle/>
          <a:p>
            <a:endParaRPr lang="en-US" sz="2400"/>
          </a:p>
        </p:txBody>
      </p:sp>
      <p:sp>
        <p:nvSpPr>
          <p:cNvPr id="6" name="Text 4"/>
          <p:cNvSpPr/>
          <p:nvPr/>
        </p:nvSpPr>
        <p:spPr>
          <a:xfrm>
            <a:off x="670560" y="1455401"/>
            <a:ext cx="10850880" cy="4614980"/>
          </a:xfrm>
          <a:prstGeom prst="rect">
            <a:avLst/>
          </a:prstGeom>
          <a:noFill/>
          <a:ln/>
        </p:spPr>
        <p:txBody>
          <a:bodyPr wrap="square" lIns="0" tIns="0" rIns="0" bIns="0" rtlCol="0" anchor="t"/>
          <a:lstStyle/>
          <a:p>
            <a:pPr>
              <a:lnSpc>
                <a:spcPct val="140000"/>
              </a:lnSpc>
            </a:pPr>
            <a:r>
              <a:rPr lang="en-US" sz="1267" err="1">
                <a:solidFill>
                  <a:srgbClr val="6A6A7A"/>
                </a:solidFill>
                <a:latin typeface="Calibri"/>
                <a:ea typeface="Calibri"/>
                <a:cs typeface="Calibri"/>
              </a:rPr>
              <a:t>Paradiem</a:t>
            </a:r>
            <a:r>
              <a:rPr lang="en-US" sz="1267">
                <a:solidFill>
                  <a:srgbClr val="6A6A7A"/>
                </a:solidFill>
                <a:latin typeface="Calibri"/>
                <a:ea typeface="Calibri"/>
                <a:cs typeface="Calibri"/>
              </a:rPr>
              <a:t>, LLC is a Registered Investment Advisor. </a:t>
            </a:r>
            <a:endParaRPr lang="en-US" sz="1267">
              <a:solidFill>
                <a:srgbClr val="000000"/>
              </a:solidFill>
              <a:ea typeface="+mn-lt"/>
              <a:cs typeface="+mn-lt"/>
            </a:endParaRPr>
          </a:p>
          <a:p>
            <a:endParaRPr lang="en-US" sz="1267">
              <a:solidFill>
                <a:srgbClr val="6A6A7A"/>
              </a:solidFill>
              <a:ea typeface="+mn-lt"/>
              <a:cs typeface="+mn-lt"/>
            </a:endParaRPr>
          </a:p>
          <a:p>
            <a:r>
              <a:rPr lang="en-US" sz="1267">
                <a:solidFill>
                  <a:srgbClr val="6A6A7A"/>
                </a:solidFill>
                <a:ea typeface="+mn-lt"/>
                <a:cs typeface="+mn-lt"/>
              </a:rPr>
              <a:t>This presentation is provided for informational and educational purposes only and is intended solely for the recipient. It is not intended as, and should not be construed as, personalized investment advice, a recommendation, or an offer to buy or sell any security or to adopt any investment strategy.</a:t>
            </a:r>
            <a:endParaRPr lang="en-US" sz="1267">
              <a:ea typeface="+mn-lt"/>
              <a:cs typeface="+mn-lt"/>
            </a:endParaRPr>
          </a:p>
          <a:p>
            <a:endParaRPr lang="en-US" sz="1267">
              <a:solidFill>
                <a:srgbClr val="6A6A7A"/>
              </a:solidFill>
              <a:ea typeface="+mn-lt"/>
              <a:cs typeface="+mn-lt"/>
            </a:endParaRPr>
          </a:p>
          <a:p>
            <a:r>
              <a:rPr lang="en-US" sz="1267">
                <a:solidFill>
                  <a:srgbClr val="6A6A7A"/>
                </a:solidFill>
                <a:ea typeface="+mn-lt"/>
                <a:cs typeface="+mn-lt"/>
              </a:rPr>
              <a:t>Any references to investment strategies, portfolio construction, or planning concepts are general in nature and may not be suitable for all individuals. Investment decisions should be made based on an individual’s specific financial situation, objectives, risk tolerance, and time horizon, and in consultation with appropriate financial, tax, and legal advisors.</a:t>
            </a:r>
            <a:endParaRPr lang="en-US" sz="2400">
              <a:ea typeface="Calibri"/>
              <a:cs typeface="Calibri"/>
            </a:endParaRPr>
          </a:p>
          <a:p>
            <a:endParaRPr lang="en-US" sz="1267">
              <a:solidFill>
                <a:srgbClr val="6A6A7A"/>
              </a:solidFill>
              <a:ea typeface="+mn-lt"/>
              <a:cs typeface="+mn-lt"/>
            </a:endParaRPr>
          </a:p>
          <a:p>
            <a:r>
              <a:rPr lang="en-US" sz="1267">
                <a:solidFill>
                  <a:srgbClr val="6A6A7A"/>
                </a:solidFill>
                <a:ea typeface="+mn-lt"/>
                <a:cs typeface="+mn-lt"/>
              </a:rPr>
              <a:t>All investing involves risk, including the potential loss of principal. Past performance is not indicative of future results. Any forward-looking statements, projections, or scenario analyses are hypothetical in nature, subject to significant limitations, and do not reflect actual results. There is no guarantee that any investment objective or strategy will be achieved.</a:t>
            </a:r>
            <a:endParaRPr lang="en-US" sz="2400">
              <a:solidFill>
                <a:srgbClr val="000000"/>
              </a:solidFill>
              <a:ea typeface="+mn-lt"/>
              <a:cs typeface="+mn-lt"/>
            </a:endParaRPr>
          </a:p>
          <a:p>
            <a:endParaRPr lang="en-US" sz="1267">
              <a:solidFill>
                <a:srgbClr val="6A6A7A"/>
              </a:solidFill>
              <a:ea typeface="Calibri"/>
              <a:cs typeface="Calibri"/>
            </a:endParaRPr>
          </a:p>
          <a:p>
            <a:r>
              <a:rPr lang="en-US" sz="1267">
                <a:solidFill>
                  <a:srgbClr val="6A6A7A"/>
                </a:solidFill>
                <a:ea typeface="+mn-lt"/>
                <a:cs typeface="+mn-lt"/>
              </a:rPr>
              <a:t>Where performance results are shown or discussed, additional information regarding calculation methodologies, time periods, benchmarks, and material assumptions is available upon request. Any comparisons to benchmarks or indices are provided for illustrative purposes only, and such indices may differ significantly from the strategy described.</a:t>
            </a:r>
            <a:endParaRPr lang="en-US" sz="2400">
              <a:ea typeface="Calibri"/>
              <a:cs typeface="Calibri"/>
            </a:endParaRPr>
          </a:p>
          <a:p>
            <a:endParaRPr lang="en-US" sz="1267">
              <a:solidFill>
                <a:srgbClr val="6A6A7A"/>
              </a:solidFill>
              <a:ea typeface="+mn-lt"/>
              <a:cs typeface="+mn-lt"/>
            </a:endParaRPr>
          </a:p>
          <a:p>
            <a:r>
              <a:rPr lang="en-US" sz="1267" err="1">
                <a:solidFill>
                  <a:srgbClr val="6A6A7A"/>
                </a:solidFill>
                <a:ea typeface="+mn-lt"/>
                <a:cs typeface="+mn-lt"/>
              </a:rPr>
              <a:t>Paradiem</a:t>
            </a:r>
            <a:r>
              <a:rPr lang="en-US" sz="1267">
                <a:solidFill>
                  <a:srgbClr val="6A6A7A"/>
                </a:solidFill>
                <a:ea typeface="+mn-lt"/>
                <a:cs typeface="+mn-lt"/>
              </a:rPr>
              <a:t>, LLC may utilize third-party data, research, or tools believed to be reliable; however, the accuracy and completeness of such information cannot be guaranteed. Any opinions expressed are as of the date of the presentation and are subject to change without notice.</a:t>
            </a:r>
            <a:endParaRPr lang="en-US" sz="2400">
              <a:ea typeface="Calibri"/>
              <a:cs typeface="Calibri"/>
            </a:endParaRPr>
          </a:p>
          <a:p>
            <a:endParaRPr lang="en-US" sz="1267">
              <a:solidFill>
                <a:srgbClr val="6A6A7A"/>
              </a:solidFill>
              <a:ea typeface="+mn-lt"/>
              <a:cs typeface="+mn-lt"/>
            </a:endParaRPr>
          </a:p>
          <a:p>
            <a:r>
              <a:rPr lang="en-US" sz="1267">
                <a:solidFill>
                  <a:srgbClr val="6A6A7A"/>
                </a:solidFill>
                <a:ea typeface="+mn-lt"/>
                <a:cs typeface="+mn-lt"/>
              </a:rPr>
              <a:t>Advisory services are only offered to clients or prospective clients where </a:t>
            </a:r>
            <a:r>
              <a:rPr lang="en-US" sz="1267" err="1">
                <a:solidFill>
                  <a:srgbClr val="6A6A7A"/>
                </a:solidFill>
                <a:ea typeface="+mn-lt"/>
                <a:cs typeface="+mn-lt"/>
              </a:rPr>
              <a:t>Paradiem</a:t>
            </a:r>
            <a:r>
              <a:rPr lang="en-US" sz="1267">
                <a:solidFill>
                  <a:srgbClr val="6A6A7A"/>
                </a:solidFill>
                <a:ea typeface="+mn-lt"/>
                <a:cs typeface="+mn-lt"/>
              </a:rPr>
              <a:t> and its representatives are properly licensed or exempt from registration.</a:t>
            </a:r>
            <a:endParaRPr lang="en-US" sz="2400">
              <a:ea typeface="Calibri"/>
              <a:cs typeface="Calibri"/>
            </a:endParaRPr>
          </a:p>
          <a:p>
            <a:endParaRPr lang="en-US" sz="1267">
              <a:solidFill>
                <a:srgbClr val="6A6A7A"/>
              </a:solidFill>
              <a:ea typeface="+mn-lt"/>
              <a:cs typeface="+mn-lt"/>
            </a:endParaRPr>
          </a:p>
          <a:p>
            <a:r>
              <a:rPr lang="en-US" sz="1267">
                <a:solidFill>
                  <a:srgbClr val="6A6A7A"/>
                </a:solidFill>
                <a:ea typeface="+mn-lt"/>
                <a:cs typeface="+mn-lt"/>
              </a:rPr>
              <a:t>Additional information about </a:t>
            </a:r>
            <a:r>
              <a:rPr lang="en-US" sz="1267" err="1">
                <a:solidFill>
                  <a:srgbClr val="6A6A7A"/>
                </a:solidFill>
                <a:ea typeface="+mn-lt"/>
                <a:cs typeface="+mn-lt"/>
              </a:rPr>
              <a:t>Paradiem</a:t>
            </a:r>
            <a:r>
              <a:rPr lang="en-US" sz="1267">
                <a:solidFill>
                  <a:srgbClr val="6A6A7A"/>
                </a:solidFill>
                <a:ea typeface="+mn-lt"/>
                <a:cs typeface="+mn-lt"/>
              </a:rPr>
              <a:t>, LLC including its Form ADV Part 2A (Firm Brochure), is available upon request or at </a:t>
            </a:r>
            <a:r>
              <a:rPr lang="en-US" sz="1267">
                <a:solidFill>
                  <a:srgbClr val="6A6A7A"/>
                </a:solidFill>
                <a:ea typeface="+mn-lt"/>
                <a:cs typeface="+mn-lt"/>
                <a:hlinkClick r:id="rId3"/>
              </a:rPr>
              <a:t>www.adviserinfo.sec.gov</a:t>
            </a:r>
            <a:r>
              <a:rPr lang="en-US" sz="1267">
                <a:solidFill>
                  <a:srgbClr val="6A6A7A"/>
                </a:solidFill>
                <a:ea typeface="+mn-lt"/>
                <a:cs typeface="+mn-lt"/>
              </a:rPr>
              <a:t>.</a:t>
            </a:r>
            <a:endParaRPr lang="en-US" sz="2400">
              <a:ea typeface="Calibri"/>
              <a:cs typeface="Calibri"/>
            </a:endParaRPr>
          </a:p>
          <a:p>
            <a:endParaRPr lang="en-US" sz="1267">
              <a:solidFill>
                <a:srgbClr val="6A6A7A"/>
              </a:solidFill>
              <a:latin typeface="Calibri"/>
              <a:ea typeface="Calibri"/>
              <a:cs typeface="Calibri"/>
            </a:endParaRPr>
          </a:p>
          <a:p>
            <a:pPr>
              <a:lnSpc>
                <a:spcPct val="140000"/>
              </a:lnSpc>
            </a:pPr>
            <a:endParaRPr lang="en-US" sz="1267">
              <a:solidFill>
                <a:srgbClr val="6A6A7A"/>
              </a:solidFill>
              <a:latin typeface="Calibri"/>
              <a:ea typeface="Calibri"/>
              <a:cs typeface="Calibri"/>
            </a:endParaRPr>
          </a:p>
          <a:p>
            <a:pPr>
              <a:lnSpc>
                <a:spcPct val="140000"/>
              </a:lnSpc>
            </a:pPr>
            <a:endParaRPr lang="en-US" sz="1267">
              <a:solidFill>
                <a:srgbClr val="6A6A7A"/>
              </a:solidFill>
              <a:latin typeface="Calibri"/>
              <a:ea typeface="Calibri"/>
              <a:cs typeface="Calibri"/>
            </a:endParaRPr>
          </a:p>
        </p:txBody>
      </p:sp>
      <p:sp>
        <p:nvSpPr>
          <p:cNvPr id="8" name="Shape 0">
            <a:extLst>
              <a:ext uri="{FF2B5EF4-FFF2-40B4-BE49-F238E27FC236}">
                <a16:creationId xmlns:a16="http://schemas.microsoft.com/office/drawing/2014/main" id="{FFC1D412-090B-C9B0-9AEA-DEFCC8A6CC95}"/>
              </a:ext>
            </a:extLst>
          </p:cNvPr>
          <p:cNvSpPr/>
          <p:nvPr/>
        </p:nvSpPr>
        <p:spPr>
          <a:xfrm>
            <a:off x="0" y="6547104"/>
            <a:ext cx="12191695" cy="310896"/>
          </a:xfrm>
          <a:prstGeom prst="rect">
            <a:avLst/>
          </a:prstGeom>
          <a:solidFill>
            <a:srgbClr val="F1EEE6"/>
          </a:solidFill>
          <a:ln/>
        </p:spPr>
        <p:txBody>
          <a:bodyPr/>
          <a:lstStyle/>
          <a:p>
            <a:endParaRPr lang="en-US"/>
          </a:p>
        </p:txBody>
      </p:sp>
      <p:sp>
        <p:nvSpPr>
          <p:cNvPr id="10" name="Text 1">
            <a:extLst>
              <a:ext uri="{FF2B5EF4-FFF2-40B4-BE49-F238E27FC236}">
                <a16:creationId xmlns:a16="http://schemas.microsoft.com/office/drawing/2014/main" id="{DB26D383-D079-B97D-EE3C-ED7B27E47C6C}"/>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12" name="Text 2">
            <a:extLst>
              <a:ext uri="{FF2B5EF4-FFF2-40B4-BE49-F238E27FC236}">
                <a16:creationId xmlns:a16="http://schemas.microsoft.com/office/drawing/2014/main" id="{7746A580-CAEB-66F6-18B7-4A9234E59DAF}"/>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14" name="Text 3">
            <a:extLst>
              <a:ext uri="{FF2B5EF4-FFF2-40B4-BE49-F238E27FC236}">
                <a16:creationId xmlns:a16="http://schemas.microsoft.com/office/drawing/2014/main" id="{D4C274DD-AAE1-4C95-3666-3E0B30DFCB11}"/>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0" y="0"/>
            <a:ext cx="5608320" cy="6315456"/>
          </a:xfrm>
          <a:prstGeom prst="rect">
            <a:avLst/>
          </a:prstGeom>
          <a:solidFill>
            <a:srgbClr val="F2F0EB"/>
          </a:solidFill>
          <a:ln w="12700">
            <a:solidFill>
              <a:srgbClr val="000000"/>
            </a:solidFill>
            <a:prstDash val="solid"/>
          </a:ln>
        </p:spPr>
        <p:txBody>
          <a:bodyPr/>
          <a:lstStyle/>
          <a:p>
            <a:endParaRPr lang="en-US" sz="2400"/>
          </a:p>
        </p:txBody>
      </p:sp>
      <p:sp>
        <p:nvSpPr>
          <p:cNvPr id="6" name="Shape 4"/>
          <p:cNvSpPr/>
          <p:nvPr/>
        </p:nvSpPr>
        <p:spPr>
          <a:xfrm>
            <a:off x="0" y="0"/>
            <a:ext cx="73152" cy="6315456"/>
          </a:xfrm>
          <a:prstGeom prst="rect">
            <a:avLst/>
          </a:prstGeom>
          <a:solidFill>
            <a:srgbClr val="1A1E3A"/>
          </a:solidFill>
          <a:ln w="12700">
            <a:solidFill>
              <a:srgbClr val="000000"/>
            </a:solidFill>
            <a:prstDash val="solid"/>
          </a:ln>
        </p:spPr>
        <p:txBody>
          <a:bodyPr/>
          <a:lstStyle/>
          <a:p>
            <a:endParaRPr lang="en-US" sz="2400"/>
          </a:p>
        </p:txBody>
      </p:sp>
      <p:sp>
        <p:nvSpPr>
          <p:cNvPr id="7" name="Text 5"/>
          <p:cNvSpPr/>
          <p:nvPr/>
        </p:nvSpPr>
        <p:spPr>
          <a:xfrm>
            <a:off x="341376" y="268224"/>
            <a:ext cx="4876800" cy="268224"/>
          </a:xfrm>
          <a:prstGeom prst="rect">
            <a:avLst/>
          </a:prstGeom>
          <a:noFill/>
          <a:ln/>
        </p:spPr>
        <p:txBody>
          <a:bodyPr wrap="square" lIns="0" tIns="0" rIns="0" bIns="0" rtlCol="0" anchor="t"/>
          <a:lstStyle/>
          <a:p>
            <a:r>
              <a:rPr lang="en-US" sz="1400" kern="0" spc="400">
                <a:solidFill>
                  <a:srgbClr val="C9A84C"/>
                </a:solidFill>
                <a:latin typeface="Calibri"/>
                <a:ea typeface="Calibri"/>
                <a:cs typeface="Calibri"/>
              </a:rPr>
              <a:t>INVESTMENT PHILOSOPHY</a:t>
            </a:r>
            <a:endParaRPr lang="en-US" sz="1400">
              <a:latin typeface="Calibri"/>
              <a:ea typeface="Calibri"/>
              <a:cs typeface="Calibri"/>
            </a:endParaRPr>
          </a:p>
        </p:txBody>
      </p:sp>
      <p:sp>
        <p:nvSpPr>
          <p:cNvPr id="8" name="Text 6"/>
          <p:cNvSpPr/>
          <p:nvPr/>
        </p:nvSpPr>
        <p:spPr>
          <a:xfrm>
            <a:off x="341376" y="609600"/>
            <a:ext cx="4754880" cy="1341120"/>
          </a:xfrm>
          <a:prstGeom prst="rect">
            <a:avLst/>
          </a:prstGeom>
          <a:noFill/>
          <a:ln/>
        </p:spPr>
        <p:txBody>
          <a:bodyPr wrap="square" lIns="0" tIns="0" rIns="0" bIns="0" rtlCol="0" anchor="ctr"/>
          <a:lstStyle/>
          <a:p>
            <a:pPr>
              <a:lnSpc>
                <a:spcPct val="120000"/>
              </a:lnSpc>
            </a:pPr>
            <a:r>
              <a:rPr lang="en-US" sz="3733">
                <a:solidFill>
                  <a:srgbClr val="1A1E3A"/>
                </a:solidFill>
                <a:latin typeface="Georgia" pitchFamily="34" charset="0"/>
                <a:ea typeface="Georgia" pitchFamily="34" charset="-122"/>
                <a:cs typeface="Georgia" pitchFamily="34" charset="-120"/>
              </a:rPr>
              <a:t>Two Kinds</a:t>
            </a:r>
            <a:endParaRPr lang="en-US" sz="3733"/>
          </a:p>
          <a:p>
            <a:pPr>
              <a:lnSpc>
                <a:spcPct val="120000"/>
              </a:lnSpc>
            </a:pPr>
            <a:r>
              <a:rPr lang="en-US" sz="3733">
                <a:solidFill>
                  <a:srgbClr val="1A1E3A"/>
                </a:solidFill>
                <a:latin typeface="Georgia" pitchFamily="34" charset="0"/>
                <a:ea typeface="Georgia" pitchFamily="34" charset="-122"/>
                <a:cs typeface="Georgia" pitchFamily="34" charset="-120"/>
              </a:rPr>
              <a:t>of Return</a:t>
            </a:r>
            <a:endParaRPr lang="en-US" sz="3733"/>
          </a:p>
        </p:txBody>
      </p:sp>
      <p:sp>
        <p:nvSpPr>
          <p:cNvPr id="9" name="Shape 7"/>
          <p:cNvSpPr/>
          <p:nvPr/>
        </p:nvSpPr>
        <p:spPr>
          <a:xfrm>
            <a:off x="341376" y="2097024"/>
            <a:ext cx="4754880" cy="1219200"/>
          </a:xfrm>
          <a:prstGeom prst="rect">
            <a:avLst/>
          </a:prstGeom>
          <a:solidFill>
            <a:srgbClr val="EDECE7"/>
          </a:solidFill>
          <a:ln w="3810">
            <a:solidFill>
              <a:srgbClr val="DDDCD8"/>
            </a:solidFill>
            <a:prstDash val="solid"/>
          </a:ln>
        </p:spPr>
        <p:txBody>
          <a:bodyPr/>
          <a:lstStyle/>
          <a:p>
            <a:endParaRPr lang="en-US" sz="2400"/>
          </a:p>
        </p:txBody>
      </p:sp>
      <p:sp>
        <p:nvSpPr>
          <p:cNvPr id="10" name="Text 8"/>
          <p:cNvSpPr/>
          <p:nvPr/>
        </p:nvSpPr>
        <p:spPr>
          <a:xfrm>
            <a:off x="512064" y="2243328"/>
            <a:ext cx="4389120" cy="268224"/>
          </a:xfrm>
          <a:prstGeom prst="rect">
            <a:avLst/>
          </a:prstGeom>
          <a:noFill/>
          <a:ln/>
        </p:spPr>
        <p:txBody>
          <a:bodyPr wrap="square" lIns="0" tIns="0" rIns="0" bIns="0" rtlCol="0" anchor="t"/>
          <a:lstStyle/>
          <a:p>
            <a:r>
              <a:rPr lang="en-US" sz="1333" kern="0" spc="400">
                <a:solidFill>
                  <a:srgbClr val="C9A84C"/>
                </a:solidFill>
                <a:latin typeface="Calibri"/>
                <a:ea typeface="Calibri"/>
                <a:cs typeface="Calibri"/>
              </a:rPr>
              <a:t>RETURN ON INVESTMENT</a:t>
            </a:r>
            <a:endParaRPr lang="en-US" sz="1333">
              <a:latin typeface="Calibri"/>
              <a:ea typeface="Calibri"/>
              <a:cs typeface="Calibri"/>
            </a:endParaRPr>
          </a:p>
        </p:txBody>
      </p:sp>
      <p:sp>
        <p:nvSpPr>
          <p:cNvPr id="11" name="Text 9"/>
          <p:cNvSpPr/>
          <p:nvPr/>
        </p:nvSpPr>
        <p:spPr>
          <a:xfrm>
            <a:off x="512064" y="2535936"/>
            <a:ext cx="4389120" cy="341376"/>
          </a:xfrm>
          <a:prstGeom prst="rect">
            <a:avLst/>
          </a:prstGeom>
          <a:noFill/>
          <a:ln/>
        </p:spPr>
        <p:txBody>
          <a:bodyPr wrap="square" lIns="0" tIns="0" rIns="0" bIns="0" rtlCol="0" anchor="ctr"/>
          <a:lstStyle/>
          <a:p>
            <a:r>
              <a:rPr lang="en-US" sz="1600">
                <a:solidFill>
                  <a:srgbClr val="1A1E3A"/>
                </a:solidFill>
                <a:latin typeface="Georgia"/>
                <a:ea typeface="Georgia" pitchFamily="34" charset="-122"/>
                <a:cs typeface="Georgia" pitchFamily="34" charset="-120"/>
              </a:rPr>
              <a:t>Preparing the Money for the Family</a:t>
            </a:r>
            <a:endParaRPr lang="en-US" sz="1600">
              <a:latin typeface="Georgia"/>
              <a:ea typeface="Calibri"/>
              <a:cs typeface="Calibri"/>
            </a:endParaRPr>
          </a:p>
        </p:txBody>
      </p:sp>
      <p:sp>
        <p:nvSpPr>
          <p:cNvPr id="12" name="Text 10"/>
          <p:cNvSpPr/>
          <p:nvPr/>
        </p:nvSpPr>
        <p:spPr>
          <a:xfrm>
            <a:off x="512064" y="2901696"/>
            <a:ext cx="4389120" cy="268224"/>
          </a:xfrm>
          <a:prstGeom prst="rect">
            <a:avLst/>
          </a:prstGeom>
          <a:noFill/>
          <a:ln/>
        </p:spPr>
        <p:txBody>
          <a:bodyPr wrap="square" lIns="0" tIns="0" rIns="0" bIns="0" rtlCol="0" anchor="ctr"/>
          <a:lstStyle/>
          <a:p>
            <a:r>
              <a:rPr lang="en-US" sz="1400">
                <a:solidFill>
                  <a:srgbClr val="6A6A7A"/>
                </a:solidFill>
                <a:latin typeface="Calibri"/>
                <a:ea typeface="Calibri"/>
                <a:cs typeface="Calibri"/>
              </a:rPr>
              <a:t>Most advisors stop here.</a:t>
            </a:r>
            <a:endParaRPr lang="en-US" sz="1400">
              <a:latin typeface="Calibri"/>
              <a:ea typeface="Calibri"/>
              <a:cs typeface="Calibri"/>
            </a:endParaRPr>
          </a:p>
        </p:txBody>
      </p:sp>
      <p:sp>
        <p:nvSpPr>
          <p:cNvPr id="13" name="Shape 11"/>
          <p:cNvSpPr/>
          <p:nvPr/>
        </p:nvSpPr>
        <p:spPr>
          <a:xfrm>
            <a:off x="341376" y="3511296"/>
            <a:ext cx="4754880" cy="1365504"/>
          </a:xfrm>
          <a:prstGeom prst="rect">
            <a:avLst/>
          </a:prstGeom>
          <a:solidFill>
            <a:srgbClr val="1A1E3A"/>
          </a:solidFill>
          <a:ln w="12700">
            <a:solidFill>
              <a:srgbClr val="000000"/>
            </a:solidFill>
            <a:prstDash val="solid"/>
          </a:ln>
        </p:spPr>
        <p:txBody>
          <a:bodyPr/>
          <a:lstStyle/>
          <a:p>
            <a:endParaRPr lang="en-US" sz="2400"/>
          </a:p>
        </p:txBody>
      </p:sp>
      <p:sp>
        <p:nvSpPr>
          <p:cNvPr id="14" name="Text 12"/>
          <p:cNvSpPr/>
          <p:nvPr/>
        </p:nvSpPr>
        <p:spPr>
          <a:xfrm>
            <a:off x="512064" y="3657600"/>
            <a:ext cx="4389120" cy="268224"/>
          </a:xfrm>
          <a:prstGeom prst="rect">
            <a:avLst/>
          </a:prstGeom>
          <a:noFill/>
          <a:ln/>
        </p:spPr>
        <p:txBody>
          <a:bodyPr wrap="square" lIns="0" tIns="0" rIns="0" bIns="0" rtlCol="0" anchor="t"/>
          <a:lstStyle/>
          <a:p>
            <a:r>
              <a:rPr lang="en-US" sz="1333" kern="0" spc="400">
                <a:solidFill>
                  <a:srgbClr val="C9A84C"/>
                </a:solidFill>
                <a:latin typeface="Calibri"/>
                <a:ea typeface="Calibri"/>
                <a:cs typeface="Calibri"/>
              </a:rPr>
              <a:t>RETURN ON INTENTION</a:t>
            </a:r>
            <a:endParaRPr lang="en-US" sz="1333">
              <a:latin typeface="Calibri"/>
              <a:ea typeface="Calibri"/>
              <a:cs typeface="Calibri"/>
            </a:endParaRPr>
          </a:p>
        </p:txBody>
      </p:sp>
      <p:sp>
        <p:nvSpPr>
          <p:cNvPr id="15" name="Text 13"/>
          <p:cNvSpPr/>
          <p:nvPr/>
        </p:nvSpPr>
        <p:spPr>
          <a:xfrm>
            <a:off x="512064" y="3925824"/>
            <a:ext cx="4389120" cy="341376"/>
          </a:xfrm>
          <a:prstGeom prst="rect">
            <a:avLst/>
          </a:prstGeom>
          <a:noFill/>
          <a:ln/>
        </p:spPr>
        <p:txBody>
          <a:bodyPr wrap="square" lIns="0" tIns="0" rIns="0" bIns="0" rtlCol="0" anchor="ctr"/>
          <a:lstStyle/>
          <a:p>
            <a:r>
              <a:rPr lang="en-US" sz="1600">
                <a:solidFill>
                  <a:srgbClr val="FFFFFF"/>
                </a:solidFill>
                <a:latin typeface="Georgia"/>
                <a:ea typeface="Georgia" pitchFamily="34" charset="-122"/>
                <a:cs typeface="Georgia" pitchFamily="34" charset="-120"/>
              </a:rPr>
              <a:t>Preparing the Family for the Money</a:t>
            </a:r>
            <a:endParaRPr lang="en-US" sz="1600">
              <a:latin typeface="Georgia"/>
              <a:ea typeface="Calibri"/>
              <a:cs typeface="Calibri"/>
            </a:endParaRPr>
          </a:p>
        </p:txBody>
      </p:sp>
      <p:sp>
        <p:nvSpPr>
          <p:cNvPr id="16" name="Text 14"/>
          <p:cNvSpPr/>
          <p:nvPr/>
        </p:nvSpPr>
        <p:spPr>
          <a:xfrm>
            <a:off x="512064" y="4291584"/>
            <a:ext cx="4389120" cy="268224"/>
          </a:xfrm>
          <a:prstGeom prst="rect">
            <a:avLst/>
          </a:prstGeom>
          <a:noFill/>
          <a:ln/>
        </p:spPr>
        <p:txBody>
          <a:bodyPr wrap="square" lIns="0" tIns="0" rIns="0" bIns="0" rtlCol="0" anchor="ctr"/>
          <a:lstStyle/>
          <a:p>
            <a:r>
              <a:rPr lang="en-US" sz="1400">
                <a:solidFill>
                  <a:srgbClr val="EEE8D8"/>
                </a:solidFill>
                <a:latin typeface="Calibri"/>
                <a:ea typeface="Calibri"/>
                <a:cs typeface="Calibri"/>
              </a:rPr>
              <a:t>Where we go further.</a:t>
            </a:r>
            <a:endParaRPr lang="en-US" sz="1400">
              <a:latin typeface="Calibri"/>
              <a:ea typeface="Calibri"/>
              <a:cs typeface="Calibri"/>
            </a:endParaRPr>
          </a:p>
        </p:txBody>
      </p:sp>
      <p:sp>
        <p:nvSpPr>
          <p:cNvPr id="17" name="Text 15"/>
          <p:cNvSpPr/>
          <p:nvPr/>
        </p:nvSpPr>
        <p:spPr>
          <a:xfrm>
            <a:off x="6096000" y="1463040"/>
            <a:ext cx="5486400" cy="1645920"/>
          </a:xfrm>
          <a:prstGeom prst="rect">
            <a:avLst/>
          </a:prstGeom>
          <a:noFill/>
          <a:ln/>
        </p:spPr>
        <p:txBody>
          <a:bodyPr wrap="square" lIns="0" tIns="0" rIns="0" bIns="0" rtlCol="0" anchor="ctr"/>
          <a:lstStyle/>
          <a:p>
            <a:pPr>
              <a:lnSpc>
                <a:spcPct val="130000"/>
              </a:lnSpc>
            </a:pPr>
            <a:r>
              <a:rPr lang="en-US" sz="2667">
                <a:solidFill>
                  <a:srgbClr val="1A1E3A"/>
                </a:solidFill>
                <a:latin typeface="Georgia" pitchFamily="34" charset="0"/>
                <a:ea typeface="Georgia" pitchFamily="34" charset="-122"/>
                <a:cs typeface="Georgia" pitchFamily="34" charset="-120"/>
              </a:rPr>
              <a:t>You can have strong returns...</a:t>
            </a:r>
            <a:endParaRPr lang="en-US" sz="2667"/>
          </a:p>
          <a:p>
            <a:pPr>
              <a:lnSpc>
                <a:spcPct val="130000"/>
              </a:lnSpc>
            </a:pPr>
            <a:r>
              <a:rPr lang="en-US" sz="2667">
                <a:solidFill>
                  <a:srgbClr val="1A1E3A"/>
                </a:solidFill>
                <a:latin typeface="Georgia" pitchFamily="34" charset="0"/>
                <a:ea typeface="Georgia" pitchFamily="34" charset="-122"/>
                <a:cs typeface="Georgia" pitchFamily="34" charset="-120"/>
              </a:rPr>
              <a:t>and still fail your family long-term.</a:t>
            </a:r>
            <a:endParaRPr lang="en-US" sz="2667"/>
          </a:p>
        </p:txBody>
      </p:sp>
      <p:sp>
        <p:nvSpPr>
          <p:cNvPr id="18" name="Shape 16"/>
          <p:cNvSpPr/>
          <p:nvPr/>
        </p:nvSpPr>
        <p:spPr>
          <a:xfrm>
            <a:off x="6096000" y="3316224"/>
            <a:ext cx="4267200" cy="0"/>
          </a:xfrm>
          <a:prstGeom prst="line">
            <a:avLst/>
          </a:prstGeom>
          <a:noFill/>
          <a:ln w="19050">
            <a:solidFill>
              <a:srgbClr val="1A1E3A"/>
            </a:solidFill>
            <a:prstDash val="solid"/>
          </a:ln>
        </p:spPr>
        <p:txBody>
          <a:bodyPr/>
          <a:lstStyle/>
          <a:p>
            <a:endParaRPr lang="en-US" sz="2400"/>
          </a:p>
        </p:txBody>
      </p:sp>
      <p:sp>
        <p:nvSpPr>
          <p:cNvPr id="20" name="Shape 0">
            <a:extLst>
              <a:ext uri="{FF2B5EF4-FFF2-40B4-BE49-F238E27FC236}">
                <a16:creationId xmlns:a16="http://schemas.microsoft.com/office/drawing/2014/main" id="{E3E84E40-F302-4C2F-E862-2209BAC7E7A9}"/>
              </a:ext>
            </a:extLst>
          </p:cNvPr>
          <p:cNvSpPr/>
          <p:nvPr/>
        </p:nvSpPr>
        <p:spPr>
          <a:xfrm>
            <a:off x="0" y="6547104"/>
            <a:ext cx="12191695" cy="310896"/>
          </a:xfrm>
          <a:prstGeom prst="rect">
            <a:avLst/>
          </a:prstGeom>
          <a:solidFill>
            <a:srgbClr val="F1EEE6"/>
          </a:solidFill>
          <a:ln/>
        </p:spPr>
        <p:txBody>
          <a:bodyPr/>
          <a:lstStyle/>
          <a:p>
            <a:endParaRPr lang="en-US"/>
          </a:p>
        </p:txBody>
      </p:sp>
      <p:sp>
        <p:nvSpPr>
          <p:cNvPr id="22" name="Text 1">
            <a:extLst>
              <a:ext uri="{FF2B5EF4-FFF2-40B4-BE49-F238E27FC236}">
                <a16:creationId xmlns:a16="http://schemas.microsoft.com/office/drawing/2014/main" id="{2A28F13C-5995-7DF4-B09D-9135EBE42AC0}"/>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4" name="Text 2">
            <a:extLst>
              <a:ext uri="{FF2B5EF4-FFF2-40B4-BE49-F238E27FC236}">
                <a16:creationId xmlns:a16="http://schemas.microsoft.com/office/drawing/2014/main" id="{16A6DDDC-D123-3523-64CB-2B69C6D42F6F}"/>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26" name="Text 3">
            <a:extLst>
              <a:ext uri="{FF2B5EF4-FFF2-40B4-BE49-F238E27FC236}">
                <a16:creationId xmlns:a16="http://schemas.microsoft.com/office/drawing/2014/main" id="{EA0C34AB-DED6-02BA-3A03-84A8F52B9261}"/>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r>
              <a:rPr lang="en-US" sz="1467" kern="0" spc="400">
                <a:solidFill>
                  <a:srgbClr val="C9A84C"/>
                </a:solidFill>
                <a:latin typeface="Calibri"/>
                <a:ea typeface="Calibri"/>
                <a:cs typeface="Calibri"/>
              </a:rPr>
              <a:t>OUR PROCESS</a:t>
            </a:r>
            <a:endParaRPr lang="en-US" sz="1467">
              <a:latin typeface="Calibri"/>
              <a:ea typeface="Calibri"/>
              <a:cs typeface="Calibri"/>
            </a:endParaRPr>
          </a:p>
        </p:txBody>
      </p:sp>
      <p:sp>
        <p:nvSpPr>
          <p:cNvPr id="3" name="Text 1"/>
          <p:cNvSpPr/>
          <p:nvPr/>
        </p:nvSpPr>
        <p:spPr>
          <a:xfrm>
            <a:off x="670560" y="609600"/>
            <a:ext cx="10972800" cy="914400"/>
          </a:xfrm>
          <a:prstGeom prst="rect">
            <a:avLst/>
          </a:prstGeom>
          <a:noFill/>
          <a:ln/>
        </p:spPr>
        <p:txBody>
          <a:bodyPr wrap="square" lIns="0" tIns="0" rIns="0" bIns="0" rtlCol="0" anchor="t"/>
          <a:lstStyle/>
          <a:p>
            <a:r>
              <a:rPr lang="en-US" sz="3467">
                <a:solidFill>
                  <a:srgbClr val="1A1E3A"/>
                </a:solidFill>
                <a:latin typeface="Georgia" pitchFamily="34" charset="0"/>
                <a:ea typeface="Georgia" pitchFamily="34" charset="-122"/>
                <a:cs typeface="Georgia" pitchFamily="34" charset="-120"/>
              </a:rPr>
              <a:t>Family Capital Architecture</a:t>
            </a:r>
            <a:endParaRPr lang="en-US" sz="3467"/>
          </a:p>
        </p:txBody>
      </p:sp>
      <p:sp>
        <p:nvSpPr>
          <p:cNvPr id="5" name="Shape 3"/>
          <p:cNvSpPr/>
          <p:nvPr/>
        </p:nvSpPr>
        <p:spPr>
          <a:xfrm>
            <a:off x="548640" y="1926336"/>
            <a:ext cx="3535680" cy="3998976"/>
          </a:xfrm>
          <a:prstGeom prst="rect">
            <a:avLst/>
          </a:prstGeom>
          <a:solidFill>
            <a:srgbClr val="FAFAF8"/>
          </a:solidFill>
          <a:ln w="6350">
            <a:solidFill>
              <a:srgbClr val="1A1E3A"/>
            </a:solidFill>
            <a:prstDash val="solid"/>
          </a:ln>
        </p:spPr>
        <p:txBody>
          <a:bodyPr/>
          <a:lstStyle/>
          <a:p>
            <a:endParaRPr lang="en-US" sz="2400"/>
          </a:p>
        </p:txBody>
      </p:sp>
      <p:sp>
        <p:nvSpPr>
          <p:cNvPr id="6" name="Shape 4"/>
          <p:cNvSpPr/>
          <p:nvPr/>
        </p:nvSpPr>
        <p:spPr>
          <a:xfrm>
            <a:off x="548640" y="1926336"/>
            <a:ext cx="3535680" cy="73152"/>
          </a:xfrm>
          <a:prstGeom prst="rect">
            <a:avLst/>
          </a:prstGeom>
          <a:solidFill>
            <a:srgbClr val="1A1E3A"/>
          </a:solidFill>
          <a:ln w="12700">
            <a:solidFill>
              <a:srgbClr val="000000"/>
            </a:solidFill>
            <a:prstDash val="solid"/>
          </a:ln>
        </p:spPr>
        <p:txBody>
          <a:bodyPr/>
          <a:lstStyle/>
          <a:p>
            <a:endParaRPr lang="en-US" sz="2400"/>
          </a:p>
        </p:txBody>
      </p:sp>
      <p:sp>
        <p:nvSpPr>
          <p:cNvPr id="7" name="Text 5"/>
          <p:cNvSpPr/>
          <p:nvPr/>
        </p:nvSpPr>
        <p:spPr>
          <a:xfrm>
            <a:off x="792480" y="2097024"/>
            <a:ext cx="975360" cy="609600"/>
          </a:xfrm>
          <a:prstGeom prst="rect">
            <a:avLst/>
          </a:prstGeom>
          <a:noFill/>
          <a:ln/>
        </p:spPr>
        <p:txBody>
          <a:bodyPr wrap="square" lIns="0" tIns="0" rIns="0" bIns="0" rtlCol="0" anchor="ctr"/>
          <a:lstStyle/>
          <a:p>
            <a:r>
              <a:rPr lang="en-US" sz="3200">
                <a:solidFill>
                  <a:srgbClr val="1A1E3A"/>
                </a:solidFill>
                <a:latin typeface="Georgia" pitchFamily="34" charset="0"/>
                <a:ea typeface="Georgia" pitchFamily="34" charset="-122"/>
                <a:cs typeface="Georgia" pitchFamily="34" charset="-120"/>
              </a:rPr>
              <a:t>01</a:t>
            </a:r>
            <a:endParaRPr lang="en-US" sz="3200"/>
          </a:p>
        </p:txBody>
      </p:sp>
      <p:sp>
        <p:nvSpPr>
          <p:cNvPr id="8" name="Text 6"/>
          <p:cNvSpPr/>
          <p:nvPr/>
        </p:nvSpPr>
        <p:spPr>
          <a:xfrm>
            <a:off x="792480" y="2718816"/>
            <a:ext cx="3048000" cy="853440"/>
          </a:xfrm>
          <a:prstGeom prst="rect">
            <a:avLst/>
          </a:prstGeom>
          <a:noFill/>
          <a:ln/>
        </p:spPr>
        <p:txBody>
          <a:bodyPr wrap="square" lIns="0" tIns="0" rIns="0" bIns="0" rtlCol="0" anchor="ctr"/>
          <a:lstStyle/>
          <a:p>
            <a:pPr>
              <a:lnSpc>
                <a:spcPct val="125000"/>
              </a:lnSpc>
            </a:pPr>
            <a:r>
              <a:rPr lang="en-US" sz="1733">
                <a:solidFill>
                  <a:srgbClr val="1A1E3A"/>
                </a:solidFill>
                <a:latin typeface="Georgia" pitchFamily="34" charset="0"/>
                <a:ea typeface="Georgia" pitchFamily="34" charset="-122"/>
                <a:cs typeface="Georgia" pitchFamily="34" charset="-120"/>
              </a:rPr>
              <a:t>Family Capital</a:t>
            </a:r>
            <a:endParaRPr lang="en-US" sz="1733"/>
          </a:p>
          <a:p>
            <a:pPr>
              <a:lnSpc>
                <a:spcPct val="125000"/>
              </a:lnSpc>
            </a:pPr>
            <a:r>
              <a:rPr lang="en-US" sz="1733">
                <a:solidFill>
                  <a:srgbClr val="1A1E3A"/>
                </a:solidFill>
                <a:latin typeface="Georgia" pitchFamily="34" charset="0"/>
                <a:ea typeface="Georgia" pitchFamily="34" charset="-122"/>
                <a:cs typeface="Georgia" pitchFamily="34" charset="-120"/>
              </a:rPr>
              <a:t>Assessment</a:t>
            </a:r>
            <a:endParaRPr lang="en-US" sz="1733"/>
          </a:p>
        </p:txBody>
      </p:sp>
      <p:sp>
        <p:nvSpPr>
          <p:cNvPr id="9" name="Shape 7"/>
          <p:cNvSpPr/>
          <p:nvPr/>
        </p:nvSpPr>
        <p:spPr>
          <a:xfrm>
            <a:off x="792480" y="3633216"/>
            <a:ext cx="3048000" cy="0"/>
          </a:xfrm>
          <a:prstGeom prst="line">
            <a:avLst/>
          </a:prstGeom>
          <a:noFill/>
          <a:ln w="5080">
            <a:solidFill>
              <a:srgbClr val="E8E7E2"/>
            </a:solidFill>
            <a:prstDash val="solid"/>
          </a:ln>
        </p:spPr>
        <p:txBody>
          <a:bodyPr/>
          <a:lstStyle/>
          <a:p>
            <a:endParaRPr lang="en-US" sz="2400"/>
          </a:p>
        </p:txBody>
      </p:sp>
      <p:sp>
        <p:nvSpPr>
          <p:cNvPr id="10" name="Text 8"/>
          <p:cNvSpPr/>
          <p:nvPr/>
        </p:nvSpPr>
        <p:spPr>
          <a:xfrm>
            <a:off x="792480" y="3755136"/>
            <a:ext cx="3048000" cy="1219200"/>
          </a:xfrm>
          <a:prstGeom prst="rect">
            <a:avLst/>
          </a:prstGeom>
          <a:noFill/>
          <a:ln/>
        </p:spPr>
        <p:txBody>
          <a:bodyPr wrap="square" lIns="0" tIns="0" rIns="0" bIns="0" rtlCol="0" anchor="ctr"/>
          <a:lstStyle/>
          <a:p>
            <a:pPr>
              <a:lnSpc>
                <a:spcPct val="140000"/>
              </a:lnSpc>
            </a:pPr>
            <a:r>
              <a:rPr lang="en-US" sz="1467">
                <a:solidFill>
                  <a:srgbClr val="6A6A7A"/>
                </a:solidFill>
                <a:latin typeface="Calibri"/>
                <a:ea typeface="Calibri"/>
                <a:cs typeface="Calibri"/>
              </a:rPr>
              <a:t>First session — mapping the current state of your family and capital.</a:t>
            </a:r>
            <a:endParaRPr lang="en-US" sz="1467">
              <a:latin typeface="Calibri"/>
              <a:ea typeface="Calibri"/>
              <a:cs typeface="Calibri"/>
            </a:endParaRPr>
          </a:p>
        </p:txBody>
      </p:sp>
      <p:sp>
        <p:nvSpPr>
          <p:cNvPr id="12" name="Shape 10"/>
          <p:cNvSpPr/>
          <p:nvPr/>
        </p:nvSpPr>
        <p:spPr>
          <a:xfrm>
            <a:off x="4389120" y="1926336"/>
            <a:ext cx="3535680" cy="3998976"/>
          </a:xfrm>
          <a:prstGeom prst="rect">
            <a:avLst/>
          </a:prstGeom>
          <a:solidFill>
            <a:srgbClr val="F2F0EB"/>
          </a:solidFill>
          <a:ln w="6350">
            <a:solidFill>
              <a:srgbClr val="DDDCD8"/>
            </a:solidFill>
            <a:prstDash val="solid"/>
          </a:ln>
        </p:spPr>
        <p:txBody>
          <a:bodyPr/>
          <a:lstStyle/>
          <a:p>
            <a:endParaRPr lang="en-US" sz="2400"/>
          </a:p>
        </p:txBody>
      </p:sp>
      <p:sp>
        <p:nvSpPr>
          <p:cNvPr id="13" name="Shape 11"/>
          <p:cNvSpPr/>
          <p:nvPr/>
        </p:nvSpPr>
        <p:spPr>
          <a:xfrm>
            <a:off x="4389120" y="1926336"/>
            <a:ext cx="3535680" cy="73152"/>
          </a:xfrm>
          <a:prstGeom prst="rect">
            <a:avLst/>
          </a:prstGeom>
          <a:solidFill>
            <a:srgbClr val="1A1E3A"/>
          </a:solidFill>
          <a:ln w="12700">
            <a:solidFill>
              <a:srgbClr val="000000"/>
            </a:solidFill>
            <a:prstDash val="solid"/>
          </a:ln>
        </p:spPr>
        <p:txBody>
          <a:bodyPr/>
          <a:lstStyle/>
          <a:p>
            <a:endParaRPr lang="en-US" sz="2400"/>
          </a:p>
        </p:txBody>
      </p:sp>
      <p:sp>
        <p:nvSpPr>
          <p:cNvPr id="14" name="Text 12"/>
          <p:cNvSpPr/>
          <p:nvPr/>
        </p:nvSpPr>
        <p:spPr>
          <a:xfrm>
            <a:off x="4632960" y="2097024"/>
            <a:ext cx="975360" cy="609600"/>
          </a:xfrm>
          <a:prstGeom prst="rect">
            <a:avLst/>
          </a:prstGeom>
          <a:noFill/>
          <a:ln/>
        </p:spPr>
        <p:txBody>
          <a:bodyPr wrap="square" lIns="0" tIns="0" rIns="0" bIns="0" rtlCol="0" anchor="ctr"/>
          <a:lstStyle/>
          <a:p>
            <a:r>
              <a:rPr lang="en-US" sz="3200">
                <a:solidFill>
                  <a:srgbClr val="1A1E3A"/>
                </a:solidFill>
                <a:latin typeface="Georgia" pitchFamily="34" charset="0"/>
                <a:ea typeface="Georgia" pitchFamily="34" charset="-122"/>
                <a:cs typeface="Georgia" pitchFamily="34" charset="-120"/>
              </a:rPr>
              <a:t>02</a:t>
            </a:r>
            <a:endParaRPr lang="en-US" sz="3200"/>
          </a:p>
        </p:txBody>
      </p:sp>
      <p:sp>
        <p:nvSpPr>
          <p:cNvPr id="15" name="Text 13"/>
          <p:cNvSpPr/>
          <p:nvPr/>
        </p:nvSpPr>
        <p:spPr>
          <a:xfrm>
            <a:off x="4632960" y="2718816"/>
            <a:ext cx="3048000" cy="853440"/>
          </a:xfrm>
          <a:prstGeom prst="rect">
            <a:avLst/>
          </a:prstGeom>
          <a:noFill/>
          <a:ln/>
        </p:spPr>
        <p:txBody>
          <a:bodyPr wrap="square" lIns="0" tIns="0" rIns="0" bIns="0" rtlCol="0" anchor="ctr"/>
          <a:lstStyle/>
          <a:p>
            <a:pPr>
              <a:lnSpc>
                <a:spcPct val="125000"/>
              </a:lnSpc>
            </a:pPr>
            <a:r>
              <a:rPr lang="en-US" sz="1733">
                <a:solidFill>
                  <a:srgbClr val="1A1E3A"/>
                </a:solidFill>
                <a:latin typeface="Georgia" pitchFamily="34" charset="0"/>
                <a:ea typeface="Georgia" pitchFamily="34" charset="-122"/>
                <a:cs typeface="Georgia" pitchFamily="34" charset="-120"/>
              </a:rPr>
              <a:t>Family Capital</a:t>
            </a:r>
            <a:endParaRPr lang="en-US" sz="1733"/>
          </a:p>
          <a:p>
            <a:pPr>
              <a:lnSpc>
                <a:spcPct val="125000"/>
              </a:lnSpc>
            </a:pPr>
            <a:r>
              <a:rPr lang="en-US" sz="1733">
                <a:solidFill>
                  <a:srgbClr val="1A1E3A"/>
                </a:solidFill>
                <a:latin typeface="Georgia" pitchFamily="34" charset="0"/>
                <a:ea typeface="Georgia" pitchFamily="34" charset="-122"/>
                <a:cs typeface="Georgia" pitchFamily="34" charset="-120"/>
              </a:rPr>
              <a:t>Gap Analysis + Blueprint</a:t>
            </a:r>
            <a:endParaRPr lang="en-US" sz="1733"/>
          </a:p>
        </p:txBody>
      </p:sp>
      <p:sp>
        <p:nvSpPr>
          <p:cNvPr id="16" name="Shape 14"/>
          <p:cNvSpPr/>
          <p:nvPr/>
        </p:nvSpPr>
        <p:spPr>
          <a:xfrm>
            <a:off x="4632960" y="3633216"/>
            <a:ext cx="3048000" cy="0"/>
          </a:xfrm>
          <a:prstGeom prst="line">
            <a:avLst/>
          </a:prstGeom>
          <a:noFill/>
          <a:ln w="5080">
            <a:solidFill>
              <a:srgbClr val="E8E7E2"/>
            </a:solidFill>
            <a:prstDash val="solid"/>
          </a:ln>
        </p:spPr>
        <p:txBody>
          <a:bodyPr/>
          <a:lstStyle/>
          <a:p>
            <a:endParaRPr lang="en-US" sz="2400"/>
          </a:p>
        </p:txBody>
      </p:sp>
      <p:sp>
        <p:nvSpPr>
          <p:cNvPr id="17" name="Text 15"/>
          <p:cNvSpPr/>
          <p:nvPr/>
        </p:nvSpPr>
        <p:spPr>
          <a:xfrm>
            <a:off x="4632960" y="3755136"/>
            <a:ext cx="3048000" cy="1219200"/>
          </a:xfrm>
          <a:prstGeom prst="rect">
            <a:avLst/>
          </a:prstGeom>
          <a:noFill/>
          <a:ln/>
        </p:spPr>
        <p:txBody>
          <a:bodyPr wrap="square" lIns="0" tIns="0" rIns="0" bIns="0" rtlCol="0" anchor="ctr"/>
          <a:lstStyle/>
          <a:p>
            <a:pPr>
              <a:lnSpc>
                <a:spcPct val="140000"/>
              </a:lnSpc>
            </a:pPr>
            <a:r>
              <a:rPr lang="en-US" sz="1467">
                <a:solidFill>
                  <a:srgbClr val="6A6A7A"/>
                </a:solidFill>
                <a:latin typeface="Calibri"/>
                <a:ea typeface="Calibri"/>
                <a:cs typeface="Calibri"/>
              </a:rPr>
              <a:t>Deep diagnostic identifying gaps between where you are and where you should be.</a:t>
            </a:r>
            <a:endParaRPr lang="en-US" sz="1467">
              <a:latin typeface="Calibri"/>
              <a:ea typeface="Calibri"/>
              <a:cs typeface="Calibri"/>
            </a:endParaRPr>
          </a:p>
        </p:txBody>
      </p:sp>
      <p:sp>
        <p:nvSpPr>
          <p:cNvPr id="19" name="Shape 17"/>
          <p:cNvSpPr/>
          <p:nvPr/>
        </p:nvSpPr>
        <p:spPr>
          <a:xfrm>
            <a:off x="8229600" y="1926336"/>
            <a:ext cx="3535680" cy="3998976"/>
          </a:xfrm>
          <a:prstGeom prst="rect">
            <a:avLst/>
          </a:prstGeom>
          <a:solidFill>
            <a:srgbClr val="F2F0EB"/>
          </a:solidFill>
          <a:ln w="6350">
            <a:solidFill>
              <a:srgbClr val="DDDCD8"/>
            </a:solidFill>
            <a:prstDash val="solid"/>
          </a:ln>
        </p:spPr>
        <p:txBody>
          <a:bodyPr/>
          <a:lstStyle/>
          <a:p>
            <a:endParaRPr lang="en-US" sz="2400"/>
          </a:p>
        </p:txBody>
      </p:sp>
      <p:sp>
        <p:nvSpPr>
          <p:cNvPr id="20" name="Shape 18"/>
          <p:cNvSpPr/>
          <p:nvPr/>
        </p:nvSpPr>
        <p:spPr>
          <a:xfrm>
            <a:off x="8229600" y="1926336"/>
            <a:ext cx="3535680" cy="73152"/>
          </a:xfrm>
          <a:prstGeom prst="rect">
            <a:avLst/>
          </a:prstGeom>
          <a:solidFill>
            <a:srgbClr val="1A1E3A"/>
          </a:solidFill>
          <a:ln w="12700">
            <a:solidFill>
              <a:srgbClr val="000000"/>
            </a:solidFill>
            <a:prstDash val="solid"/>
          </a:ln>
        </p:spPr>
        <p:txBody>
          <a:bodyPr/>
          <a:lstStyle/>
          <a:p>
            <a:endParaRPr lang="en-US" sz="2400"/>
          </a:p>
        </p:txBody>
      </p:sp>
      <p:sp>
        <p:nvSpPr>
          <p:cNvPr id="21" name="Text 19"/>
          <p:cNvSpPr/>
          <p:nvPr/>
        </p:nvSpPr>
        <p:spPr>
          <a:xfrm>
            <a:off x="8473440" y="2097024"/>
            <a:ext cx="975360" cy="609600"/>
          </a:xfrm>
          <a:prstGeom prst="rect">
            <a:avLst/>
          </a:prstGeom>
          <a:noFill/>
          <a:ln/>
        </p:spPr>
        <p:txBody>
          <a:bodyPr wrap="square" lIns="0" tIns="0" rIns="0" bIns="0" rtlCol="0" anchor="ctr"/>
          <a:lstStyle/>
          <a:p>
            <a:r>
              <a:rPr lang="en-US" sz="3200">
                <a:solidFill>
                  <a:srgbClr val="1A1E3A"/>
                </a:solidFill>
                <a:latin typeface="Georgia" pitchFamily="34" charset="0"/>
                <a:ea typeface="Georgia" pitchFamily="34" charset="-122"/>
                <a:cs typeface="Georgia" pitchFamily="34" charset="-120"/>
              </a:rPr>
              <a:t>03</a:t>
            </a:r>
            <a:endParaRPr lang="en-US" sz="3200"/>
          </a:p>
        </p:txBody>
      </p:sp>
      <p:sp>
        <p:nvSpPr>
          <p:cNvPr id="22" name="Text 20"/>
          <p:cNvSpPr/>
          <p:nvPr/>
        </p:nvSpPr>
        <p:spPr>
          <a:xfrm>
            <a:off x="8473440" y="2718816"/>
            <a:ext cx="3048000" cy="853440"/>
          </a:xfrm>
          <a:prstGeom prst="rect">
            <a:avLst/>
          </a:prstGeom>
          <a:noFill/>
          <a:ln/>
        </p:spPr>
        <p:txBody>
          <a:bodyPr wrap="square" lIns="0" tIns="0" rIns="0" bIns="0" rtlCol="0" anchor="ctr"/>
          <a:lstStyle/>
          <a:p>
            <a:pPr>
              <a:lnSpc>
                <a:spcPct val="125000"/>
              </a:lnSpc>
            </a:pPr>
            <a:r>
              <a:rPr lang="en-US" sz="1733">
                <a:solidFill>
                  <a:srgbClr val="1A1E3A"/>
                </a:solidFill>
                <a:latin typeface="Georgia" pitchFamily="34" charset="0"/>
                <a:ea typeface="Georgia" pitchFamily="34" charset="-122"/>
                <a:cs typeface="Georgia" pitchFamily="34" charset="-120"/>
              </a:rPr>
              <a:t>Family Capital</a:t>
            </a:r>
            <a:endParaRPr lang="en-US" sz="1733"/>
          </a:p>
          <a:p>
            <a:pPr>
              <a:lnSpc>
                <a:spcPct val="125000"/>
              </a:lnSpc>
            </a:pPr>
            <a:r>
              <a:rPr lang="en-US" sz="1733">
                <a:solidFill>
                  <a:srgbClr val="1A1E3A"/>
                </a:solidFill>
                <a:latin typeface="Georgia" pitchFamily="34" charset="0"/>
                <a:ea typeface="Georgia" pitchFamily="34" charset="-122"/>
                <a:cs typeface="Georgia" pitchFamily="34" charset="-120"/>
              </a:rPr>
              <a:t>Blueprint</a:t>
            </a:r>
            <a:endParaRPr lang="en-US" sz="1733"/>
          </a:p>
        </p:txBody>
      </p:sp>
      <p:sp>
        <p:nvSpPr>
          <p:cNvPr id="23" name="Shape 21"/>
          <p:cNvSpPr/>
          <p:nvPr/>
        </p:nvSpPr>
        <p:spPr>
          <a:xfrm>
            <a:off x="8473440" y="3633216"/>
            <a:ext cx="3048000" cy="0"/>
          </a:xfrm>
          <a:prstGeom prst="line">
            <a:avLst/>
          </a:prstGeom>
          <a:noFill/>
          <a:ln w="5080">
            <a:solidFill>
              <a:srgbClr val="E8E7E2"/>
            </a:solidFill>
            <a:prstDash val="solid"/>
          </a:ln>
        </p:spPr>
        <p:txBody>
          <a:bodyPr/>
          <a:lstStyle/>
          <a:p>
            <a:endParaRPr lang="en-US" sz="2400"/>
          </a:p>
        </p:txBody>
      </p:sp>
      <p:sp>
        <p:nvSpPr>
          <p:cNvPr id="24" name="Text 22"/>
          <p:cNvSpPr/>
          <p:nvPr/>
        </p:nvSpPr>
        <p:spPr>
          <a:xfrm>
            <a:off x="8473440" y="3755136"/>
            <a:ext cx="3048000" cy="1219200"/>
          </a:xfrm>
          <a:prstGeom prst="rect">
            <a:avLst/>
          </a:prstGeom>
          <a:noFill/>
          <a:ln/>
        </p:spPr>
        <p:txBody>
          <a:bodyPr wrap="square" lIns="0" tIns="0" rIns="0" bIns="0" rtlCol="0" anchor="ctr"/>
          <a:lstStyle/>
          <a:p>
            <a:pPr>
              <a:lnSpc>
                <a:spcPct val="140000"/>
              </a:lnSpc>
            </a:pPr>
            <a:r>
              <a:rPr lang="en-US" sz="1467">
                <a:solidFill>
                  <a:srgbClr val="6A6A7A"/>
                </a:solidFill>
                <a:latin typeface="Calibri"/>
                <a:ea typeface="Calibri"/>
                <a:cs typeface="Calibri"/>
              </a:rPr>
              <a:t>Today - Your comprehensive multi-generational wealth and legacy roadmap.</a:t>
            </a:r>
            <a:endParaRPr lang="en-US" sz="1467">
              <a:latin typeface="Calibri"/>
              <a:ea typeface="Calibri"/>
              <a:cs typeface="Calibri"/>
            </a:endParaRPr>
          </a:p>
        </p:txBody>
      </p:sp>
      <p:sp>
        <p:nvSpPr>
          <p:cNvPr id="25" name="Text 23"/>
          <p:cNvSpPr/>
          <p:nvPr/>
        </p:nvSpPr>
        <p:spPr>
          <a:xfrm>
            <a:off x="8473440" y="5230369"/>
            <a:ext cx="3048000" cy="268224"/>
          </a:xfrm>
          <a:prstGeom prst="rect">
            <a:avLst/>
          </a:prstGeom>
          <a:noFill/>
          <a:ln/>
        </p:spPr>
        <p:txBody>
          <a:bodyPr wrap="square" lIns="0" tIns="0" rIns="0" bIns="0" rtlCol="0" anchor="ctr"/>
          <a:lstStyle/>
          <a:p>
            <a:r>
              <a:rPr lang="en-US" sz="1400" kern="0" spc="267">
                <a:solidFill>
                  <a:srgbClr val="C9A84C"/>
                </a:solidFill>
                <a:ea typeface="Calibri"/>
                <a:cs typeface="Calibri"/>
              </a:rPr>
              <a:t>TODAY</a:t>
            </a:r>
            <a:endParaRPr lang="en-US" sz="1400">
              <a:ea typeface="Calibri"/>
              <a:cs typeface="Calibri"/>
            </a:endParaRPr>
          </a:p>
        </p:txBody>
      </p:sp>
      <p:sp>
        <p:nvSpPr>
          <p:cNvPr id="30" name="Shape 2">
            <a:extLst>
              <a:ext uri="{FF2B5EF4-FFF2-40B4-BE49-F238E27FC236}">
                <a16:creationId xmlns:a16="http://schemas.microsoft.com/office/drawing/2014/main" id="{CD339108-695F-DD1F-C67D-A0A2723A5F9E}"/>
              </a:ext>
            </a:extLst>
          </p:cNvPr>
          <p:cNvSpPr/>
          <p:nvPr/>
        </p:nvSpPr>
        <p:spPr>
          <a:xfrm>
            <a:off x="548640" y="1645919"/>
            <a:ext cx="11216640" cy="24384"/>
          </a:xfrm>
          <a:prstGeom prst="line">
            <a:avLst/>
          </a:prstGeom>
          <a:noFill/>
          <a:ln w="47625">
            <a:solidFill>
              <a:srgbClr val="C9A84C"/>
            </a:solidFill>
            <a:prstDash val="solid"/>
            <a:headEnd type="none"/>
            <a:tailEnd type="triangle"/>
          </a:ln>
        </p:spPr>
        <p:txBody>
          <a:bodyPr/>
          <a:lstStyle/>
          <a:p>
            <a:endParaRPr lang="en-US" sz="2400"/>
          </a:p>
        </p:txBody>
      </p:sp>
      <p:cxnSp>
        <p:nvCxnSpPr>
          <p:cNvPr id="32" name="Straight Connector 31">
            <a:extLst>
              <a:ext uri="{FF2B5EF4-FFF2-40B4-BE49-F238E27FC236}">
                <a16:creationId xmlns:a16="http://schemas.microsoft.com/office/drawing/2014/main" id="{20A31A55-F561-BDF9-7A55-078A502E7E5C}"/>
              </a:ext>
            </a:extLst>
          </p:cNvPr>
          <p:cNvCxnSpPr/>
          <p:nvPr/>
        </p:nvCxnSpPr>
        <p:spPr>
          <a:xfrm>
            <a:off x="4206559" y="1346866"/>
            <a:ext cx="0" cy="579471"/>
          </a:xfrm>
          <a:prstGeom prst="line">
            <a:avLst/>
          </a:prstGeom>
          <a:ln w="25400">
            <a:solidFill>
              <a:srgbClr val="C9A84C"/>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B6A160-087C-A206-9F15-C813A4B02E0F}"/>
              </a:ext>
            </a:extLst>
          </p:cNvPr>
          <p:cNvCxnSpPr/>
          <p:nvPr/>
        </p:nvCxnSpPr>
        <p:spPr>
          <a:xfrm>
            <a:off x="8086508" y="1380567"/>
            <a:ext cx="0" cy="579471"/>
          </a:xfrm>
          <a:prstGeom prst="line">
            <a:avLst/>
          </a:prstGeom>
          <a:ln w="25400">
            <a:solidFill>
              <a:srgbClr val="C9A84C"/>
            </a:solidFill>
          </a:ln>
        </p:spPr>
        <p:style>
          <a:lnRef idx="1">
            <a:schemeClr val="accent1"/>
          </a:lnRef>
          <a:fillRef idx="0">
            <a:schemeClr val="accent1"/>
          </a:fillRef>
          <a:effectRef idx="0">
            <a:schemeClr val="accent1"/>
          </a:effectRef>
          <a:fontRef idx="minor">
            <a:schemeClr val="tx1"/>
          </a:fontRef>
        </p:style>
      </p:cxnSp>
      <p:sp>
        <p:nvSpPr>
          <p:cNvPr id="40" name="Shape 0">
            <a:extLst>
              <a:ext uri="{FF2B5EF4-FFF2-40B4-BE49-F238E27FC236}">
                <a16:creationId xmlns:a16="http://schemas.microsoft.com/office/drawing/2014/main" id="{2770DAD2-E55E-AD9F-0934-C4EB0A4977F8}"/>
              </a:ext>
            </a:extLst>
          </p:cNvPr>
          <p:cNvSpPr/>
          <p:nvPr/>
        </p:nvSpPr>
        <p:spPr>
          <a:xfrm>
            <a:off x="0" y="6547104"/>
            <a:ext cx="12191695" cy="310896"/>
          </a:xfrm>
          <a:prstGeom prst="rect">
            <a:avLst/>
          </a:prstGeom>
          <a:solidFill>
            <a:srgbClr val="F1EEE6"/>
          </a:solidFill>
          <a:ln/>
        </p:spPr>
        <p:txBody>
          <a:bodyPr/>
          <a:lstStyle/>
          <a:p>
            <a:endParaRPr lang="en-US"/>
          </a:p>
        </p:txBody>
      </p:sp>
      <p:sp>
        <p:nvSpPr>
          <p:cNvPr id="42" name="Text 1">
            <a:extLst>
              <a:ext uri="{FF2B5EF4-FFF2-40B4-BE49-F238E27FC236}">
                <a16:creationId xmlns:a16="http://schemas.microsoft.com/office/drawing/2014/main" id="{AC4C6DCF-FAE4-09CA-97D2-28FD73FE0CDC}"/>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4" name="Text 2">
            <a:extLst>
              <a:ext uri="{FF2B5EF4-FFF2-40B4-BE49-F238E27FC236}">
                <a16:creationId xmlns:a16="http://schemas.microsoft.com/office/drawing/2014/main" id="{A97B8044-D9A1-344A-6647-FD3E39D0573E}"/>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46" name="Text 3">
            <a:extLst>
              <a:ext uri="{FF2B5EF4-FFF2-40B4-BE49-F238E27FC236}">
                <a16:creationId xmlns:a16="http://schemas.microsoft.com/office/drawing/2014/main" id="{8C6982FF-478C-0C11-9D7E-3C33B734B774}"/>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10102A"/>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B8B4AC"/>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B8B4AC"/>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B8B4AC"/>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822960" y="2514600"/>
            <a:ext cx="9144000" cy="274320"/>
          </a:xfrm>
          <a:prstGeom prst="rect">
            <a:avLst/>
          </a:prstGeom>
          <a:noFill/>
          <a:ln/>
        </p:spPr>
        <p:txBody>
          <a:bodyPr wrap="square" lIns="0" tIns="0" rIns="0" bIns="0" rtlCol="0" anchor="ctr"/>
          <a:lstStyle/>
          <a:p>
            <a:pPr marL="0" indent="0">
              <a:buNone/>
            </a:pPr>
            <a:r>
              <a:rPr lang="en-US" sz="1000" b="1" kern="0" spc="500">
                <a:solidFill>
                  <a:srgbClr val="C9A84C"/>
                </a:solidFill>
                <a:latin typeface="Calibri" pitchFamily="34" charset="0"/>
                <a:ea typeface="Calibri" pitchFamily="34" charset="-122"/>
                <a:cs typeface="Calibri" pitchFamily="34" charset="-120"/>
              </a:rPr>
              <a:t>SECTION ONE</a:t>
            </a:r>
            <a:endParaRPr lang="en-US" sz="1000"/>
          </a:p>
        </p:txBody>
      </p:sp>
      <p:sp>
        <p:nvSpPr>
          <p:cNvPr id="8" name="Text 5"/>
          <p:cNvSpPr/>
          <p:nvPr/>
        </p:nvSpPr>
        <p:spPr>
          <a:xfrm>
            <a:off x="822960" y="2834640"/>
            <a:ext cx="10058400" cy="822960"/>
          </a:xfrm>
          <a:prstGeom prst="rect">
            <a:avLst/>
          </a:prstGeom>
          <a:noFill/>
          <a:ln/>
        </p:spPr>
        <p:txBody>
          <a:bodyPr wrap="square" lIns="0" tIns="0" rIns="0" bIns="0" rtlCol="0" anchor="ctr"/>
          <a:lstStyle/>
          <a:p>
            <a:pPr marL="0" indent="0">
              <a:buNone/>
            </a:pPr>
            <a:r>
              <a:rPr lang="en-US" sz="3800">
                <a:solidFill>
                  <a:srgbClr val="FFFFFF"/>
                </a:solidFill>
                <a:latin typeface="Georgia" pitchFamily="34" charset="0"/>
                <a:ea typeface="Georgia" pitchFamily="34" charset="-122"/>
                <a:cs typeface="Georgia" pitchFamily="34" charset="-120"/>
              </a:rPr>
              <a:t>Preparing the Money for the Family</a:t>
            </a:r>
            <a:endParaRPr lang="en-US" sz="3800"/>
          </a:p>
        </p:txBody>
      </p:sp>
      <p:sp>
        <p:nvSpPr>
          <p:cNvPr id="9" name="Shape 6"/>
          <p:cNvSpPr/>
          <p:nvPr/>
        </p:nvSpPr>
        <p:spPr>
          <a:xfrm>
            <a:off x="822960" y="3794760"/>
            <a:ext cx="1005840" cy="27432"/>
          </a:xfrm>
          <a:prstGeom prst="rect">
            <a:avLst/>
          </a:prstGeom>
          <a:solidFill>
            <a:srgbClr val="C9A84C"/>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YOUR CURRENT GOALS AND OBJECTIVES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Goals and Intentions</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600200"/>
            <a:ext cx="10972800" cy="457200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Maintain annual lifestyle spending at $96,000</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Maintain our emergency reserve at $40,000</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Minimize the impact of inflation on our regular income</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Spend up to $10,000 per year on travel</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Use retirement funds to open a small business for carpentry and real estate opportunities</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Leave our estate to our children as their inheritance</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Continue annual charitable giving at $8,000</a:t>
            </a:r>
            <a:endParaRPr 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10102A"/>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B8B4AC"/>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B8B4AC"/>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B8B4AC"/>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822960" y="2514600"/>
            <a:ext cx="9144000" cy="274320"/>
          </a:xfrm>
          <a:prstGeom prst="rect">
            <a:avLst/>
          </a:prstGeom>
          <a:noFill/>
          <a:ln/>
        </p:spPr>
        <p:txBody>
          <a:bodyPr wrap="square" lIns="0" tIns="0" rIns="0" bIns="0" rtlCol="0" anchor="ctr"/>
          <a:lstStyle/>
          <a:p>
            <a:pPr marL="0" indent="0">
              <a:buNone/>
            </a:pPr>
            <a:r>
              <a:rPr lang="en-US" sz="1000" b="1" kern="0" spc="500">
                <a:solidFill>
                  <a:srgbClr val="C9A84C"/>
                </a:solidFill>
                <a:latin typeface="Calibri" pitchFamily="34" charset="0"/>
                <a:ea typeface="Calibri" pitchFamily="34" charset="-122"/>
                <a:cs typeface="Calibri" pitchFamily="34" charset="-120"/>
              </a:rPr>
              <a:t>FINANCIAL OVERVIEW</a:t>
            </a:r>
            <a:endParaRPr lang="en-US" sz="1000"/>
          </a:p>
        </p:txBody>
      </p:sp>
      <p:sp>
        <p:nvSpPr>
          <p:cNvPr id="8" name="Text 5"/>
          <p:cNvSpPr/>
          <p:nvPr/>
        </p:nvSpPr>
        <p:spPr>
          <a:xfrm>
            <a:off x="822960" y="2834640"/>
            <a:ext cx="10058400" cy="822960"/>
          </a:xfrm>
          <a:prstGeom prst="rect">
            <a:avLst/>
          </a:prstGeom>
          <a:noFill/>
          <a:ln/>
        </p:spPr>
        <p:txBody>
          <a:bodyPr wrap="square" lIns="0" tIns="0" rIns="0" bIns="0" rtlCol="0" anchor="ctr"/>
          <a:lstStyle/>
          <a:p>
            <a:pPr marL="0" indent="0">
              <a:buNone/>
            </a:pPr>
            <a:r>
              <a:rPr lang="en-US" sz="3800">
                <a:solidFill>
                  <a:srgbClr val="FFFFFF"/>
                </a:solidFill>
                <a:latin typeface="Georgia" pitchFamily="34" charset="0"/>
                <a:ea typeface="Georgia" pitchFamily="34" charset="-122"/>
                <a:cs typeface="Georgia" pitchFamily="34" charset="-120"/>
              </a:rPr>
              <a:t>Our Financial Security and Fulfillment</a:t>
            </a:r>
            <a:endParaRPr lang="en-US" sz="3800"/>
          </a:p>
        </p:txBody>
      </p:sp>
      <p:sp>
        <p:nvSpPr>
          <p:cNvPr id="9" name="Shape 6"/>
          <p:cNvSpPr/>
          <p:nvPr/>
        </p:nvSpPr>
        <p:spPr>
          <a:xfrm>
            <a:off x="822960" y="3794760"/>
            <a:ext cx="1005840" cy="27432"/>
          </a:xfrm>
          <a:prstGeom prst="rect">
            <a:avLst/>
          </a:prstGeom>
          <a:solidFill>
            <a:srgbClr val="C9A84C"/>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FINANCIAL OVERVIEW</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Your Current Balance Sheet</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197864" y="1600200"/>
            <a:ext cx="9765792" cy="46634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Basic Legal Documents</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You have a recently updated Will.</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We did not receive any complete legal documents to review them.</a:t>
            </a:r>
            <a:endParaRPr lang="en-US" sz="1600"/>
          </a:p>
        </p:txBody>
      </p:sp>
      <p:sp>
        <p:nvSpPr>
          <p:cNvPr id="13" name="Shape 10"/>
          <p:cNvSpPr/>
          <p:nvPr/>
        </p:nvSpPr>
        <p:spPr>
          <a:xfrm>
            <a:off x="6263640" y="1645920"/>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Create or review the following Legal Documents for accuracy: Wills, Durable Power of Attorney, Medical Power of Attorney, Healthcare Directive.</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Obtain signed HIPAA authorization forms from your adult children.</a:t>
            </a:r>
            <a:endParaRPr lang="en-US" sz="1600"/>
          </a:p>
        </p:txBody>
      </p:sp>
      <p:sp>
        <p:nvSpPr>
          <p:cNvPr id="18" name="Shape 11">
            <a:extLst>
              <a:ext uri="{FF2B5EF4-FFF2-40B4-BE49-F238E27FC236}">
                <a16:creationId xmlns:a16="http://schemas.microsoft.com/office/drawing/2014/main" id="{C58D1E86-3A55-0C7E-5B8B-1DBA2DFCDE42}"/>
              </a:ext>
            </a:extLst>
          </p:cNvPr>
          <p:cNvSpPr/>
          <p:nvPr/>
        </p:nvSpPr>
        <p:spPr>
          <a:xfrm>
            <a:off x="548640" y="1645920"/>
            <a:ext cx="5394960" cy="64008"/>
          </a:xfrm>
          <a:prstGeom prst="rect">
            <a:avLst/>
          </a:prstGeom>
          <a:solidFill>
            <a:srgbClr val="171738"/>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You plan to spend $96,000/year on living expenses, including $10,000/year on travel.</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You estimated you have about $48,000 in cash across all accounts, including your $40,000 in desired reserves.</a:t>
            </a:r>
            <a:endParaRPr lang="en-US" sz="1600"/>
          </a:p>
        </p:txBody>
      </p:sp>
      <p:sp>
        <p:nvSpPr>
          <p:cNvPr id="13" name="Shape 10"/>
          <p:cNvSpPr/>
          <p:nvPr/>
        </p:nvSpPr>
        <p:spPr>
          <a:xfrm>
            <a:off x="6263640" y="1645920"/>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After rolling the annuity into an IRA, your pension income, Social Security, and IRA distributions will fully fund your $96,000 annual lifestyle while maintaining the $40,000 cash reserve.</a:t>
            </a:r>
            <a:endParaRPr lang="en-US" sz="1600"/>
          </a:p>
        </p:txBody>
      </p:sp>
      <p:sp>
        <p:nvSpPr>
          <p:cNvPr id="18" name="Shape 11">
            <a:extLst>
              <a:ext uri="{FF2B5EF4-FFF2-40B4-BE49-F238E27FC236}">
                <a16:creationId xmlns:a16="http://schemas.microsoft.com/office/drawing/2014/main" id="{7FB250D8-ADFF-3D84-EB72-CE7CC8E940C5}"/>
              </a:ext>
            </a:extLst>
          </p:cNvPr>
          <p:cNvSpPr/>
          <p:nvPr/>
        </p:nvSpPr>
        <p:spPr>
          <a:xfrm>
            <a:off x="548640" y="1645920"/>
            <a:ext cx="5394960" cy="64008"/>
          </a:xfrm>
          <a:prstGeom prst="rect">
            <a:avLst/>
          </a:prstGeom>
          <a:solidFill>
            <a:srgbClr val="171738"/>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Insurance</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Frank currently has $120,000 of Whole Life insurance coverage and Tina has $30,000 of coverage.</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We have not received copies of the policies, so we have not been able to evaluate the policy structures and cash values.</a:t>
            </a:r>
            <a:endParaRPr lang="en-US" sz="1600"/>
          </a:p>
        </p:txBody>
      </p:sp>
      <p:sp>
        <p:nvSpPr>
          <p:cNvPr id="13" name="Shape 10"/>
          <p:cNvSpPr/>
          <p:nvPr/>
        </p:nvSpPr>
        <p:spPr>
          <a:xfrm>
            <a:off x="6263640" y="1645920"/>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Obtain and review existing Whole Life policies to evaluate cash value, structure, performance &amp; necessity.</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Assess whether current Life Insurance coverage remains appropriate.</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Evaluate Long-Term Care planning options to help protect retirement assets from healthcare expenses.</a:t>
            </a:r>
            <a:endParaRPr 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Medicare</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Both of you are not eligible to enroll in Medicare until age 65.</a:t>
            </a:r>
            <a:endParaRPr lang="en-US" sz="1600"/>
          </a:p>
        </p:txBody>
      </p:sp>
      <p:sp>
        <p:nvSpPr>
          <p:cNvPr id="13" name="Shape 10"/>
          <p:cNvSpPr/>
          <p:nvPr/>
        </p:nvSpPr>
        <p:spPr>
          <a:xfrm>
            <a:off x="6263640" y="1645920"/>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Create a reminder to enroll in Medicare at age 65 to avoid potential late enrollment penalties.</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Add any estimated Medicare premiums and healthcare costs into your retirement cash flow projections. (Approx $24,000 annually)</a:t>
            </a:r>
            <a:endParaRPr lang="en-US" sz="1600"/>
          </a:p>
        </p:txBody>
      </p:sp>
      <p:sp>
        <p:nvSpPr>
          <p:cNvPr id="18" name="Shape 11">
            <a:extLst>
              <a:ext uri="{FF2B5EF4-FFF2-40B4-BE49-F238E27FC236}">
                <a16:creationId xmlns:a16="http://schemas.microsoft.com/office/drawing/2014/main" id="{251434B1-1077-EC3C-46F9-A5AB4CC74FA4}"/>
              </a:ext>
            </a:extLst>
          </p:cNvPr>
          <p:cNvSpPr/>
          <p:nvPr/>
        </p:nvSpPr>
        <p:spPr>
          <a:xfrm>
            <a:off x="571500" y="1645920"/>
            <a:ext cx="5394960" cy="64008"/>
          </a:xfrm>
          <a:prstGeom prst="rect">
            <a:avLst/>
          </a:prstGeom>
          <a:solidFill>
            <a:srgbClr val="171738"/>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Social Security</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Both of you are not currently drawing your Social Security benefits.</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Frank is unsure when to begin Social Security after he retires to best supplement retirement income.</a:t>
            </a:r>
            <a:endParaRPr lang="en-US" sz="1600"/>
          </a:p>
        </p:txBody>
      </p:sp>
      <p:sp>
        <p:nvSpPr>
          <p:cNvPr id="13" name="Shape 10"/>
          <p:cNvSpPr/>
          <p:nvPr/>
        </p:nvSpPr>
        <p:spPr>
          <a:xfrm>
            <a:off x="6263640" y="1585535"/>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Begin Social Security at age 63 in November, which would increase your benefit by approximately $150 per month compared to starting earlier.</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Tina should plan to draw SS beginning at age 63, taking the spousal benefit (1/2 of Frank’s SS benefit).</a:t>
            </a:r>
            <a:endParaRPr lang="en-US" sz="1600"/>
          </a:p>
        </p:txBody>
      </p:sp>
      <p:sp>
        <p:nvSpPr>
          <p:cNvPr id="18" name="Shape 11">
            <a:extLst>
              <a:ext uri="{FF2B5EF4-FFF2-40B4-BE49-F238E27FC236}">
                <a16:creationId xmlns:a16="http://schemas.microsoft.com/office/drawing/2014/main" id="{B4BD8FB3-4C52-6B02-2EA0-464A68CA672D}"/>
              </a:ext>
            </a:extLst>
          </p:cNvPr>
          <p:cNvSpPr/>
          <p:nvPr/>
        </p:nvSpPr>
        <p:spPr>
          <a:xfrm>
            <a:off x="548640" y="1645920"/>
            <a:ext cx="5394960" cy="64008"/>
          </a:xfrm>
          <a:prstGeom prst="rect">
            <a:avLst/>
          </a:prstGeom>
          <a:solidFill>
            <a:srgbClr val="171738"/>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GOALS AND INTENTIONS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Inheritance</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45920"/>
            <a:ext cx="5394960" cy="45262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OBSERVATIONS</a:t>
            </a:r>
            <a:endParaRPr lang="en-US" sz="900"/>
          </a:p>
        </p:txBody>
      </p:sp>
      <p:sp>
        <p:nvSpPr>
          <p:cNvPr id="12" name="Text 9"/>
          <p:cNvSpPr/>
          <p:nvPr/>
        </p:nvSpPr>
        <p:spPr>
          <a:xfrm>
            <a:off x="822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You plan to leave whatever is left in your estate to your children after your passing.</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We did not receive complete copies of your will or trust documents to analyze the distribution of assets.</a:t>
            </a:r>
            <a:endParaRPr lang="en-US" sz="1600"/>
          </a:p>
        </p:txBody>
      </p:sp>
      <p:sp>
        <p:nvSpPr>
          <p:cNvPr id="13" name="Shape 10"/>
          <p:cNvSpPr/>
          <p:nvPr/>
        </p:nvSpPr>
        <p:spPr>
          <a:xfrm>
            <a:off x="6263640" y="1645920"/>
            <a:ext cx="5394960" cy="4526280"/>
          </a:xfrm>
          <a:prstGeom prst="rect">
            <a:avLst/>
          </a:prstGeom>
          <a:solidFill>
            <a:srgbClr val="FFFFFF"/>
          </a:solidFill>
          <a:ln w="9525">
            <a:solidFill>
              <a:srgbClr val="E4DFD3"/>
            </a:solidFill>
            <a:prstDash val="solid"/>
          </a:ln>
        </p:spPr>
        <p:txBody>
          <a:bodyPr/>
          <a:lstStyle/>
          <a:p>
            <a:endParaRPr lang="en-US"/>
          </a:p>
        </p:txBody>
      </p:sp>
      <p:sp>
        <p:nvSpPr>
          <p:cNvPr id="14" name="Shape 11"/>
          <p:cNvSpPr/>
          <p:nvPr/>
        </p:nvSpPr>
        <p:spPr>
          <a:xfrm>
            <a:off x="6263640" y="1645920"/>
            <a:ext cx="5394960" cy="64008"/>
          </a:xfrm>
          <a:prstGeom prst="rect">
            <a:avLst/>
          </a:prstGeom>
          <a:solidFill>
            <a:srgbClr val="171738"/>
          </a:solidFill>
          <a:ln/>
        </p:spPr>
        <p:txBody>
          <a:bodyPr/>
          <a:lstStyle/>
          <a:p>
            <a:endParaRPr lang="en-US"/>
          </a:p>
        </p:txBody>
      </p:sp>
      <p:sp>
        <p:nvSpPr>
          <p:cNvPr id="15" name="Text 12"/>
          <p:cNvSpPr/>
          <p:nvPr/>
        </p:nvSpPr>
        <p:spPr>
          <a:xfrm>
            <a:off x="6537960" y="1828800"/>
            <a:ext cx="4572000" cy="274320"/>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SOLUTIONS</a:t>
            </a:r>
            <a:endParaRPr lang="en-US" sz="900"/>
          </a:p>
        </p:txBody>
      </p:sp>
      <p:sp>
        <p:nvSpPr>
          <p:cNvPr id="16" name="Text 13"/>
          <p:cNvSpPr/>
          <p:nvPr/>
        </p:nvSpPr>
        <p:spPr>
          <a:xfrm>
            <a:off x="6537960" y="2240280"/>
            <a:ext cx="4892040" cy="374904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Consider leaving some inheritance to your children during your lifetime.</a:t>
            </a:r>
            <a:endParaRPr lang="en-US" sz="1600"/>
          </a:p>
          <a:p>
            <a:pPr marL="228600" indent="-228600">
              <a:spcAft>
                <a:spcPts val="900"/>
              </a:spcAft>
              <a:buSzPct val="100000"/>
              <a:buChar char="■"/>
            </a:pPr>
            <a:r>
              <a:rPr lang="en-US" sz="1600">
                <a:solidFill>
                  <a:srgbClr val="171738"/>
                </a:solidFill>
                <a:latin typeface="Calibri" pitchFamily="34" charset="0"/>
                <a:ea typeface="Calibri" pitchFamily="34" charset="-122"/>
                <a:cs typeface="Calibri" pitchFamily="34" charset="-120"/>
              </a:rPr>
              <a:t>Facilitate open family conversations about inheritance to align expectations, reduce conflict, and reinforce shared values.</a:t>
            </a:r>
            <a:endParaRPr lang="en-US" sz="1600"/>
          </a:p>
        </p:txBody>
      </p:sp>
      <p:sp>
        <p:nvSpPr>
          <p:cNvPr id="18" name="Shape 11">
            <a:extLst>
              <a:ext uri="{FF2B5EF4-FFF2-40B4-BE49-F238E27FC236}">
                <a16:creationId xmlns:a16="http://schemas.microsoft.com/office/drawing/2014/main" id="{FF04F0CB-2D90-E863-E3FD-6644C26B91AA}"/>
              </a:ext>
            </a:extLst>
          </p:cNvPr>
          <p:cNvSpPr/>
          <p:nvPr/>
        </p:nvSpPr>
        <p:spPr>
          <a:xfrm>
            <a:off x="548640" y="1645920"/>
            <a:ext cx="5394960" cy="64008"/>
          </a:xfrm>
          <a:prstGeom prst="rect">
            <a:avLst/>
          </a:prstGeom>
          <a:solidFill>
            <a:srgbClr val="171738"/>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738"/>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10102A"/>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B8B4AC"/>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B8B4AC"/>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B8B4AC"/>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822960" y="2514600"/>
            <a:ext cx="9144000" cy="274320"/>
          </a:xfrm>
          <a:prstGeom prst="rect">
            <a:avLst/>
          </a:prstGeom>
          <a:noFill/>
          <a:ln/>
        </p:spPr>
        <p:txBody>
          <a:bodyPr wrap="square" lIns="0" tIns="0" rIns="0" bIns="0" rtlCol="0" anchor="ctr"/>
          <a:lstStyle/>
          <a:p>
            <a:pPr marL="0" indent="0">
              <a:buNone/>
            </a:pPr>
            <a:r>
              <a:rPr lang="en-US" sz="1000" b="1" kern="0" spc="500">
                <a:solidFill>
                  <a:srgbClr val="C9A84C"/>
                </a:solidFill>
                <a:latin typeface="Calibri" pitchFamily="34" charset="0"/>
                <a:ea typeface="Calibri" pitchFamily="34" charset="-122"/>
                <a:cs typeface="Calibri" pitchFamily="34" charset="-120"/>
              </a:rPr>
              <a:t>CURRENT PLAN ANALYSIS</a:t>
            </a:r>
            <a:endParaRPr lang="en-US" sz="1000"/>
          </a:p>
        </p:txBody>
      </p:sp>
      <p:sp>
        <p:nvSpPr>
          <p:cNvPr id="8" name="Text 5"/>
          <p:cNvSpPr/>
          <p:nvPr/>
        </p:nvSpPr>
        <p:spPr>
          <a:xfrm>
            <a:off x="822960" y="2834640"/>
            <a:ext cx="10058400" cy="822960"/>
          </a:xfrm>
          <a:prstGeom prst="rect">
            <a:avLst/>
          </a:prstGeom>
          <a:noFill/>
          <a:ln/>
        </p:spPr>
        <p:txBody>
          <a:bodyPr wrap="square" lIns="0" tIns="0" rIns="0" bIns="0" rtlCol="0" anchor="ctr"/>
          <a:lstStyle/>
          <a:p>
            <a:pPr marL="0" indent="0">
              <a:buNone/>
            </a:pPr>
            <a:r>
              <a:rPr lang="en-US" sz="3800">
                <a:solidFill>
                  <a:srgbClr val="FFFFFF"/>
                </a:solidFill>
                <a:latin typeface="Georgia" pitchFamily="34" charset="0"/>
                <a:ea typeface="Georgia" pitchFamily="34" charset="-122"/>
                <a:cs typeface="Georgia" pitchFamily="34" charset="-120"/>
              </a:rPr>
              <a:t>Planning Assumptions &amp; Strategies</a:t>
            </a:r>
            <a:endParaRPr lang="en-US" sz="3800"/>
          </a:p>
        </p:txBody>
      </p:sp>
      <p:sp>
        <p:nvSpPr>
          <p:cNvPr id="9" name="Shape 6"/>
          <p:cNvSpPr/>
          <p:nvPr/>
        </p:nvSpPr>
        <p:spPr>
          <a:xfrm>
            <a:off x="822960" y="3794760"/>
            <a:ext cx="1005840" cy="27432"/>
          </a:xfrm>
          <a:prstGeom prst="rect">
            <a:avLst/>
          </a:prstGeom>
          <a:solidFill>
            <a:srgbClr val="C9A84C"/>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CURRENT PLAN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Assumptions in Plan</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828800"/>
            <a:ext cx="3566160" cy="2011680"/>
          </a:xfrm>
          <a:prstGeom prst="rect">
            <a:avLst/>
          </a:prstGeom>
          <a:solidFill>
            <a:srgbClr val="FAF7F2"/>
          </a:solidFill>
          <a:ln w="9525">
            <a:solidFill>
              <a:srgbClr val="E4DFD3"/>
            </a:solidFill>
            <a:prstDash val="solid"/>
          </a:ln>
        </p:spPr>
        <p:txBody>
          <a:bodyPr/>
          <a:lstStyle/>
          <a:p>
            <a:endParaRPr lang="en-US"/>
          </a:p>
        </p:txBody>
      </p:sp>
      <p:sp>
        <p:nvSpPr>
          <p:cNvPr id="11" name="Text 8"/>
          <p:cNvSpPr/>
          <p:nvPr/>
        </p:nvSpPr>
        <p:spPr>
          <a:xfrm>
            <a:off x="822960" y="2057400"/>
            <a:ext cx="301752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CASH GROWTH</a:t>
            </a:r>
            <a:endParaRPr lang="en-US" sz="900"/>
          </a:p>
        </p:txBody>
      </p:sp>
      <p:sp>
        <p:nvSpPr>
          <p:cNvPr id="12" name="Text 9"/>
          <p:cNvSpPr/>
          <p:nvPr/>
        </p:nvSpPr>
        <p:spPr>
          <a:xfrm>
            <a:off x="822960" y="2514600"/>
            <a:ext cx="3017520" cy="914400"/>
          </a:xfrm>
          <a:prstGeom prst="rect">
            <a:avLst/>
          </a:prstGeom>
          <a:noFill/>
          <a:ln/>
        </p:spPr>
        <p:txBody>
          <a:bodyPr wrap="square" lIns="0" tIns="0" rIns="0" bIns="0" rtlCol="0" anchor="ctr"/>
          <a:lstStyle/>
          <a:p>
            <a:pPr marL="0" indent="0">
              <a:buNone/>
            </a:pPr>
            <a:r>
              <a:rPr lang="en-US" sz="4400">
                <a:solidFill>
                  <a:srgbClr val="171738"/>
                </a:solidFill>
                <a:latin typeface="Georgia" pitchFamily="34" charset="0"/>
                <a:ea typeface="Georgia" pitchFamily="34" charset="-122"/>
                <a:cs typeface="Georgia" pitchFamily="34" charset="-120"/>
              </a:rPr>
              <a:t>0%</a:t>
            </a:r>
            <a:endParaRPr lang="en-US" sz="4400"/>
          </a:p>
        </p:txBody>
      </p:sp>
      <p:sp>
        <p:nvSpPr>
          <p:cNvPr id="13" name="Shape 10"/>
          <p:cNvSpPr/>
          <p:nvPr/>
        </p:nvSpPr>
        <p:spPr>
          <a:xfrm>
            <a:off x="4389120" y="1828800"/>
            <a:ext cx="3566160" cy="2011680"/>
          </a:xfrm>
          <a:prstGeom prst="rect">
            <a:avLst/>
          </a:prstGeom>
          <a:solidFill>
            <a:srgbClr val="FAF7F2"/>
          </a:solidFill>
          <a:ln w="9525">
            <a:solidFill>
              <a:srgbClr val="E4DFD3"/>
            </a:solidFill>
            <a:prstDash val="solid"/>
          </a:ln>
        </p:spPr>
        <p:txBody>
          <a:bodyPr/>
          <a:lstStyle/>
          <a:p>
            <a:endParaRPr lang="en-US"/>
          </a:p>
        </p:txBody>
      </p:sp>
      <p:sp>
        <p:nvSpPr>
          <p:cNvPr id="14" name="Text 11"/>
          <p:cNvSpPr/>
          <p:nvPr/>
        </p:nvSpPr>
        <p:spPr>
          <a:xfrm>
            <a:off x="4663440" y="2057400"/>
            <a:ext cx="301752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INVESTMENT GROWTH</a:t>
            </a:r>
            <a:endParaRPr lang="en-US" sz="900"/>
          </a:p>
        </p:txBody>
      </p:sp>
      <p:sp>
        <p:nvSpPr>
          <p:cNvPr id="15" name="Text 12"/>
          <p:cNvSpPr/>
          <p:nvPr/>
        </p:nvSpPr>
        <p:spPr>
          <a:xfrm>
            <a:off x="4663440" y="2514600"/>
            <a:ext cx="3017520" cy="914400"/>
          </a:xfrm>
          <a:prstGeom prst="rect">
            <a:avLst/>
          </a:prstGeom>
          <a:noFill/>
          <a:ln/>
        </p:spPr>
        <p:txBody>
          <a:bodyPr wrap="square" lIns="0" tIns="0" rIns="0" bIns="0" rtlCol="0" anchor="ctr"/>
          <a:lstStyle/>
          <a:p>
            <a:pPr marL="0" indent="0">
              <a:buNone/>
            </a:pPr>
            <a:r>
              <a:rPr lang="en-US" sz="4400">
                <a:solidFill>
                  <a:srgbClr val="171738"/>
                </a:solidFill>
                <a:latin typeface="Georgia" pitchFamily="34" charset="0"/>
                <a:ea typeface="Georgia" pitchFamily="34" charset="-122"/>
                <a:cs typeface="Georgia" pitchFamily="34" charset="-120"/>
              </a:rPr>
              <a:t>6.62%</a:t>
            </a:r>
            <a:endParaRPr lang="en-US" sz="4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CURRENT PLAN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Pension and Social Security</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600200"/>
            <a:ext cx="10972800" cy="457200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Pension Benefits optimization: modeled 100% Participant Spouse on Pension 1 and 50% Participant Spouse on Pension 2.</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Social Security optimization: Both of you begin at age 63.</a:t>
            </a:r>
            <a:endParaRPr 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CURRENT PLAN ANALYSIS</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Potential Strategies Analyzed</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600200"/>
            <a:ext cx="10972800" cy="457200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Pension Benefits optimization: analysis of options.</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Social Security optimization: early benefit vs. waiting until full retirement age vs. delaying to age 70.</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Investing full $956,000 of IRA Rollover into Paradiem Dividend Strategy [Base Plan].</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Applying $300,000 of your IRA Rollover towards a Long Term Care optimized annuity [LTC Annuity].</a:t>
            </a:r>
            <a:endParaRPr lang="en-US"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BASE PLAN</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5-Year 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2660752" y="1554480"/>
            <a:ext cx="6840016" cy="4800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BASE PLAN</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5 Year Cash Needs</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91640"/>
            <a:ext cx="2788920" cy="1371600"/>
          </a:xfrm>
          <a:prstGeom prst="rect">
            <a:avLst/>
          </a:prstGeom>
          <a:solidFill>
            <a:srgbClr val="171738"/>
          </a:solidFill>
          <a:ln/>
        </p:spPr>
        <p:txBody>
          <a:bodyPr/>
          <a:lstStyle/>
          <a:p>
            <a:endParaRPr lang="en-US"/>
          </a:p>
        </p:txBody>
      </p:sp>
      <p:sp>
        <p:nvSpPr>
          <p:cNvPr id="11" name="Text 8"/>
          <p:cNvSpPr/>
          <p:nvPr/>
        </p:nvSpPr>
        <p:spPr>
          <a:xfrm>
            <a:off x="777240" y="1828800"/>
            <a:ext cx="2468880" cy="274320"/>
          </a:xfrm>
          <a:prstGeom prst="rect">
            <a:avLst/>
          </a:prstGeom>
          <a:noFill/>
          <a:ln/>
        </p:spPr>
        <p:txBody>
          <a:bodyPr wrap="square" lIns="0" tIns="0" rIns="0" bIns="0" rtlCol="0" anchor="ctr"/>
          <a:lstStyle/>
          <a:p>
            <a:pPr marL="0" indent="0">
              <a:buNone/>
            </a:pPr>
            <a:r>
              <a:rPr lang="en-US" sz="850" b="1" kern="0" spc="300">
                <a:solidFill>
                  <a:srgbClr val="C9A84C"/>
                </a:solidFill>
                <a:latin typeface="Calibri" pitchFamily="34" charset="0"/>
                <a:ea typeface="Calibri" pitchFamily="34" charset="-122"/>
                <a:cs typeface="Calibri" pitchFamily="34" charset="-120"/>
              </a:rPr>
              <a:t>UPCOMING CASH NEED</a:t>
            </a:r>
            <a:endParaRPr lang="en-US" sz="850"/>
          </a:p>
        </p:txBody>
      </p:sp>
      <p:sp>
        <p:nvSpPr>
          <p:cNvPr id="12" name="Text 9"/>
          <p:cNvSpPr/>
          <p:nvPr/>
        </p:nvSpPr>
        <p:spPr>
          <a:xfrm>
            <a:off x="777240" y="2194560"/>
            <a:ext cx="2468880" cy="685800"/>
          </a:xfrm>
          <a:prstGeom prst="rect">
            <a:avLst/>
          </a:prstGeom>
          <a:noFill/>
          <a:ln/>
        </p:spPr>
        <p:txBody>
          <a:bodyPr wrap="square" lIns="0" tIns="0" rIns="0" bIns="0" rtlCol="0" anchor="ctr"/>
          <a:lstStyle/>
          <a:p>
            <a:pPr marL="0" indent="0">
              <a:buNone/>
            </a:pPr>
            <a:r>
              <a:rPr lang="en-US" sz="3400">
                <a:solidFill>
                  <a:srgbClr val="FFFFFF"/>
                </a:solidFill>
                <a:latin typeface="Georgia" pitchFamily="34" charset="0"/>
                <a:ea typeface="Georgia" pitchFamily="34" charset="-122"/>
                <a:cs typeface="Georgia" pitchFamily="34" charset="-120"/>
              </a:rPr>
              <a:t>$25K</a:t>
            </a:r>
            <a:endParaRPr lang="en-US" sz="3400"/>
          </a:p>
        </p:txBody>
      </p:sp>
      <p:sp>
        <p:nvSpPr>
          <p:cNvPr id="13" name="Shape 10"/>
          <p:cNvSpPr/>
          <p:nvPr/>
        </p:nvSpPr>
        <p:spPr>
          <a:xfrm>
            <a:off x="3566160" y="1691640"/>
            <a:ext cx="2788920" cy="1371600"/>
          </a:xfrm>
          <a:prstGeom prst="rect">
            <a:avLst/>
          </a:prstGeom>
          <a:solidFill>
            <a:srgbClr val="171738"/>
          </a:solidFill>
          <a:ln/>
        </p:spPr>
        <p:txBody>
          <a:bodyPr/>
          <a:lstStyle/>
          <a:p>
            <a:endParaRPr lang="en-US"/>
          </a:p>
        </p:txBody>
      </p:sp>
      <p:sp>
        <p:nvSpPr>
          <p:cNvPr id="14" name="Text 11"/>
          <p:cNvSpPr/>
          <p:nvPr/>
        </p:nvSpPr>
        <p:spPr>
          <a:xfrm>
            <a:off x="3794760" y="1828800"/>
            <a:ext cx="2468880" cy="274320"/>
          </a:xfrm>
          <a:prstGeom prst="rect">
            <a:avLst/>
          </a:prstGeom>
          <a:noFill/>
          <a:ln/>
        </p:spPr>
        <p:txBody>
          <a:bodyPr wrap="square" lIns="0" tIns="0" rIns="0" bIns="0" rtlCol="0" anchor="ctr"/>
          <a:lstStyle/>
          <a:p>
            <a:pPr marL="0" indent="0">
              <a:buNone/>
            </a:pPr>
            <a:r>
              <a:rPr lang="en-US" sz="850" b="1" kern="0" spc="300">
                <a:solidFill>
                  <a:srgbClr val="C9A84C"/>
                </a:solidFill>
                <a:latin typeface="Calibri" pitchFamily="34" charset="0"/>
                <a:ea typeface="Calibri" pitchFamily="34" charset="-122"/>
                <a:cs typeface="Calibri" pitchFamily="34" charset="-120"/>
              </a:rPr>
              <a:t>YEAR 1 CASH ON HAND</a:t>
            </a:r>
            <a:endParaRPr lang="en-US" sz="850"/>
          </a:p>
        </p:txBody>
      </p:sp>
      <p:sp>
        <p:nvSpPr>
          <p:cNvPr id="15" name="Text 12"/>
          <p:cNvSpPr/>
          <p:nvPr/>
        </p:nvSpPr>
        <p:spPr>
          <a:xfrm>
            <a:off x="3794760" y="2194560"/>
            <a:ext cx="2468880" cy="685800"/>
          </a:xfrm>
          <a:prstGeom prst="rect">
            <a:avLst/>
          </a:prstGeom>
          <a:noFill/>
          <a:ln/>
        </p:spPr>
        <p:txBody>
          <a:bodyPr wrap="square" lIns="0" tIns="0" rIns="0" bIns="0" rtlCol="0" anchor="ctr"/>
          <a:lstStyle/>
          <a:p>
            <a:pPr marL="0" indent="0">
              <a:buNone/>
            </a:pPr>
            <a:r>
              <a:rPr lang="en-US" sz="3400">
                <a:solidFill>
                  <a:srgbClr val="FFFFFF"/>
                </a:solidFill>
                <a:latin typeface="Georgia" pitchFamily="34" charset="0"/>
                <a:ea typeface="Georgia" pitchFamily="34" charset="-122"/>
                <a:cs typeface="Georgia" pitchFamily="34" charset="-120"/>
              </a:rPr>
              <a:t>$34K</a:t>
            </a:r>
            <a:endParaRPr lang="en-US" sz="3400"/>
          </a:p>
        </p:txBody>
      </p:sp>
      <p:sp>
        <p:nvSpPr>
          <p:cNvPr id="16" name="Shape 13"/>
          <p:cNvSpPr/>
          <p:nvPr/>
        </p:nvSpPr>
        <p:spPr>
          <a:xfrm>
            <a:off x="548640"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17" name="Shape 14"/>
          <p:cNvSpPr/>
          <p:nvPr/>
        </p:nvSpPr>
        <p:spPr>
          <a:xfrm>
            <a:off x="548640" y="3474720"/>
            <a:ext cx="2606040" cy="54864"/>
          </a:xfrm>
          <a:prstGeom prst="rect">
            <a:avLst/>
          </a:prstGeom>
          <a:solidFill>
            <a:srgbClr val="C9A84C"/>
          </a:solidFill>
          <a:ln/>
        </p:spPr>
        <p:txBody>
          <a:bodyPr/>
          <a:lstStyle/>
          <a:p>
            <a:endParaRPr lang="en-US"/>
          </a:p>
        </p:txBody>
      </p:sp>
      <p:sp>
        <p:nvSpPr>
          <p:cNvPr id="18" name="Text 15"/>
          <p:cNvSpPr/>
          <p:nvPr/>
        </p:nvSpPr>
        <p:spPr>
          <a:xfrm>
            <a:off x="777240"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2</a:t>
            </a:r>
            <a:endParaRPr lang="en-US" sz="900"/>
          </a:p>
        </p:txBody>
      </p:sp>
      <p:sp>
        <p:nvSpPr>
          <p:cNvPr id="19" name="Text 16"/>
          <p:cNvSpPr/>
          <p:nvPr/>
        </p:nvSpPr>
        <p:spPr>
          <a:xfrm>
            <a:off x="777240"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2027</a:t>
            </a:r>
            <a:endParaRPr lang="en-US" sz="1200"/>
          </a:p>
        </p:txBody>
      </p:sp>
      <p:sp>
        <p:nvSpPr>
          <p:cNvPr id="20" name="Text 17"/>
          <p:cNvSpPr/>
          <p:nvPr/>
        </p:nvSpPr>
        <p:spPr>
          <a:xfrm>
            <a:off x="777240"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$45K</a:t>
            </a:r>
            <a:endParaRPr lang="en-US" sz="3600"/>
          </a:p>
        </p:txBody>
      </p:sp>
      <p:sp>
        <p:nvSpPr>
          <p:cNvPr id="21" name="Shape 18"/>
          <p:cNvSpPr/>
          <p:nvPr/>
        </p:nvSpPr>
        <p:spPr>
          <a:xfrm>
            <a:off x="3364992"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22" name="Shape 19"/>
          <p:cNvSpPr/>
          <p:nvPr/>
        </p:nvSpPr>
        <p:spPr>
          <a:xfrm>
            <a:off x="3364992" y="3474720"/>
            <a:ext cx="2606040" cy="54864"/>
          </a:xfrm>
          <a:prstGeom prst="rect">
            <a:avLst/>
          </a:prstGeom>
          <a:solidFill>
            <a:srgbClr val="C9A84C"/>
          </a:solidFill>
          <a:ln/>
        </p:spPr>
        <p:txBody>
          <a:bodyPr/>
          <a:lstStyle/>
          <a:p>
            <a:endParaRPr lang="en-US"/>
          </a:p>
        </p:txBody>
      </p:sp>
      <p:sp>
        <p:nvSpPr>
          <p:cNvPr id="23" name="Text 20"/>
          <p:cNvSpPr/>
          <p:nvPr/>
        </p:nvSpPr>
        <p:spPr>
          <a:xfrm>
            <a:off x="3593592"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3</a:t>
            </a:r>
            <a:endParaRPr lang="en-US" sz="900"/>
          </a:p>
        </p:txBody>
      </p:sp>
      <p:sp>
        <p:nvSpPr>
          <p:cNvPr id="24" name="Text 21"/>
          <p:cNvSpPr/>
          <p:nvPr/>
        </p:nvSpPr>
        <p:spPr>
          <a:xfrm>
            <a:off x="3593592"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2028</a:t>
            </a:r>
            <a:endParaRPr lang="en-US" sz="1200"/>
          </a:p>
        </p:txBody>
      </p:sp>
      <p:sp>
        <p:nvSpPr>
          <p:cNvPr id="25" name="Text 22"/>
          <p:cNvSpPr/>
          <p:nvPr/>
        </p:nvSpPr>
        <p:spPr>
          <a:xfrm>
            <a:off x="3593592"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$45K</a:t>
            </a:r>
            <a:endParaRPr lang="en-US" sz="3600"/>
          </a:p>
        </p:txBody>
      </p:sp>
      <p:sp>
        <p:nvSpPr>
          <p:cNvPr id="26" name="Shape 23"/>
          <p:cNvSpPr/>
          <p:nvPr/>
        </p:nvSpPr>
        <p:spPr>
          <a:xfrm>
            <a:off x="6181344"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27" name="Shape 24"/>
          <p:cNvSpPr/>
          <p:nvPr/>
        </p:nvSpPr>
        <p:spPr>
          <a:xfrm>
            <a:off x="6181344" y="3474720"/>
            <a:ext cx="2606040" cy="54864"/>
          </a:xfrm>
          <a:prstGeom prst="rect">
            <a:avLst/>
          </a:prstGeom>
          <a:solidFill>
            <a:srgbClr val="C9A84C"/>
          </a:solidFill>
          <a:ln/>
        </p:spPr>
        <p:txBody>
          <a:bodyPr/>
          <a:lstStyle/>
          <a:p>
            <a:endParaRPr lang="en-US"/>
          </a:p>
        </p:txBody>
      </p:sp>
      <p:sp>
        <p:nvSpPr>
          <p:cNvPr id="28" name="Text 25"/>
          <p:cNvSpPr/>
          <p:nvPr/>
        </p:nvSpPr>
        <p:spPr>
          <a:xfrm>
            <a:off x="6409944"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4</a:t>
            </a:r>
            <a:endParaRPr lang="en-US" sz="900"/>
          </a:p>
        </p:txBody>
      </p:sp>
      <p:sp>
        <p:nvSpPr>
          <p:cNvPr id="29" name="Text 26"/>
          <p:cNvSpPr/>
          <p:nvPr/>
        </p:nvSpPr>
        <p:spPr>
          <a:xfrm>
            <a:off x="6409944"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2029</a:t>
            </a:r>
            <a:endParaRPr lang="en-US" sz="1200"/>
          </a:p>
        </p:txBody>
      </p:sp>
      <p:sp>
        <p:nvSpPr>
          <p:cNvPr id="30" name="Text 27"/>
          <p:cNvSpPr/>
          <p:nvPr/>
        </p:nvSpPr>
        <p:spPr>
          <a:xfrm>
            <a:off x="6409944"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$45K</a:t>
            </a:r>
            <a:endParaRPr lang="en-US" sz="3600"/>
          </a:p>
        </p:txBody>
      </p:sp>
      <p:sp>
        <p:nvSpPr>
          <p:cNvPr id="31" name="Shape 28"/>
          <p:cNvSpPr/>
          <p:nvPr/>
        </p:nvSpPr>
        <p:spPr>
          <a:xfrm>
            <a:off x="8997696"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32" name="Shape 29"/>
          <p:cNvSpPr/>
          <p:nvPr/>
        </p:nvSpPr>
        <p:spPr>
          <a:xfrm>
            <a:off x="8997696" y="3474720"/>
            <a:ext cx="2606040" cy="54864"/>
          </a:xfrm>
          <a:prstGeom prst="rect">
            <a:avLst/>
          </a:prstGeom>
          <a:solidFill>
            <a:srgbClr val="C9A84C"/>
          </a:solidFill>
          <a:ln/>
        </p:spPr>
        <p:txBody>
          <a:bodyPr/>
          <a:lstStyle/>
          <a:p>
            <a:endParaRPr lang="en-US"/>
          </a:p>
        </p:txBody>
      </p:sp>
      <p:sp>
        <p:nvSpPr>
          <p:cNvPr id="33" name="Text 30"/>
          <p:cNvSpPr/>
          <p:nvPr/>
        </p:nvSpPr>
        <p:spPr>
          <a:xfrm>
            <a:off x="9226296"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5</a:t>
            </a:r>
            <a:endParaRPr lang="en-US" sz="900"/>
          </a:p>
        </p:txBody>
      </p:sp>
      <p:sp>
        <p:nvSpPr>
          <p:cNvPr id="34" name="Text 31"/>
          <p:cNvSpPr/>
          <p:nvPr/>
        </p:nvSpPr>
        <p:spPr>
          <a:xfrm>
            <a:off x="9226296"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2030</a:t>
            </a:r>
            <a:endParaRPr lang="en-US" sz="1200"/>
          </a:p>
        </p:txBody>
      </p:sp>
      <p:sp>
        <p:nvSpPr>
          <p:cNvPr id="35" name="Text 32"/>
          <p:cNvSpPr/>
          <p:nvPr/>
        </p:nvSpPr>
        <p:spPr>
          <a:xfrm>
            <a:off x="9226296"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$47K</a:t>
            </a:r>
            <a:endParaRPr lang="en-US" sz="3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4"/>
          <p:cNvSpPr/>
          <p:nvPr/>
        </p:nvSpPr>
        <p:spPr>
          <a:xfrm>
            <a:off x="609600" y="548640"/>
            <a:ext cx="6096000" cy="1463040"/>
          </a:xfrm>
          <a:prstGeom prst="rect">
            <a:avLst/>
          </a:prstGeom>
          <a:noFill/>
          <a:ln/>
        </p:spPr>
        <p:txBody>
          <a:bodyPr wrap="square" rtlCol="0" anchor="ctr"/>
          <a:lstStyle/>
          <a:p>
            <a:pPr defTabSz="1219170">
              <a:defRPr/>
            </a:pPr>
            <a:r>
              <a:rPr lang="en-US" sz="3733">
                <a:solidFill>
                  <a:srgbClr val="1C1D32"/>
                </a:solidFill>
                <a:latin typeface="Georgia" pitchFamily="34" charset="0"/>
                <a:ea typeface="Georgia" pitchFamily="34" charset="-122"/>
                <a:cs typeface="Georgia" pitchFamily="34" charset="-120"/>
              </a:rPr>
              <a:t>5 Year Cash Needs</a:t>
            </a:r>
            <a:endParaRPr lang="en-US" sz="3733">
              <a:solidFill>
                <a:prstClr val="black"/>
              </a:solidFill>
              <a:latin typeface="Calibri" panose="020F0502020204030204"/>
            </a:endParaRPr>
          </a:p>
        </p:txBody>
      </p:sp>
      <p:sp>
        <p:nvSpPr>
          <p:cNvPr id="8" name="Shape 5"/>
          <p:cNvSpPr/>
          <p:nvPr/>
        </p:nvSpPr>
        <p:spPr>
          <a:xfrm>
            <a:off x="609600" y="1767841"/>
            <a:ext cx="1706880" cy="34137"/>
          </a:xfrm>
          <a:prstGeom prst="rect">
            <a:avLst/>
          </a:prstGeom>
          <a:solidFill>
            <a:srgbClr val="B2A26F"/>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9" name="Text 6"/>
          <p:cNvSpPr/>
          <p:nvPr/>
        </p:nvSpPr>
        <p:spPr>
          <a:xfrm>
            <a:off x="6339840" y="633984"/>
            <a:ext cx="5486400" cy="438912"/>
          </a:xfrm>
          <a:prstGeom prst="rect">
            <a:avLst/>
          </a:prstGeom>
          <a:noFill/>
          <a:ln/>
        </p:spPr>
        <p:txBody>
          <a:bodyPr wrap="square" rtlCol="0" anchor="ctr"/>
          <a:lstStyle/>
          <a:p>
            <a:pPr defTabSz="1219170">
              <a:defRPr/>
            </a:pPr>
            <a:r>
              <a:rPr lang="en-US" sz="1733">
                <a:solidFill>
                  <a:srgbClr val="8C8C8C"/>
                </a:solidFill>
                <a:latin typeface="Calibri" pitchFamily="34" charset="0"/>
                <a:ea typeface="Calibri" pitchFamily="34" charset="-122"/>
                <a:cs typeface="Calibri" pitchFamily="34" charset="-120"/>
              </a:rPr>
              <a:t>Retirement Cash Need: </a:t>
            </a:r>
            <a:r>
              <a:rPr lang="en-US" sz="1733" b="1">
                <a:solidFill>
                  <a:srgbClr val="1C1D32"/>
                </a:solidFill>
                <a:highlight>
                  <a:srgbClr val="808080"/>
                </a:highlight>
                <a:latin typeface="Calibri" pitchFamily="34" charset="0"/>
                <a:ea typeface="Calibri" pitchFamily="34" charset="-122"/>
                <a:cs typeface="Calibri" pitchFamily="34" charset="-120"/>
              </a:rPr>
              <a:t>$25K</a:t>
            </a:r>
            <a:endParaRPr lang="en-US" sz="1733">
              <a:solidFill>
                <a:prstClr val="black"/>
              </a:solidFill>
              <a:highlight>
                <a:srgbClr val="808080"/>
              </a:highlight>
              <a:latin typeface="Calibri" panose="020F0502020204030204"/>
            </a:endParaRPr>
          </a:p>
        </p:txBody>
      </p:sp>
      <p:sp>
        <p:nvSpPr>
          <p:cNvPr id="10" name="Text 7"/>
          <p:cNvSpPr/>
          <p:nvPr/>
        </p:nvSpPr>
        <p:spPr>
          <a:xfrm>
            <a:off x="6339840" y="1121664"/>
            <a:ext cx="5486400" cy="438912"/>
          </a:xfrm>
          <a:prstGeom prst="rect">
            <a:avLst/>
          </a:prstGeom>
          <a:noFill/>
          <a:ln/>
        </p:spPr>
        <p:txBody>
          <a:bodyPr wrap="square" rtlCol="0" anchor="ctr"/>
          <a:lstStyle/>
          <a:p>
            <a:pPr defTabSz="1219170">
              <a:defRPr/>
            </a:pPr>
            <a:r>
              <a:rPr lang="en-US" sz="1733">
                <a:solidFill>
                  <a:srgbClr val="8C8C8C"/>
                </a:solidFill>
                <a:latin typeface="Calibri" pitchFamily="34" charset="0"/>
                <a:ea typeface="Calibri" pitchFamily="34" charset="-122"/>
                <a:cs typeface="Calibri" pitchFamily="34" charset="-120"/>
              </a:rPr>
              <a:t>Year 1 Cash on Hand: </a:t>
            </a:r>
            <a:r>
              <a:rPr lang="en-US" sz="1733" b="1">
                <a:solidFill>
                  <a:srgbClr val="1C1D32"/>
                </a:solidFill>
                <a:latin typeface="Calibri" pitchFamily="34" charset="0"/>
                <a:ea typeface="Calibri" pitchFamily="34" charset="-122"/>
                <a:cs typeface="Calibri" pitchFamily="34" charset="-120"/>
              </a:rPr>
              <a:t>$34K</a:t>
            </a:r>
            <a:endParaRPr lang="en-US" sz="1733">
              <a:solidFill>
                <a:prstClr val="black"/>
              </a:solidFill>
              <a:latin typeface="Calibri" panose="020F0502020204030204"/>
            </a:endParaRPr>
          </a:p>
        </p:txBody>
      </p:sp>
      <p:sp>
        <p:nvSpPr>
          <p:cNvPr id="11" name="Shape 8"/>
          <p:cNvSpPr/>
          <p:nvPr/>
        </p:nvSpPr>
        <p:spPr>
          <a:xfrm>
            <a:off x="609600" y="2127504"/>
            <a:ext cx="2682240" cy="3968496"/>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12" name="Shape 9"/>
          <p:cNvSpPr/>
          <p:nvPr/>
        </p:nvSpPr>
        <p:spPr>
          <a:xfrm>
            <a:off x="609600" y="2139696"/>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13" name="Text 10"/>
          <p:cNvSpPr/>
          <p:nvPr/>
        </p:nvSpPr>
        <p:spPr>
          <a:xfrm>
            <a:off x="609600"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$45K</a:t>
            </a:r>
            <a:endParaRPr lang="en-US" sz="3200">
              <a:solidFill>
                <a:srgbClr val="1B1836"/>
              </a:solidFill>
              <a:latin typeface="Calibri" panose="020F0502020204030204"/>
            </a:endParaRPr>
          </a:p>
        </p:txBody>
      </p:sp>
      <p:sp>
        <p:nvSpPr>
          <p:cNvPr id="14" name="Shape 11"/>
          <p:cNvSpPr/>
          <p:nvPr/>
        </p:nvSpPr>
        <p:spPr>
          <a:xfrm>
            <a:off x="1365504"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15" name="Text 12"/>
          <p:cNvSpPr/>
          <p:nvPr/>
        </p:nvSpPr>
        <p:spPr>
          <a:xfrm>
            <a:off x="609600"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2</a:t>
            </a:r>
            <a:endParaRPr lang="en-US" sz="1600">
              <a:solidFill>
                <a:prstClr val="black"/>
              </a:solidFill>
              <a:latin typeface="Calibri" panose="020F0502020204030204"/>
            </a:endParaRPr>
          </a:p>
        </p:txBody>
      </p:sp>
      <p:sp>
        <p:nvSpPr>
          <p:cNvPr id="16" name="Text 13"/>
          <p:cNvSpPr/>
          <p:nvPr/>
        </p:nvSpPr>
        <p:spPr>
          <a:xfrm>
            <a:off x="609600"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2027</a:t>
            </a:r>
            <a:endParaRPr lang="en-US" sz="1867">
              <a:solidFill>
                <a:srgbClr val="C9A84C"/>
              </a:solidFill>
              <a:latin typeface="Calibri" panose="020F0502020204030204"/>
            </a:endParaRPr>
          </a:p>
        </p:txBody>
      </p:sp>
      <p:sp>
        <p:nvSpPr>
          <p:cNvPr id="17" name="Shape 14"/>
          <p:cNvSpPr/>
          <p:nvPr/>
        </p:nvSpPr>
        <p:spPr>
          <a:xfrm>
            <a:off x="3511296" y="2029968"/>
            <a:ext cx="2682240" cy="4066032"/>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18" name="Shape 15"/>
          <p:cNvSpPr/>
          <p:nvPr/>
        </p:nvSpPr>
        <p:spPr>
          <a:xfrm>
            <a:off x="3511296" y="2029968"/>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19" name="Text 16"/>
          <p:cNvSpPr/>
          <p:nvPr/>
        </p:nvSpPr>
        <p:spPr>
          <a:xfrm>
            <a:off x="3511296"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$45K</a:t>
            </a:r>
            <a:endParaRPr lang="en-US" sz="3200">
              <a:solidFill>
                <a:srgbClr val="1B1836"/>
              </a:solidFill>
              <a:latin typeface="Calibri" panose="020F0502020204030204"/>
            </a:endParaRPr>
          </a:p>
        </p:txBody>
      </p:sp>
      <p:sp>
        <p:nvSpPr>
          <p:cNvPr id="20" name="Shape 17"/>
          <p:cNvSpPr/>
          <p:nvPr/>
        </p:nvSpPr>
        <p:spPr>
          <a:xfrm>
            <a:off x="4267200"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21" name="Text 18"/>
          <p:cNvSpPr/>
          <p:nvPr/>
        </p:nvSpPr>
        <p:spPr>
          <a:xfrm>
            <a:off x="3511296"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3</a:t>
            </a:r>
            <a:endParaRPr lang="en-US" sz="1600">
              <a:solidFill>
                <a:prstClr val="black"/>
              </a:solidFill>
              <a:latin typeface="Calibri" panose="020F0502020204030204"/>
            </a:endParaRPr>
          </a:p>
        </p:txBody>
      </p:sp>
      <p:sp>
        <p:nvSpPr>
          <p:cNvPr id="22" name="Text 19"/>
          <p:cNvSpPr/>
          <p:nvPr/>
        </p:nvSpPr>
        <p:spPr>
          <a:xfrm>
            <a:off x="3511296"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2028</a:t>
            </a:r>
            <a:endParaRPr lang="en-US" sz="1867">
              <a:solidFill>
                <a:srgbClr val="C9A84C"/>
              </a:solidFill>
              <a:latin typeface="Calibri" panose="020F0502020204030204"/>
            </a:endParaRPr>
          </a:p>
        </p:txBody>
      </p:sp>
      <p:sp>
        <p:nvSpPr>
          <p:cNvPr id="23" name="Shape 20"/>
          <p:cNvSpPr/>
          <p:nvPr/>
        </p:nvSpPr>
        <p:spPr>
          <a:xfrm>
            <a:off x="6412992" y="1975104"/>
            <a:ext cx="2682240" cy="4120896"/>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24" name="Shape 21"/>
          <p:cNvSpPr/>
          <p:nvPr/>
        </p:nvSpPr>
        <p:spPr>
          <a:xfrm>
            <a:off x="6412992" y="1975104"/>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25" name="Text 22"/>
          <p:cNvSpPr/>
          <p:nvPr/>
        </p:nvSpPr>
        <p:spPr>
          <a:xfrm>
            <a:off x="6412992"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$45K</a:t>
            </a:r>
            <a:endParaRPr lang="en-US" sz="3200">
              <a:solidFill>
                <a:srgbClr val="1B1836"/>
              </a:solidFill>
              <a:latin typeface="Calibri" panose="020F0502020204030204"/>
            </a:endParaRPr>
          </a:p>
        </p:txBody>
      </p:sp>
      <p:sp>
        <p:nvSpPr>
          <p:cNvPr id="26" name="Shape 23"/>
          <p:cNvSpPr/>
          <p:nvPr/>
        </p:nvSpPr>
        <p:spPr>
          <a:xfrm>
            <a:off x="7168896"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27" name="Text 24"/>
          <p:cNvSpPr/>
          <p:nvPr/>
        </p:nvSpPr>
        <p:spPr>
          <a:xfrm>
            <a:off x="6412992"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4</a:t>
            </a:r>
            <a:endParaRPr lang="en-US" sz="1600">
              <a:solidFill>
                <a:prstClr val="black"/>
              </a:solidFill>
              <a:latin typeface="Calibri" panose="020F0502020204030204"/>
            </a:endParaRPr>
          </a:p>
        </p:txBody>
      </p:sp>
      <p:sp>
        <p:nvSpPr>
          <p:cNvPr id="28" name="Text 25"/>
          <p:cNvSpPr/>
          <p:nvPr/>
        </p:nvSpPr>
        <p:spPr>
          <a:xfrm>
            <a:off x="6412992"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2029</a:t>
            </a:r>
            <a:endParaRPr lang="en-US" sz="1867">
              <a:solidFill>
                <a:srgbClr val="C9A84C"/>
              </a:solidFill>
              <a:latin typeface="Calibri" panose="020F0502020204030204"/>
            </a:endParaRPr>
          </a:p>
        </p:txBody>
      </p:sp>
      <p:sp>
        <p:nvSpPr>
          <p:cNvPr id="29" name="Shape 26"/>
          <p:cNvSpPr/>
          <p:nvPr/>
        </p:nvSpPr>
        <p:spPr>
          <a:xfrm>
            <a:off x="9314688" y="1874293"/>
            <a:ext cx="2682240" cy="4221708"/>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30" name="Shape 27"/>
          <p:cNvSpPr/>
          <p:nvPr/>
        </p:nvSpPr>
        <p:spPr>
          <a:xfrm>
            <a:off x="9314688" y="1884119"/>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31" name="Text 28"/>
          <p:cNvSpPr/>
          <p:nvPr/>
        </p:nvSpPr>
        <p:spPr>
          <a:xfrm>
            <a:off x="9314688"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$47K</a:t>
            </a:r>
            <a:endParaRPr lang="en-US" sz="3200">
              <a:solidFill>
                <a:srgbClr val="1B1836"/>
              </a:solidFill>
              <a:latin typeface="Calibri" panose="020F0502020204030204"/>
            </a:endParaRPr>
          </a:p>
        </p:txBody>
      </p:sp>
      <p:sp>
        <p:nvSpPr>
          <p:cNvPr id="32" name="Shape 29"/>
          <p:cNvSpPr/>
          <p:nvPr/>
        </p:nvSpPr>
        <p:spPr>
          <a:xfrm>
            <a:off x="10070592"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33" name="Text 30"/>
          <p:cNvSpPr/>
          <p:nvPr/>
        </p:nvSpPr>
        <p:spPr>
          <a:xfrm>
            <a:off x="9314688"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5</a:t>
            </a:r>
            <a:endParaRPr lang="en-US" sz="1600">
              <a:solidFill>
                <a:prstClr val="black"/>
              </a:solidFill>
              <a:latin typeface="Calibri" panose="020F0502020204030204"/>
            </a:endParaRPr>
          </a:p>
        </p:txBody>
      </p:sp>
      <p:sp>
        <p:nvSpPr>
          <p:cNvPr id="34" name="Text 31"/>
          <p:cNvSpPr/>
          <p:nvPr/>
        </p:nvSpPr>
        <p:spPr>
          <a:xfrm>
            <a:off x="9314688"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2030</a:t>
            </a:r>
            <a:endParaRPr lang="en-US" sz="1867">
              <a:solidFill>
                <a:srgbClr val="C9A84C"/>
              </a:solidFill>
              <a:latin typeface="Calibri" panose="020F0502020204030204"/>
            </a:endParaRPr>
          </a:p>
        </p:txBody>
      </p:sp>
      <p:pic>
        <p:nvPicPr>
          <p:cNvPr id="3" name="Image 0" descr="preencoded.png">
            <a:extLst>
              <a:ext uri="{FF2B5EF4-FFF2-40B4-BE49-F238E27FC236}">
                <a16:creationId xmlns:a16="http://schemas.microsoft.com/office/drawing/2014/main" id="{D0EB68D9-0CF0-4C25-C607-652C792CAE3F}"/>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36" name="Text 4">
            <a:extLst>
              <a:ext uri="{FF2B5EF4-FFF2-40B4-BE49-F238E27FC236}">
                <a16:creationId xmlns:a16="http://schemas.microsoft.com/office/drawing/2014/main" id="{4D5C177C-A9FD-D8E1-A0E1-447C39CD5EFE}"/>
              </a:ext>
            </a:extLst>
          </p:cNvPr>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BASE PLAN</a:t>
            </a:r>
            <a:endParaRPr lang="en-US" sz="900"/>
          </a:p>
        </p:txBody>
      </p:sp>
      <p:sp>
        <p:nvSpPr>
          <p:cNvPr id="40" name="Shape 0">
            <a:extLst>
              <a:ext uri="{FF2B5EF4-FFF2-40B4-BE49-F238E27FC236}">
                <a16:creationId xmlns:a16="http://schemas.microsoft.com/office/drawing/2014/main" id="{2F584E0F-2442-4B7D-71E4-01AF21680770}"/>
              </a:ext>
            </a:extLst>
          </p:cNvPr>
          <p:cNvSpPr/>
          <p:nvPr/>
        </p:nvSpPr>
        <p:spPr>
          <a:xfrm>
            <a:off x="0" y="6547104"/>
            <a:ext cx="12191695" cy="310896"/>
          </a:xfrm>
          <a:prstGeom prst="rect">
            <a:avLst/>
          </a:prstGeom>
          <a:solidFill>
            <a:srgbClr val="F1EEE6"/>
          </a:solidFill>
          <a:ln/>
        </p:spPr>
        <p:txBody>
          <a:bodyPr/>
          <a:lstStyle/>
          <a:p>
            <a:endParaRPr lang="en-US"/>
          </a:p>
        </p:txBody>
      </p:sp>
      <p:sp>
        <p:nvSpPr>
          <p:cNvPr id="42" name="Text 1">
            <a:extLst>
              <a:ext uri="{FF2B5EF4-FFF2-40B4-BE49-F238E27FC236}">
                <a16:creationId xmlns:a16="http://schemas.microsoft.com/office/drawing/2014/main" id="{408CE97D-58C4-A3F9-00E2-BF8523216D65}"/>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4" name="Text 2">
            <a:extLst>
              <a:ext uri="{FF2B5EF4-FFF2-40B4-BE49-F238E27FC236}">
                <a16:creationId xmlns:a16="http://schemas.microsoft.com/office/drawing/2014/main" id="{B5AEA791-C6C5-637F-DE0D-A5CD2302F94A}"/>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46" name="Text 3">
            <a:extLst>
              <a:ext uri="{FF2B5EF4-FFF2-40B4-BE49-F238E27FC236}">
                <a16:creationId xmlns:a16="http://schemas.microsoft.com/office/drawing/2014/main" id="{BCD99C5C-2906-CA07-4206-C2DBC523A752}"/>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13629-F72A-8286-ACC7-F8002510BD3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DB0DEA-8C7D-618A-1EC1-652698C76EDB}"/>
              </a:ext>
            </a:extLst>
          </p:cNvPr>
          <p:cNvSpPr/>
          <p:nvPr/>
        </p:nvSpPr>
        <p:spPr>
          <a:xfrm>
            <a:off x="670560" y="268224"/>
            <a:ext cx="10972800" cy="268224"/>
          </a:xfrm>
          <a:prstGeom prst="rect">
            <a:avLst/>
          </a:prstGeom>
          <a:noFill/>
          <a:ln/>
        </p:spPr>
        <p:txBody>
          <a:bodyPr wrap="square" lIns="0" tIns="0" rIns="0" bIns="0" rtlCol="0" anchor="t"/>
          <a:lstStyle/>
          <a:p>
            <a:pPr defTabSz="1219170">
              <a:defRPr/>
            </a:pPr>
            <a:r>
              <a:rPr lang="en-US" sz="1467" kern="0" spc="400">
                <a:solidFill>
                  <a:srgbClr val="C9A84C"/>
                </a:solidFill>
                <a:latin typeface="Calibri"/>
                <a:ea typeface="Calibri"/>
                <a:cs typeface="Calibri"/>
              </a:rPr>
              <a:t>RESEARCH REVEALS OPPORTUNITY</a:t>
            </a:r>
            <a:endParaRPr lang="en-US" sz="1467">
              <a:solidFill>
                <a:prstClr val="black"/>
              </a:solidFill>
              <a:latin typeface="Calibri"/>
              <a:ea typeface="Calibri"/>
              <a:cs typeface="Calibri"/>
            </a:endParaRPr>
          </a:p>
        </p:txBody>
      </p:sp>
      <p:sp>
        <p:nvSpPr>
          <p:cNvPr id="3" name="Text 1">
            <a:extLst>
              <a:ext uri="{FF2B5EF4-FFF2-40B4-BE49-F238E27FC236}">
                <a16:creationId xmlns:a16="http://schemas.microsoft.com/office/drawing/2014/main" id="{7ADEC218-3AE1-4432-AFA9-3BC8A7B76347}"/>
              </a:ext>
            </a:extLst>
          </p:cNvPr>
          <p:cNvSpPr/>
          <p:nvPr/>
        </p:nvSpPr>
        <p:spPr>
          <a:xfrm>
            <a:off x="730091" y="585788"/>
            <a:ext cx="10972800" cy="914400"/>
          </a:xfrm>
          <a:prstGeom prst="rect">
            <a:avLst/>
          </a:prstGeom>
          <a:noFill/>
          <a:ln/>
        </p:spPr>
        <p:txBody>
          <a:bodyPr wrap="square" lIns="0" tIns="0" rIns="0" bIns="0" rtlCol="0" anchor="t"/>
          <a:lstStyle/>
          <a:p>
            <a:pPr defTabSz="1219170">
              <a:defRPr/>
            </a:pPr>
            <a:r>
              <a:rPr lang="en-US" sz="3467">
                <a:solidFill>
                  <a:srgbClr val="1A1E3A"/>
                </a:solidFill>
                <a:latin typeface="Georgia"/>
                <a:ea typeface="Georgia" pitchFamily="34" charset="-122"/>
                <a:cs typeface="Georgia" pitchFamily="34" charset="-120"/>
              </a:rPr>
              <a:t>Buy Option Cash Strategy in Down Markets</a:t>
            </a:r>
            <a:endParaRPr lang="en-US" sz="3467">
              <a:solidFill>
                <a:prstClr val="black"/>
              </a:solidFill>
              <a:latin typeface="Georgia"/>
            </a:endParaRPr>
          </a:p>
        </p:txBody>
      </p:sp>
      <p:sp>
        <p:nvSpPr>
          <p:cNvPr id="4" name="Shape 2">
            <a:extLst>
              <a:ext uri="{FF2B5EF4-FFF2-40B4-BE49-F238E27FC236}">
                <a16:creationId xmlns:a16="http://schemas.microsoft.com/office/drawing/2014/main" id="{79D09DC1-8859-9C02-DB3F-942F1AEF5E25}"/>
              </a:ext>
            </a:extLst>
          </p:cNvPr>
          <p:cNvSpPr/>
          <p:nvPr/>
        </p:nvSpPr>
        <p:spPr>
          <a:xfrm>
            <a:off x="670560" y="1560576"/>
            <a:ext cx="1463040" cy="0"/>
          </a:xfrm>
          <a:prstGeom prst="line">
            <a:avLst/>
          </a:prstGeom>
          <a:noFill/>
          <a:ln w="19050">
            <a:solidFill>
              <a:srgbClr val="C9A84C"/>
            </a:solidFill>
            <a:prstDash val="solid"/>
          </a:ln>
        </p:spPr>
        <p:txBody>
          <a:bodyPr/>
          <a:lstStyle/>
          <a:p>
            <a:pPr defTabSz="1219170">
              <a:defRPr/>
            </a:pPr>
            <a:endParaRPr lang="en-US" sz="2400">
              <a:solidFill>
                <a:prstClr val="black"/>
              </a:solidFill>
              <a:latin typeface="Calibri" panose="020F0502020204030204"/>
            </a:endParaRPr>
          </a:p>
        </p:txBody>
      </p:sp>
      <p:sp>
        <p:nvSpPr>
          <p:cNvPr id="5" name="Shape 3">
            <a:extLst>
              <a:ext uri="{FF2B5EF4-FFF2-40B4-BE49-F238E27FC236}">
                <a16:creationId xmlns:a16="http://schemas.microsoft.com/office/drawing/2014/main" id="{7CA5498B-3A53-3A82-F7CA-0784803B52A2}"/>
              </a:ext>
            </a:extLst>
          </p:cNvPr>
          <p:cNvSpPr/>
          <p:nvPr/>
        </p:nvSpPr>
        <p:spPr>
          <a:xfrm>
            <a:off x="806393" y="3368043"/>
            <a:ext cx="5120640" cy="804672"/>
          </a:xfrm>
          <a:prstGeom prst="rect">
            <a:avLst/>
          </a:prstGeom>
          <a:solidFill>
            <a:srgbClr val="1A1E3A"/>
          </a:solidFill>
          <a:ln w="6350">
            <a:solidFill>
              <a:srgbClr val="DDDCD8"/>
            </a:solidFill>
            <a:prstDash val="solid"/>
          </a:ln>
        </p:spPr>
        <p:txBody>
          <a:bodyPr/>
          <a:lstStyle/>
          <a:p>
            <a:pPr defTabSz="1219170">
              <a:defRPr/>
            </a:pPr>
            <a:endParaRPr lang="en-US" sz="2400">
              <a:solidFill>
                <a:prstClr val="black"/>
              </a:solidFill>
              <a:latin typeface="Calibri" panose="020F0502020204030204"/>
            </a:endParaRPr>
          </a:p>
        </p:txBody>
      </p:sp>
      <p:sp>
        <p:nvSpPr>
          <p:cNvPr id="6" name="Text 4">
            <a:extLst>
              <a:ext uri="{FF2B5EF4-FFF2-40B4-BE49-F238E27FC236}">
                <a16:creationId xmlns:a16="http://schemas.microsoft.com/office/drawing/2014/main" id="{53E9BD99-7219-A7FA-C3BA-A94B42474B0A}"/>
              </a:ext>
            </a:extLst>
          </p:cNvPr>
          <p:cNvSpPr/>
          <p:nvPr/>
        </p:nvSpPr>
        <p:spPr>
          <a:xfrm>
            <a:off x="1050233" y="3441195"/>
            <a:ext cx="2194560" cy="316992"/>
          </a:xfrm>
          <a:prstGeom prst="rect">
            <a:avLst/>
          </a:prstGeom>
          <a:noFill/>
          <a:ln/>
        </p:spPr>
        <p:txBody>
          <a:bodyPr wrap="square" lIns="0" tIns="0" rIns="0" bIns="0" rtlCol="0" anchor="ctr"/>
          <a:lstStyle/>
          <a:p>
            <a:pPr defTabSz="1219170">
              <a:defRPr/>
            </a:pPr>
            <a:r>
              <a:rPr lang="en-US" sz="1600">
                <a:solidFill>
                  <a:srgbClr val="FFFFFF"/>
                </a:solidFill>
                <a:latin typeface="Georgia"/>
                <a:ea typeface="Georgia" pitchFamily="34" charset="-122"/>
                <a:cs typeface="Georgia" pitchFamily="34" charset="-120"/>
              </a:rPr>
              <a:t>25% Drop</a:t>
            </a:r>
            <a:endParaRPr lang="en-US" sz="1600">
              <a:solidFill>
                <a:prstClr val="black"/>
              </a:solidFill>
              <a:latin typeface="Georgia"/>
              <a:ea typeface="Calibri"/>
              <a:cs typeface="Calibri"/>
            </a:endParaRPr>
          </a:p>
        </p:txBody>
      </p:sp>
      <p:sp>
        <p:nvSpPr>
          <p:cNvPr id="7" name="Text 5">
            <a:extLst>
              <a:ext uri="{FF2B5EF4-FFF2-40B4-BE49-F238E27FC236}">
                <a16:creationId xmlns:a16="http://schemas.microsoft.com/office/drawing/2014/main" id="{D8174E48-10B4-6163-6B79-8A06D9476450}"/>
              </a:ext>
            </a:extLst>
          </p:cNvPr>
          <p:cNvSpPr/>
          <p:nvPr/>
        </p:nvSpPr>
        <p:spPr>
          <a:xfrm>
            <a:off x="1050233" y="3806955"/>
            <a:ext cx="4632960" cy="292608"/>
          </a:xfrm>
          <a:prstGeom prst="rect">
            <a:avLst/>
          </a:prstGeom>
          <a:noFill/>
          <a:ln/>
        </p:spPr>
        <p:txBody>
          <a:bodyPr wrap="square" lIns="0" tIns="0" rIns="0" bIns="0" rtlCol="0" anchor="ctr"/>
          <a:lstStyle/>
          <a:p>
            <a:pPr defTabSz="1219170">
              <a:defRPr/>
            </a:pPr>
            <a:r>
              <a:rPr lang="en-US" sz="1400">
                <a:solidFill>
                  <a:srgbClr val="EEE8D8"/>
                </a:solidFill>
                <a:latin typeface="Calibri"/>
                <a:ea typeface="Calibri"/>
                <a:cs typeface="Calibri"/>
              </a:rPr>
              <a:t>Invest 70% of the last year bond</a:t>
            </a:r>
            <a:endParaRPr lang="en-US" sz="1400">
              <a:solidFill>
                <a:prstClr val="black"/>
              </a:solidFill>
              <a:latin typeface="Calibri"/>
              <a:ea typeface="Calibri"/>
              <a:cs typeface="Calibri"/>
            </a:endParaRPr>
          </a:p>
        </p:txBody>
      </p:sp>
      <p:sp>
        <p:nvSpPr>
          <p:cNvPr id="9" name="Shape 7">
            <a:extLst>
              <a:ext uri="{FF2B5EF4-FFF2-40B4-BE49-F238E27FC236}">
                <a16:creationId xmlns:a16="http://schemas.microsoft.com/office/drawing/2014/main" id="{48E60C3A-3055-86F1-35A3-1992688F3B4D}"/>
              </a:ext>
            </a:extLst>
          </p:cNvPr>
          <p:cNvSpPr/>
          <p:nvPr/>
        </p:nvSpPr>
        <p:spPr>
          <a:xfrm>
            <a:off x="798983" y="4338096"/>
            <a:ext cx="5120640" cy="804672"/>
          </a:xfrm>
          <a:prstGeom prst="rect">
            <a:avLst/>
          </a:prstGeom>
          <a:solidFill>
            <a:srgbClr val="EDECE7"/>
          </a:solidFill>
          <a:ln w="6350">
            <a:solidFill>
              <a:srgbClr val="DDDCD8"/>
            </a:solidFill>
            <a:prstDash val="solid"/>
          </a:ln>
        </p:spPr>
        <p:txBody>
          <a:bodyPr/>
          <a:lstStyle/>
          <a:p>
            <a:pPr defTabSz="1219170">
              <a:defRPr/>
            </a:pPr>
            <a:endParaRPr lang="en-US" sz="2400">
              <a:solidFill>
                <a:prstClr val="black"/>
              </a:solidFill>
              <a:latin typeface="Calibri" panose="020F0502020204030204"/>
            </a:endParaRPr>
          </a:p>
        </p:txBody>
      </p:sp>
      <p:sp>
        <p:nvSpPr>
          <p:cNvPr id="10" name="Text 8">
            <a:extLst>
              <a:ext uri="{FF2B5EF4-FFF2-40B4-BE49-F238E27FC236}">
                <a16:creationId xmlns:a16="http://schemas.microsoft.com/office/drawing/2014/main" id="{8AE2F4C0-9881-F1A4-0B79-A05F467822A7}"/>
              </a:ext>
            </a:extLst>
          </p:cNvPr>
          <p:cNvSpPr/>
          <p:nvPr/>
        </p:nvSpPr>
        <p:spPr>
          <a:xfrm>
            <a:off x="1042823" y="4411248"/>
            <a:ext cx="2194560" cy="316992"/>
          </a:xfrm>
          <a:prstGeom prst="rect">
            <a:avLst/>
          </a:prstGeom>
          <a:noFill/>
          <a:ln/>
        </p:spPr>
        <p:txBody>
          <a:bodyPr wrap="square" lIns="0" tIns="0" rIns="0" bIns="0" rtlCol="0" anchor="ctr"/>
          <a:lstStyle/>
          <a:p>
            <a:pPr defTabSz="1219170">
              <a:defRPr/>
            </a:pPr>
            <a:r>
              <a:rPr lang="en-US" sz="1600">
                <a:solidFill>
                  <a:srgbClr val="1A1E3A"/>
                </a:solidFill>
                <a:latin typeface="Georgia"/>
                <a:ea typeface="Georgia" pitchFamily="34" charset="-122"/>
                <a:cs typeface="Georgia" pitchFamily="34" charset="-120"/>
              </a:rPr>
              <a:t>40% Drop</a:t>
            </a:r>
            <a:endParaRPr lang="en-US" sz="1600">
              <a:solidFill>
                <a:prstClr val="black"/>
              </a:solidFill>
              <a:latin typeface="Georgia"/>
              <a:ea typeface="Calibri"/>
              <a:cs typeface="Calibri"/>
            </a:endParaRPr>
          </a:p>
        </p:txBody>
      </p:sp>
      <p:sp>
        <p:nvSpPr>
          <p:cNvPr id="11" name="Text 9">
            <a:extLst>
              <a:ext uri="{FF2B5EF4-FFF2-40B4-BE49-F238E27FC236}">
                <a16:creationId xmlns:a16="http://schemas.microsoft.com/office/drawing/2014/main" id="{AFEAD9EB-B65A-174C-7A5B-88B2B572695C}"/>
              </a:ext>
            </a:extLst>
          </p:cNvPr>
          <p:cNvSpPr/>
          <p:nvPr/>
        </p:nvSpPr>
        <p:spPr>
          <a:xfrm>
            <a:off x="1042823" y="4777008"/>
            <a:ext cx="4632960" cy="292608"/>
          </a:xfrm>
          <a:prstGeom prst="rect">
            <a:avLst/>
          </a:prstGeom>
          <a:noFill/>
          <a:ln/>
        </p:spPr>
        <p:txBody>
          <a:bodyPr wrap="square" lIns="0" tIns="0" rIns="0" bIns="0" rtlCol="0" anchor="ctr"/>
          <a:lstStyle/>
          <a:p>
            <a:pPr defTabSz="1219170">
              <a:defRPr/>
            </a:pPr>
            <a:r>
              <a:rPr lang="en-US" sz="1400">
                <a:solidFill>
                  <a:srgbClr val="6A6A7A"/>
                </a:solidFill>
                <a:latin typeface="Calibri"/>
                <a:ea typeface="Calibri"/>
                <a:cs typeface="Calibri"/>
              </a:rPr>
              <a:t>Invest the remaining 30% of last year bond</a:t>
            </a:r>
            <a:endParaRPr lang="en-US" sz="1400">
              <a:solidFill>
                <a:prstClr val="black"/>
              </a:solidFill>
              <a:latin typeface="Calibri"/>
              <a:ea typeface="Calibri"/>
              <a:cs typeface="Calibri"/>
            </a:endParaRPr>
          </a:p>
        </p:txBody>
      </p:sp>
      <p:sp>
        <p:nvSpPr>
          <p:cNvPr id="12" name="Text 10">
            <a:extLst>
              <a:ext uri="{FF2B5EF4-FFF2-40B4-BE49-F238E27FC236}">
                <a16:creationId xmlns:a16="http://schemas.microsoft.com/office/drawing/2014/main" id="{92CC14BC-196D-63E0-779B-82407C500EAC}"/>
              </a:ext>
            </a:extLst>
          </p:cNvPr>
          <p:cNvSpPr/>
          <p:nvPr/>
        </p:nvSpPr>
        <p:spPr>
          <a:xfrm>
            <a:off x="5614823" y="4484400"/>
            <a:ext cx="365760" cy="390144"/>
          </a:xfrm>
          <a:prstGeom prst="rect">
            <a:avLst/>
          </a:prstGeom>
          <a:noFill/>
          <a:ln/>
        </p:spPr>
        <p:txBody>
          <a:bodyPr wrap="square" lIns="0" tIns="0" rIns="0" bIns="0" rtlCol="0" anchor="ctr"/>
          <a:lstStyle/>
          <a:p>
            <a:pPr algn="ctr" defTabSz="1219170">
              <a:defRPr/>
            </a:pPr>
            <a:r>
              <a:rPr lang="en-US" sz="1733">
                <a:solidFill>
                  <a:srgbClr val="1A1E3A"/>
                </a:solidFill>
                <a:latin typeface="Georgia" pitchFamily="34" charset="0"/>
                <a:ea typeface="Georgia" pitchFamily="34" charset="-122"/>
                <a:cs typeface="Georgia" pitchFamily="34" charset="-120"/>
              </a:rPr>
              <a:t>2</a:t>
            </a:r>
            <a:endParaRPr lang="en-US" sz="1733">
              <a:solidFill>
                <a:prstClr val="black"/>
              </a:solidFill>
              <a:latin typeface="Calibri" panose="020F0502020204030204"/>
            </a:endParaRPr>
          </a:p>
        </p:txBody>
      </p:sp>
      <p:sp>
        <p:nvSpPr>
          <p:cNvPr id="21" name="Text 19">
            <a:extLst>
              <a:ext uri="{FF2B5EF4-FFF2-40B4-BE49-F238E27FC236}">
                <a16:creationId xmlns:a16="http://schemas.microsoft.com/office/drawing/2014/main" id="{A0DA326F-B55D-36C3-5471-A5E3F3AC6765}"/>
              </a:ext>
            </a:extLst>
          </p:cNvPr>
          <p:cNvSpPr/>
          <p:nvPr/>
        </p:nvSpPr>
        <p:spPr>
          <a:xfrm>
            <a:off x="6277451" y="1402223"/>
            <a:ext cx="5547360" cy="341376"/>
          </a:xfrm>
          <a:prstGeom prst="rect">
            <a:avLst/>
          </a:prstGeom>
          <a:noFill/>
          <a:ln/>
        </p:spPr>
        <p:txBody>
          <a:bodyPr wrap="square" lIns="0" tIns="0" rIns="0" bIns="0" rtlCol="0" anchor="ctr"/>
          <a:lstStyle/>
          <a:p>
            <a:pPr defTabSz="1219170">
              <a:defRPr/>
            </a:pPr>
            <a:r>
              <a:rPr lang="en-US" sz="1600">
                <a:solidFill>
                  <a:srgbClr val="6A6A7A"/>
                </a:solidFill>
                <a:latin typeface="Calibri"/>
                <a:ea typeface="Calibri"/>
                <a:cs typeface="Calibri"/>
              </a:rPr>
              <a:t>Down Market Deployment Logic</a:t>
            </a:r>
            <a:endParaRPr lang="en-US" sz="1600">
              <a:solidFill>
                <a:prstClr val="black"/>
              </a:solidFill>
              <a:latin typeface="Calibri"/>
              <a:ea typeface="Calibri"/>
              <a:cs typeface="Calibri"/>
            </a:endParaRPr>
          </a:p>
        </p:txBody>
      </p:sp>
      <p:sp>
        <p:nvSpPr>
          <p:cNvPr id="40" name="Text 10">
            <a:extLst>
              <a:ext uri="{FF2B5EF4-FFF2-40B4-BE49-F238E27FC236}">
                <a16:creationId xmlns:a16="http://schemas.microsoft.com/office/drawing/2014/main" id="{EA9ED82B-6AAE-2416-1597-5477B9D8594D}"/>
              </a:ext>
            </a:extLst>
          </p:cNvPr>
          <p:cNvSpPr/>
          <p:nvPr/>
        </p:nvSpPr>
        <p:spPr>
          <a:xfrm>
            <a:off x="5614823" y="3511109"/>
            <a:ext cx="365760" cy="390144"/>
          </a:xfrm>
          <a:prstGeom prst="rect">
            <a:avLst/>
          </a:prstGeom>
          <a:noFill/>
          <a:ln/>
        </p:spPr>
        <p:txBody>
          <a:bodyPr wrap="square" lIns="0" tIns="0" rIns="0" bIns="0" rtlCol="0" anchor="ctr"/>
          <a:lstStyle/>
          <a:p>
            <a:pPr algn="ctr" defTabSz="1219170">
              <a:defRPr/>
            </a:pPr>
            <a:r>
              <a:rPr lang="en-US" sz="1733">
                <a:solidFill>
                  <a:prstClr val="white"/>
                </a:solidFill>
                <a:latin typeface="Georgia" pitchFamily="34" charset="0"/>
              </a:rPr>
              <a:t>1</a:t>
            </a:r>
            <a:endParaRPr lang="en-US" sz="1733">
              <a:solidFill>
                <a:prstClr val="white"/>
              </a:solidFill>
              <a:latin typeface="Calibri" panose="020F0502020204030204"/>
            </a:endParaRPr>
          </a:p>
        </p:txBody>
      </p:sp>
      <p:cxnSp>
        <p:nvCxnSpPr>
          <p:cNvPr id="42" name="Straight Arrow Connector 41">
            <a:extLst>
              <a:ext uri="{FF2B5EF4-FFF2-40B4-BE49-F238E27FC236}">
                <a16:creationId xmlns:a16="http://schemas.microsoft.com/office/drawing/2014/main" id="{DDF0BF60-7977-FEC8-64D2-663FFFA4C5DF}"/>
              </a:ext>
            </a:extLst>
          </p:cNvPr>
          <p:cNvCxnSpPr/>
          <p:nvPr/>
        </p:nvCxnSpPr>
        <p:spPr>
          <a:xfrm>
            <a:off x="6295120" y="1786447"/>
            <a:ext cx="2508416" cy="2944855"/>
          </a:xfrm>
          <a:prstGeom prst="straightConnector1">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7B8628B-39DA-E08B-7A37-AC9A37F1A12D}"/>
              </a:ext>
            </a:extLst>
          </p:cNvPr>
          <p:cNvCxnSpPr>
            <a:cxnSpLocks/>
          </p:cNvCxnSpPr>
          <p:nvPr/>
        </p:nvCxnSpPr>
        <p:spPr>
          <a:xfrm flipH="1">
            <a:off x="8791626" y="1789468"/>
            <a:ext cx="2634049" cy="2952445"/>
          </a:xfrm>
          <a:prstGeom prst="straightConnector1">
            <a:avLst/>
          </a:prstGeom>
          <a:ln w="15875">
            <a:solidFill>
              <a:srgbClr val="2A6B3A"/>
            </a:solidFill>
          </a:ln>
        </p:spPr>
        <p:style>
          <a:lnRef idx="1">
            <a:schemeClr val="accent1"/>
          </a:lnRef>
          <a:fillRef idx="0">
            <a:schemeClr val="accent1"/>
          </a:fillRef>
          <a:effectRef idx="0">
            <a:schemeClr val="accent1"/>
          </a:effectRef>
          <a:fontRef idx="minor">
            <a:schemeClr val="tx1"/>
          </a:fontRef>
        </p:style>
      </p:cxnSp>
      <p:sp>
        <p:nvSpPr>
          <p:cNvPr id="13" name="Text 19">
            <a:extLst>
              <a:ext uri="{FF2B5EF4-FFF2-40B4-BE49-F238E27FC236}">
                <a16:creationId xmlns:a16="http://schemas.microsoft.com/office/drawing/2014/main" id="{A8E465DE-6CF9-4B6E-B2AD-E43F618E4F6D}"/>
              </a:ext>
            </a:extLst>
          </p:cNvPr>
          <p:cNvSpPr/>
          <p:nvPr/>
        </p:nvSpPr>
        <p:spPr>
          <a:xfrm>
            <a:off x="7496281" y="4930361"/>
            <a:ext cx="5547360" cy="341376"/>
          </a:xfrm>
          <a:prstGeom prst="rect">
            <a:avLst/>
          </a:prstGeom>
          <a:noFill/>
          <a:ln/>
        </p:spPr>
        <p:txBody>
          <a:bodyPr wrap="square" lIns="0" tIns="0" rIns="0" bIns="0" rtlCol="0" anchor="ctr"/>
          <a:lstStyle/>
          <a:p>
            <a:pPr defTabSz="1219170">
              <a:defRPr/>
            </a:pPr>
            <a:r>
              <a:rPr lang="en-US" sz="1600" b="1">
                <a:solidFill>
                  <a:srgbClr val="6A6A7A"/>
                </a:solidFill>
                <a:latin typeface="Calibri"/>
                <a:ea typeface="Calibri"/>
                <a:cs typeface="Calibri"/>
              </a:rPr>
              <a:t>(Average duration: 40 months*)</a:t>
            </a:r>
            <a:endParaRPr lang="en-US" sz="1600" b="1">
              <a:solidFill>
                <a:prstClr val="black"/>
              </a:solidFill>
              <a:latin typeface="Calibri"/>
              <a:ea typeface="Calibri"/>
              <a:cs typeface="Calibri"/>
            </a:endParaRPr>
          </a:p>
        </p:txBody>
      </p:sp>
      <p:sp>
        <p:nvSpPr>
          <p:cNvPr id="34" name="Shape 32">
            <a:extLst>
              <a:ext uri="{FF2B5EF4-FFF2-40B4-BE49-F238E27FC236}">
                <a16:creationId xmlns:a16="http://schemas.microsoft.com/office/drawing/2014/main" id="{0D64B6F1-75A2-5A61-1FF1-BD24F9CF0A17}"/>
              </a:ext>
            </a:extLst>
          </p:cNvPr>
          <p:cNvSpPr/>
          <p:nvPr/>
        </p:nvSpPr>
        <p:spPr>
          <a:xfrm>
            <a:off x="7872571" y="3658537"/>
            <a:ext cx="243840" cy="243840"/>
          </a:xfrm>
          <a:prstGeom prst="ellipse">
            <a:avLst/>
          </a:prstGeom>
          <a:solidFill>
            <a:srgbClr val="0070C0"/>
          </a:solidFill>
          <a:ln w="12700">
            <a:solidFill>
              <a:srgbClr val="FAFAF8"/>
            </a:solidFill>
            <a:prstDash val="solid"/>
          </a:ln>
        </p:spPr>
        <p:txBody>
          <a:bodyPr/>
          <a:lstStyle/>
          <a:p>
            <a:pPr defTabSz="1219170">
              <a:defRPr/>
            </a:pPr>
            <a:endParaRPr lang="en-US" sz="2400">
              <a:solidFill>
                <a:prstClr val="black"/>
              </a:solidFill>
              <a:latin typeface="Calibri" panose="020F0502020204030204"/>
            </a:endParaRPr>
          </a:p>
        </p:txBody>
      </p:sp>
      <p:sp>
        <p:nvSpPr>
          <p:cNvPr id="35" name="Shape 33">
            <a:extLst>
              <a:ext uri="{FF2B5EF4-FFF2-40B4-BE49-F238E27FC236}">
                <a16:creationId xmlns:a16="http://schemas.microsoft.com/office/drawing/2014/main" id="{03E934AF-350B-F0F2-08D5-8B7EE0C6BAEB}"/>
              </a:ext>
            </a:extLst>
          </p:cNvPr>
          <p:cNvSpPr/>
          <p:nvPr/>
        </p:nvSpPr>
        <p:spPr>
          <a:xfrm>
            <a:off x="8693060" y="4571512"/>
            <a:ext cx="243840" cy="243840"/>
          </a:xfrm>
          <a:prstGeom prst="ellipse">
            <a:avLst/>
          </a:prstGeom>
          <a:solidFill>
            <a:srgbClr val="0070C0"/>
          </a:solidFill>
          <a:ln w="12700">
            <a:solidFill>
              <a:srgbClr val="FAFAF8"/>
            </a:solidFill>
            <a:prstDash val="solid"/>
          </a:ln>
        </p:spPr>
        <p:txBody>
          <a:bodyPr/>
          <a:lstStyle/>
          <a:p>
            <a:pPr defTabSz="1219170">
              <a:defRPr/>
            </a:pPr>
            <a:endParaRPr lang="en-US" sz="2400">
              <a:solidFill>
                <a:prstClr val="black"/>
              </a:solidFill>
              <a:latin typeface="Calibri" panose="020F0502020204030204"/>
            </a:endParaRPr>
          </a:p>
        </p:txBody>
      </p:sp>
      <p:sp>
        <p:nvSpPr>
          <p:cNvPr id="14" name="Shape 33">
            <a:extLst>
              <a:ext uri="{FF2B5EF4-FFF2-40B4-BE49-F238E27FC236}">
                <a16:creationId xmlns:a16="http://schemas.microsoft.com/office/drawing/2014/main" id="{3D86F28B-26BA-0CA5-C296-9D3E926A8FAD}"/>
              </a:ext>
            </a:extLst>
          </p:cNvPr>
          <p:cNvSpPr/>
          <p:nvPr/>
        </p:nvSpPr>
        <p:spPr>
          <a:xfrm>
            <a:off x="11300041" y="1710071"/>
            <a:ext cx="243840" cy="243840"/>
          </a:xfrm>
          <a:prstGeom prst="ellipse">
            <a:avLst/>
          </a:prstGeom>
          <a:solidFill>
            <a:srgbClr val="0070C0"/>
          </a:solidFill>
          <a:ln w="12700">
            <a:solidFill>
              <a:srgbClr val="FAFAF8"/>
            </a:solidFill>
            <a:prstDash val="solid"/>
          </a:ln>
        </p:spPr>
        <p:txBody>
          <a:bodyPr/>
          <a:lstStyle/>
          <a:p>
            <a:pPr defTabSz="1219170">
              <a:defRPr/>
            </a:pPr>
            <a:endParaRPr lang="en-US" sz="2400">
              <a:solidFill>
                <a:prstClr val="black"/>
              </a:solidFill>
              <a:latin typeface="Calibri" panose="020F0502020204030204"/>
            </a:endParaRPr>
          </a:p>
        </p:txBody>
      </p:sp>
      <p:sp>
        <p:nvSpPr>
          <p:cNvPr id="15" name="Rectangle 14">
            <a:extLst>
              <a:ext uri="{FF2B5EF4-FFF2-40B4-BE49-F238E27FC236}">
                <a16:creationId xmlns:a16="http://schemas.microsoft.com/office/drawing/2014/main" id="{3ABA93EC-8A53-EA5C-F3E8-674C9C74853C}"/>
              </a:ext>
            </a:extLst>
          </p:cNvPr>
          <p:cNvSpPr/>
          <p:nvPr/>
        </p:nvSpPr>
        <p:spPr>
          <a:xfrm>
            <a:off x="4812989" y="6107275"/>
            <a:ext cx="12327467" cy="256545"/>
          </a:xfrm>
          <a:prstGeom prst="rect">
            <a:avLst/>
          </a:prstGeom>
        </p:spPr>
        <p:txBody>
          <a:bodyPr wrap="square">
            <a:spAutoFit/>
          </a:bodyPr>
          <a:lstStyle/>
          <a:p>
            <a:pPr lvl="0" fontAlgn="base">
              <a:spcBef>
                <a:spcPct val="0"/>
              </a:spcBef>
              <a:spcAft>
                <a:spcPct val="0"/>
              </a:spcAft>
              <a:defRPr/>
            </a:pPr>
            <a:r>
              <a:rPr lang="en-US" sz="1067" i="1">
                <a:solidFill>
                  <a:schemeClr val="bg1">
                    <a:lumMod val="65000"/>
                  </a:schemeClr>
                </a:solidFill>
                <a:latin typeface="+mj-lt"/>
                <a:cs typeface="Arial" pitchFamily="34" charset="0"/>
              </a:rPr>
              <a:t>*40 Months to recovery – “Bear markets may not be as ferocious as they appear”, Mark Hulbert, Wall Street Journal, March 8-9, 2014. </a:t>
            </a:r>
          </a:p>
        </p:txBody>
      </p:sp>
      <p:sp>
        <p:nvSpPr>
          <p:cNvPr id="16" name="Shape 0">
            <a:extLst>
              <a:ext uri="{FF2B5EF4-FFF2-40B4-BE49-F238E27FC236}">
                <a16:creationId xmlns:a16="http://schemas.microsoft.com/office/drawing/2014/main" id="{573B7D17-E256-A255-E324-04BD533B3D7C}"/>
              </a:ext>
            </a:extLst>
          </p:cNvPr>
          <p:cNvSpPr/>
          <p:nvPr/>
        </p:nvSpPr>
        <p:spPr>
          <a:xfrm>
            <a:off x="0" y="6547104"/>
            <a:ext cx="12191695" cy="310896"/>
          </a:xfrm>
          <a:prstGeom prst="rect">
            <a:avLst/>
          </a:prstGeom>
          <a:solidFill>
            <a:srgbClr val="F1EEE6"/>
          </a:solidFill>
          <a:ln/>
        </p:spPr>
        <p:txBody>
          <a:bodyPr/>
          <a:lstStyle/>
          <a:p>
            <a:endParaRPr lang="en-US"/>
          </a:p>
        </p:txBody>
      </p:sp>
      <p:sp>
        <p:nvSpPr>
          <p:cNvPr id="18" name="Text 1">
            <a:extLst>
              <a:ext uri="{FF2B5EF4-FFF2-40B4-BE49-F238E27FC236}">
                <a16:creationId xmlns:a16="http://schemas.microsoft.com/office/drawing/2014/main" id="{A911A358-7F4D-9455-EC72-7D37D153C5B4}"/>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20" name="Text 2">
            <a:extLst>
              <a:ext uri="{FF2B5EF4-FFF2-40B4-BE49-F238E27FC236}">
                <a16:creationId xmlns:a16="http://schemas.microsoft.com/office/drawing/2014/main" id="{E23D0A78-1661-C2A7-41F3-CDD0FE91FC2F}"/>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23" name="Text 3">
            <a:extLst>
              <a:ext uri="{FF2B5EF4-FFF2-40B4-BE49-F238E27FC236}">
                <a16:creationId xmlns:a16="http://schemas.microsoft.com/office/drawing/2014/main" id="{FE75166A-B215-4E22-E7DE-E853CDB8F0FE}"/>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extLst>
      <p:ext uri="{BB962C8B-B14F-4D97-AF65-F5344CB8AC3E}">
        <p14:creationId xmlns:p14="http://schemas.microsoft.com/office/powerpoint/2010/main" val="102557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40" grpId="0" animBg="1"/>
      <p:bldP spid="34" grpId="0" animBg="1"/>
      <p:bldP spid="35"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r>
              <a:rPr lang="en-US" sz="1400" kern="0" spc="400" err="1">
                <a:solidFill>
                  <a:srgbClr val="C9A84C"/>
                </a:solidFill>
                <a:latin typeface="Calibri"/>
                <a:ea typeface="Calibri"/>
                <a:cs typeface="Calibri"/>
              </a:rPr>
              <a:t>Teeves</a:t>
            </a:r>
            <a:r>
              <a:rPr lang="en-US" sz="1400" kern="0" spc="400">
                <a:solidFill>
                  <a:srgbClr val="C9A84C"/>
                </a:solidFill>
                <a:latin typeface="Calibri"/>
                <a:ea typeface="Calibri"/>
                <a:cs typeface="Calibri"/>
              </a:rPr>
              <a:t> FAMILY OWNERSHIP</a:t>
            </a:r>
            <a:endParaRPr lang="en-US" sz="1400">
              <a:latin typeface="Calibri"/>
              <a:ea typeface="Calibri"/>
              <a:cs typeface="Calibri"/>
            </a:endParaRPr>
          </a:p>
        </p:txBody>
      </p:sp>
      <p:sp>
        <p:nvSpPr>
          <p:cNvPr id="3" name="Text 1"/>
          <p:cNvSpPr/>
          <p:nvPr/>
        </p:nvSpPr>
        <p:spPr>
          <a:xfrm>
            <a:off x="670560" y="609600"/>
            <a:ext cx="10972800" cy="914400"/>
          </a:xfrm>
          <a:prstGeom prst="rect">
            <a:avLst/>
          </a:prstGeom>
          <a:noFill/>
          <a:ln/>
        </p:spPr>
        <p:txBody>
          <a:bodyPr wrap="square" lIns="0" tIns="0" rIns="0" bIns="0" rtlCol="0" anchor="t"/>
          <a:lstStyle/>
          <a:p>
            <a:r>
              <a:rPr lang="en-US" sz="3467" err="1">
                <a:solidFill>
                  <a:srgbClr val="1A1E3A"/>
                </a:solidFill>
                <a:latin typeface="Georgia" pitchFamily="34" charset="0"/>
              </a:rPr>
              <a:t>Teeves</a:t>
            </a:r>
            <a:r>
              <a:rPr lang="en-US" sz="3467">
                <a:solidFill>
                  <a:srgbClr val="1A1E3A"/>
                </a:solidFill>
                <a:latin typeface="Georgia" pitchFamily="34" charset="0"/>
              </a:rPr>
              <a:t> Family Proposed Ownership</a:t>
            </a:r>
            <a:endParaRPr lang="en-US" sz="3467"/>
          </a:p>
        </p:txBody>
      </p:sp>
      <p:sp>
        <p:nvSpPr>
          <p:cNvPr id="4" name="Shape 2"/>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Text 3"/>
          <p:cNvSpPr/>
          <p:nvPr/>
        </p:nvSpPr>
        <p:spPr>
          <a:xfrm>
            <a:off x="670560" y="1975104"/>
            <a:ext cx="4632960" cy="268224"/>
          </a:xfrm>
          <a:prstGeom prst="rect">
            <a:avLst/>
          </a:prstGeom>
          <a:noFill/>
          <a:ln/>
        </p:spPr>
        <p:txBody>
          <a:bodyPr wrap="square" lIns="0" tIns="0" rIns="0" bIns="0" rtlCol="0" anchor="ctr"/>
          <a:lstStyle/>
          <a:p>
            <a:r>
              <a:rPr lang="en-US" sz="1400" kern="0" spc="267">
                <a:solidFill>
                  <a:srgbClr val="C9A84C"/>
                </a:solidFill>
                <a:latin typeface="Calibri"/>
                <a:ea typeface="Calibri"/>
                <a:cs typeface="Calibri"/>
              </a:rPr>
              <a:t>PORTFOLIO COMPOSITION</a:t>
            </a:r>
            <a:endParaRPr lang="en-US" sz="1400">
              <a:latin typeface="Calibri"/>
              <a:ea typeface="Calibri"/>
              <a:cs typeface="Calibri"/>
            </a:endParaRPr>
          </a:p>
        </p:txBody>
      </p:sp>
      <p:sp>
        <p:nvSpPr>
          <p:cNvPr id="6" name="Shape 4"/>
          <p:cNvSpPr/>
          <p:nvPr/>
        </p:nvSpPr>
        <p:spPr>
          <a:xfrm>
            <a:off x="670560" y="2316480"/>
            <a:ext cx="2983627" cy="670560"/>
          </a:xfrm>
          <a:prstGeom prst="rect">
            <a:avLst/>
          </a:prstGeom>
          <a:solidFill>
            <a:srgbClr val="1A1E3A"/>
          </a:solidFill>
          <a:ln w="12700">
            <a:solidFill>
              <a:srgbClr val="000000"/>
            </a:solidFill>
            <a:prstDash val="solid"/>
          </a:ln>
        </p:spPr>
        <p:txBody>
          <a:bodyPr/>
          <a:lstStyle/>
          <a:p>
            <a:endParaRPr lang="en-US" sz="2400"/>
          </a:p>
        </p:txBody>
      </p:sp>
      <p:sp>
        <p:nvSpPr>
          <p:cNvPr id="7" name="Shape 5"/>
          <p:cNvSpPr/>
          <p:nvPr/>
        </p:nvSpPr>
        <p:spPr>
          <a:xfrm>
            <a:off x="3654188" y="2316480"/>
            <a:ext cx="1278697" cy="670560"/>
          </a:xfrm>
          <a:prstGeom prst="rect">
            <a:avLst/>
          </a:prstGeom>
          <a:solidFill>
            <a:srgbClr val="7A9B6E"/>
          </a:solidFill>
          <a:ln w="12700">
            <a:solidFill>
              <a:srgbClr val="000000"/>
            </a:solidFill>
            <a:prstDash val="solid"/>
          </a:ln>
        </p:spPr>
        <p:txBody>
          <a:bodyPr/>
          <a:lstStyle/>
          <a:p>
            <a:endParaRPr lang="en-US" sz="2400"/>
          </a:p>
        </p:txBody>
      </p:sp>
      <p:sp>
        <p:nvSpPr>
          <p:cNvPr id="8" name="Shape 6"/>
          <p:cNvSpPr/>
          <p:nvPr/>
        </p:nvSpPr>
        <p:spPr>
          <a:xfrm>
            <a:off x="4932883" y="2316480"/>
            <a:ext cx="370637" cy="670560"/>
          </a:xfrm>
          <a:prstGeom prst="rect">
            <a:avLst/>
          </a:prstGeom>
          <a:solidFill>
            <a:srgbClr val="6A6A7A"/>
          </a:solidFill>
          <a:ln w="12700">
            <a:solidFill>
              <a:srgbClr val="000000"/>
            </a:solidFill>
            <a:prstDash val="solid"/>
          </a:ln>
        </p:spPr>
        <p:txBody>
          <a:bodyPr/>
          <a:lstStyle/>
          <a:p>
            <a:endParaRPr lang="en-US" sz="2400"/>
          </a:p>
        </p:txBody>
      </p:sp>
      <p:sp>
        <p:nvSpPr>
          <p:cNvPr id="9" name="Shape 7"/>
          <p:cNvSpPr/>
          <p:nvPr/>
        </p:nvSpPr>
        <p:spPr>
          <a:xfrm>
            <a:off x="670560" y="3316224"/>
            <a:ext cx="219456" cy="219456"/>
          </a:xfrm>
          <a:prstGeom prst="rect">
            <a:avLst/>
          </a:prstGeom>
          <a:solidFill>
            <a:srgbClr val="1A1E3A"/>
          </a:solidFill>
          <a:ln w="12700">
            <a:solidFill>
              <a:srgbClr val="000000"/>
            </a:solidFill>
            <a:prstDash val="solid"/>
          </a:ln>
        </p:spPr>
        <p:txBody>
          <a:bodyPr/>
          <a:lstStyle/>
          <a:p>
            <a:endParaRPr lang="en-US" sz="2400"/>
          </a:p>
        </p:txBody>
      </p:sp>
      <p:sp>
        <p:nvSpPr>
          <p:cNvPr id="10" name="Text 8"/>
          <p:cNvSpPr/>
          <p:nvPr/>
        </p:nvSpPr>
        <p:spPr>
          <a:xfrm>
            <a:off x="999744" y="324307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Dividends</a:t>
            </a:r>
            <a:endParaRPr lang="en-US" sz="1600"/>
          </a:p>
        </p:txBody>
      </p:sp>
      <p:sp>
        <p:nvSpPr>
          <p:cNvPr id="11" name="Text 9"/>
          <p:cNvSpPr/>
          <p:nvPr/>
        </p:nvSpPr>
        <p:spPr>
          <a:xfrm>
            <a:off x="999744" y="360883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64.4%</a:t>
            </a:r>
            <a:endParaRPr lang="en-US" sz="1200"/>
          </a:p>
        </p:txBody>
      </p:sp>
      <p:sp>
        <p:nvSpPr>
          <p:cNvPr id="12" name="Text 10"/>
          <p:cNvSpPr/>
          <p:nvPr/>
        </p:nvSpPr>
        <p:spPr>
          <a:xfrm>
            <a:off x="1950720" y="360883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$611,800</a:t>
            </a:r>
            <a:endParaRPr lang="en-US" sz="1200"/>
          </a:p>
        </p:txBody>
      </p:sp>
      <p:sp>
        <p:nvSpPr>
          <p:cNvPr id="13" name="Shape 11"/>
          <p:cNvSpPr/>
          <p:nvPr/>
        </p:nvSpPr>
        <p:spPr>
          <a:xfrm>
            <a:off x="670560" y="3925824"/>
            <a:ext cx="4632960" cy="0"/>
          </a:xfrm>
          <a:prstGeom prst="line">
            <a:avLst/>
          </a:prstGeom>
          <a:noFill/>
          <a:ln w="3810">
            <a:solidFill>
              <a:srgbClr val="E8E7E2"/>
            </a:solidFill>
            <a:prstDash val="solid"/>
          </a:ln>
        </p:spPr>
        <p:txBody>
          <a:bodyPr/>
          <a:lstStyle/>
          <a:p>
            <a:endParaRPr lang="en-US" sz="2400"/>
          </a:p>
        </p:txBody>
      </p:sp>
      <p:sp>
        <p:nvSpPr>
          <p:cNvPr id="14" name="Shape 12"/>
          <p:cNvSpPr/>
          <p:nvPr/>
        </p:nvSpPr>
        <p:spPr>
          <a:xfrm>
            <a:off x="670560" y="4047744"/>
            <a:ext cx="219456" cy="219456"/>
          </a:xfrm>
          <a:prstGeom prst="rect">
            <a:avLst/>
          </a:prstGeom>
          <a:solidFill>
            <a:srgbClr val="7A9B6E"/>
          </a:solidFill>
          <a:ln w="12700">
            <a:solidFill>
              <a:srgbClr val="000000"/>
            </a:solidFill>
            <a:prstDash val="solid"/>
          </a:ln>
        </p:spPr>
        <p:txBody>
          <a:bodyPr/>
          <a:lstStyle/>
          <a:p>
            <a:endParaRPr lang="en-US" sz="2400"/>
          </a:p>
        </p:txBody>
      </p:sp>
      <p:sp>
        <p:nvSpPr>
          <p:cNvPr id="15" name="Text 13"/>
          <p:cNvSpPr/>
          <p:nvPr/>
        </p:nvSpPr>
        <p:spPr>
          <a:xfrm>
            <a:off x="999744" y="397459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Growth</a:t>
            </a:r>
            <a:endParaRPr lang="en-US" sz="1600"/>
          </a:p>
        </p:txBody>
      </p:sp>
      <p:sp>
        <p:nvSpPr>
          <p:cNvPr id="16" name="Text 14"/>
          <p:cNvSpPr/>
          <p:nvPr/>
        </p:nvSpPr>
        <p:spPr>
          <a:xfrm>
            <a:off x="999744" y="434035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27.6%</a:t>
            </a:r>
            <a:endParaRPr lang="en-US" sz="1200"/>
          </a:p>
        </p:txBody>
      </p:sp>
      <p:sp>
        <p:nvSpPr>
          <p:cNvPr id="17" name="Text 15"/>
          <p:cNvSpPr/>
          <p:nvPr/>
        </p:nvSpPr>
        <p:spPr>
          <a:xfrm>
            <a:off x="1950720" y="434035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$262,200</a:t>
            </a:r>
            <a:endParaRPr lang="en-US" sz="1200"/>
          </a:p>
        </p:txBody>
      </p:sp>
      <p:sp>
        <p:nvSpPr>
          <p:cNvPr id="18" name="Shape 16"/>
          <p:cNvSpPr/>
          <p:nvPr/>
        </p:nvSpPr>
        <p:spPr>
          <a:xfrm>
            <a:off x="670560" y="4657344"/>
            <a:ext cx="4632960" cy="0"/>
          </a:xfrm>
          <a:prstGeom prst="line">
            <a:avLst/>
          </a:prstGeom>
          <a:noFill/>
          <a:ln w="3810">
            <a:solidFill>
              <a:srgbClr val="E8E7E2"/>
            </a:solidFill>
            <a:prstDash val="solid"/>
          </a:ln>
        </p:spPr>
        <p:txBody>
          <a:bodyPr/>
          <a:lstStyle/>
          <a:p>
            <a:endParaRPr lang="en-US" sz="2400"/>
          </a:p>
        </p:txBody>
      </p:sp>
      <p:sp>
        <p:nvSpPr>
          <p:cNvPr id="19" name="Shape 17"/>
          <p:cNvSpPr/>
          <p:nvPr/>
        </p:nvSpPr>
        <p:spPr>
          <a:xfrm>
            <a:off x="670560" y="4779264"/>
            <a:ext cx="219456" cy="219456"/>
          </a:xfrm>
          <a:prstGeom prst="rect">
            <a:avLst/>
          </a:prstGeom>
          <a:solidFill>
            <a:srgbClr val="6A6A7A"/>
          </a:solidFill>
          <a:ln w="12700">
            <a:solidFill>
              <a:srgbClr val="000000"/>
            </a:solidFill>
            <a:prstDash val="solid"/>
          </a:ln>
        </p:spPr>
        <p:txBody>
          <a:bodyPr/>
          <a:lstStyle/>
          <a:p>
            <a:endParaRPr lang="en-US" sz="2400"/>
          </a:p>
        </p:txBody>
      </p:sp>
      <p:sp>
        <p:nvSpPr>
          <p:cNvPr id="20" name="Text 18"/>
          <p:cNvSpPr/>
          <p:nvPr/>
        </p:nvSpPr>
        <p:spPr>
          <a:xfrm>
            <a:off x="999744" y="470611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Cash</a:t>
            </a:r>
            <a:endParaRPr lang="en-US" sz="1600"/>
          </a:p>
        </p:txBody>
      </p:sp>
      <p:sp>
        <p:nvSpPr>
          <p:cNvPr id="21" name="Text 19"/>
          <p:cNvSpPr/>
          <p:nvPr/>
        </p:nvSpPr>
        <p:spPr>
          <a:xfrm>
            <a:off x="999744" y="507187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8.0%</a:t>
            </a:r>
            <a:endParaRPr lang="en-US" sz="1200"/>
          </a:p>
        </p:txBody>
      </p:sp>
      <p:sp>
        <p:nvSpPr>
          <p:cNvPr id="22" name="Text 20"/>
          <p:cNvSpPr/>
          <p:nvPr/>
        </p:nvSpPr>
        <p:spPr>
          <a:xfrm>
            <a:off x="1950720" y="507187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$76,000</a:t>
            </a:r>
            <a:endParaRPr lang="en-US" sz="1200"/>
          </a:p>
        </p:txBody>
      </p:sp>
      <p:sp>
        <p:nvSpPr>
          <p:cNvPr id="23" name="Shape 21"/>
          <p:cNvSpPr/>
          <p:nvPr/>
        </p:nvSpPr>
        <p:spPr>
          <a:xfrm>
            <a:off x="670560" y="5510784"/>
            <a:ext cx="4632960" cy="0"/>
          </a:xfrm>
          <a:prstGeom prst="line">
            <a:avLst/>
          </a:prstGeom>
          <a:noFill/>
          <a:ln w="12700">
            <a:solidFill>
              <a:srgbClr val="1A1E3A"/>
            </a:solidFill>
            <a:prstDash val="solid"/>
          </a:ln>
        </p:spPr>
        <p:txBody>
          <a:bodyPr/>
          <a:lstStyle/>
          <a:p>
            <a:endParaRPr lang="en-US" sz="2400"/>
          </a:p>
        </p:txBody>
      </p:sp>
      <p:sp>
        <p:nvSpPr>
          <p:cNvPr id="24" name="Text 22"/>
          <p:cNvSpPr/>
          <p:nvPr/>
        </p:nvSpPr>
        <p:spPr>
          <a:xfrm>
            <a:off x="670560" y="5608320"/>
            <a:ext cx="1828800" cy="341376"/>
          </a:xfrm>
          <a:prstGeom prst="rect">
            <a:avLst/>
          </a:prstGeom>
          <a:noFill/>
          <a:ln/>
        </p:spPr>
        <p:txBody>
          <a:bodyPr wrap="square" lIns="0" tIns="0" rIns="0" bIns="0" rtlCol="0" anchor="ctr"/>
          <a:lstStyle/>
          <a:p>
            <a:r>
              <a:rPr lang="en-US" sz="1200" b="1">
                <a:solidFill>
                  <a:srgbClr val="1A1E3A"/>
                </a:solidFill>
                <a:latin typeface="Calibri" pitchFamily="34" charset="0"/>
                <a:ea typeface="Calibri" pitchFamily="34" charset="-122"/>
                <a:cs typeface="Calibri" pitchFamily="34" charset="-120"/>
              </a:rPr>
              <a:t>TOTAL</a:t>
            </a:r>
            <a:endParaRPr lang="en-US" sz="1200"/>
          </a:p>
        </p:txBody>
      </p:sp>
      <p:sp>
        <p:nvSpPr>
          <p:cNvPr id="25" name="Text 23"/>
          <p:cNvSpPr/>
          <p:nvPr/>
        </p:nvSpPr>
        <p:spPr>
          <a:xfrm>
            <a:off x="2560320" y="5583936"/>
            <a:ext cx="2682240" cy="365760"/>
          </a:xfrm>
          <a:prstGeom prst="rect">
            <a:avLst/>
          </a:prstGeom>
          <a:noFill/>
          <a:ln/>
        </p:spPr>
        <p:txBody>
          <a:bodyPr wrap="square" lIns="0" tIns="0" rIns="0" bIns="0" rtlCol="0" anchor="ctr"/>
          <a:lstStyle/>
          <a:p>
            <a:pPr algn="r"/>
            <a:r>
              <a:rPr lang="en-US" sz="1733">
                <a:solidFill>
                  <a:srgbClr val="1A1E3A"/>
                </a:solidFill>
                <a:latin typeface="Georgia" pitchFamily="34" charset="0"/>
                <a:ea typeface="Georgia" pitchFamily="34" charset="-122"/>
                <a:cs typeface="Georgia" pitchFamily="34" charset="-120"/>
              </a:rPr>
              <a:t>$950,000</a:t>
            </a:r>
            <a:endParaRPr lang="en-US" sz="1733"/>
          </a:p>
        </p:txBody>
      </p:sp>
      <p:sp>
        <p:nvSpPr>
          <p:cNvPr id="26" name="Text 24"/>
          <p:cNvSpPr/>
          <p:nvPr/>
        </p:nvSpPr>
        <p:spPr>
          <a:xfrm>
            <a:off x="5974080" y="1975104"/>
            <a:ext cx="5669280" cy="268224"/>
          </a:xfrm>
          <a:prstGeom prst="rect">
            <a:avLst/>
          </a:prstGeom>
          <a:noFill/>
          <a:ln/>
        </p:spPr>
        <p:txBody>
          <a:bodyPr wrap="square" lIns="0" tIns="0" rIns="0" bIns="0" rtlCol="0" anchor="ctr"/>
          <a:lstStyle/>
          <a:p>
            <a:r>
              <a:rPr lang="en-US" sz="1333" kern="0" spc="267">
                <a:solidFill>
                  <a:srgbClr val="C9A84C"/>
                </a:solidFill>
                <a:latin typeface="Calibri"/>
                <a:ea typeface="Calibri"/>
                <a:cs typeface="Calibri"/>
              </a:rPr>
              <a:t>PROPOSED OWNERSHIP BREAKDOWN</a:t>
            </a:r>
            <a:endParaRPr lang="en-US" sz="1333">
              <a:latin typeface="Calibri"/>
              <a:ea typeface="Calibri"/>
              <a:cs typeface="Calibri"/>
            </a:endParaRPr>
          </a:p>
        </p:txBody>
      </p:sp>
      <p:sp>
        <p:nvSpPr>
          <p:cNvPr id="27" name="Shape 25"/>
          <p:cNvSpPr/>
          <p:nvPr/>
        </p:nvSpPr>
        <p:spPr>
          <a:xfrm>
            <a:off x="5974080" y="2316480"/>
            <a:ext cx="5669280" cy="0"/>
          </a:xfrm>
          <a:prstGeom prst="line">
            <a:avLst/>
          </a:prstGeom>
          <a:noFill/>
          <a:ln w="19050">
            <a:solidFill>
              <a:srgbClr val="1A1E3A"/>
            </a:solidFill>
            <a:prstDash val="solid"/>
          </a:ln>
        </p:spPr>
        <p:txBody>
          <a:bodyPr/>
          <a:lstStyle/>
          <a:p>
            <a:endParaRPr lang="en-US" sz="2400"/>
          </a:p>
        </p:txBody>
      </p:sp>
      <p:sp>
        <p:nvSpPr>
          <p:cNvPr id="28" name="Text 26"/>
          <p:cNvSpPr/>
          <p:nvPr/>
        </p:nvSpPr>
        <p:spPr>
          <a:xfrm>
            <a:off x="6035040" y="2414016"/>
            <a:ext cx="1219200" cy="438912"/>
          </a:xfrm>
          <a:prstGeom prst="rect">
            <a:avLst/>
          </a:prstGeom>
          <a:noFill/>
          <a:ln/>
        </p:spPr>
        <p:txBody>
          <a:bodyPr wrap="square" lIns="0" tIns="0" rIns="0" bIns="0" rtlCol="0" anchor="ctr"/>
          <a:lstStyle/>
          <a:p>
            <a:r>
              <a:rPr lang="en-US" sz="1200" b="1" kern="0" spc="200">
                <a:solidFill>
                  <a:srgbClr val="C9A84C"/>
                </a:solidFill>
                <a:latin typeface="Calibri"/>
                <a:ea typeface="Calibri"/>
                <a:cs typeface="Calibri"/>
              </a:rPr>
              <a:t>STRATEGY</a:t>
            </a:r>
            <a:endParaRPr lang="en-US" sz="1200">
              <a:latin typeface="Calibri"/>
              <a:ea typeface="Calibri"/>
              <a:cs typeface="Calibri"/>
            </a:endParaRPr>
          </a:p>
        </p:txBody>
      </p:sp>
      <p:sp>
        <p:nvSpPr>
          <p:cNvPr id="29" name="Text 27"/>
          <p:cNvSpPr/>
          <p:nvPr/>
        </p:nvSpPr>
        <p:spPr>
          <a:xfrm>
            <a:off x="7376160" y="2414016"/>
            <a:ext cx="2194560" cy="438912"/>
          </a:xfrm>
          <a:prstGeom prst="rect">
            <a:avLst/>
          </a:prstGeom>
          <a:noFill/>
          <a:ln/>
        </p:spPr>
        <p:txBody>
          <a:bodyPr wrap="square" lIns="0" tIns="0" rIns="0" bIns="0" rtlCol="0" anchor="ctr"/>
          <a:lstStyle/>
          <a:p>
            <a:r>
              <a:rPr lang="en-US" sz="1200" b="1" kern="0" spc="200">
                <a:solidFill>
                  <a:srgbClr val="C9A84C"/>
                </a:solidFill>
                <a:latin typeface="Calibri"/>
                <a:ea typeface="Calibri"/>
                <a:cs typeface="Calibri"/>
              </a:rPr>
              <a:t>MANAGER</a:t>
            </a:r>
            <a:endParaRPr lang="en-US" sz="933">
              <a:latin typeface="Calibri"/>
              <a:ea typeface="Calibri"/>
              <a:cs typeface="Calibri"/>
            </a:endParaRPr>
          </a:p>
        </p:txBody>
      </p:sp>
      <p:sp>
        <p:nvSpPr>
          <p:cNvPr id="30" name="Text 28"/>
          <p:cNvSpPr/>
          <p:nvPr/>
        </p:nvSpPr>
        <p:spPr>
          <a:xfrm>
            <a:off x="9692640" y="2414016"/>
            <a:ext cx="731520" cy="438912"/>
          </a:xfrm>
          <a:prstGeom prst="rect">
            <a:avLst/>
          </a:prstGeom>
          <a:noFill/>
          <a:ln/>
        </p:spPr>
        <p:txBody>
          <a:bodyPr wrap="square" lIns="0" tIns="0" rIns="0" bIns="0" rtlCol="0" anchor="ctr"/>
          <a:lstStyle/>
          <a:p>
            <a:pPr algn="r"/>
            <a:r>
              <a:rPr lang="en-US" sz="1200" b="1" kern="0" spc="200">
                <a:solidFill>
                  <a:srgbClr val="C9A84C"/>
                </a:solidFill>
                <a:latin typeface="Calibri"/>
                <a:ea typeface="Calibri"/>
                <a:cs typeface="Calibri"/>
              </a:rPr>
              <a:t>ALLOC</a:t>
            </a:r>
            <a:endParaRPr lang="en-US" sz="1067">
              <a:latin typeface="Calibri"/>
              <a:ea typeface="Calibri"/>
              <a:cs typeface="Calibri"/>
            </a:endParaRPr>
          </a:p>
        </p:txBody>
      </p:sp>
      <p:sp>
        <p:nvSpPr>
          <p:cNvPr id="31" name="Text 29"/>
          <p:cNvSpPr/>
          <p:nvPr/>
        </p:nvSpPr>
        <p:spPr>
          <a:xfrm>
            <a:off x="10546080" y="2414016"/>
            <a:ext cx="1097280" cy="438912"/>
          </a:xfrm>
          <a:prstGeom prst="rect">
            <a:avLst/>
          </a:prstGeom>
          <a:noFill/>
          <a:ln/>
        </p:spPr>
        <p:txBody>
          <a:bodyPr wrap="square" lIns="0" tIns="0" rIns="0" bIns="0" rtlCol="0" anchor="ctr"/>
          <a:lstStyle/>
          <a:p>
            <a:pPr algn="r"/>
            <a:r>
              <a:rPr lang="en-US" sz="1200" b="1" kern="0" spc="200">
                <a:solidFill>
                  <a:srgbClr val="C9A84C"/>
                </a:solidFill>
                <a:latin typeface="Calibri"/>
                <a:ea typeface="Calibri"/>
                <a:cs typeface="Calibri"/>
              </a:rPr>
              <a:t>AMOUNT</a:t>
            </a:r>
            <a:endParaRPr lang="en-US" sz="933">
              <a:latin typeface="Calibri"/>
              <a:ea typeface="Calibri"/>
              <a:cs typeface="Calibri"/>
            </a:endParaRPr>
          </a:p>
        </p:txBody>
      </p:sp>
      <p:sp>
        <p:nvSpPr>
          <p:cNvPr id="32" name="Shape 30"/>
          <p:cNvSpPr/>
          <p:nvPr/>
        </p:nvSpPr>
        <p:spPr>
          <a:xfrm>
            <a:off x="5974080" y="2999232"/>
            <a:ext cx="5669280" cy="560832"/>
          </a:xfrm>
          <a:prstGeom prst="rect">
            <a:avLst/>
          </a:prstGeom>
          <a:solidFill>
            <a:srgbClr val="FAFAF8"/>
          </a:solidFill>
          <a:ln w="12700">
            <a:solidFill>
              <a:srgbClr val="000000"/>
            </a:solidFill>
            <a:prstDash val="solid"/>
          </a:ln>
        </p:spPr>
        <p:txBody>
          <a:bodyPr/>
          <a:lstStyle/>
          <a:p>
            <a:endParaRPr lang="en-US" sz="2400"/>
          </a:p>
        </p:txBody>
      </p:sp>
      <p:sp>
        <p:nvSpPr>
          <p:cNvPr id="33" name="Text 31"/>
          <p:cNvSpPr/>
          <p:nvPr/>
        </p:nvSpPr>
        <p:spPr>
          <a:xfrm>
            <a:off x="6035040" y="30236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Dividends</a:t>
            </a:r>
            <a:endParaRPr lang="en-US" sz="1333">
              <a:latin typeface="Calibri"/>
              <a:ea typeface="Calibri"/>
              <a:cs typeface="Calibri"/>
            </a:endParaRPr>
          </a:p>
        </p:txBody>
      </p:sp>
      <p:sp>
        <p:nvSpPr>
          <p:cNvPr id="34" name="Text 32"/>
          <p:cNvSpPr/>
          <p:nvPr/>
        </p:nvSpPr>
        <p:spPr>
          <a:xfrm>
            <a:off x="7376160" y="3023616"/>
            <a:ext cx="2194560" cy="438912"/>
          </a:xfrm>
          <a:prstGeom prst="rect">
            <a:avLst/>
          </a:prstGeom>
          <a:noFill/>
          <a:ln/>
        </p:spPr>
        <p:txBody>
          <a:bodyPr wrap="square" lIns="0" tIns="0" rIns="0" bIns="0" rtlCol="0" anchor="ctr"/>
          <a:lstStyle/>
          <a:p>
            <a:r>
              <a:rPr lang="en-US" sz="1333" err="1">
                <a:solidFill>
                  <a:srgbClr val="6A6A7A"/>
                </a:solidFill>
                <a:latin typeface="Calibri"/>
                <a:ea typeface="Calibri"/>
                <a:cs typeface="Calibri"/>
              </a:rPr>
              <a:t>Paradiem</a:t>
            </a:r>
            <a:r>
              <a:rPr lang="en-US" sz="1333">
                <a:solidFill>
                  <a:srgbClr val="6A6A7A"/>
                </a:solidFill>
                <a:latin typeface="Calibri"/>
                <a:ea typeface="Calibri"/>
                <a:cs typeface="Calibri"/>
              </a:rPr>
              <a:t> Dividend Strategy</a:t>
            </a:r>
            <a:endParaRPr lang="en-US" sz="1333">
              <a:latin typeface="Calibri"/>
              <a:ea typeface="Calibri"/>
              <a:cs typeface="Calibri"/>
            </a:endParaRPr>
          </a:p>
        </p:txBody>
      </p:sp>
      <p:sp>
        <p:nvSpPr>
          <p:cNvPr id="35" name="Text 33"/>
          <p:cNvSpPr/>
          <p:nvPr/>
        </p:nvSpPr>
        <p:spPr>
          <a:xfrm>
            <a:off x="9692640" y="30236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64.4%</a:t>
            </a:r>
            <a:endParaRPr lang="en-US" sz="1333">
              <a:latin typeface="Calibri"/>
              <a:ea typeface="Calibri"/>
              <a:cs typeface="Calibri"/>
            </a:endParaRPr>
          </a:p>
        </p:txBody>
      </p:sp>
      <p:sp>
        <p:nvSpPr>
          <p:cNvPr id="36" name="Text 34"/>
          <p:cNvSpPr/>
          <p:nvPr/>
        </p:nvSpPr>
        <p:spPr>
          <a:xfrm>
            <a:off x="10512949" y="30236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$611,800</a:t>
            </a:r>
            <a:endParaRPr lang="en-US" sz="1333">
              <a:latin typeface="Calibri"/>
              <a:ea typeface="Calibri"/>
              <a:cs typeface="Calibri"/>
            </a:endParaRPr>
          </a:p>
        </p:txBody>
      </p:sp>
      <p:sp>
        <p:nvSpPr>
          <p:cNvPr id="37" name="Shape 35"/>
          <p:cNvSpPr/>
          <p:nvPr/>
        </p:nvSpPr>
        <p:spPr>
          <a:xfrm>
            <a:off x="5974080" y="3584448"/>
            <a:ext cx="5669280" cy="0"/>
          </a:xfrm>
          <a:prstGeom prst="line">
            <a:avLst/>
          </a:prstGeom>
          <a:noFill/>
          <a:ln w="3810">
            <a:solidFill>
              <a:srgbClr val="E8E7E2"/>
            </a:solidFill>
            <a:prstDash val="solid"/>
          </a:ln>
        </p:spPr>
        <p:txBody>
          <a:bodyPr/>
          <a:lstStyle/>
          <a:p>
            <a:endParaRPr lang="en-US" sz="2400"/>
          </a:p>
        </p:txBody>
      </p:sp>
      <p:sp>
        <p:nvSpPr>
          <p:cNvPr id="38" name="Shape 36"/>
          <p:cNvSpPr/>
          <p:nvPr/>
        </p:nvSpPr>
        <p:spPr>
          <a:xfrm>
            <a:off x="5974080" y="3608832"/>
            <a:ext cx="5669280" cy="560832"/>
          </a:xfrm>
          <a:prstGeom prst="rect">
            <a:avLst/>
          </a:prstGeom>
          <a:solidFill>
            <a:srgbClr val="F2F0EB"/>
          </a:solidFill>
          <a:ln w="12700">
            <a:solidFill>
              <a:srgbClr val="000000"/>
            </a:solidFill>
            <a:prstDash val="solid"/>
          </a:ln>
        </p:spPr>
        <p:txBody>
          <a:bodyPr/>
          <a:lstStyle/>
          <a:p>
            <a:endParaRPr lang="en-US" sz="2400"/>
          </a:p>
        </p:txBody>
      </p:sp>
      <p:sp>
        <p:nvSpPr>
          <p:cNvPr id="39" name="Text 37"/>
          <p:cNvSpPr/>
          <p:nvPr/>
        </p:nvSpPr>
        <p:spPr>
          <a:xfrm>
            <a:off x="6035040" y="36332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Growth</a:t>
            </a:r>
            <a:endParaRPr lang="en-US" sz="1267">
              <a:latin typeface="Calibri"/>
              <a:ea typeface="Calibri"/>
              <a:cs typeface="Calibri"/>
            </a:endParaRPr>
          </a:p>
        </p:txBody>
      </p:sp>
      <p:sp>
        <p:nvSpPr>
          <p:cNvPr id="40" name="Text 38"/>
          <p:cNvSpPr/>
          <p:nvPr/>
        </p:nvSpPr>
        <p:spPr>
          <a:xfrm>
            <a:off x="7376160" y="3633216"/>
            <a:ext cx="2194560" cy="438912"/>
          </a:xfrm>
          <a:prstGeom prst="rect">
            <a:avLst/>
          </a:prstGeom>
          <a:noFill/>
          <a:ln/>
        </p:spPr>
        <p:txBody>
          <a:bodyPr wrap="square" lIns="0" tIns="0" rIns="0" bIns="0" rtlCol="0" anchor="ctr"/>
          <a:lstStyle/>
          <a:p>
            <a:r>
              <a:rPr lang="en-US" sz="1333" err="1">
                <a:solidFill>
                  <a:srgbClr val="6A6A7A"/>
                </a:solidFill>
                <a:latin typeface="Calibri"/>
                <a:ea typeface="Calibri"/>
                <a:cs typeface="Calibri"/>
              </a:rPr>
              <a:t>Paradiem</a:t>
            </a:r>
            <a:r>
              <a:rPr lang="en-US" sz="1333">
                <a:solidFill>
                  <a:srgbClr val="6A6A7A"/>
                </a:solidFill>
                <a:latin typeface="Calibri"/>
                <a:ea typeface="Calibri"/>
                <a:cs typeface="Calibri"/>
              </a:rPr>
              <a:t> Growth Strategy</a:t>
            </a:r>
            <a:endParaRPr lang="en-US" sz="1333">
              <a:latin typeface="Calibri"/>
              <a:ea typeface="Calibri"/>
              <a:cs typeface="Calibri"/>
            </a:endParaRPr>
          </a:p>
        </p:txBody>
      </p:sp>
      <p:sp>
        <p:nvSpPr>
          <p:cNvPr id="41" name="Text 39"/>
          <p:cNvSpPr/>
          <p:nvPr/>
        </p:nvSpPr>
        <p:spPr>
          <a:xfrm>
            <a:off x="9692640" y="36332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27.6%</a:t>
            </a:r>
            <a:endParaRPr lang="en-US" sz="1333">
              <a:latin typeface="Calibri"/>
              <a:ea typeface="Calibri"/>
              <a:cs typeface="Calibri"/>
            </a:endParaRPr>
          </a:p>
        </p:txBody>
      </p:sp>
      <p:sp>
        <p:nvSpPr>
          <p:cNvPr id="42" name="Text 40"/>
          <p:cNvSpPr/>
          <p:nvPr/>
        </p:nvSpPr>
        <p:spPr>
          <a:xfrm>
            <a:off x="10512949" y="36332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$262,200</a:t>
            </a:r>
            <a:endParaRPr lang="en-US" sz="1333">
              <a:latin typeface="Calibri"/>
              <a:ea typeface="Calibri"/>
              <a:cs typeface="Calibri"/>
            </a:endParaRPr>
          </a:p>
        </p:txBody>
      </p:sp>
      <p:sp>
        <p:nvSpPr>
          <p:cNvPr id="43" name="Shape 41"/>
          <p:cNvSpPr/>
          <p:nvPr/>
        </p:nvSpPr>
        <p:spPr>
          <a:xfrm>
            <a:off x="5974080" y="4194048"/>
            <a:ext cx="5669280" cy="0"/>
          </a:xfrm>
          <a:prstGeom prst="line">
            <a:avLst/>
          </a:prstGeom>
          <a:noFill/>
          <a:ln w="3810">
            <a:solidFill>
              <a:srgbClr val="E8E7E2"/>
            </a:solidFill>
            <a:prstDash val="solid"/>
          </a:ln>
        </p:spPr>
        <p:txBody>
          <a:bodyPr/>
          <a:lstStyle/>
          <a:p>
            <a:endParaRPr lang="en-US" sz="2400"/>
          </a:p>
        </p:txBody>
      </p:sp>
      <p:sp>
        <p:nvSpPr>
          <p:cNvPr id="44" name="Shape 42"/>
          <p:cNvSpPr/>
          <p:nvPr/>
        </p:nvSpPr>
        <p:spPr>
          <a:xfrm>
            <a:off x="5974080" y="4218432"/>
            <a:ext cx="5669280" cy="560832"/>
          </a:xfrm>
          <a:prstGeom prst="rect">
            <a:avLst/>
          </a:prstGeom>
          <a:solidFill>
            <a:srgbClr val="FAFAF8"/>
          </a:solidFill>
          <a:ln w="12700">
            <a:solidFill>
              <a:srgbClr val="000000"/>
            </a:solidFill>
            <a:prstDash val="solid"/>
          </a:ln>
        </p:spPr>
        <p:txBody>
          <a:bodyPr/>
          <a:lstStyle/>
          <a:p>
            <a:endParaRPr lang="en-US" sz="2400"/>
          </a:p>
        </p:txBody>
      </p:sp>
      <p:sp>
        <p:nvSpPr>
          <p:cNvPr id="45" name="Text 43"/>
          <p:cNvSpPr/>
          <p:nvPr/>
        </p:nvSpPr>
        <p:spPr>
          <a:xfrm>
            <a:off x="6035040" y="42428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Cash</a:t>
            </a:r>
            <a:endParaRPr lang="en-US" sz="1333">
              <a:latin typeface="Calibri"/>
              <a:ea typeface="Calibri"/>
              <a:cs typeface="Calibri"/>
            </a:endParaRPr>
          </a:p>
        </p:txBody>
      </p:sp>
      <p:sp>
        <p:nvSpPr>
          <p:cNvPr id="46" name="Text 44"/>
          <p:cNvSpPr/>
          <p:nvPr/>
        </p:nvSpPr>
        <p:spPr>
          <a:xfrm>
            <a:off x="7376160" y="4242816"/>
            <a:ext cx="2194560" cy="438912"/>
          </a:xfrm>
          <a:prstGeom prst="rect">
            <a:avLst/>
          </a:prstGeom>
          <a:noFill/>
          <a:ln/>
        </p:spPr>
        <p:txBody>
          <a:bodyPr wrap="square" lIns="0" tIns="0" rIns="0" bIns="0" rtlCol="0" anchor="ctr"/>
          <a:lstStyle/>
          <a:p>
            <a:r>
              <a:rPr lang="en-US" sz="1333">
                <a:solidFill>
                  <a:srgbClr val="6A6A7A"/>
                </a:solidFill>
                <a:latin typeface="Calibri"/>
                <a:ea typeface="Calibri"/>
                <a:cs typeface="Calibri"/>
              </a:rPr>
              <a:t>Cash</a:t>
            </a:r>
            <a:endParaRPr lang="en-US" sz="1333">
              <a:latin typeface="Calibri"/>
              <a:ea typeface="Calibri"/>
              <a:cs typeface="Calibri"/>
            </a:endParaRPr>
          </a:p>
        </p:txBody>
      </p:sp>
      <p:sp>
        <p:nvSpPr>
          <p:cNvPr id="47" name="Text 45"/>
          <p:cNvSpPr/>
          <p:nvPr/>
        </p:nvSpPr>
        <p:spPr>
          <a:xfrm>
            <a:off x="9692640" y="42428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8.0%</a:t>
            </a:r>
            <a:endParaRPr lang="en-US" sz="1333">
              <a:latin typeface="Calibri"/>
              <a:ea typeface="Calibri"/>
              <a:cs typeface="Calibri"/>
            </a:endParaRPr>
          </a:p>
        </p:txBody>
      </p:sp>
      <p:sp>
        <p:nvSpPr>
          <p:cNvPr id="48" name="Text 46"/>
          <p:cNvSpPr/>
          <p:nvPr/>
        </p:nvSpPr>
        <p:spPr>
          <a:xfrm>
            <a:off x="10512949" y="42428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$76,000</a:t>
            </a:r>
            <a:endParaRPr lang="en-US" sz="1333">
              <a:latin typeface="Calibri"/>
              <a:ea typeface="Calibri"/>
              <a:cs typeface="Calibri"/>
            </a:endParaRPr>
          </a:p>
        </p:txBody>
      </p:sp>
      <p:sp>
        <p:nvSpPr>
          <p:cNvPr id="49" name="Shape 47"/>
          <p:cNvSpPr/>
          <p:nvPr/>
        </p:nvSpPr>
        <p:spPr>
          <a:xfrm>
            <a:off x="5974080" y="4803648"/>
            <a:ext cx="5669280" cy="0"/>
          </a:xfrm>
          <a:prstGeom prst="line">
            <a:avLst/>
          </a:prstGeom>
          <a:noFill/>
          <a:ln w="3810">
            <a:solidFill>
              <a:srgbClr val="E8E7E2"/>
            </a:solidFill>
            <a:prstDash val="solid"/>
          </a:ln>
        </p:spPr>
        <p:txBody>
          <a:bodyPr/>
          <a:lstStyle/>
          <a:p>
            <a:endParaRPr lang="en-US" sz="2400"/>
          </a:p>
        </p:txBody>
      </p:sp>
      <p:sp>
        <p:nvSpPr>
          <p:cNvPr id="50" name="Text 48"/>
          <p:cNvSpPr/>
          <p:nvPr/>
        </p:nvSpPr>
        <p:spPr>
          <a:xfrm>
            <a:off x="6035040" y="4852416"/>
            <a:ext cx="1219200" cy="438912"/>
          </a:xfrm>
          <a:prstGeom prst="rect">
            <a:avLst/>
          </a:prstGeom>
          <a:noFill/>
          <a:ln/>
        </p:spPr>
        <p:txBody>
          <a:bodyPr wrap="square" lIns="0" tIns="0" rIns="0" bIns="0" rtlCol="0" anchor="ctr"/>
          <a:lstStyle/>
          <a:p>
            <a:r>
              <a:rPr lang="en-US" sz="1467" b="1">
                <a:solidFill>
                  <a:srgbClr val="1A1E3A"/>
                </a:solidFill>
                <a:latin typeface="Georgia" pitchFamily="34" charset="0"/>
                <a:ea typeface="Georgia" pitchFamily="34" charset="-122"/>
                <a:cs typeface="Georgia" pitchFamily="34" charset="-120"/>
              </a:rPr>
              <a:t>TOTAL</a:t>
            </a:r>
            <a:endParaRPr lang="en-US" sz="1467"/>
          </a:p>
        </p:txBody>
      </p:sp>
      <p:sp>
        <p:nvSpPr>
          <p:cNvPr id="51" name="Text 49"/>
          <p:cNvSpPr/>
          <p:nvPr/>
        </p:nvSpPr>
        <p:spPr>
          <a:xfrm>
            <a:off x="7376160" y="4852416"/>
            <a:ext cx="2194560" cy="438912"/>
          </a:xfrm>
          <a:prstGeom prst="rect">
            <a:avLst/>
          </a:prstGeom>
          <a:noFill/>
          <a:ln/>
        </p:spPr>
        <p:txBody>
          <a:bodyPr wrap="square" lIns="0" tIns="0" rIns="0" bIns="0" rtlCol="0" anchor="ctr"/>
          <a:lstStyle/>
          <a:p>
            <a:endParaRPr lang="en-US" sz="1467"/>
          </a:p>
        </p:txBody>
      </p:sp>
      <p:sp>
        <p:nvSpPr>
          <p:cNvPr id="52" name="Text 50"/>
          <p:cNvSpPr/>
          <p:nvPr/>
        </p:nvSpPr>
        <p:spPr>
          <a:xfrm>
            <a:off x="9692640" y="4852416"/>
            <a:ext cx="731520" cy="438912"/>
          </a:xfrm>
          <a:prstGeom prst="rect">
            <a:avLst/>
          </a:prstGeom>
          <a:noFill/>
          <a:ln/>
        </p:spPr>
        <p:txBody>
          <a:bodyPr wrap="square" lIns="0" tIns="0" rIns="0" bIns="0" rtlCol="0" anchor="ctr"/>
          <a:lstStyle/>
          <a:p>
            <a:pPr algn="r"/>
            <a:r>
              <a:rPr lang="en-US" sz="1467" b="1">
                <a:solidFill>
                  <a:srgbClr val="1A1E3A"/>
                </a:solidFill>
                <a:latin typeface="Georgia" pitchFamily="34" charset="0"/>
                <a:ea typeface="Georgia" pitchFamily="34" charset="-122"/>
                <a:cs typeface="Georgia" pitchFamily="34" charset="-120"/>
              </a:rPr>
              <a:t>100%</a:t>
            </a:r>
            <a:endParaRPr lang="en-US" sz="1467"/>
          </a:p>
        </p:txBody>
      </p:sp>
      <p:sp>
        <p:nvSpPr>
          <p:cNvPr id="53" name="Text 51"/>
          <p:cNvSpPr/>
          <p:nvPr/>
        </p:nvSpPr>
        <p:spPr>
          <a:xfrm>
            <a:off x="10546080" y="4852416"/>
            <a:ext cx="1097280" cy="438912"/>
          </a:xfrm>
          <a:prstGeom prst="rect">
            <a:avLst/>
          </a:prstGeom>
          <a:noFill/>
          <a:ln/>
        </p:spPr>
        <p:txBody>
          <a:bodyPr wrap="square" lIns="0" tIns="0" rIns="0" bIns="0" rtlCol="0" anchor="ctr"/>
          <a:lstStyle/>
          <a:p>
            <a:pPr algn="r"/>
            <a:r>
              <a:rPr lang="en-US" sz="1467" b="1">
                <a:solidFill>
                  <a:srgbClr val="1A1E3A"/>
                </a:solidFill>
                <a:latin typeface="Georgia" pitchFamily="34" charset="0"/>
                <a:ea typeface="Georgia" pitchFamily="34" charset="-122"/>
                <a:cs typeface="Georgia" pitchFamily="34" charset="-120"/>
              </a:rPr>
              <a:t>$950,000</a:t>
            </a:r>
            <a:endParaRPr lang="en-US" sz="1467"/>
          </a:p>
        </p:txBody>
      </p:sp>
      <p:sp>
        <p:nvSpPr>
          <p:cNvPr id="54" name="Shape 52"/>
          <p:cNvSpPr/>
          <p:nvPr/>
        </p:nvSpPr>
        <p:spPr>
          <a:xfrm>
            <a:off x="5974080" y="4803648"/>
            <a:ext cx="5669280" cy="0"/>
          </a:xfrm>
          <a:prstGeom prst="line">
            <a:avLst/>
          </a:prstGeom>
          <a:noFill/>
          <a:ln w="10160">
            <a:solidFill>
              <a:srgbClr val="1A1E3A"/>
            </a:solidFill>
            <a:prstDash val="solid"/>
          </a:ln>
        </p:spPr>
        <p:txBody>
          <a:bodyPr/>
          <a:lstStyle/>
          <a:p>
            <a:endParaRPr lang="en-US" sz="2400"/>
          </a:p>
        </p:txBody>
      </p:sp>
      <p:pic>
        <p:nvPicPr>
          <p:cNvPr id="59" name="Image 0" descr="preencoded.png">
            <a:extLst>
              <a:ext uri="{FF2B5EF4-FFF2-40B4-BE49-F238E27FC236}">
                <a16:creationId xmlns:a16="http://schemas.microsoft.com/office/drawing/2014/main" id="{03DE1518-805D-6CEB-C738-1D97BB7FE548}"/>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61" name="Shape 0">
            <a:extLst>
              <a:ext uri="{FF2B5EF4-FFF2-40B4-BE49-F238E27FC236}">
                <a16:creationId xmlns:a16="http://schemas.microsoft.com/office/drawing/2014/main" id="{50D2D65F-783F-A9CC-0ED5-6FD4D3E7A128}"/>
              </a:ext>
            </a:extLst>
          </p:cNvPr>
          <p:cNvSpPr/>
          <p:nvPr/>
        </p:nvSpPr>
        <p:spPr>
          <a:xfrm>
            <a:off x="0" y="6547104"/>
            <a:ext cx="12191695" cy="310896"/>
          </a:xfrm>
          <a:prstGeom prst="rect">
            <a:avLst/>
          </a:prstGeom>
          <a:solidFill>
            <a:srgbClr val="F1EEE6"/>
          </a:solidFill>
          <a:ln/>
        </p:spPr>
        <p:txBody>
          <a:bodyPr/>
          <a:lstStyle/>
          <a:p>
            <a:endParaRPr lang="en-US"/>
          </a:p>
        </p:txBody>
      </p:sp>
      <p:sp>
        <p:nvSpPr>
          <p:cNvPr id="63" name="Text 1">
            <a:extLst>
              <a:ext uri="{FF2B5EF4-FFF2-40B4-BE49-F238E27FC236}">
                <a16:creationId xmlns:a16="http://schemas.microsoft.com/office/drawing/2014/main" id="{F7A4D1D0-B1CD-B91C-5587-745022252A5C}"/>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65" name="Text 2">
            <a:extLst>
              <a:ext uri="{FF2B5EF4-FFF2-40B4-BE49-F238E27FC236}">
                <a16:creationId xmlns:a16="http://schemas.microsoft.com/office/drawing/2014/main" id="{B02035E3-425F-CA0C-4C69-06043D2DB0A0}"/>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67" name="Text 3">
            <a:extLst>
              <a:ext uri="{FF2B5EF4-FFF2-40B4-BE49-F238E27FC236}">
                <a16:creationId xmlns:a16="http://schemas.microsoft.com/office/drawing/2014/main" id="{8ABCF032-5026-A2D4-0168-7C5FC77F3ED8}"/>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E09B-2CCC-8F40-D714-D843A955706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6B30F65-9F19-2C58-10A5-27A31F39F8A7}"/>
              </a:ext>
            </a:extLst>
          </p:cNvPr>
          <p:cNvSpPr/>
          <p:nvPr/>
        </p:nvSpPr>
        <p:spPr>
          <a:xfrm>
            <a:off x="0" y="792480"/>
            <a:ext cx="12192000" cy="0"/>
          </a:xfrm>
          <a:prstGeom prst="line">
            <a:avLst/>
          </a:prstGeom>
          <a:noFill/>
          <a:ln w="6350">
            <a:solidFill>
              <a:srgbClr val="DDDCD8"/>
            </a:solidFill>
            <a:prstDash val="solid"/>
          </a:ln>
        </p:spPr>
        <p:txBody>
          <a:bodyPr/>
          <a:lstStyle/>
          <a:p>
            <a:pPr defTabSz="1219110">
              <a:defRPr/>
            </a:pPr>
            <a:endParaRPr lang="en-US" sz="2400">
              <a:solidFill>
                <a:prstClr val="black"/>
              </a:solidFill>
              <a:latin typeface="Calibri" panose="020F0502020204030204"/>
            </a:endParaRPr>
          </a:p>
        </p:txBody>
      </p:sp>
      <p:sp>
        <p:nvSpPr>
          <p:cNvPr id="5" name="Text 2">
            <a:extLst>
              <a:ext uri="{FF2B5EF4-FFF2-40B4-BE49-F238E27FC236}">
                <a16:creationId xmlns:a16="http://schemas.microsoft.com/office/drawing/2014/main" id="{B7EB8BE4-5D80-601E-6B5E-9A308501F5E1}"/>
              </a:ext>
            </a:extLst>
          </p:cNvPr>
          <p:cNvSpPr/>
          <p:nvPr/>
        </p:nvSpPr>
        <p:spPr>
          <a:xfrm>
            <a:off x="1103597" y="388681"/>
            <a:ext cx="10972800" cy="585216"/>
          </a:xfrm>
          <a:prstGeom prst="rect">
            <a:avLst/>
          </a:prstGeom>
          <a:noFill/>
          <a:ln/>
        </p:spPr>
        <p:txBody>
          <a:bodyPr wrap="square" lIns="0" tIns="0" rIns="0" bIns="0" rtlCol="0" anchor="t"/>
          <a:lstStyle/>
          <a:p>
            <a:pPr defTabSz="1219110">
              <a:defRPr/>
            </a:pPr>
            <a:r>
              <a:rPr lang="en-US" sz="2400" dirty="0">
                <a:solidFill>
                  <a:srgbClr val="1A1E3A"/>
                </a:solidFill>
                <a:latin typeface="Georgia" pitchFamily="34" charset="0"/>
                <a:ea typeface="Georgia" pitchFamily="34" charset="-122"/>
                <a:cs typeface="Georgia" pitchFamily="34" charset="-120"/>
              </a:rPr>
              <a:t>25 Stock Dividend Strategy Returns &amp; Statistics</a:t>
            </a:r>
            <a:endParaRPr lang="en-US" sz="2400" dirty="0">
              <a:solidFill>
                <a:prstClr val="black"/>
              </a:solidFill>
              <a:latin typeface="Calibri" panose="020F0502020204030204"/>
            </a:endParaRPr>
          </a:p>
        </p:txBody>
      </p:sp>
      <p:sp>
        <p:nvSpPr>
          <p:cNvPr id="6" name="Shape 3">
            <a:extLst>
              <a:ext uri="{FF2B5EF4-FFF2-40B4-BE49-F238E27FC236}">
                <a16:creationId xmlns:a16="http://schemas.microsoft.com/office/drawing/2014/main" id="{DD340197-262E-AB79-1811-2ABE49673367}"/>
              </a:ext>
            </a:extLst>
          </p:cNvPr>
          <p:cNvSpPr/>
          <p:nvPr/>
        </p:nvSpPr>
        <p:spPr>
          <a:xfrm>
            <a:off x="425679" y="827592"/>
            <a:ext cx="1036320" cy="0"/>
          </a:xfrm>
          <a:prstGeom prst="line">
            <a:avLst/>
          </a:prstGeom>
          <a:noFill/>
          <a:ln w="19050">
            <a:solidFill>
              <a:srgbClr val="C9A84C"/>
            </a:solidFill>
            <a:prstDash val="solid"/>
          </a:ln>
        </p:spPr>
        <p:txBody>
          <a:bodyPr/>
          <a:lstStyle/>
          <a:p>
            <a:pPr defTabSz="1219110">
              <a:defRPr/>
            </a:pPr>
            <a:endParaRPr lang="en-US" sz="2400">
              <a:solidFill>
                <a:prstClr val="black"/>
              </a:solidFill>
              <a:latin typeface="Calibri" panose="020F0502020204030204"/>
            </a:endParaRPr>
          </a:p>
        </p:txBody>
      </p:sp>
      <p:sp>
        <p:nvSpPr>
          <p:cNvPr id="7" name="Text 4">
            <a:extLst>
              <a:ext uri="{FF2B5EF4-FFF2-40B4-BE49-F238E27FC236}">
                <a16:creationId xmlns:a16="http://schemas.microsoft.com/office/drawing/2014/main" id="{186775F9-5F05-90AE-CEB3-93E03B6CD442}"/>
              </a:ext>
            </a:extLst>
          </p:cNvPr>
          <p:cNvSpPr/>
          <p:nvPr/>
        </p:nvSpPr>
        <p:spPr>
          <a:xfrm>
            <a:off x="364719" y="876360"/>
            <a:ext cx="4876800" cy="219456"/>
          </a:xfrm>
          <a:prstGeom prst="rect">
            <a:avLst/>
          </a:prstGeom>
          <a:noFill/>
          <a:ln/>
        </p:spPr>
        <p:txBody>
          <a:bodyPr wrap="square" lIns="0" tIns="0" rIns="0" bIns="0" rtlCol="0" anchor="ctr"/>
          <a:lstStyle/>
          <a:p>
            <a:pPr defTabSz="1219110">
              <a:defRPr/>
            </a:pPr>
            <a:r>
              <a:rPr lang="en-US" sz="1333" kern="0" spc="267">
                <a:solidFill>
                  <a:srgbClr val="6A6A7A"/>
                </a:solidFill>
                <a:latin typeface="Calibri"/>
                <a:ea typeface="Calibri"/>
                <a:cs typeface="Calibri"/>
              </a:rPr>
              <a:t>ANNUALISED RETURNS (AS OF 9/30/2026)</a:t>
            </a:r>
            <a:endParaRPr lang="en-US" sz="1333">
              <a:solidFill>
                <a:prstClr val="black"/>
              </a:solidFill>
              <a:latin typeface="Calibri"/>
              <a:ea typeface="Calibri"/>
              <a:cs typeface="Calibri"/>
            </a:endParaRPr>
          </a:p>
        </p:txBody>
      </p:sp>
      <p:sp>
        <p:nvSpPr>
          <p:cNvPr id="8" name="Text 5">
            <a:extLst>
              <a:ext uri="{FF2B5EF4-FFF2-40B4-BE49-F238E27FC236}">
                <a16:creationId xmlns:a16="http://schemas.microsoft.com/office/drawing/2014/main" id="{B4BDAB43-35A3-AB9C-DF13-17316EB4907C}"/>
              </a:ext>
            </a:extLst>
          </p:cNvPr>
          <p:cNvSpPr/>
          <p:nvPr/>
        </p:nvSpPr>
        <p:spPr>
          <a:xfrm>
            <a:off x="364719" y="1095816"/>
            <a:ext cx="1706880" cy="243840"/>
          </a:xfrm>
          <a:prstGeom prst="rect">
            <a:avLst/>
          </a:prstGeom>
          <a:noFill/>
          <a:ln/>
        </p:spPr>
        <p:txBody>
          <a:bodyPr wrap="square" lIns="0" tIns="0" rIns="0" bIns="0" rtlCol="0" anchor="ctr"/>
          <a:lstStyle/>
          <a:p>
            <a:pPr defTabSz="1219110">
              <a:defRPr/>
            </a:pPr>
            <a:endParaRPr lang="en-US" sz="867">
              <a:solidFill>
                <a:prstClr val="black"/>
              </a:solidFill>
              <a:latin typeface="Calibri" panose="020F0502020204030204"/>
            </a:endParaRPr>
          </a:p>
        </p:txBody>
      </p:sp>
      <p:sp>
        <p:nvSpPr>
          <p:cNvPr id="9" name="Text 6">
            <a:extLst>
              <a:ext uri="{FF2B5EF4-FFF2-40B4-BE49-F238E27FC236}">
                <a16:creationId xmlns:a16="http://schemas.microsoft.com/office/drawing/2014/main" id="{DAB3A7EA-A813-E523-3539-8E42BB39F324}"/>
              </a:ext>
            </a:extLst>
          </p:cNvPr>
          <p:cNvSpPr/>
          <p:nvPr/>
        </p:nvSpPr>
        <p:spPr>
          <a:xfrm>
            <a:off x="2071599" y="1095816"/>
            <a:ext cx="1743456"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YTD</a:t>
            </a:r>
            <a:endParaRPr lang="en-US" sz="1200">
              <a:solidFill>
                <a:prstClr val="black"/>
              </a:solidFill>
              <a:latin typeface="Calibri"/>
              <a:ea typeface="Calibri"/>
              <a:cs typeface="Calibri"/>
            </a:endParaRPr>
          </a:p>
        </p:txBody>
      </p:sp>
      <p:sp>
        <p:nvSpPr>
          <p:cNvPr id="10" name="Text 7">
            <a:extLst>
              <a:ext uri="{FF2B5EF4-FFF2-40B4-BE49-F238E27FC236}">
                <a16:creationId xmlns:a16="http://schemas.microsoft.com/office/drawing/2014/main" id="{F2F73ADD-ECA7-B0BF-ABEE-645574BA0A11}"/>
              </a:ext>
            </a:extLst>
          </p:cNvPr>
          <p:cNvSpPr/>
          <p:nvPr/>
        </p:nvSpPr>
        <p:spPr>
          <a:xfrm>
            <a:off x="3815055" y="1095816"/>
            <a:ext cx="1743456"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1-YR</a:t>
            </a:r>
            <a:endParaRPr lang="en-US" sz="1200">
              <a:solidFill>
                <a:prstClr val="black"/>
              </a:solidFill>
              <a:latin typeface="Calibri"/>
              <a:ea typeface="Calibri"/>
              <a:cs typeface="Calibri"/>
            </a:endParaRPr>
          </a:p>
        </p:txBody>
      </p:sp>
      <p:sp>
        <p:nvSpPr>
          <p:cNvPr id="11" name="Text 8">
            <a:extLst>
              <a:ext uri="{FF2B5EF4-FFF2-40B4-BE49-F238E27FC236}">
                <a16:creationId xmlns:a16="http://schemas.microsoft.com/office/drawing/2014/main" id="{DEBBD571-0E40-413B-76BB-8074D73A8F5C}"/>
              </a:ext>
            </a:extLst>
          </p:cNvPr>
          <p:cNvSpPr/>
          <p:nvPr/>
        </p:nvSpPr>
        <p:spPr>
          <a:xfrm>
            <a:off x="5558511" y="1095816"/>
            <a:ext cx="1743456"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3-YR</a:t>
            </a:r>
            <a:endParaRPr lang="en-US" sz="1200">
              <a:solidFill>
                <a:prstClr val="black"/>
              </a:solidFill>
              <a:latin typeface="Calibri"/>
              <a:ea typeface="Calibri"/>
              <a:cs typeface="Calibri"/>
            </a:endParaRPr>
          </a:p>
        </p:txBody>
      </p:sp>
      <p:sp>
        <p:nvSpPr>
          <p:cNvPr id="12" name="Text 9">
            <a:extLst>
              <a:ext uri="{FF2B5EF4-FFF2-40B4-BE49-F238E27FC236}">
                <a16:creationId xmlns:a16="http://schemas.microsoft.com/office/drawing/2014/main" id="{C88FBC5B-94B2-8264-80E2-3AA885016D16}"/>
              </a:ext>
            </a:extLst>
          </p:cNvPr>
          <p:cNvSpPr/>
          <p:nvPr/>
        </p:nvSpPr>
        <p:spPr>
          <a:xfrm>
            <a:off x="7301967" y="1095816"/>
            <a:ext cx="1743456"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5-YR</a:t>
            </a:r>
            <a:endParaRPr lang="en-US" sz="1200">
              <a:solidFill>
                <a:prstClr val="black"/>
              </a:solidFill>
              <a:latin typeface="Calibri"/>
              <a:ea typeface="Calibri"/>
              <a:cs typeface="Calibri"/>
            </a:endParaRPr>
          </a:p>
        </p:txBody>
      </p:sp>
      <p:sp>
        <p:nvSpPr>
          <p:cNvPr id="13" name="Text 10">
            <a:extLst>
              <a:ext uri="{FF2B5EF4-FFF2-40B4-BE49-F238E27FC236}">
                <a16:creationId xmlns:a16="http://schemas.microsoft.com/office/drawing/2014/main" id="{8B3DB72A-78CA-78AE-EEED-FBDBD3E38EC1}"/>
              </a:ext>
            </a:extLst>
          </p:cNvPr>
          <p:cNvSpPr/>
          <p:nvPr/>
        </p:nvSpPr>
        <p:spPr>
          <a:xfrm>
            <a:off x="9045423" y="1095816"/>
            <a:ext cx="1804416" cy="243840"/>
          </a:xfrm>
          <a:prstGeom prst="rect">
            <a:avLst/>
          </a:prstGeom>
          <a:noFill/>
          <a:ln/>
        </p:spPr>
        <p:txBody>
          <a:bodyPr wrap="square" lIns="0" tIns="0" rIns="0" bIns="0" rtlCol="0" anchor="ctr"/>
          <a:lstStyle/>
          <a:p>
            <a:pPr algn="ctr" defTabSz="1219110">
              <a:defRPr/>
            </a:pPr>
            <a:r>
              <a:rPr lang="en-US" sz="1200" kern="0" spc="67">
                <a:solidFill>
                  <a:srgbClr val="6A6A7A"/>
                </a:solidFill>
                <a:latin typeface="Calibri"/>
                <a:ea typeface="Calibri"/>
                <a:cs typeface="Calibri"/>
              </a:rPr>
              <a:t>10-YR</a:t>
            </a:r>
            <a:endParaRPr lang="en-US" sz="1200">
              <a:solidFill>
                <a:prstClr val="black"/>
              </a:solidFill>
              <a:latin typeface="Calibri"/>
              <a:ea typeface="Calibri"/>
              <a:cs typeface="Calibri"/>
            </a:endParaRPr>
          </a:p>
        </p:txBody>
      </p:sp>
      <p:sp>
        <p:nvSpPr>
          <p:cNvPr id="14" name="Shape 11">
            <a:extLst>
              <a:ext uri="{FF2B5EF4-FFF2-40B4-BE49-F238E27FC236}">
                <a16:creationId xmlns:a16="http://schemas.microsoft.com/office/drawing/2014/main" id="{29D8C9D2-4A5D-2FFC-95FD-0386A0906C2F}"/>
              </a:ext>
            </a:extLst>
          </p:cNvPr>
          <p:cNvSpPr/>
          <p:nvPr/>
        </p:nvSpPr>
        <p:spPr>
          <a:xfrm>
            <a:off x="364719" y="1388424"/>
            <a:ext cx="11094720" cy="0"/>
          </a:xfrm>
          <a:prstGeom prst="line">
            <a:avLst/>
          </a:prstGeom>
          <a:noFill/>
          <a:ln w="5080">
            <a:solidFill>
              <a:srgbClr val="DDDCD8"/>
            </a:solidFill>
            <a:prstDash val="solid"/>
          </a:ln>
        </p:spPr>
        <p:txBody>
          <a:bodyPr/>
          <a:lstStyle/>
          <a:p>
            <a:pPr defTabSz="1219110">
              <a:defRPr/>
            </a:pPr>
            <a:endParaRPr lang="en-US" sz="2400">
              <a:solidFill>
                <a:prstClr val="black"/>
              </a:solidFill>
              <a:latin typeface="Calibri" panose="020F0502020204030204"/>
            </a:endParaRPr>
          </a:p>
        </p:txBody>
      </p:sp>
      <p:sp>
        <p:nvSpPr>
          <p:cNvPr id="15" name="Text 12">
            <a:extLst>
              <a:ext uri="{FF2B5EF4-FFF2-40B4-BE49-F238E27FC236}">
                <a16:creationId xmlns:a16="http://schemas.microsoft.com/office/drawing/2014/main" id="{AF62D5D0-9050-4384-BBAF-6DF3A8AE5D72}"/>
              </a:ext>
            </a:extLst>
          </p:cNvPr>
          <p:cNvSpPr/>
          <p:nvPr/>
        </p:nvSpPr>
        <p:spPr>
          <a:xfrm>
            <a:off x="421589" y="1461575"/>
            <a:ext cx="1706880" cy="316992"/>
          </a:xfrm>
          <a:prstGeom prst="rect">
            <a:avLst/>
          </a:prstGeom>
          <a:noFill/>
          <a:ln/>
        </p:spPr>
        <p:txBody>
          <a:bodyPr wrap="square" lIns="0" tIns="0" rIns="0" bIns="0" rtlCol="0" anchor="ctr"/>
          <a:lstStyle/>
          <a:p>
            <a:pPr defTabSz="1219110">
              <a:defRPr/>
            </a:pPr>
            <a:r>
              <a:rPr lang="en-US" sz="1000" kern="0" spc="200">
                <a:solidFill>
                  <a:srgbClr val="6A6A7A"/>
                </a:solidFill>
                <a:latin typeface="Calibri"/>
                <a:ea typeface="Calibri"/>
                <a:cs typeface="Calibri"/>
              </a:rPr>
              <a:t>GROSS</a:t>
            </a:r>
            <a:endParaRPr lang="en-US" sz="1000">
              <a:solidFill>
                <a:prstClr val="black"/>
              </a:solidFill>
              <a:latin typeface="Calibri"/>
              <a:ea typeface="Calibri"/>
              <a:cs typeface="Calibri"/>
            </a:endParaRPr>
          </a:p>
        </p:txBody>
      </p:sp>
      <p:sp>
        <p:nvSpPr>
          <p:cNvPr id="16" name="Text 13">
            <a:extLst>
              <a:ext uri="{FF2B5EF4-FFF2-40B4-BE49-F238E27FC236}">
                <a16:creationId xmlns:a16="http://schemas.microsoft.com/office/drawing/2014/main" id="{1180BA21-6429-8CF8-A3D3-D5B501AD86F3}"/>
              </a:ext>
            </a:extLst>
          </p:cNvPr>
          <p:cNvSpPr/>
          <p:nvPr/>
        </p:nvSpPr>
        <p:spPr>
          <a:xfrm>
            <a:off x="2071599" y="1461576"/>
            <a:ext cx="1743456"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a:rPr>
              <a:t>13.55%</a:t>
            </a:r>
            <a:endParaRPr lang="en-US" sz="1400">
              <a:solidFill>
                <a:prstClr val="black"/>
              </a:solidFill>
              <a:latin typeface="Georgia"/>
            </a:endParaRPr>
          </a:p>
        </p:txBody>
      </p:sp>
      <p:sp>
        <p:nvSpPr>
          <p:cNvPr id="17" name="Text 14">
            <a:extLst>
              <a:ext uri="{FF2B5EF4-FFF2-40B4-BE49-F238E27FC236}">
                <a16:creationId xmlns:a16="http://schemas.microsoft.com/office/drawing/2014/main" id="{507767B4-F21D-45E0-D0CC-56C63D6388B4}"/>
              </a:ext>
            </a:extLst>
          </p:cNvPr>
          <p:cNvSpPr/>
          <p:nvPr/>
        </p:nvSpPr>
        <p:spPr>
          <a:xfrm>
            <a:off x="3815055" y="1461576"/>
            <a:ext cx="1743456"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a:ea typeface="Georgia" pitchFamily="34" charset="-122"/>
                <a:cs typeface="Georgia" pitchFamily="34" charset="-120"/>
              </a:rPr>
              <a:t>17.11%</a:t>
            </a:r>
            <a:endParaRPr lang="en-US" sz="1400">
              <a:solidFill>
                <a:prstClr val="black"/>
              </a:solidFill>
              <a:latin typeface="Georgia"/>
            </a:endParaRPr>
          </a:p>
        </p:txBody>
      </p:sp>
      <p:sp>
        <p:nvSpPr>
          <p:cNvPr id="18" name="Text 15">
            <a:extLst>
              <a:ext uri="{FF2B5EF4-FFF2-40B4-BE49-F238E27FC236}">
                <a16:creationId xmlns:a16="http://schemas.microsoft.com/office/drawing/2014/main" id="{2B4D759A-738D-8195-334F-FF469C2B29BD}"/>
              </a:ext>
            </a:extLst>
          </p:cNvPr>
          <p:cNvSpPr/>
          <p:nvPr/>
        </p:nvSpPr>
        <p:spPr>
          <a:xfrm>
            <a:off x="5558511" y="1461576"/>
            <a:ext cx="1743456"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a:ea typeface="Georgia" pitchFamily="34" charset="-122"/>
                <a:cs typeface="Georgia" pitchFamily="34" charset="-120"/>
              </a:rPr>
              <a:t>20.98%</a:t>
            </a:r>
            <a:endParaRPr lang="en-US" sz="1400">
              <a:solidFill>
                <a:prstClr val="black"/>
              </a:solidFill>
              <a:latin typeface="Georgia"/>
            </a:endParaRPr>
          </a:p>
        </p:txBody>
      </p:sp>
      <p:sp>
        <p:nvSpPr>
          <p:cNvPr id="19" name="Text 16">
            <a:extLst>
              <a:ext uri="{FF2B5EF4-FFF2-40B4-BE49-F238E27FC236}">
                <a16:creationId xmlns:a16="http://schemas.microsoft.com/office/drawing/2014/main" id="{13C6CBB0-0E0C-19A1-44DF-E191D143BA91}"/>
              </a:ext>
            </a:extLst>
          </p:cNvPr>
          <p:cNvSpPr/>
          <p:nvPr/>
        </p:nvSpPr>
        <p:spPr>
          <a:xfrm>
            <a:off x="7301967" y="1461576"/>
            <a:ext cx="1743456"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a:ea typeface="Georgia" pitchFamily="34" charset="-122"/>
                <a:cs typeface="Georgia" pitchFamily="34" charset="-120"/>
              </a:rPr>
              <a:t>16.73%</a:t>
            </a:r>
            <a:endParaRPr lang="en-US" sz="1400">
              <a:solidFill>
                <a:prstClr val="black"/>
              </a:solidFill>
              <a:latin typeface="Georgia"/>
            </a:endParaRPr>
          </a:p>
        </p:txBody>
      </p:sp>
      <p:sp>
        <p:nvSpPr>
          <p:cNvPr id="20" name="Text 17">
            <a:extLst>
              <a:ext uri="{FF2B5EF4-FFF2-40B4-BE49-F238E27FC236}">
                <a16:creationId xmlns:a16="http://schemas.microsoft.com/office/drawing/2014/main" id="{1AF53552-9B9D-7EA5-600D-1B8A3CF7AA25}"/>
              </a:ext>
            </a:extLst>
          </p:cNvPr>
          <p:cNvSpPr/>
          <p:nvPr/>
        </p:nvSpPr>
        <p:spPr>
          <a:xfrm>
            <a:off x="9045423" y="1461576"/>
            <a:ext cx="1804416"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a:ea typeface="Georgia" pitchFamily="34" charset="-122"/>
                <a:cs typeface="Georgia" pitchFamily="34" charset="-120"/>
              </a:rPr>
              <a:t>14.54%</a:t>
            </a:r>
            <a:endParaRPr lang="en-US" sz="1400">
              <a:solidFill>
                <a:prstClr val="black"/>
              </a:solidFill>
              <a:latin typeface="Georgia"/>
            </a:endParaRPr>
          </a:p>
        </p:txBody>
      </p:sp>
      <p:sp>
        <p:nvSpPr>
          <p:cNvPr id="21" name="Shape 18">
            <a:extLst>
              <a:ext uri="{FF2B5EF4-FFF2-40B4-BE49-F238E27FC236}">
                <a16:creationId xmlns:a16="http://schemas.microsoft.com/office/drawing/2014/main" id="{678DC87F-53D6-E58C-7AE5-E3F9CF72128A}"/>
              </a:ext>
            </a:extLst>
          </p:cNvPr>
          <p:cNvSpPr/>
          <p:nvPr/>
        </p:nvSpPr>
        <p:spPr>
          <a:xfrm>
            <a:off x="364719" y="1802952"/>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22" name="Shape 19">
            <a:extLst>
              <a:ext uri="{FF2B5EF4-FFF2-40B4-BE49-F238E27FC236}">
                <a16:creationId xmlns:a16="http://schemas.microsoft.com/office/drawing/2014/main" id="{D6AB2AA1-8E19-6B94-5DEC-E50FBEDBE5A6}"/>
              </a:ext>
            </a:extLst>
          </p:cNvPr>
          <p:cNvSpPr/>
          <p:nvPr/>
        </p:nvSpPr>
        <p:spPr>
          <a:xfrm>
            <a:off x="364721" y="1815144"/>
            <a:ext cx="11094721" cy="341376"/>
          </a:xfrm>
          <a:prstGeom prst="rect">
            <a:avLst/>
          </a:prstGeom>
          <a:solidFill>
            <a:srgbClr val="EDECE7"/>
          </a:solidFill>
          <a:ln w="12700">
            <a:solidFill>
              <a:srgbClr val="000000"/>
            </a:solidFill>
            <a:prstDash val="solid"/>
          </a:ln>
        </p:spPr>
        <p:txBody>
          <a:bodyPr/>
          <a:lstStyle/>
          <a:p>
            <a:pPr defTabSz="1219110">
              <a:defRPr/>
            </a:pPr>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1C233281-9ACE-4C89-0867-2852564DA08C}"/>
              </a:ext>
            </a:extLst>
          </p:cNvPr>
          <p:cNvSpPr/>
          <p:nvPr/>
        </p:nvSpPr>
        <p:spPr>
          <a:xfrm>
            <a:off x="421589" y="1851719"/>
            <a:ext cx="1706880" cy="316992"/>
          </a:xfrm>
          <a:prstGeom prst="rect">
            <a:avLst/>
          </a:prstGeom>
          <a:noFill/>
          <a:ln/>
        </p:spPr>
        <p:txBody>
          <a:bodyPr wrap="square" lIns="0" tIns="0" rIns="0" bIns="0" rtlCol="0" anchor="ctr"/>
          <a:lstStyle/>
          <a:p>
            <a:pPr defTabSz="1219110">
              <a:defRPr/>
            </a:pPr>
            <a:r>
              <a:rPr lang="en-US" sz="1000" kern="0" spc="200">
                <a:solidFill>
                  <a:srgbClr val="C9A84C"/>
                </a:solidFill>
                <a:latin typeface="Calibri"/>
                <a:ea typeface="Calibri"/>
                <a:cs typeface="Calibri"/>
              </a:rPr>
              <a:t>NET</a:t>
            </a:r>
            <a:endParaRPr lang="en-US" sz="1000">
              <a:solidFill>
                <a:prstClr val="black"/>
              </a:solidFill>
              <a:latin typeface="Calibri"/>
              <a:ea typeface="Calibri"/>
              <a:cs typeface="Calibri"/>
            </a:endParaRPr>
          </a:p>
        </p:txBody>
      </p:sp>
      <p:sp>
        <p:nvSpPr>
          <p:cNvPr id="24" name="Text 21">
            <a:extLst>
              <a:ext uri="{FF2B5EF4-FFF2-40B4-BE49-F238E27FC236}">
                <a16:creationId xmlns:a16="http://schemas.microsoft.com/office/drawing/2014/main" id="{E5898E45-56C0-D00E-6C8B-78ADC6577B23}"/>
              </a:ext>
            </a:extLst>
          </p:cNvPr>
          <p:cNvSpPr/>
          <p:nvPr/>
        </p:nvSpPr>
        <p:spPr>
          <a:xfrm>
            <a:off x="2071599"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Georgia" pitchFamily="34" charset="-122"/>
                <a:cs typeface="Georgia" pitchFamily="34" charset="-120"/>
              </a:rPr>
              <a:t>12.28%</a:t>
            </a:r>
            <a:endParaRPr lang="en-US" sz="1400">
              <a:solidFill>
                <a:prstClr val="black"/>
              </a:solidFill>
              <a:latin typeface="Georgia"/>
            </a:endParaRPr>
          </a:p>
        </p:txBody>
      </p:sp>
      <p:sp>
        <p:nvSpPr>
          <p:cNvPr id="25" name="Text 22">
            <a:extLst>
              <a:ext uri="{FF2B5EF4-FFF2-40B4-BE49-F238E27FC236}">
                <a16:creationId xmlns:a16="http://schemas.microsoft.com/office/drawing/2014/main" id="{6B84FC37-633D-8624-7395-BDBA82AE92D8}"/>
              </a:ext>
            </a:extLst>
          </p:cNvPr>
          <p:cNvSpPr/>
          <p:nvPr/>
        </p:nvSpPr>
        <p:spPr>
          <a:xfrm>
            <a:off x="3815055"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rPr>
              <a:t>15.37%</a:t>
            </a:r>
            <a:endParaRPr lang="en-US" sz="1400">
              <a:solidFill>
                <a:prstClr val="black"/>
              </a:solidFill>
              <a:latin typeface="Georgia"/>
            </a:endParaRPr>
          </a:p>
        </p:txBody>
      </p:sp>
      <p:sp>
        <p:nvSpPr>
          <p:cNvPr id="26" name="Text 23">
            <a:extLst>
              <a:ext uri="{FF2B5EF4-FFF2-40B4-BE49-F238E27FC236}">
                <a16:creationId xmlns:a16="http://schemas.microsoft.com/office/drawing/2014/main" id="{93308182-87FA-7B6A-2202-816F195D3EF8}"/>
              </a:ext>
            </a:extLst>
          </p:cNvPr>
          <p:cNvSpPr/>
          <p:nvPr/>
        </p:nvSpPr>
        <p:spPr>
          <a:xfrm>
            <a:off x="5558511"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Calibri" panose="020F0502020204030204"/>
                <a:cs typeface="Calibri" panose="020F0502020204030204"/>
              </a:rPr>
              <a:t>19.18%</a:t>
            </a:r>
            <a:endParaRPr lang="en-US" sz="1400">
              <a:solidFill>
                <a:prstClr val="black"/>
              </a:solidFill>
              <a:latin typeface="Georgia"/>
              <a:ea typeface="Calibri" panose="020F0502020204030204"/>
              <a:cs typeface="Calibri" panose="020F0502020204030204"/>
            </a:endParaRPr>
          </a:p>
        </p:txBody>
      </p:sp>
      <p:sp>
        <p:nvSpPr>
          <p:cNvPr id="27" name="Text 24">
            <a:extLst>
              <a:ext uri="{FF2B5EF4-FFF2-40B4-BE49-F238E27FC236}">
                <a16:creationId xmlns:a16="http://schemas.microsoft.com/office/drawing/2014/main" id="{BC2BD0CB-5BF2-62E3-24B8-0A2031B7F4BD}"/>
              </a:ext>
            </a:extLst>
          </p:cNvPr>
          <p:cNvSpPr/>
          <p:nvPr/>
        </p:nvSpPr>
        <p:spPr>
          <a:xfrm>
            <a:off x="7301967" y="1851720"/>
            <a:ext cx="174345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ea typeface="Georgia" pitchFamily="34" charset="-122"/>
                <a:cs typeface="Georgia" pitchFamily="34" charset="-120"/>
              </a:rPr>
              <a:t>14.99%</a:t>
            </a:r>
            <a:endParaRPr lang="en-US" sz="1400">
              <a:solidFill>
                <a:prstClr val="black"/>
              </a:solidFill>
              <a:latin typeface="Georgia"/>
            </a:endParaRPr>
          </a:p>
        </p:txBody>
      </p:sp>
      <p:sp>
        <p:nvSpPr>
          <p:cNvPr id="28" name="Text 25">
            <a:extLst>
              <a:ext uri="{FF2B5EF4-FFF2-40B4-BE49-F238E27FC236}">
                <a16:creationId xmlns:a16="http://schemas.microsoft.com/office/drawing/2014/main" id="{4C050049-6BC8-B214-3090-44CF1E402412}"/>
              </a:ext>
            </a:extLst>
          </p:cNvPr>
          <p:cNvSpPr/>
          <p:nvPr/>
        </p:nvSpPr>
        <p:spPr>
          <a:xfrm>
            <a:off x="9045423" y="1851720"/>
            <a:ext cx="1804416"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a:rPr>
              <a:t>12.84%</a:t>
            </a:r>
            <a:endParaRPr lang="en-US" sz="1400">
              <a:solidFill>
                <a:prstClr val="black"/>
              </a:solidFill>
              <a:latin typeface="Calibri" panose="020F0502020204030204"/>
            </a:endParaRPr>
          </a:p>
        </p:txBody>
      </p:sp>
      <p:sp>
        <p:nvSpPr>
          <p:cNvPr id="29" name="Shape 26">
            <a:extLst>
              <a:ext uri="{FF2B5EF4-FFF2-40B4-BE49-F238E27FC236}">
                <a16:creationId xmlns:a16="http://schemas.microsoft.com/office/drawing/2014/main" id="{15070D57-D39B-BF64-BC90-A58BD91C81EF}"/>
              </a:ext>
            </a:extLst>
          </p:cNvPr>
          <p:cNvSpPr/>
          <p:nvPr/>
        </p:nvSpPr>
        <p:spPr>
          <a:xfrm>
            <a:off x="364719" y="2193096"/>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30" name="Text 27">
            <a:extLst>
              <a:ext uri="{FF2B5EF4-FFF2-40B4-BE49-F238E27FC236}">
                <a16:creationId xmlns:a16="http://schemas.microsoft.com/office/drawing/2014/main" id="{69D9D0A5-A394-8EEA-BC6F-D444C75B9E73}"/>
              </a:ext>
            </a:extLst>
          </p:cNvPr>
          <p:cNvSpPr/>
          <p:nvPr/>
        </p:nvSpPr>
        <p:spPr>
          <a:xfrm>
            <a:off x="364721" y="2241864"/>
            <a:ext cx="2073681" cy="316992"/>
          </a:xfrm>
          <a:prstGeom prst="rect">
            <a:avLst/>
          </a:prstGeom>
          <a:noFill/>
          <a:ln/>
        </p:spPr>
        <p:txBody>
          <a:bodyPr wrap="square" lIns="0" tIns="0" rIns="0" bIns="0" rtlCol="0" anchor="ctr"/>
          <a:lstStyle/>
          <a:p>
            <a:pPr defTabSz="1219110">
              <a:defRPr/>
            </a:pPr>
            <a:r>
              <a:rPr lang="en-US" sz="1000" kern="0" spc="200">
                <a:solidFill>
                  <a:srgbClr val="6A6A7A"/>
                </a:solidFill>
                <a:ea typeface="Calibri"/>
                <a:cs typeface="Calibri"/>
              </a:rPr>
              <a:t>iShares Select Dividend ETF (DVY)</a:t>
            </a:r>
            <a:endParaRPr lang="en-US" sz="1000">
              <a:solidFill>
                <a:prstClr val="black"/>
              </a:solidFill>
              <a:latin typeface="Calibri"/>
              <a:ea typeface="Calibri"/>
              <a:cs typeface="Calibri"/>
            </a:endParaRPr>
          </a:p>
        </p:txBody>
      </p:sp>
      <p:sp>
        <p:nvSpPr>
          <p:cNvPr id="31" name="Text 28">
            <a:extLst>
              <a:ext uri="{FF2B5EF4-FFF2-40B4-BE49-F238E27FC236}">
                <a16:creationId xmlns:a16="http://schemas.microsoft.com/office/drawing/2014/main" id="{76AD8BA1-DE29-B4FA-39B7-C2EFA0D23B64}"/>
              </a:ext>
            </a:extLst>
          </p:cNvPr>
          <p:cNvSpPr/>
          <p:nvPr/>
        </p:nvSpPr>
        <p:spPr>
          <a:xfrm>
            <a:off x="2071599" y="2241864"/>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10.33%</a:t>
            </a:r>
            <a:endParaRPr lang="en-US" sz="1400">
              <a:solidFill>
                <a:prstClr val="black"/>
              </a:solidFill>
              <a:latin typeface="Georgia"/>
            </a:endParaRPr>
          </a:p>
        </p:txBody>
      </p:sp>
      <p:sp>
        <p:nvSpPr>
          <p:cNvPr id="32" name="Text 29">
            <a:extLst>
              <a:ext uri="{FF2B5EF4-FFF2-40B4-BE49-F238E27FC236}">
                <a16:creationId xmlns:a16="http://schemas.microsoft.com/office/drawing/2014/main" id="{197EDA5E-6EFD-77E8-0EA0-04BBEEF28C5C}"/>
              </a:ext>
            </a:extLst>
          </p:cNvPr>
          <p:cNvSpPr/>
          <p:nvPr/>
        </p:nvSpPr>
        <p:spPr>
          <a:xfrm>
            <a:off x="3815055" y="2241864"/>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10.83%</a:t>
            </a:r>
            <a:endParaRPr lang="en-US" sz="1400">
              <a:solidFill>
                <a:prstClr val="black"/>
              </a:solidFill>
              <a:latin typeface="Georgia"/>
            </a:endParaRPr>
          </a:p>
        </p:txBody>
      </p:sp>
      <p:sp>
        <p:nvSpPr>
          <p:cNvPr id="33" name="Text 30">
            <a:extLst>
              <a:ext uri="{FF2B5EF4-FFF2-40B4-BE49-F238E27FC236}">
                <a16:creationId xmlns:a16="http://schemas.microsoft.com/office/drawing/2014/main" id="{54313487-1D7C-7D0D-28F1-893215105593}"/>
              </a:ext>
            </a:extLst>
          </p:cNvPr>
          <p:cNvSpPr/>
          <p:nvPr/>
        </p:nvSpPr>
        <p:spPr>
          <a:xfrm>
            <a:off x="5558511" y="2241864"/>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ea typeface="Georgia" pitchFamily="34" charset="-122"/>
                <a:cs typeface="Georgia" pitchFamily="34" charset="-120"/>
              </a:rPr>
              <a:t>16.33%</a:t>
            </a:r>
            <a:endParaRPr lang="en-US" sz="1400">
              <a:solidFill>
                <a:prstClr val="black"/>
              </a:solidFill>
              <a:latin typeface="Georgia"/>
            </a:endParaRPr>
          </a:p>
        </p:txBody>
      </p:sp>
      <p:sp>
        <p:nvSpPr>
          <p:cNvPr id="34" name="Text 31">
            <a:extLst>
              <a:ext uri="{FF2B5EF4-FFF2-40B4-BE49-F238E27FC236}">
                <a16:creationId xmlns:a16="http://schemas.microsoft.com/office/drawing/2014/main" id="{BDEEEF1E-E524-EAE0-B336-682FDA2444D8}"/>
              </a:ext>
            </a:extLst>
          </p:cNvPr>
          <p:cNvSpPr/>
          <p:nvPr/>
        </p:nvSpPr>
        <p:spPr>
          <a:xfrm>
            <a:off x="7301967" y="2241864"/>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9.66%</a:t>
            </a:r>
            <a:endParaRPr lang="en-US" sz="1400">
              <a:solidFill>
                <a:prstClr val="black"/>
              </a:solidFill>
              <a:latin typeface="Calibri" panose="020F0502020204030204"/>
            </a:endParaRPr>
          </a:p>
        </p:txBody>
      </p:sp>
      <p:sp>
        <p:nvSpPr>
          <p:cNvPr id="35" name="Text 32">
            <a:extLst>
              <a:ext uri="{FF2B5EF4-FFF2-40B4-BE49-F238E27FC236}">
                <a16:creationId xmlns:a16="http://schemas.microsoft.com/office/drawing/2014/main" id="{761C48DF-7EE6-9EEA-E2A6-61DACB7F5243}"/>
              </a:ext>
            </a:extLst>
          </p:cNvPr>
          <p:cNvSpPr/>
          <p:nvPr/>
        </p:nvSpPr>
        <p:spPr>
          <a:xfrm>
            <a:off x="9045423" y="2241864"/>
            <a:ext cx="180441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9.74%</a:t>
            </a:r>
            <a:endParaRPr lang="en-US" sz="1400">
              <a:solidFill>
                <a:prstClr val="black"/>
              </a:solidFill>
              <a:latin typeface="Calibri" panose="020F0502020204030204"/>
            </a:endParaRPr>
          </a:p>
        </p:txBody>
      </p:sp>
      <p:sp>
        <p:nvSpPr>
          <p:cNvPr id="36" name="Shape 33">
            <a:extLst>
              <a:ext uri="{FF2B5EF4-FFF2-40B4-BE49-F238E27FC236}">
                <a16:creationId xmlns:a16="http://schemas.microsoft.com/office/drawing/2014/main" id="{4CEA5E3D-4DE2-0F30-116F-CF8AAC1A051B}"/>
              </a:ext>
            </a:extLst>
          </p:cNvPr>
          <p:cNvSpPr/>
          <p:nvPr/>
        </p:nvSpPr>
        <p:spPr>
          <a:xfrm>
            <a:off x="364719" y="2583240"/>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37" name="Text 34">
            <a:extLst>
              <a:ext uri="{FF2B5EF4-FFF2-40B4-BE49-F238E27FC236}">
                <a16:creationId xmlns:a16="http://schemas.microsoft.com/office/drawing/2014/main" id="{F958F7A3-1509-36A4-ECB3-EB99F8C33444}"/>
              </a:ext>
            </a:extLst>
          </p:cNvPr>
          <p:cNvSpPr/>
          <p:nvPr/>
        </p:nvSpPr>
        <p:spPr>
          <a:xfrm>
            <a:off x="364719" y="2632008"/>
            <a:ext cx="1706880" cy="316992"/>
          </a:xfrm>
          <a:prstGeom prst="rect">
            <a:avLst/>
          </a:prstGeom>
          <a:noFill/>
          <a:ln/>
        </p:spPr>
        <p:txBody>
          <a:bodyPr wrap="square" lIns="0" tIns="0" rIns="0" bIns="0" rtlCol="0" anchor="ctr"/>
          <a:lstStyle/>
          <a:p>
            <a:pPr defTabSz="1219110">
              <a:defRPr/>
            </a:pPr>
            <a:r>
              <a:rPr lang="en-US" sz="1000" kern="0" spc="200">
                <a:solidFill>
                  <a:srgbClr val="6A6A7A"/>
                </a:solidFill>
                <a:ea typeface="Calibri"/>
                <a:cs typeface="Calibri"/>
              </a:rPr>
              <a:t>State Street S &amp; P 500 ETF Trust (SPY)</a:t>
            </a:r>
            <a:endParaRPr lang="en-US" sz="1000">
              <a:solidFill>
                <a:prstClr val="black"/>
              </a:solidFill>
              <a:latin typeface="Calibri"/>
              <a:ea typeface="Calibri"/>
              <a:cs typeface="Calibri"/>
            </a:endParaRPr>
          </a:p>
        </p:txBody>
      </p:sp>
      <p:sp>
        <p:nvSpPr>
          <p:cNvPr id="39" name="Text 36">
            <a:extLst>
              <a:ext uri="{FF2B5EF4-FFF2-40B4-BE49-F238E27FC236}">
                <a16:creationId xmlns:a16="http://schemas.microsoft.com/office/drawing/2014/main" id="{2ADC0E6B-1D69-37F3-9E22-DC674D472E9A}"/>
              </a:ext>
            </a:extLst>
          </p:cNvPr>
          <p:cNvSpPr/>
          <p:nvPr/>
        </p:nvSpPr>
        <p:spPr>
          <a:xfrm>
            <a:off x="3815055" y="2632008"/>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15.71%</a:t>
            </a:r>
            <a:endParaRPr lang="en-US" sz="1400">
              <a:solidFill>
                <a:prstClr val="black"/>
              </a:solidFill>
              <a:latin typeface="Calibri" panose="020F0502020204030204"/>
              <a:ea typeface="Calibri"/>
              <a:cs typeface="Calibri"/>
            </a:endParaRPr>
          </a:p>
        </p:txBody>
      </p:sp>
      <p:sp>
        <p:nvSpPr>
          <p:cNvPr id="40" name="Text 37">
            <a:extLst>
              <a:ext uri="{FF2B5EF4-FFF2-40B4-BE49-F238E27FC236}">
                <a16:creationId xmlns:a16="http://schemas.microsoft.com/office/drawing/2014/main" id="{79417001-40B4-A730-BF6D-C6B2F6DCBE07}"/>
              </a:ext>
            </a:extLst>
          </p:cNvPr>
          <p:cNvSpPr/>
          <p:nvPr/>
        </p:nvSpPr>
        <p:spPr>
          <a:xfrm>
            <a:off x="5558511" y="2632008"/>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22.76%</a:t>
            </a:r>
            <a:endParaRPr lang="en-US" sz="1400">
              <a:solidFill>
                <a:prstClr val="black"/>
              </a:solidFill>
              <a:latin typeface="Georgia"/>
            </a:endParaRPr>
          </a:p>
        </p:txBody>
      </p:sp>
      <p:sp>
        <p:nvSpPr>
          <p:cNvPr id="41" name="Text 38">
            <a:extLst>
              <a:ext uri="{FF2B5EF4-FFF2-40B4-BE49-F238E27FC236}">
                <a16:creationId xmlns:a16="http://schemas.microsoft.com/office/drawing/2014/main" id="{63441509-046F-2450-FDD2-4DAE9FF90CD5}"/>
              </a:ext>
            </a:extLst>
          </p:cNvPr>
          <p:cNvSpPr/>
          <p:nvPr/>
        </p:nvSpPr>
        <p:spPr>
          <a:xfrm>
            <a:off x="7301967" y="2632008"/>
            <a:ext cx="174345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13.70%</a:t>
            </a:r>
            <a:endParaRPr lang="en-US" sz="1400">
              <a:solidFill>
                <a:prstClr val="black"/>
              </a:solidFill>
              <a:latin typeface="Calibri" panose="020F0502020204030204"/>
            </a:endParaRPr>
          </a:p>
        </p:txBody>
      </p:sp>
      <p:sp>
        <p:nvSpPr>
          <p:cNvPr id="42" name="Text 39">
            <a:extLst>
              <a:ext uri="{FF2B5EF4-FFF2-40B4-BE49-F238E27FC236}">
                <a16:creationId xmlns:a16="http://schemas.microsoft.com/office/drawing/2014/main" id="{2FF54C8C-7235-F4D8-DB81-DE3EBB18F490}"/>
              </a:ext>
            </a:extLst>
          </p:cNvPr>
          <p:cNvSpPr/>
          <p:nvPr/>
        </p:nvSpPr>
        <p:spPr>
          <a:xfrm>
            <a:off x="9045423" y="2632008"/>
            <a:ext cx="1804416" cy="316992"/>
          </a:xfrm>
          <a:prstGeom prst="rect">
            <a:avLst/>
          </a:prstGeom>
          <a:noFill/>
          <a:ln/>
        </p:spPr>
        <p:txBody>
          <a:bodyPr wrap="square" lIns="0" tIns="0" rIns="0" bIns="0" rtlCol="0" anchor="ctr"/>
          <a:lstStyle/>
          <a:p>
            <a:pPr algn="ctr" defTabSz="1219110">
              <a:defRPr/>
            </a:pPr>
            <a:r>
              <a:rPr lang="en-US" sz="1400">
                <a:solidFill>
                  <a:srgbClr val="6A6A7A"/>
                </a:solidFill>
                <a:latin typeface="Georgia"/>
              </a:rPr>
              <a:t>15.23%</a:t>
            </a:r>
            <a:endParaRPr lang="en-US" sz="1400">
              <a:solidFill>
                <a:prstClr val="black"/>
              </a:solidFill>
              <a:latin typeface="Georgia"/>
            </a:endParaRPr>
          </a:p>
        </p:txBody>
      </p:sp>
      <p:sp>
        <p:nvSpPr>
          <p:cNvPr id="43" name="Shape 40">
            <a:extLst>
              <a:ext uri="{FF2B5EF4-FFF2-40B4-BE49-F238E27FC236}">
                <a16:creationId xmlns:a16="http://schemas.microsoft.com/office/drawing/2014/main" id="{CDBDD648-EC07-89C1-70D2-CE1A9E3935E9}"/>
              </a:ext>
            </a:extLst>
          </p:cNvPr>
          <p:cNvSpPr/>
          <p:nvPr/>
        </p:nvSpPr>
        <p:spPr>
          <a:xfrm>
            <a:off x="364719" y="2973384"/>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44" name="Shape 41">
            <a:extLst>
              <a:ext uri="{FF2B5EF4-FFF2-40B4-BE49-F238E27FC236}">
                <a16:creationId xmlns:a16="http://schemas.microsoft.com/office/drawing/2014/main" id="{C27E0CA3-B51C-45D8-8C46-6877156503E8}"/>
              </a:ext>
            </a:extLst>
          </p:cNvPr>
          <p:cNvSpPr/>
          <p:nvPr/>
        </p:nvSpPr>
        <p:spPr>
          <a:xfrm>
            <a:off x="364719" y="3095304"/>
            <a:ext cx="11094720" cy="0"/>
          </a:xfrm>
          <a:prstGeom prst="line">
            <a:avLst/>
          </a:prstGeom>
          <a:noFill/>
          <a:ln w="12700">
            <a:solidFill>
              <a:srgbClr val="C9A84C"/>
            </a:solidFill>
            <a:prstDash val="solid"/>
          </a:ln>
        </p:spPr>
        <p:txBody>
          <a:bodyPr/>
          <a:lstStyle/>
          <a:p>
            <a:pPr defTabSz="1219110">
              <a:defRPr/>
            </a:pPr>
            <a:endParaRPr lang="en-US" sz="2400">
              <a:solidFill>
                <a:prstClr val="black"/>
              </a:solidFill>
              <a:latin typeface="Calibri" panose="020F0502020204030204"/>
            </a:endParaRPr>
          </a:p>
        </p:txBody>
      </p:sp>
      <p:sp>
        <p:nvSpPr>
          <p:cNvPr id="45" name="Text 42">
            <a:extLst>
              <a:ext uri="{FF2B5EF4-FFF2-40B4-BE49-F238E27FC236}">
                <a16:creationId xmlns:a16="http://schemas.microsoft.com/office/drawing/2014/main" id="{8D4A70F5-C069-CFA4-3973-4007A2CD37C7}"/>
              </a:ext>
            </a:extLst>
          </p:cNvPr>
          <p:cNvSpPr/>
          <p:nvPr/>
        </p:nvSpPr>
        <p:spPr>
          <a:xfrm>
            <a:off x="364719" y="3144072"/>
            <a:ext cx="11099800" cy="243840"/>
          </a:xfrm>
          <a:prstGeom prst="rect">
            <a:avLst/>
          </a:prstGeom>
          <a:noFill/>
          <a:ln/>
        </p:spPr>
        <p:txBody>
          <a:bodyPr wrap="square" lIns="0" tIns="0" rIns="0" bIns="0" rtlCol="0" anchor="ctr"/>
          <a:lstStyle/>
          <a:p>
            <a:pPr defTabSz="1219110">
              <a:defRPr/>
            </a:pPr>
            <a:r>
              <a:rPr lang="en-US" sz="1333" kern="0" spc="267">
                <a:solidFill>
                  <a:srgbClr val="6A6A7A"/>
                </a:solidFill>
                <a:latin typeface="Calibri"/>
                <a:ea typeface="Calibri"/>
                <a:cs typeface="Calibri"/>
              </a:rPr>
              <a:t>STATISTICS</a:t>
            </a:r>
            <a:r>
              <a:rPr lang="en-US" sz="1000" kern="0" spc="151">
                <a:solidFill>
                  <a:srgbClr val="A6A6B0"/>
                </a:solidFill>
                <a:latin typeface="Calibri"/>
                <a:ea typeface="Calibri"/>
                <a:cs typeface="Calibri"/>
              </a:rPr>
              <a:t>   vs. iShares Select Dividend ETF (DVY)</a:t>
            </a:r>
            <a:endParaRPr lang="en-US" sz="1333">
              <a:solidFill>
                <a:prstClr val="black"/>
              </a:solidFill>
              <a:latin typeface="Calibri"/>
              <a:ea typeface="Calibri"/>
              <a:cs typeface="Calibri"/>
            </a:endParaRPr>
          </a:p>
        </p:txBody>
      </p:sp>
      <p:sp>
        <p:nvSpPr>
          <p:cNvPr id="46" name="Text 43">
            <a:extLst>
              <a:ext uri="{FF2B5EF4-FFF2-40B4-BE49-F238E27FC236}">
                <a16:creationId xmlns:a16="http://schemas.microsoft.com/office/drawing/2014/main" id="{AB561BA9-396E-E1B9-8CED-34855D2C705A}"/>
              </a:ext>
            </a:extLst>
          </p:cNvPr>
          <p:cNvSpPr/>
          <p:nvPr/>
        </p:nvSpPr>
        <p:spPr>
          <a:xfrm>
            <a:off x="364719" y="3387912"/>
            <a:ext cx="1584960" cy="243840"/>
          </a:xfrm>
          <a:prstGeom prst="rect">
            <a:avLst/>
          </a:prstGeom>
          <a:noFill/>
          <a:ln/>
        </p:spPr>
        <p:txBody>
          <a:bodyPr wrap="square" lIns="0" tIns="0" rIns="0" bIns="0" rtlCol="0" anchor="ctr"/>
          <a:lstStyle/>
          <a:p>
            <a:pPr defTabSz="1219110">
              <a:defRPr/>
            </a:pPr>
            <a:endParaRPr lang="en-US" sz="867">
              <a:solidFill>
                <a:prstClr val="black"/>
              </a:solidFill>
              <a:latin typeface="Calibri" panose="020F0502020204030204"/>
            </a:endParaRPr>
          </a:p>
        </p:txBody>
      </p:sp>
      <p:sp>
        <p:nvSpPr>
          <p:cNvPr id="47" name="Text 44">
            <a:extLst>
              <a:ext uri="{FF2B5EF4-FFF2-40B4-BE49-F238E27FC236}">
                <a16:creationId xmlns:a16="http://schemas.microsoft.com/office/drawing/2014/main" id="{2D4A95ED-6AA1-A2DB-216D-115273797466}"/>
              </a:ext>
            </a:extLst>
          </p:cNvPr>
          <p:cNvSpPr/>
          <p:nvPr/>
        </p:nvSpPr>
        <p:spPr>
          <a:xfrm>
            <a:off x="3772383" y="3400104"/>
            <a:ext cx="1901952"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1-YR</a:t>
            </a:r>
            <a:endParaRPr lang="en-US" sz="1200">
              <a:solidFill>
                <a:prstClr val="black"/>
              </a:solidFill>
              <a:latin typeface="Calibri"/>
              <a:ea typeface="Calibri"/>
              <a:cs typeface="Calibri"/>
            </a:endParaRPr>
          </a:p>
        </p:txBody>
      </p:sp>
      <p:sp>
        <p:nvSpPr>
          <p:cNvPr id="48" name="Text 45">
            <a:extLst>
              <a:ext uri="{FF2B5EF4-FFF2-40B4-BE49-F238E27FC236}">
                <a16:creationId xmlns:a16="http://schemas.microsoft.com/office/drawing/2014/main" id="{613C732A-397F-F0D1-B771-F5C0732BFC83}"/>
              </a:ext>
            </a:extLst>
          </p:cNvPr>
          <p:cNvSpPr/>
          <p:nvPr/>
        </p:nvSpPr>
        <p:spPr>
          <a:xfrm>
            <a:off x="5586689" y="3365721"/>
            <a:ext cx="1901952"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3-YR</a:t>
            </a:r>
            <a:endParaRPr lang="en-US" sz="1200">
              <a:solidFill>
                <a:prstClr val="black"/>
              </a:solidFill>
              <a:latin typeface="Calibri"/>
              <a:ea typeface="Calibri"/>
              <a:cs typeface="Calibri"/>
            </a:endParaRPr>
          </a:p>
        </p:txBody>
      </p:sp>
      <p:sp>
        <p:nvSpPr>
          <p:cNvPr id="49" name="Text 46">
            <a:extLst>
              <a:ext uri="{FF2B5EF4-FFF2-40B4-BE49-F238E27FC236}">
                <a16:creationId xmlns:a16="http://schemas.microsoft.com/office/drawing/2014/main" id="{BB2A0189-DA6A-0E3B-6F15-5FBBD711E5A1}"/>
              </a:ext>
            </a:extLst>
          </p:cNvPr>
          <p:cNvSpPr/>
          <p:nvPr/>
        </p:nvSpPr>
        <p:spPr>
          <a:xfrm>
            <a:off x="7222719" y="3361048"/>
            <a:ext cx="1901952"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5-YR</a:t>
            </a:r>
            <a:endParaRPr lang="en-US" sz="1200">
              <a:solidFill>
                <a:prstClr val="black"/>
              </a:solidFill>
              <a:latin typeface="Calibri"/>
              <a:ea typeface="Calibri"/>
              <a:cs typeface="Calibri"/>
            </a:endParaRPr>
          </a:p>
        </p:txBody>
      </p:sp>
      <p:sp>
        <p:nvSpPr>
          <p:cNvPr id="50" name="Text 47">
            <a:extLst>
              <a:ext uri="{FF2B5EF4-FFF2-40B4-BE49-F238E27FC236}">
                <a16:creationId xmlns:a16="http://schemas.microsoft.com/office/drawing/2014/main" id="{3569613A-21F0-992A-B2F8-504EC719BDE4}"/>
              </a:ext>
            </a:extLst>
          </p:cNvPr>
          <p:cNvSpPr/>
          <p:nvPr/>
        </p:nvSpPr>
        <p:spPr>
          <a:xfrm>
            <a:off x="9045423" y="3386893"/>
            <a:ext cx="1901952" cy="243840"/>
          </a:xfrm>
          <a:prstGeom prst="rect">
            <a:avLst/>
          </a:prstGeom>
          <a:noFill/>
          <a:ln/>
        </p:spPr>
        <p:txBody>
          <a:bodyPr wrap="square" lIns="0" tIns="0" rIns="0" bIns="0" rtlCol="0" anchor="ctr"/>
          <a:lstStyle/>
          <a:p>
            <a:pPr algn="ctr" defTabSz="1219110">
              <a:defRPr/>
            </a:pPr>
            <a:r>
              <a:rPr lang="en-US" sz="1200" kern="0" spc="240">
                <a:solidFill>
                  <a:srgbClr val="6A6A7A"/>
                </a:solidFill>
                <a:latin typeface="Calibri"/>
                <a:ea typeface="Calibri"/>
                <a:cs typeface="Calibri"/>
              </a:rPr>
              <a:t>10-YR</a:t>
            </a:r>
            <a:endParaRPr lang="en-US" sz="1200">
              <a:solidFill>
                <a:prstClr val="black"/>
              </a:solidFill>
              <a:latin typeface="Calibri"/>
              <a:ea typeface="Calibri"/>
              <a:cs typeface="Calibri"/>
            </a:endParaRPr>
          </a:p>
        </p:txBody>
      </p:sp>
      <p:sp>
        <p:nvSpPr>
          <p:cNvPr id="51" name="Text 48">
            <a:extLst>
              <a:ext uri="{FF2B5EF4-FFF2-40B4-BE49-F238E27FC236}">
                <a16:creationId xmlns:a16="http://schemas.microsoft.com/office/drawing/2014/main" id="{D8D904F1-0662-46D5-FA5C-FB9D12E657CE}"/>
              </a:ext>
            </a:extLst>
          </p:cNvPr>
          <p:cNvSpPr/>
          <p:nvPr/>
        </p:nvSpPr>
        <p:spPr>
          <a:xfrm>
            <a:off x="9557487" y="3387912"/>
            <a:ext cx="1901952" cy="243840"/>
          </a:xfrm>
          <a:prstGeom prst="rect">
            <a:avLst/>
          </a:prstGeom>
          <a:noFill/>
          <a:ln/>
        </p:spPr>
        <p:txBody>
          <a:bodyPr wrap="square" lIns="0" tIns="0" rIns="0" bIns="0" rtlCol="0" anchor="ctr"/>
          <a:lstStyle/>
          <a:p>
            <a:pPr algn="ctr" defTabSz="1219110">
              <a:defRPr/>
            </a:pPr>
            <a:endParaRPr lang="en-US" sz="1200">
              <a:solidFill>
                <a:prstClr val="black"/>
              </a:solidFill>
              <a:latin typeface="Calibri"/>
              <a:ea typeface="Calibri"/>
              <a:cs typeface="Calibri"/>
            </a:endParaRPr>
          </a:p>
        </p:txBody>
      </p:sp>
      <p:sp>
        <p:nvSpPr>
          <p:cNvPr id="52" name="Shape 49">
            <a:extLst>
              <a:ext uri="{FF2B5EF4-FFF2-40B4-BE49-F238E27FC236}">
                <a16:creationId xmlns:a16="http://schemas.microsoft.com/office/drawing/2014/main" id="{9A1D084B-0552-C3E8-AB2F-8473A2B5B052}"/>
              </a:ext>
            </a:extLst>
          </p:cNvPr>
          <p:cNvSpPr/>
          <p:nvPr/>
        </p:nvSpPr>
        <p:spPr>
          <a:xfrm>
            <a:off x="364719" y="3656136"/>
            <a:ext cx="11094720" cy="0"/>
          </a:xfrm>
          <a:prstGeom prst="line">
            <a:avLst/>
          </a:prstGeom>
          <a:noFill/>
          <a:ln w="5080">
            <a:solidFill>
              <a:srgbClr val="DDDCD8"/>
            </a:solidFill>
            <a:prstDash val="solid"/>
          </a:ln>
        </p:spPr>
        <p:txBody>
          <a:bodyPr/>
          <a:lstStyle/>
          <a:p>
            <a:pPr defTabSz="1219110">
              <a:defRPr/>
            </a:pPr>
            <a:endParaRPr lang="en-US" sz="2400">
              <a:solidFill>
                <a:prstClr val="black"/>
              </a:solidFill>
              <a:latin typeface="Calibri" panose="020F0502020204030204"/>
            </a:endParaRPr>
          </a:p>
        </p:txBody>
      </p:sp>
      <p:sp>
        <p:nvSpPr>
          <p:cNvPr id="53" name="Text 50">
            <a:extLst>
              <a:ext uri="{FF2B5EF4-FFF2-40B4-BE49-F238E27FC236}">
                <a16:creationId xmlns:a16="http://schemas.microsoft.com/office/drawing/2014/main" id="{A5439435-942C-4CAF-C6F1-B20A85912D1C}"/>
              </a:ext>
            </a:extLst>
          </p:cNvPr>
          <p:cNvSpPr/>
          <p:nvPr/>
        </p:nvSpPr>
        <p:spPr>
          <a:xfrm>
            <a:off x="421590" y="3729288"/>
            <a:ext cx="2095500" cy="316992"/>
          </a:xfrm>
          <a:prstGeom prst="rect">
            <a:avLst/>
          </a:prstGeom>
          <a:noFill/>
          <a:ln/>
        </p:spPr>
        <p:txBody>
          <a:bodyPr wrap="square" lIns="0" tIns="0" rIns="0" bIns="0" rtlCol="0" anchor="ctr"/>
          <a:lstStyle/>
          <a:p>
            <a:pPr defTabSz="1219110">
              <a:defRPr/>
            </a:pPr>
            <a:r>
              <a:rPr lang="en-US" sz="1000" kern="0" spc="200">
                <a:solidFill>
                  <a:srgbClr val="6A6A7A"/>
                </a:solidFill>
                <a:latin typeface="Calibri"/>
                <a:ea typeface="Calibri"/>
                <a:cs typeface="Calibri"/>
              </a:rPr>
              <a:t>UP-MARKET CAPTURE</a:t>
            </a:r>
            <a:endParaRPr lang="en-US" sz="1000">
              <a:solidFill>
                <a:prstClr val="black"/>
              </a:solidFill>
              <a:latin typeface="Calibri"/>
              <a:ea typeface="Calibri"/>
              <a:cs typeface="Calibri"/>
            </a:endParaRPr>
          </a:p>
        </p:txBody>
      </p:sp>
      <p:sp>
        <p:nvSpPr>
          <p:cNvPr id="54" name="Text 51">
            <a:extLst>
              <a:ext uri="{FF2B5EF4-FFF2-40B4-BE49-F238E27FC236}">
                <a16:creationId xmlns:a16="http://schemas.microsoft.com/office/drawing/2014/main" id="{54C82575-C959-280B-2886-71E568590C9D}"/>
              </a:ext>
            </a:extLst>
          </p:cNvPr>
          <p:cNvSpPr/>
          <p:nvPr/>
        </p:nvSpPr>
        <p:spPr>
          <a:xfrm>
            <a:off x="3772383" y="3741480"/>
            <a:ext cx="1901952"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pitchFamily="34" charset="0"/>
                <a:ea typeface="Georgia" pitchFamily="34" charset="-122"/>
                <a:cs typeface="Georgia" pitchFamily="34" charset="-120"/>
              </a:rPr>
              <a:t>115.84%</a:t>
            </a:r>
            <a:endParaRPr lang="en-US" sz="1400">
              <a:solidFill>
                <a:prstClr val="black"/>
              </a:solidFill>
              <a:latin typeface="Calibri" panose="020F0502020204030204"/>
            </a:endParaRPr>
          </a:p>
        </p:txBody>
      </p:sp>
      <p:sp>
        <p:nvSpPr>
          <p:cNvPr id="55" name="Text 52">
            <a:extLst>
              <a:ext uri="{FF2B5EF4-FFF2-40B4-BE49-F238E27FC236}">
                <a16:creationId xmlns:a16="http://schemas.microsoft.com/office/drawing/2014/main" id="{ED9F5698-BC97-CC21-84CB-81EDB7F36EC1}"/>
              </a:ext>
            </a:extLst>
          </p:cNvPr>
          <p:cNvSpPr/>
          <p:nvPr/>
        </p:nvSpPr>
        <p:spPr>
          <a:xfrm>
            <a:off x="5586689" y="3707097"/>
            <a:ext cx="1901952"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pitchFamily="34" charset="0"/>
                <a:ea typeface="Georgia" pitchFamily="34" charset="-122"/>
                <a:cs typeface="Georgia" pitchFamily="34" charset="-120"/>
              </a:rPr>
              <a:t>102.17%</a:t>
            </a:r>
            <a:endParaRPr lang="en-US" sz="1400">
              <a:solidFill>
                <a:prstClr val="black"/>
              </a:solidFill>
              <a:latin typeface="Calibri" panose="020F0502020204030204"/>
            </a:endParaRPr>
          </a:p>
        </p:txBody>
      </p:sp>
      <p:sp>
        <p:nvSpPr>
          <p:cNvPr id="56" name="Text 53">
            <a:extLst>
              <a:ext uri="{FF2B5EF4-FFF2-40B4-BE49-F238E27FC236}">
                <a16:creationId xmlns:a16="http://schemas.microsoft.com/office/drawing/2014/main" id="{8FED684E-0FC7-4C87-00A9-9B77EB8C1DED}"/>
              </a:ext>
            </a:extLst>
          </p:cNvPr>
          <p:cNvSpPr/>
          <p:nvPr/>
        </p:nvSpPr>
        <p:spPr>
          <a:xfrm>
            <a:off x="7301967" y="3714615"/>
            <a:ext cx="1901952"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pitchFamily="34" charset="0"/>
                <a:ea typeface="Georgia" pitchFamily="34" charset="-122"/>
                <a:cs typeface="Georgia" pitchFamily="34" charset="-120"/>
              </a:rPr>
              <a:t>108.19%</a:t>
            </a:r>
            <a:endParaRPr lang="en-US" sz="1400">
              <a:solidFill>
                <a:prstClr val="black"/>
              </a:solidFill>
              <a:latin typeface="Calibri" panose="020F0502020204030204"/>
            </a:endParaRPr>
          </a:p>
        </p:txBody>
      </p:sp>
      <p:sp>
        <p:nvSpPr>
          <p:cNvPr id="57" name="Text 54">
            <a:extLst>
              <a:ext uri="{FF2B5EF4-FFF2-40B4-BE49-F238E27FC236}">
                <a16:creationId xmlns:a16="http://schemas.microsoft.com/office/drawing/2014/main" id="{95931EE7-78B0-AEF8-438A-0915515CA3F5}"/>
              </a:ext>
            </a:extLst>
          </p:cNvPr>
          <p:cNvSpPr/>
          <p:nvPr/>
        </p:nvSpPr>
        <p:spPr>
          <a:xfrm>
            <a:off x="8996655" y="3743169"/>
            <a:ext cx="1901952" cy="316992"/>
          </a:xfrm>
          <a:prstGeom prst="rect">
            <a:avLst/>
          </a:prstGeom>
          <a:noFill/>
          <a:ln/>
        </p:spPr>
        <p:txBody>
          <a:bodyPr wrap="square" lIns="0" tIns="0" rIns="0" bIns="0" rtlCol="0" anchor="ctr"/>
          <a:lstStyle/>
          <a:p>
            <a:pPr algn="ctr" defTabSz="1219110">
              <a:defRPr/>
            </a:pPr>
            <a:r>
              <a:rPr lang="en-US" sz="1400">
                <a:solidFill>
                  <a:srgbClr val="1A1E3A"/>
                </a:solidFill>
                <a:latin typeface="Georgia" pitchFamily="34" charset="0"/>
                <a:ea typeface="Georgia" pitchFamily="34" charset="-122"/>
                <a:cs typeface="Georgia" pitchFamily="34" charset="-120"/>
              </a:rPr>
              <a:t>109.09%</a:t>
            </a:r>
            <a:endParaRPr lang="en-US" sz="1400">
              <a:solidFill>
                <a:prstClr val="black"/>
              </a:solidFill>
              <a:latin typeface="Calibri" panose="020F0502020204030204"/>
            </a:endParaRPr>
          </a:p>
        </p:txBody>
      </p:sp>
      <p:sp>
        <p:nvSpPr>
          <p:cNvPr id="58" name="Text 55">
            <a:extLst>
              <a:ext uri="{FF2B5EF4-FFF2-40B4-BE49-F238E27FC236}">
                <a16:creationId xmlns:a16="http://schemas.microsoft.com/office/drawing/2014/main" id="{46305A50-80A9-8B80-9FA9-FBA3A3AD9594}"/>
              </a:ext>
            </a:extLst>
          </p:cNvPr>
          <p:cNvSpPr/>
          <p:nvPr/>
        </p:nvSpPr>
        <p:spPr>
          <a:xfrm>
            <a:off x="9557487" y="3729288"/>
            <a:ext cx="1901952" cy="316992"/>
          </a:xfrm>
          <a:prstGeom prst="rect">
            <a:avLst/>
          </a:prstGeom>
          <a:noFill/>
          <a:ln/>
        </p:spPr>
        <p:txBody>
          <a:bodyPr wrap="square" lIns="0" tIns="0" rIns="0" bIns="0" rtlCol="0" anchor="ctr"/>
          <a:lstStyle/>
          <a:p>
            <a:pPr algn="ctr" defTabSz="1219110">
              <a:defRPr/>
            </a:pPr>
            <a:endParaRPr lang="en-US" sz="1400">
              <a:solidFill>
                <a:prstClr val="black"/>
              </a:solidFill>
              <a:latin typeface="Calibri" panose="020F0502020204030204"/>
            </a:endParaRPr>
          </a:p>
        </p:txBody>
      </p:sp>
      <p:sp>
        <p:nvSpPr>
          <p:cNvPr id="59" name="Shape 56">
            <a:extLst>
              <a:ext uri="{FF2B5EF4-FFF2-40B4-BE49-F238E27FC236}">
                <a16:creationId xmlns:a16="http://schemas.microsoft.com/office/drawing/2014/main" id="{CEBF949B-E844-D945-0E3C-6AA02B94E571}"/>
              </a:ext>
            </a:extLst>
          </p:cNvPr>
          <p:cNvSpPr/>
          <p:nvPr/>
        </p:nvSpPr>
        <p:spPr>
          <a:xfrm>
            <a:off x="364719" y="4070664"/>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60" name="Shape 57">
            <a:extLst>
              <a:ext uri="{FF2B5EF4-FFF2-40B4-BE49-F238E27FC236}">
                <a16:creationId xmlns:a16="http://schemas.microsoft.com/office/drawing/2014/main" id="{10B82979-18E7-2478-5B2D-AAA05AA81A26}"/>
              </a:ext>
            </a:extLst>
          </p:cNvPr>
          <p:cNvSpPr/>
          <p:nvPr/>
        </p:nvSpPr>
        <p:spPr>
          <a:xfrm>
            <a:off x="364721" y="4082856"/>
            <a:ext cx="11094721" cy="341376"/>
          </a:xfrm>
          <a:prstGeom prst="rect">
            <a:avLst/>
          </a:prstGeom>
          <a:solidFill>
            <a:srgbClr val="EDECE7"/>
          </a:solidFill>
          <a:ln w="12700">
            <a:solidFill>
              <a:srgbClr val="000000"/>
            </a:solidFill>
            <a:prstDash val="solid"/>
          </a:ln>
        </p:spPr>
        <p:txBody>
          <a:bodyPr/>
          <a:lstStyle/>
          <a:p>
            <a:pPr defTabSz="1219110">
              <a:defRPr/>
            </a:pPr>
            <a:endParaRPr lang="en-US" sz="2400">
              <a:solidFill>
                <a:prstClr val="black"/>
              </a:solidFill>
              <a:latin typeface="Calibri" panose="020F0502020204030204"/>
            </a:endParaRPr>
          </a:p>
        </p:txBody>
      </p:sp>
      <p:sp>
        <p:nvSpPr>
          <p:cNvPr id="61" name="Text 58">
            <a:extLst>
              <a:ext uri="{FF2B5EF4-FFF2-40B4-BE49-F238E27FC236}">
                <a16:creationId xmlns:a16="http://schemas.microsoft.com/office/drawing/2014/main" id="{7B4A9D48-AC57-353A-29B2-2D898EB22C15}"/>
              </a:ext>
            </a:extLst>
          </p:cNvPr>
          <p:cNvSpPr/>
          <p:nvPr/>
        </p:nvSpPr>
        <p:spPr>
          <a:xfrm>
            <a:off x="425679" y="4131623"/>
            <a:ext cx="2095500" cy="316992"/>
          </a:xfrm>
          <a:prstGeom prst="rect">
            <a:avLst/>
          </a:prstGeom>
          <a:noFill/>
          <a:ln/>
        </p:spPr>
        <p:txBody>
          <a:bodyPr wrap="square" lIns="0" tIns="0" rIns="0" bIns="0" rtlCol="0" anchor="ctr"/>
          <a:lstStyle/>
          <a:p>
            <a:pPr defTabSz="1219110">
              <a:defRPr/>
            </a:pPr>
            <a:r>
              <a:rPr lang="en-US" sz="1000" kern="0" spc="200">
                <a:solidFill>
                  <a:srgbClr val="C9A84C"/>
                </a:solidFill>
                <a:latin typeface="Calibri"/>
                <a:ea typeface="Calibri"/>
                <a:cs typeface="Calibri"/>
              </a:rPr>
              <a:t>DOWN-MARKET CAPTURE</a:t>
            </a:r>
            <a:endParaRPr lang="en-US" sz="1000">
              <a:solidFill>
                <a:prstClr val="black"/>
              </a:solidFill>
              <a:latin typeface="Calibri"/>
              <a:ea typeface="Calibri"/>
              <a:cs typeface="Calibri"/>
            </a:endParaRPr>
          </a:p>
        </p:txBody>
      </p:sp>
      <p:sp>
        <p:nvSpPr>
          <p:cNvPr id="62" name="Text 59">
            <a:extLst>
              <a:ext uri="{FF2B5EF4-FFF2-40B4-BE49-F238E27FC236}">
                <a16:creationId xmlns:a16="http://schemas.microsoft.com/office/drawing/2014/main" id="{8A34394A-8327-D0B3-CAC5-7C8D70F419B5}"/>
              </a:ext>
            </a:extLst>
          </p:cNvPr>
          <p:cNvSpPr/>
          <p:nvPr/>
        </p:nvSpPr>
        <p:spPr>
          <a:xfrm>
            <a:off x="3772383" y="4131624"/>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94.05%</a:t>
            </a:r>
            <a:endParaRPr lang="en-US" sz="1400">
              <a:solidFill>
                <a:prstClr val="black"/>
              </a:solidFill>
              <a:latin typeface="Calibri" panose="020F0502020204030204"/>
            </a:endParaRPr>
          </a:p>
        </p:txBody>
      </p:sp>
      <p:sp>
        <p:nvSpPr>
          <p:cNvPr id="63" name="Text 60">
            <a:extLst>
              <a:ext uri="{FF2B5EF4-FFF2-40B4-BE49-F238E27FC236}">
                <a16:creationId xmlns:a16="http://schemas.microsoft.com/office/drawing/2014/main" id="{814B5B14-5EAE-CCC6-7E01-51C9AAC4635F}"/>
              </a:ext>
            </a:extLst>
          </p:cNvPr>
          <p:cNvSpPr/>
          <p:nvPr/>
        </p:nvSpPr>
        <p:spPr>
          <a:xfrm>
            <a:off x="5586689" y="4097241"/>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84.67%</a:t>
            </a:r>
            <a:endParaRPr lang="en-US" sz="1400">
              <a:solidFill>
                <a:prstClr val="black"/>
              </a:solidFill>
              <a:latin typeface="Calibri" panose="020F0502020204030204"/>
            </a:endParaRPr>
          </a:p>
        </p:txBody>
      </p:sp>
      <p:sp>
        <p:nvSpPr>
          <p:cNvPr id="64" name="Text 61">
            <a:extLst>
              <a:ext uri="{FF2B5EF4-FFF2-40B4-BE49-F238E27FC236}">
                <a16:creationId xmlns:a16="http://schemas.microsoft.com/office/drawing/2014/main" id="{39FE4E1C-5C8E-0278-B65F-369DC04571A5}"/>
              </a:ext>
            </a:extLst>
          </p:cNvPr>
          <p:cNvSpPr/>
          <p:nvPr/>
        </p:nvSpPr>
        <p:spPr>
          <a:xfrm>
            <a:off x="7301967" y="4104759"/>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85.57%</a:t>
            </a:r>
            <a:endParaRPr lang="en-US" sz="1400">
              <a:solidFill>
                <a:prstClr val="black"/>
              </a:solidFill>
              <a:latin typeface="Calibri" panose="020F0502020204030204"/>
            </a:endParaRPr>
          </a:p>
        </p:txBody>
      </p:sp>
      <p:sp>
        <p:nvSpPr>
          <p:cNvPr id="65" name="Text 62">
            <a:extLst>
              <a:ext uri="{FF2B5EF4-FFF2-40B4-BE49-F238E27FC236}">
                <a16:creationId xmlns:a16="http://schemas.microsoft.com/office/drawing/2014/main" id="{D6E1050B-C0D7-02BF-08A8-C01AC6DA4F38}"/>
              </a:ext>
            </a:extLst>
          </p:cNvPr>
          <p:cNvSpPr/>
          <p:nvPr/>
        </p:nvSpPr>
        <p:spPr>
          <a:xfrm>
            <a:off x="9045423" y="4095048"/>
            <a:ext cx="1901952" cy="316992"/>
          </a:xfrm>
          <a:prstGeom prst="rect">
            <a:avLst/>
          </a:prstGeom>
          <a:noFill/>
          <a:ln/>
        </p:spPr>
        <p:txBody>
          <a:bodyPr wrap="square" lIns="0" tIns="0" rIns="0" bIns="0" rtlCol="0" anchor="ctr"/>
          <a:lstStyle/>
          <a:p>
            <a:pPr algn="ctr" defTabSz="1219110">
              <a:defRPr/>
            </a:pPr>
            <a:r>
              <a:rPr lang="en-US" sz="1400">
                <a:solidFill>
                  <a:srgbClr val="C9A84C"/>
                </a:solidFill>
                <a:latin typeface="Georgia" pitchFamily="34" charset="0"/>
                <a:ea typeface="Georgia" pitchFamily="34" charset="-122"/>
                <a:cs typeface="Georgia" pitchFamily="34" charset="-120"/>
              </a:rPr>
              <a:t>97.10%</a:t>
            </a:r>
            <a:endParaRPr lang="en-US" sz="1400">
              <a:solidFill>
                <a:prstClr val="black"/>
              </a:solidFill>
              <a:latin typeface="Calibri" panose="020F0502020204030204"/>
            </a:endParaRPr>
          </a:p>
        </p:txBody>
      </p:sp>
      <p:sp>
        <p:nvSpPr>
          <p:cNvPr id="66" name="Text 63">
            <a:extLst>
              <a:ext uri="{FF2B5EF4-FFF2-40B4-BE49-F238E27FC236}">
                <a16:creationId xmlns:a16="http://schemas.microsoft.com/office/drawing/2014/main" id="{D565B6C6-215A-F557-E6A0-E10E07E98920}"/>
              </a:ext>
            </a:extLst>
          </p:cNvPr>
          <p:cNvSpPr/>
          <p:nvPr/>
        </p:nvSpPr>
        <p:spPr>
          <a:xfrm>
            <a:off x="9557487" y="4119432"/>
            <a:ext cx="1901952" cy="316992"/>
          </a:xfrm>
          <a:prstGeom prst="rect">
            <a:avLst/>
          </a:prstGeom>
          <a:noFill/>
          <a:ln/>
        </p:spPr>
        <p:txBody>
          <a:bodyPr wrap="square" lIns="0" tIns="0" rIns="0" bIns="0" rtlCol="0" anchor="ctr"/>
          <a:lstStyle/>
          <a:p>
            <a:pPr algn="ctr" defTabSz="1219110">
              <a:defRPr/>
            </a:pPr>
            <a:endParaRPr lang="en-US" sz="1400">
              <a:solidFill>
                <a:prstClr val="black"/>
              </a:solidFill>
              <a:latin typeface="Calibri" panose="020F0502020204030204"/>
            </a:endParaRPr>
          </a:p>
        </p:txBody>
      </p:sp>
      <p:sp>
        <p:nvSpPr>
          <p:cNvPr id="67" name="Shape 64">
            <a:extLst>
              <a:ext uri="{FF2B5EF4-FFF2-40B4-BE49-F238E27FC236}">
                <a16:creationId xmlns:a16="http://schemas.microsoft.com/office/drawing/2014/main" id="{1B157BC1-ABF8-2E2B-09D4-0D20A711BE94}"/>
              </a:ext>
            </a:extLst>
          </p:cNvPr>
          <p:cNvSpPr/>
          <p:nvPr/>
        </p:nvSpPr>
        <p:spPr>
          <a:xfrm>
            <a:off x="364719" y="4460808"/>
            <a:ext cx="11094720" cy="0"/>
          </a:xfrm>
          <a:prstGeom prst="line">
            <a:avLst/>
          </a:prstGeom>
          <a:noFill/>
          <a:ln w="3810">
            <a:solidFill>
              <a:srgbClr val="E8E7E2"/>
            </a:solidFill>
            <a:prstDash val="solid"/>
          </a:ln>
        </p:spPr>
        <p:txBody>
          <a:bodyPr/>
          <a:lstStyle/>
          <a:p>
            <a:pPr defTabSz="1219110">
              <a:defRPr/>
            </a:pPr>
            <a:endParaRPr lang="en-US" sz="2400">
              <a:solidFill>
                <a:prstClr val="black"/>
              </a:solidFill>
              <a:latin typeface="Calibri" panose="020F0502020204030204"/>
            </a:endParaRPr>
          </a:p>
        </p:txBody>
      </p:sp>
      <p:sp>
        <p:nvSpPr>
          <p:cNvPr id="83" name="Text 80">
            <a:extLst>
              <a:ext uri="{FF2B5EF4-FFF2-40B4-BE49-F238E27FC236}">
                <a16:creationId xmlns:a16="http://schemas.microsoft.com/office/drawing/2014/main" id="{4419961B-5985-B98B-986A-635236ACE61B}"/>
              </a:ext>
            </a:extLst>
          </p:cNvPr>
          <p:cNvSpPr/>
          <p:nvPr/>
        </p:nvSpPr>
        <p:spPr>
          <a:xfrm>
            <a:off x="364719" y="4851400"/>
            <a:ext cx="11094720" cy="1625600"/>
          </a:xfrm>
          <a:prstGeom prst="rect">
            <a:avLst/>
          </a:prstGeom>
          <a:noFill/>
          <a:ln/>
        </p:spPr>
        <p:txBody>
          <a:bodyPr wrap="square" lIns="0" tIns="0" rIns="0" bIns="0" rtlCol="0" anchor="t" anchorCtr="0"/>
          <a:lstStyle/>
          <a:p>
            <a:pPr algn="just" defTabSz="1219140">
              <a:lnSpc>
                <a:spcPct val="118000"/>
              </a:lnSpc>
              <a:spcAft>
                <a:spcPts val="400"/>
              </a:spcAft>
              <a:defRPr/>
            </a:pPr>
            <a:r>
              <a:rPr lang="en-US" sz="733" dirty="0" err="1">
                <a:solidFill>
                  <a:srgbClr val="6A6A7A"/>
                </a:solidFill>
                <a:ea typeface="Calibri"/>
                <a:cs typeface="Calibri"/>
              </a:rPr>
              <a:t>Paradiem</a:t>
            </a:r>
            <a:r>
              <a:rPr lang="en-US" sz="733" dirty="0">
                <a:solidFill>
                  <a:srgbClr val="6A6A7A"/>
                </a:solidFill>
                <a:ea typeface="Calibri"/>
                <a:cs typeface="Calibri"/>
              </a:rPr>
              <a:t>, LLC is a Registered Investment Advisor. Performance is based on actual client accounts that are invested in Paradiem’s Dividend strategy.</a:t>
            </a:r>
          </a:p>
          <a:p>
            <a:pPr algn="just" defTabSz="1219140">
              <a:lnSpc>
                <a:spcPct val="118000"/>
              </a:lnSpc>
              <a:spcAft>
                <a:spcPts val="400"/>
              </a:spcAft>
              <a:defRPr/>
            </a:pPr>
            <a:r>
              <a:rPr lang="en-US" sz="733" dirty="0">
                <a:solidFill>
                  <a:srgbClr val="6A6A7A"/>
                </a:solidFill>
                <a:ea typeface="Calibri"/>
                <a:cs typeface="Calibri"/>
              </a:rPr>
              <a:t>Past performance is no guarantee of future results. Returns presented include the reinvestment of all income. Gross-of-fee performance includes trading expenses and custodial expenses. Net-of-fee performance includes actual account-level gross returns, less a model investment management fee. The model fee is deducted monthly from composite returns at the rate of 1/12 of Paradiem’s highest annual fee tier. The highest rate of our annual fixed fee is 1.5%.</a:t>
            </a:r>
          </a:p>
          <a:p>
            <a:pPr algn="just" defTabSz="1219140">
              <a:lnSpc>
                <a:spcPct val="118000"/>
              </a:lnSpc>
              <a:spcAft>
                <a:spcPts val="400"/>
              </a:spcAft>
              <a:defRPr/>
            </a:pPr>
            <a:r>
              <a:rPr lang="en-US" sz="733" dirty="0">
                <a:solidFill>
                  <a:srgbClr val="6A6A7A"/>
                </a:solidFill>
                <a:ea typeface="Calibri"/>
                <a:cs typeface="Calibri"/>
              </a:rPr>
              <a:t>The iShares Select Dividend ETF fund generally will invest at least 80% of its assets in the component securities of its underlying index and in investments that have economic characteristics that are substantially identical to the component securities of its underlying index. The underlying index measures the performance of the U.S.’s leading stocks by dividend yield.</a:t>
            </a:r>
          </a:p>
          <a:p>
            <a:pPr algn="just" defTabSz="1219140">
              <a:lnSpc>
                <a:spcPct val="118000"/>
              </a:lnSpc>
              <a:spcAft>
                <a:spcPts val="400"/>
              </a:spcAft>
              <a:defRPr/>
            </a:pPr>
            <a:r>
              <a:rPr lang="en-US" sz="733" dirty="0">
                <a:solidFill>
                  <a:srgbClr val="6A6A7A"/>
                </a:solidFill>
                <a:ea typeface="Calibri"/>
                <a:cs typeface="Calibri"/>
              </a:rPr>
              <a:t>The State Street SPDR S&amp;P 500 ETF Trust is an exchange-traded fund (ETF) that tracks the Standard &amp; Poor’s 500 (S&amp;P 500) index. It does this by holding a portfolio of stocks in companies that are included in the S&amp;P 500.</a:t>
            </a:r>
          </a:p>
        </p:txBody>
      </p:sp>
      <p:sp>
        <p:nvSpPr>
          <p:cNvPr id="2" name="Text 54">
            <a:extLst>
              <a:ext uri="{FF2B5EF4-FFF2-40B4-BE49-F238E27FC236}">
                <a16:creationId xmlns:a16="http://schemas.microsoft.com/office/drawing/2014/main" id="{653BFFDB-DAE1-7085-97A6-693183161CEA}"/>
              </a:ext>
            </a:extLst>
          </p:cNvPr>
          <p:cNvSpPr/>
          <p:nvPr/>
        </p:nvSpPr>
        <p:spPr>
          <a:xfrm>
            <a:off x="1949679" y="2632007"/>
            <a:ext cx="1901952" cy="316992"/>
          </a:xfrm>
          <a:prstGeom prst="rect">
            <a:avLst/>
          </a:prstGeom>
          <a:noFill/>
          <a:ln/>
        </p:spPr>
        <p:txBody>
          <a:bodyPr wrap="square" lIns="0" tIns="0" rIns="0" bIns="0" rtlCol="0" anchor="ctr"/>
          <a:lstStyle/>
          <a:p>
            <a:pPr algn="ctr" defTabSz="1219110">
              <a:defRPr/>
            </a:pPr>
            <a:r>
              <a:rPr lang="en-US" sz="1467">
                <a:solidFill>
                  <a:srgbClr val="6A6A7A"/>
                </a:solidFill>
                <a:latin typeface="Georgia"/>
              </a:rPr>
              <a:t>12.71%</a:t>
            </a:r>
            <a:endParaRPr lang="en-US" sz="1467">
              <a:solidFill>
                <a:srgbClr val="6A6A7A"/>
              </a:solidFill>
            </a:endParaRPr>
          </a:p>
        </p:txBody>
      </p:sp>
      <p:sp>
        <p:nvSpPr>
          <p:cNvPr id="38" name="Text 0">
            <a:extLst>
              <a:ext uri="{FF2B5EF4-FFF2-40B4-BE49-F238E27FC236}">
                <a16:creationId xmlns:a16="http://schemas.microsoft.com/office/drawing/2014/main" id="{4FEACA7E-E98E-A800-DCBC-C85F377520C5}"/>
              </a:ext>
            </a:extLst>
          </p:cNvPr>
          <p:cNvSpPr/>
          <p:nvPr/>
        </p:nvSpPr>
        <p:spPr>
          <a:xfrm>
            <a:off x="230607" y="77784"/>
            <a:ext cx="9144000" cy="274320"/>
          </a:xfrm>
          <a:prstGeom prst="rect">
            <a:avLst/>
          </a:prstGeom>
          <a:noFill/>
          <a:ln/>
        </p:spPr>
        <p:txBody>
          <a:bodyPr wrap="square" lIns="0" tIns="0" rIns="0" bIns="0" rtlCol="0" anchor="ctr"/>
          <a:lstStyle/>
          <a:p>
            <a:pPr defTabSz="914354">
              <a:defRPr/>
            </a:pPr>
            <a:r>
              <a:rPr lang="en-US" sz="1467" b="1" kern="0" spc="300">
                <a:solidFill>
                  <a:srgbClr val="C0A24C"/>
                </a:solidFill>
                <a:latin typeface="Calibri" pitchFamily="34" charset="0"/>
                <a:ea typeface="Calibri" pitchFamily="34" charset="-122"/>
                <a:cs typeface="Calibri" pitchFamily="34" charset="-120"/>
              </a:rPr>
              <a:t>SIMPLICITY OVER COMPLEXITY</a:t>
            </a:r>
            <a:endParaRPr lang="en-US" sz="1467">
              <a:solidFill>
                <a:prstClr val="black"/>
              </a:solidFill>
              <a:latin typeface="Calibri" panose="020F0502020204030204"/>
            </a:endParaRPr>
          </a:p>
        </p:txBody>
      </p:sp>
      <p:pic>
        <p:nvPicPr>
          <p:cNvPr id="68" name="Image 0" descr="preencoded.png">
            <a:extLst>
              <a:ext uri="{FF2B5EF4-FFF2-40B4-BE49-F238E27FC236}">
                <a16:creationId xmlns:a16="http://schemas.microsoft.com/office/drawing/2014/main" id="{EF726B51-BBDA-17D0-1CA6-3BC9478E5F3D}"/>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70" name="Shape 0">
            <a:extLst>
              <a:ext uri="{FF2B5EF4-FFF2-40B4-BE49-F238E27FC236}">
                <a16:creationId xmlns:a16="http://schemas.microsoft.com/office/drawing/2014/main" id="{187FD74A-656A-5ED8-D679-B896CCB01C35}"/>
              </a:ext>
            </a:extLst>
          </p:cNvPr>
          <p:cNvSpPr/>
          <p:nvPr/>
        </p:nvSpPr>
        <p:spPr>
          <a:xfrm>
            <a:off x="0" y="6547104"/>
            <a:ext cx="12191695" cy="310896"/>
          </a:xfrm>
          <a:prstGeom prst="rect">
            <a:avLst/>
          </a:prstGeom>
          <a:solidFill>
            <a:srgbClr val="F1EEE6"/>
          </a:solidFill>
          <a:ln/>
        </p:spPr>
        <p:txBody>
          <a:bodyPr/>
          <a:lstStyle/>
          <a:p>
            <a:endParaRPr lang="en-US"/>
          </a:p>
        </p:txBody>
      </p:sp>
      <p:sp>
        <p:nvSpPr>
          <p:cNvPr id="73" name="Text 1">
            <a:extLst>
              <a:ext uri="{FF2B5EF4-FFF2-40B4-BE49-F238E27FC236}">
                <a16:creationId xmlns:a16="http://schemas.microsoft.com/office/drawing/2014/main" id="{94C76F83-C9B3-6454-758B-66982F6CB538}"/>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dirty="0">
                <a:solidFill>
                  <a:srgbClr val="8B7355"/>
                </a:solidFill>
                <a:latin typeface="Calibri" pitchFamily="34" charset="0"/>
                <a:ea typeface="Calibri" pitchFamily="34" charset="-122"/>
                <a:cs typeface="Calibri" pitchFamily="34" charset="-120"/>
              </a:rPr>
              <a:t>PARADIEM  |  FAMILY CAPITAL ARCHITECTURE</a:t>
            </a:r>
            <a:endParaRPr lang="en-US" sz="700" dirty="0"/>
          </a:p>
        </p:txBody>
      </p:sp>
      <p:sp>
        <p:nvSpPr>
          <p:cNvPr id="75" name="Text 2">
            <a:extLst>
              <a:ext uri="{FF2B5EF4-FFF2-40B4-BE49-F238E27FC236}">
                <a16:creationId xmlns:a16="http://schemas.microsoft.com/office/drawing/2014/main" id="{6FC50D62-F22A-FADF-04D3-0289306B1D9A}"/>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dirty="0">
                <a:solidFill>
                  <a:srgbClr val="8B7355"/>
                </a:solidFill>
                <a:latin typeface="Calibri" pitchFamily="34" charset="0"/>
                <a:ea typeface="Calibri" pitchFamily="34" charset="-122"/>
                <a:cs typeface="Calibri" pitchFamily="34" charset="-120"/>
              </a:rPr>
              <a:t>Paradiem, LLC is a Registered Investment Advisor.</a:t>
            </a:r>
            <a:endParaRPr lang="en-US" sz="700" dirty="0"/>
          </a:p>
        </p:txBody>
      </p:sp>
      <p:sp>
        <p:nvSpPr>
          <p:cNvPr id="77" name="Text 3">
            <a:extLst>
              <a:ext uri="{FF2B5EF4-FFF2-40B4-BE49-F238E27FC236}">
                <a16:creationId xmlns:a16="http://schemas.microsoft.com/office/drawing/2014/main" id="{EA76C412-DB8B-95C4-5424-D9C24BFCBDCA}"/>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dirty="0">
                <a:solidFill>
                  <a:srgbClr val="8B7355"/>
                </a:solidFill>
                <a:latin typeface="Calibri" pitchFamily="34" charset="0"/>
                <a:ea typeface="Calibri" pitchFamily="34" charset="-122"/>
                <a:cs typeface="Calibri" pitchFamily="34" charset="-120"/>
              </a:rPr>
              <a:t>CONFIDENTIAL — NOT FOR DISTRIBUTION</a:t>
            </a:r>
            <a:endParaRPr lang="en-US" sz="700" dirty="0"/>
          </a:p>
        </p:txBody>
      </p:sp>
    </p:spTree>
    <p:extLst>
      <p:ext uri="{BB962C8B-B14F-4D97-AF65-F5344CB8AC3E}">
        <p14:creationId xmlns:p14="http://schemas.microsoft.com/office/powerpoint/2010/main" val="1992084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8229600" cy="685800"/>
          </a:xfrm>
          <a:prstGeom prst="rect">
            <a:avLst/>
          </a:prstGeom>
          <a:noFill/>
          <a:ln/>
        </p:spPr>
        <p:txBody>
          <a:bodyPr wrap="square" lIns="0" tIns="0" rIns="0" bIns="0" rtlCol="0" anchor="ctr"/>
          <a:lstStyle/>
          <a:p>
            <a:r>
              <a:rPr lang="en-US" sz="2400">
                <a:solidFill>
                  <a:srgbClr val="1B2A4E"/>
                </a:solidFill>
                <a:latin typeface="Georgia" panose="02040502050405020303" pitchFamily="18" charset="0"/>
                <a:ea typeface="Cambria" pitchFamily="34" charset="-122"/>
                <a:cs typeface="Cambria" pitchFamily="34" charset="-120"/>
              </a:rPr>
              <a:t>25 Stock Growth Strategy</a:t>
            </a:r>
            <a:endParaRPr lang="en-US" sz="2400">
              <a:latin typeface="Georgia" panose="02040502050405020303" pitchFamily="18" charset="0"/>
            </a:endParaRPr>
          </a:p>
        </p:txBody>
      </p:sp>
      <p:sp>
        <p:nvSpPr>
          <p:cNvPr id="3" name="Shape 1"/>
          <p:cNvSpPr/>
          <p:nvPr/>
        </p:nvSpPr>
        <p:spPr>
          <a:xfrm>
            <a:off x="548640" y="1024129"/>
            <a:ext cx="1051560" cy="41148"/>
          </a:xfrm>
          <a:prstGeom prst="rect">
            <a:avLst/>
          </a:prstGeom>
          <a:solidFill>
            <a:srgbClr val="BE9430"/>
          </a:solidFill>
          <a:ln/>
        </p:spPr>
        <p:txBody>
          <a:bodyPr/>
          <a:lstStyle/>
          <a:p>
            <a:endParaRPr lang="en-US"/>
          </a:p>
        </p:txBody>
      </p:sp>
      <p:sp>
        <p:nvSpPr>
          <p:cNvPr id="4" name="Text 2"/>
          <p:cNvSpPr/>
          <p:nvPr/>
        </p:nvSpPr>
        <p:spPr>
          <a:xfrm>
            <a:off x="502920" y="1234440"/>
            <a:ext cx="5486400" cy="365760"/>
          </a:xfrm>
          <a:prstGeom prst="rect">
            <a:avLst/>
          </a:prstGeom>
          <a:noFill/>
          <a:ln/>
        </p:spPr>
        <p:txBody>
          <a:bodyPr wrap="square" lIns="0" tIns="0" rIns="0" bIns="0" rtlCol="0" anchor="ctr"/>
          <a:lstStyle/>
          <a:p>
            <a:r>
              <a:rPr lang="en-US" sz="1331" kern="0" spc="300">
                <a:solidFill>
                  <a:srgbClr val="808080"/>
                </a:solidFill>
                <a:ea typeface="Arial" pitchFamily="34" charset="-122"/>
                <a:cs typeface="Arial" pitchFamily="34" charset="-120"/>
              </a:rPr>
              <a:t>RETURNS (AS OF 9/30/2026)</a:t>
            </a:r>
            <a:endParaRPr lang="en-US" sz="1331"/>
          </a:p>
        </p:txBody>
      </p:sp>
      <p:sp>
        <p:nvSpPr>
          <p:cNvPr id="5" name="Text 3"/>
          <p:cNvSpPr/>
          <p:nvPr/>
        </p:nvSpPr>
        <p:spPr>
          <a:xfrm>
            <a:off x="3840480" y="1664208"/>
            <a:ext cx="2194560" cy="365760"/>
          </a:xfrm>
          <a:prstGeom prst="rect">
            <a:avLst/>
          </a:prstGeom>
          <a:noFill/>
          <a:ln/>
        </p:spPr>
        <p:txBody>
          <a:bodyPr wrap="square" lIns="0" tIns="0" rIns="0" bIns="0" rtlCol="0" anchor="ctr"/>
          <a:lstStyle/>
          <a:p>
            <a:pPr algn="ctr"/>
            <a:r>
              <a:rPr lang="en-US" sz="1200" kern="0" spc="200">
                <a:solidFill>
                  <a:srgbClr val="808080"/>
                </a:solidFill>
                <a:ea typeface="Arial" pitchFamily="34" charset="-122"/>
                <a:cs typeface="Arial" pitchFamily="34" charset="-120"/>
              </a:rPr>
              <a:t>1-MO</a:t>
            </a:r>
            <a:endParaRPr lang="en-US" sz="1200"/>
          </a:p>
        </p:txBody>
      </p:sp>
      <p:sp>
        <p:nvSpPr>
          <p:cNvPr id="6" name="Text 4"/>
          <p:cNvSpPr/>
          <p:nvPr/>
        </p:nvSpPr>
        <p:spPr>
          <a:xfrm>
            <a:off x="6583680" y="1664208"/>
            <a:ext cx="2194560" cy="365760"/>
          </a:xfrm>
          <a:prstGeom prst="rect">
            <a:avLst/>
          </a:prstGeom>
          <a:noFill/>
          <a:ln/>
        </p:spPr>
        <p:txBody>
          <a:bodyPr wrap="square" lIns="0" tIns="0" rIns="0" bIns="0" rtlCol="0" anchor="ctr"/>
          <a:lstStyle/>
          <a:p>
            <a:pPr algn="ctr"/>
            <a:r>
              <a:rPr lang="en-US" sz="1200" kern="0" spc="200">
                <a:solidFill>
                  <a:srgbClr val="808080"/>
                </a:solidFill>
                <a:ea typeface="Arial" pitchFamily="34" charset="-122"/>
                <a:cs typeface="Arial" pitchFamily="34" charset="-120"/>
              </a:rPr>
              <a:t>3-MO</a:t>
            </a:r>
            <a:endParaRPr lang="en-US" sz="1200"/>
          </a:p>
        </p:txBody>
      </p:sp>
      <p:sp>
        <p:nvSpPr>
          <p:cNvPr id="7" name="Text 5"/>
          <p:cNvSpPr/>
          <p:nvPr/>
        </p:nvSpPr>
        <p:spPr>
          <a:xfrm>
            <a:off x="9326880" y="1664208"/>
            <a:ext cx="2194560" cy="365760"/>
          </a:xfrm>
          <a:prstGeom prst="rect">
            <a:avLst/>
          </a:prstGeom>
          <a:noFill/>
          <a:ln/>
        </p:spPr>
        <p:txBody>
          <a:bodyPr wrap="square" lIns="0" tIns="0" rIns="0" bIns="0" rtlCol="0" anchor="ctr"/>
          <a:lstStyle/>
          <a:p>
            <a:pPr algn="ctr"/>
            <a:r>
              <a:rPr lang="en-US" sz="1200" kern="0" spc="200">
                <a:solidFill>
                  <a:srgbClr val="808080"/>
                </a:solidFill>
                <a:ea typeface="Arial" pitchFamily="34" charset="-122"/>
                <a:cs typeface="Arial" pitchFamily="34" charset="-120"/>
              </a:rPr>
              <a:t>TR 8-MO</a:t>
            </a:r>
            <a:endParaRPr lang="en-US" sz="1200"/>
          </a:p>
        </p:txBody>
      </p:sp>
      <p:sp>
        <p:nvSpPr>
          <p:cNvPr id="8" name="Shape 6"/>
          <p:cNvSpPr/>
          <p:nvPr/>
        </p:nvSpPr>
        <p:spPr>
          <a:xfrm>
            <a:off x="548640" y="2130552"/>
            <a:ext cx="10927080" cy="0"/>
          </a:xfrm>
          <a:prstGeom prst="line">
            <a:avLst/>
          </a:prstGeom>
          <a:noFill/>
          <a:ln w="12700">
            <a:solidFill>
              <a:srgbClr val="D0D0D0"/>
            </a:solidFill>
            <a:prstDash val="solid"/>
          </a:ln>
        </p:spPr>
        <p:txBody>
          <a:bodyPr/>
          <a:lstStyle/>
          <a:p>
            <a:endParaRPr lang="en-US"/>
          </a:p>
        </p:txBody>
      </p:sp>
      <p:sp>
        <p:nvSpPr>
          <p:cNvPr id="9" name="Text 7"/>
          <p:cNvSpPr/>
          <p:nvPr/>
        </p:nvSpPr>
        <p:spPr>
          <a:xfrm>
            <a:off x="548640" y="2148840"/>
            <a:ext cx="2560320" cy="603504"/>
          </a:xfrm>
          <a:prstGeom prst="rect">
            <a:avLst/>
          </a:prstGeom>
          <a:noFill/>
          <a:ln/>
        </p:spPr>
        <p:txBody>
          <a:bodyPr wrap="square" lIns="0" tIns="1271" rIns="0" bIns="0" rtlCol="0" anchor="ctr"/>
          <a:lstStyle/>
          <a:p>
            <a:pPr>
              <a:lnSpc>
                <a:spcPct val="95000"/>
              </a:lnSpc>
            </a:pPr>
            <a:r>
              <a:rPr lang="en-US" sz="1000" kern="0" spc="200">
                <a:solidFill>
                  <a:srgbClr val="5C5C5C"/>
                </a:solidFill>
                <a:ea typeface="Arial" pitchFamily="34" charset="-122"/>
                <a:cs typeface="Arial" pitchFamily="34" charset="-120"/>
              </a:rPr>
              <a:t>GROSS</a:t>
            </a:r>
            <a:endParaRPr lang="en-US" sz="1000"/>
          </a:p>
        </p:txBody>
      </p:sp>
      <p:sp>
        <p:nvSpPr>
          <p:cNvPr id="10" name="Text 8"/>
          <p:cNvSpPr/>
          <p:nvPr/>
        </p:nvSpPr>
        <p:spPr>
          <a:xfrm>
            <a:off x="3840480" y="2148840"/>
            <a:ext cx="2194560" cy="603504"/>
          </a:xfrm>
          <a:prstGeom prst="rect">
            <a:avLst/>
          </a:prstGeom>
          <a:noFill/>
          <a:ln/>
        </p:spPr>
        <p:txBody>
          <a:bodyPr wrap="square" lIns="0" tIns="0" rIns="0" bIns="0" rtlCol="0" anchor="ctr"/>
          <a:lstStyle/>
          <a:p>
            <a:pPr algn="ctr"/>
            <a:r>
              <a:rPr lang="en-US" sz="1400">
                <a:solidFill>
                  <a:srgbClr val="9E2B2B"/>
                </a:solidFill>
                <a:latin typeface="Georgia" panose="02040502050405020303" pitchFamily="18" charset="0"/>
                <a:ea typeface="Cambria" pitchFamily="34" charset="-122"/>
                <a:cs typeface="Cambria" pitchFamily="34" charset="-120"/>
              </a:rPr>
              <a:t>-1.52%</a:t>
            </a:r>
            <a:endParaRPr lang="en-US" sz="1400">
              <a:latin typeface="Georgia" panose="02040502050405020303" pitchFamily="18" charset="0"/>
            </a:endParaRPr>
          </a:p>
        </p:txBody>
      </p:sp>
      <p:sp>
        <p:nvSpPr>
          <p:cNvPr id="11" name="Text 9"/>
          <p:cNvSpPr/>
          <p:nvPr/>
        </p:nvSpPr>
        <p:spPr>
          <a:xfrm>
            <a:off x="6583680" y="2148840"/>
            <a:ext cx="2194560" cy="603504"/>
          </a:xfrm>
          <a:prstGeom prst="rect">
            <a:avLst/>
          </a:prstGeom>
          <a:noFill/>
          <a:ln/>
        </p:spPr>
        <p:txBody>
          <a:bodyPr wrap="square" lIns="0" tIns="0" rIns="0" bIns="0" rtlCol="0" anchor="ctr"/>
          <a:lstStyle/>
          <a:p>
            <a:pPr algn="ctr"/>
            <a:r>
              <a:rPr lang="en-US" sz="1400">
                <a:solidFill>
                  <a:srgbClr val="9E2B2B"/>
                </a:solidFill>
                <a:latin typeface="Georgia" panose="02040502050405020303" pitchFamily="18" charset="0"/>
                <a:ea typeface="Cambria" pitchFamily="34" charset="-122"/>
                <a:cs typeface="Cambria" pitchFamily="34" charset="-120"/>
              </a:rPr>
              <a:t>-0.80%</a:t>
            </a:r>
            <a:endParaRPr lang="en-US" sz="1400">
              <a:latin typeface="Georgia" panose="02040502050405020303" pitchFamily="18" charset="0"/>
            </a:endParaRPr>
          </a:p>
        </p:txBody>
      </p:sp>
      <p:sp>
        <p:nvSpPr>
          <p:cNvPr id="12" name="Text 10"/>
          <p:cNvSpPr/>
          <p:nvPr/>
        </p:nvSpPr>
        <p:spPr>
          <a:xfrm>
            <a:off x="9326880" y="2148840"/>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22.81%</a:t>
            </a:r>
            <a:endParaRPr lang="en-US" sz="1400">
              <a:latin typeface="Georgia" panose="02040502050405020303" pitchFamily="18" charset="0"/>
            </a:endParaRPr>
          </a:p>
        </p:txBody>
      </p:sp>
      <p:sp>
        <p:nvSpPr>
          <p:cNvPr id="13" name="Shape 11"/>
          <p:cNvSpPr/>
          <p:nvPr/>
        </p:nvSpPr>
        <p:spPr>
          <a:xfrm>
            <a:off x="548640" y="2752344"/>
            <a:ext cx="10927080" cy="0"/>
          </a:xfrm>
          <a:prstGeom prst="line">
            <a:avLst/>
          </a:prstGeom>
          <a:noFill/>
          <a:ln w="12700">
            <a:solidFill>
              <a:srgbClr val="D0D0D0"/>
            </a:solidFill>
            <a:prstDash val="solid"/>
          </a:ln>
        </p:spPr>
        <p:txBody>
          <a:bodyPr/>
          <a:lstStyle/>
          <a:p>
            <a:endParaRPr lang="en-US"/>
          </a:p>
        </p:txBody>
      </p:sp>
      <p:sp>
        <p:nvSpPr>
          <p:cNvPr id="14" name="Shape 12"/>
          <p:cNvSpPr/>
          <p:nvPr/>
        </p:nvSpPr>
        <p:spPr>
          <a:xfrm>
            <a:off x="493776" y="2779776"/>
            <a:ext cx="11036808" cy="548640"/>
          </a:xfrm>
          <a:prstGeom prst="rect">
            <a:avLst/>
          </a:prstGeom>
          <a:solidFill>
            <a:srgbClr val="EEEBE2"/>
          </a:solidFill>
          <a:ln w="19050">
            <a:solidFill>
              <a:srgbClr val="2B2B2B"/>
            </a:solidFill>
            <a:prstDash val="solid"/>
          </a:ln>
        </p:spPr>
        <p:txBody>
          <a:bodyPr/>
          <a:lstStyle/>
          <a:p>
            <a:endParaRPr lang="en-US" sz="1400">
              <a:latin typeface="Georgia" panose="02040502050405020303" pitchFamily="18" charset="0"/>
            </a:endParaRPr>
          </a:p>
        </p:txBody>
      </p:sp>
      <p:sp>
        <p:nvSpPr>
          <p:cNvPr id="15" name="Text 13"/>
          <p:cNvSpPr/>
          <p:nvPr/>
        </p:nvSpPr>
        <p:spPr>
          <a:xfrm>
            <a:off x="548640" y="2752344"/>
            <a:ext cx="2560320" cy="603504"/>
          </a:xfrm>
          <a:prstGeom prst="rect">
            <a:avLst/>
          </a:prstGeom>
          <a:noFill/>
          <a:ln/>
        </p:spPr>
        <p:txBody>
          <a:bodyPr wrap="square" lIns="0" tIns="1271" rIns="0" bIns="0" rtlCol="0" anchor="ctr"/>
          <a:lstStyle/>
          <a:p>
            <a:pPr>
              <a:lnSpc>
                <a:spcPct val="95000"/>
              </a:lnSpc>
            </a:pPr>
            <a:r>
              <a:rPr lang="en-US" sz="1000" kern="0" spc="200">
                <a:solidFill>
                  <a:srgbClr val="BE9430"/>
                </a:solidFill>
                <a:ea typeface="Arial" pitchFamily="34" charset="-122"/>
                <a:cs typeface="Arial" pitchFamily="34" charset="-120"/>
              </a:rPr>
              <a:t>NET</a:t>
            </a:r>
            <a:endParaRPr lang="en-US" sz="1000"/>
          </a:p>
        </p:txBody>
      </p:sp>
      <p:sp>
        <p:nvSpPr>
          <p:cNvPr id="16" name="Text 14"/>
          <p:cNvSpPr/>
          <p:nvPr/>
        </p:nvSpPr>
        <p:spPr>
          <a:xfrm>
            <a:off x="3840480" y="2752344"/>
            <a:ext cx="2194560" cy="603504"/>
          </a:xfrm>
          <a:prstGeom prst="rect">
            <a:avLst/>
          </a:prstGeom>
          <a:noFill/>
          <a:ln/>
        </p:spPr>
        <p:txBody>
          <a:bodyPr wrap="square" lIns="0" tIns="0" rIns="0" bIns="0" rtlCol="0" anchor="ctr"/>
          <a:lstStyle/>
          <a:p>
            <a:pPr algn="ctr"/>
            <a:r>
              <a:rPr lang="en-US" sz="1400">
                <a:solidFill>
                  <a:srgbClr val="9E2B2B"/>
                </a:solidFill>
                <a:latin typeface="Georgia" panose="02040502050405020303" pitchFamily="18" charset="0"/>
                <a:ea typeface="Cambria" pitchFamily="34" charset="-122"/>
                <a:cs typeface="Cambria" pitchFamily="34" charset="-120"/>
              </a:rPr>
              <a:t>-1.65%</a:t>
            </a:r>
            <a:endParaRPr lang="en-US" sz="1400">
              <a:latin typeface="Georgia" panose="02040502050405020303" pitchFamily="18" charset="0"/>
            </a:endParaRPr>
          </a:p>
        </p:txBody>
      </p:sp>
      <p:sp>
        <p:nvSpPr>
          <p:cNvPr id="17" name="Text 15"/>
          <p:cNvSpPr/>
          <p:nvPr/>
        </p:nvSpPr>
        <p:spPr>
          <a:xfrm>
            <a:off x="6583680" y="2752344"/>
            <a:ext cx="2194560" cy="603504"/>
          </a:xfrm>
          <a:prstGeom prst="rect">
            <a:avLst/>
          </a:prstGeom>
          <a:noFill/>
          <a:ln/>
        </p:spPr>
        <p:txBody>
          <a:bodyPr wrap="square" lIns="0" tIns="0" rIns="0" bIns="0" rtlCol="0" anchor="ctr"/>
          <a:lstStyle/>
          <a:p>
            <a:pPr algn="ctr"/>
            <a:r>
              <a:rPr lang="en-US" sz="1400">
                <a:solidFill>
                  <a:srgbClr val="9E2B2B"/>
                </a:solidFill>
                <a:latin typeface="Georgia" panose="02040502050405020303" pitchFamily="18" charset="0"/>
                <a:ea typeface="Cambria" pitchFamily="34" charset="-122"/>
                <a:cs typeface="Cambria" pitchFamily="34" charset="-120"/>
              </a:rPr>
              <a:t>-1.17%</a:t>
            </a:r>
            <a:endParaRPr lang="en-US" sz="1400">
              <a:latin typeface="Georgia" panose="02040502050405020303" pitchFamily="18" charset="0"/>
            </a:endParaRPr>
          </a:p>
        </p:txBody>
      </p:sp>
      <p:sp>
        <p:nvSpPr>
          <p:cNvPr id="18" name="Text 16"/>
          <p:cNvSpPr/>
          <p:nvPr/>
        </p:nvSpPr>
        <p:spPr>
          <a:xfrm>
            <a:off x="9326880" y="2752344"/>
            <a:ext cx="2194560" cy="603504"/>
          </a:xfrm>
          <a:prstGeom prst="rect">
            <a:avLst/>
          </a:prstGeom>
          <a:noFill/>
          <a:ln/>
        </p:spPr>
        <p:txBody>
          <a:bodyPr wrap="square" lIns="0" tIns="0" rIns="0" bIns="0" rtlCol="0" anchor="ctr"/>
          <a:lstStyle/>
          <a:p>
            <a:pPr algn="ctr"/>
            <a:r>
              <a:rPr lang="en-US" sz="1400">
                <a:solidFill>
                  <a:srgbClr val="BE9430"/>
                </a:solidFill>
                <a:latin typeface="Georgia" panose="02040502050405020303" pitchFamily="18" charset="0"/>
                <a:ea typeface="Cambria" pitchFamily="34" charset="-122"/>
                <a:cs typeface="Cambria" pitchFamily="34" charset="-120"/>
              </a:rPr>
              <a:t>21.58%</a:t>
            </a:r>
            <a:endParaRPr lang="en-US" sz="1400">
              <a:latin typeface="Georgia" panose="02040502050405020303" pitchFamily="18" charset="0"/>
            </a:endParaRPr>
          </a:p>
        </p:txBody>
      </p:sp>
      <p:sp>
        <p:nvSpPr>
          <p:cNvPr id="19" name="Shape 17"/>
          <p:cNvSpPr/>
          <p:nvPr/>
        </p:nvSpPr>
        <p:spPr>
          <a:xfrm>
            <a:off x="548640" y="3355848"/>
            <a:ext cx="10927080" cy="0"/>
          </a:xfrm>
          <a:prstGeom prst="line">
            <a:avLst/>
          </a:prstGeom>
          <a:noFill/>
          <a:ln w="12700">
            <a:solidFill>
              <a:srgbClr val="D0D0D0"/>
            </a:solidFill>
            <a:prstDash val="solid"/>
          </a:ln>
        </p:spPr>
        <p:txBody>
          <a:bodyPr/>
          <a:lstStyle/>
          <a:p>
            <a:endParaRPr lang="en-US"/>
          </a:p>
        </p:txBody>
      </p:sp>
      <p:sp>
        <p:nvSpPr>
          <p:cNvPr id="20" name="Text 18"/>
          <p:cNvSpPr/>
          <p:nvPr/>
        </p:nvSpPr>
        <p:spPr>
          <a:xfrm>
            <a:off x="548640" y="3355848"/>
            <a:ext cx="2560320" cy="603504"/>
          </a:xfrm>
          <a:prstGeom prst="rect">
            <a:avLst/>
          </a:prstGeom>
          <a:noFill/>
          <a:ln/>
        </p:spPr>
        <p:txBody>
          <a:bodyPr wrap="square" lIns="0" tIns="1271" rIns="0" bIns="0" rtlCol="0" anchor="ctr"/>
          <a:lstStyle/>
          <a:p>
            <a:pPr>
              <a:lnSpc>
                <a:spcPct val="95000"/>
              </a:lnSpc>
            </a:pPr>
            <a:r>
              <a:rPr lang="en-US" sz="1000" kern="0" spc="100">
                <a:solidFill>
                  <a:srgbClr val="5C5C5C"/>
                </a:solidFill>
                <a:ea typeface="Arial" pitchFamily="34" charset="-122"/>
                <a:cs typeface="Arial" pitchFamily="34" charset="-120"/>
              </a:rPr>
              <a:t>iShares Core S&amp;P U.S.</a:t>
            </a:r>
            <a:endParaRPr lang="en-US" sz="1000"/>
          </a:p>
          <a:p>
            <a:pPr>
              <a:lnSpc>
                <a:spcPct val="95000"/>
              </a:lnSpc>
            </a:pPr>
            <a:r>
              <a:rPr lang="en-US" sz="1000" kern="0" spc="100">
                <a:solidFill>
                  <a:srgbClr val="5C5C5C"/>
                </a:solidFill>
                <a:ea typeface="Arial" pitchFamily="34" charset="-122"/>
                <a:cs typeface="Arial" pitchFamily="34" charset="-120"/>
              </a:rPr>
              <a:t>Growth ETF (IUSG)</a:t>
            </a:r>
            <a:endParaRPr lang="en-US" sz="1000"/>
          </a:p>
        </p:txBody>
      </p:sp>
      <p:sp>
        <p:nvSpPr>
          <p:cNvPr id="21" name="Text 19"/>
          <p:cNvSpPr/>
          <p:nvPr/>
        </p:nvSpPr>
        <p:spPr>
          <a:xfrm>
            <a:off x="3840480" y="3355848"/>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1.78%</a:t>
            </a:r>
            <a:endParaRPr lang="en-US" sz="1400">
              <a:latin typeface="Georgia" panose="02040502050405020303" pitchFamily="18" charset="0"/>
            </a:endParaRPr>
          </a:p>
        </p:txBody>
      </p:sp>
      <p:sp>
        <p:nvSpPr>
          <p:cNvPr id="22" name="Text 20"/>
          <p:cNvSpPr/>
          <p:nvPr/>
        </p:nvSpPr>
        <p:spPr>
          <a:xfrm>
            <a:off x="6583680" y="3355848"/>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3.14%</a:t>
            </a:r>
            <a:endParaRPr lang="en-US" sz="1400">
              <a:latin typeface="Georgia" panose="02040502050405020303" pitchFamily="18" charset="0"/>
            </a:endParaRPr>
          </a:p>
        </p:txBody>
      </p:sp>
      <p:sp>
        <p:nvSpPr>
          <p:cNvPr id="23" name="Text 21"/>
          <p:cNvSpPr/>
          <p:nvPr/>
        </p:nvSpPr>
        <p:spPr>
          <a:xfrm>
            <a:off x="9326880" y="3355848"/>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14.89%</a:t>
            </a:r>
            <a:endParaRPr lang="en-US" sz="1400">
              <a:latin typeface="Georgia" panose="02040502050405020303" pitchFamily="18" charset="0"/>
            </a:endParaRPr>
          </a:p>
        </p:txBody>
      </p:sp>
      <p:sp>
        <p:nvSpPr>
          <p:cNvPr id="24" name="Shape 22"/>
          <p:cNvSpPr/>
          <p:nvPr/>
        </p:nvSpPr>
        <p:spPr>
          <a:xfrm>
            <a:off x="548640" y="3959352"/>
            <a:ext cx="10927080" cy="0"/>
          </a:xfrm>
          <a:prstGeom prst="line">
            <a:avLst/>
          </a:prstGeom>
          <a:noFill/>
          <a:ln w="12700">
            <a:solidFill>
              <a:srgbClr val="D0D0D0"/>
            </a:solidFill>
            <a:prstDash val="solid"/>
          </a:ln>
        </p:spPr>
        <p:txBody>
          <a:bodyPr/>
          <a:lstStyle/>
          <a:p>
            <a:endParaRPr lang="en-US"/>
          </a:p>
        </p:txBody>
      </p:sp>
      <p:sp>
        <p:nvSpPr>
          <p:cNvPr id="25" name="Text 23"/>
          <p:cNvSpPr/>
          <p:nvPr/>
        </p:nvSpPr>
        <p:spPr>
          <a:xfrm>
            <a:off x="548640" y="3959352"/>
            <a:ext cx="2560320" cy="603504"/>
          </a:xfrm>
          <a:prstGeom prst="rect">
            <a:avLst/>
          </a:prstGeom>
          <a:noFill/>
          <a:ln/>
        </p:spPr>
        <p:txBody>
          <a:bodyPr wrap="square" lIns="0" tIns="1271" rIns="0" bIns="0" rtlCol="0" anchor="ctr"/>
          <a:lstStyle/>
          <a:p>
            <a:pPr>
              <a:lnSpc>
                <a:spcPct val="95000"/>
              </a:lnSpc>
            </a:pPr>
            <a:r>
              <a:rPr lang="en-US" sz="1000" kern="0" spc="100">
                <a:solidFill>
                  <a:srgbClr val="5C5C5C"/>
                </a:solidFill>
                <a:ea typeface="Arial" pitchFamily="34" charset="-122"/>
                <a:cs typeface="Arial" pitchFamily="34" charset="-120"/>
              </a:rPr>
              <a:t>State Street S&amp;P 500</a:t>
            </a:r>
            <a:endParaRPr lang="en-US" sz="1000"/>
          </a:p>
          <a:p>
            <a:pPr>
              <a:lnSpc>
                <a:spcPct val="95000"/>
              </a:lnSpc>
            </a:pPr>
            <a:r>
              <a:rPr lang="en-US" sz="1000" kern="0" spc="100">
                <a:solidFill>
                  <a:srgbClr val="5C5C5C"/>
                </a:solidFill>
                <a:ea typeface="Arial" pitchFamily="34" charset="-122"/>
                <a:cs typeface="Arial" pitchFamily="34" charset="-120"/>
              </a:rPr>
              <a:t>ETF Trust (SPY)</a:t>
            </a:r>
            <a:endParaRPr lang="en-US" sz="1000"/>
          </a:p>
        </p:txBody>
      </p:sp>
      <p:sp>
        <p:nvSpPr>
          <p:cNvPr id="26" name="Text 24"/>
          <p:cNvSpPr/>
          <p:nvPr/>
        </p:nvSpPr>
        <p:spPr>
          <a:xfrm>
            <a:off x="3840480" y="3959352"/>
            <a:ext cx="2194560" cy="603504"/>
          </a:xfrm>
          <a:prstGeom prst="rect">
            <a:avLst/>
          </a:prstGeom>
          <a:noFill/>
          <a:ln/>
        </p:spPr>
        <p:txBody>
          <a:bodyPr wrap="square" lIns="0" tIns="0" rIns="0" bIns="0" rtlCol="0" anchor="ctr"/>
          <a:lstStyle/>
          <a:p>
            <a:pPr algn="ctr"/>
            <a:r>
              <a:rPr lang="en-US" sz="1400">
                <a:solidFill>
                  <a:srgbClr val="9E2B2B"/>
                </a:solidFill>
                <a:latin typeface="Georgia" panose="02040502050405020303" pitchFamily="18" charset="0"/>
                <a:ea typeface="Cambria" pitchFamily="34" charset="-122"/>
                <a:cs typeface="Cambria" pitchFamily="34" charset="-120"/>
              </a:rPr>
              <a:t>-0.33%</a:t>
            </a:r>
            <a:endParaRPr lang="en-US" sz="1400">
              <a:latin typeface="Georgia" panose="02040502050405020303" pitchFamily="18" charset="0"/>
            </a:endParaRPr>
          </a:p>
        </p:txBody>
      </p:sp>
      <p:sp>
        <p:nvSpPr>
          <p:cNvPr id="27" name="Text 25"/>
          <p:cNvSpPr/>
          <p:nvPr/>
        </p:nvSpPr>
        <p:spPr>
          <a:xfrm>
            <a:off x="6583680" y="3959352"/>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2.38%</a:t>
            </a:r>
            <a:endParaRPr lang="en-US" sz="1400">
              <a:latin typeface="Georgia" panose="02040502050405020303" pitchFamily="18" charset="0"/>
            </a:endParaRPr>
          </a:p>
        </p:txBody>
      </p:sp>
      <p:sp>
        <p:nvSpPr>
          <p:cNvPr id="28" name="Text 26"/>
          <p:cNvSpPr/>
          <p:nvPr/>
        </p:nvSpPr>
        <p:spPr>
          <a:xfrm>
            <a:off x="9326880" y="3959352"/>
            <a:ext cx="2194560" cy="603504"/>
          </a:xfrm>
          <a:prstGeom prst="rect">
            <a:avLst/>
          </a:prstGeom>
          <a:noFill/>
          <a:ln/>
        </p:spPr>
        <p:txBody>
          <a:bodyPr wrap="square" lIns="0" tIns="0" rIns="0" bIns="0" rtlCol="0" anchor="ctr"/>
          <a:lstStyle/>
          <a:p>
            <a:pPr algn="ctr"/>
            <a:r>
              <a:rPr lang="en-US" sz="1400">
                <a:solidFill>
                  <a:srgbClr val="1A1A1A"/>
                </a:solidFill>
                <a:latin typeface="Georgia" panose="02040502050405020303" pitchFamily="18" charset="0"/>
                <a:ea typeface="Cambria" pitchFamily="34" charset="-122"/>
                <a:cs typeface="Cambria" pitchFamily="34" charset="-120"/>
              </a:rPr>
              <a:t>11.07%</a:t>
            </a:r>
            <a:endParaRPr lang="en-US" sz="1400">
              <a:latin typeface="Georgia" panose="02040502050405020303" pitchFamily="18" charset="0"/>
            </a:endParaRPr>
          </a:p>
        </p:txBody>
      </p:sp>
      <p:sp>
        <p:nvSpPr>
          <p:cNvPr id="29" name="Shape 27"/>
          <p:cNvSpPr/>
          <p:nvPr/>
        </p:nvSpPr>
        <p:spPr>
          <a:xfrm>
            <a:off x="548640" y="4562856"/>
            <a:ext cx="10927080" cy="0"/>
          </a:xfrm>
          <a:prstGeom prst="line">
            <a:avLst/>
          </a:prstGeom>
          <a:noFill/>
          <a:ln w="12700">
            <a:solidFill>
              <a:srgbClr val="D0D0D0"/>
            </a:solidFill>
            <a:prstDash val="solid"/>
          </a:ln>
        </p:spPr>
        <p:txBody>
          <a:bodyPr/>
          <a:lstStyle/>
          <a:p>
            <a:endParaRPr lang="en-US"/>
          </a:p>
        </p:txBody>
      </p:sp>
      <p:sp>
        <p:nvSpPr>
          <p:cNvPr id="30" name="Shape 28"/>
          <p:cNvSpPr/>
          <p:nvPr/>
        </p:nvSpPr>
        <p:spPr>
          <a:xfrm>
            <a:off x="548640" y="4672584"/>
            <a:ext cx="10927080" cy="0"/>
          </a:xfrm>
          <a:prstGeom prst="line">
            <a:avLst/>
          </a:prstGeom>
          <a:noFill/>
          <a:ln w="25400">
            <a:solidFill>
              <a:srgbClr val="BE9430"/>
            </a:solidFill>
            <a:prstDash val="solid"/>
          </a:ln>
        </p:spPr>
        <p:txBody>
          <a:bodyPr/>
          <a:lstStyle/>
          <a:p>
            <a:endParaRPr lang="en-US"/>
          </a:p>
        </p:txBody>
      </p:sp>
      <p:sp>
        <p:nvSpPr>
          <p:cNvPr id="31" name="Text 29"/>
          <p:cNvSpPr/>
          <p:nvPr/>
        </p:nvSpPr>
        <p:spPr>
          <a:xfrm>
            <a:off x="502920" y="5397500"/>
            <a:ext cx="11201400" cy="1270000"/>
          </a:xfrm>
          <a:prstGeom prst="rect">
            <a:avLst/>
          </a:prstGeom>
          <a:noFill/>
          <a:ln/>
        </p:spPr>
        <p:txBody>
          <a:bodyPr wrap="square" lIns="0" tIns="0" rIns="0" bIns="0" rtlCol="0" anchor="t"/>
          <a:lstStyle/>
          <a:p>
            <a:pPr>
              <a:lnSpc>
                <a:spcPct val="105000"/>
              </a:lnSpc>
              <a:spcAft>
                <a:spcPts val="400"/>
              </a:spcAft>
            </a:pPr>
            <a:r>
              <a:rPr lang="en-US" sz="750" dirty="0" err="1">
                <a:solidFill>
                  <a:srgbClr val="7A7A7A"/>
                </a:solidFill>
                <a:latin typeface="Arial" pitchFamily="34" charset="0"/>
                <a:ea typeface="Arial" pitchFamily="34" charset="-122"/>
                <a:cs typeface="Arial" pitchFamily="34" charset="-120"/>
              </a:rPr>
              <a:t>Paradiem</a:t>
            </a:r>
            <a:r>
              <a:rPr lang="en-US" sz="750" dirty="0">
                <a:solidFill>
                  <a:srgbClr val="7A7A7A"/>
                </a:solidFill>
                <a:latin typeface="Arial" pitchFamily="34" charset="0"/>
                <a:ea typeface="Arial" pitchFamily="34" charset="-122"/>
                <a:cs typeface="Arial" pitchFamily="34" charset="-120"/>
              </a:rPr>
              <a:t>, LLC is a Registered Investment Advisor. Performance is based on actual client accounts that are invested in Paradiem’s Growth strategy.</a:t>
            </a:r>
          </a:p>
          <a:p>
            <a:pPr>
              <a:lnSpc>
                <a:spcPct val="105000"/>
              </a:lnSpc>
              <a:spcAft>
                <a:spcPts val="400"/>
              </a:spcAft>
            </a:pPr>
            <a:r>
              <a:rPr lang="en-US" sz="750" dirty="0">
                <a:solidFill>
                  <a:srgbClr val="7A7A7A"/>
                </a:solidFill>
                <a:latin typeface="Arial" pitchFamily="34" charset="0"/>
                <a:ea typeface="Arial" pitchFamily="34" charset="-122"/>
                <a:cs typeface="Arial" pitchFamily="34" charset="-120"/>
              </a:rPr>
              <a:t>Past performance is no guarantee of future results. Returns presented include the reinvestment of all income. Gross-of-fee performance includes trading expenses and custodial expenses. Net-of-fee performance includes actual account-level gross returns, less a model investment management fee. The model fee is deducted monthly from composite returns at the rate of 1/12 of Paradiem’s highest annual fee tier. The highest rate of our annual fixed fee is 1.5%.</a:t>
            </a:r>
          </a:p>
          <a:p>
            <a:pPr>
              <a:lnSpc>
                <a:spcPct val="105000"/>
              </a:lnSpc>
              <a:spcAft>
                <a:spcPts val="400"/>
              </a:spcAft>
            </a:pPr>
            <a:r>
              <a:rPr lang="en-US" sz="750" dirty="0">
                <a:solidFill>
                  <a:srgbClr val="7A7A7A"/>
                </a:solidFill>
                <a:latin typeface="Arial" pitchFamily="34" charset="0"/>
                <a:ea typeface="Arial" pitchFamily="34" charset="-122"/>
                <a:cs typeface="Arial" pitchFamily="34" charset="-120"/>
              </a:rPr>
              <a:t>The iShares Core S&amp;P U.S. Growth ETF seeks to track an index composed of U.S. large and mid-cap companies, selected using metrics such as above-average earnings and revenue growth. The fund provides low-cost, targeted exposure to U.S. large and mid-cap growth stocks.</a:t>
            </a:r>
          </a:p>
          <a:p>
            <a:pPr>
              <a:lnSpc>
                <a:spcPct val="105000"/>
              </a:lnSpc>
              <a:spcAft>
                <a:spcPts val="400"/>
              </a:spcAft>
            </a:pPr>
            <a:r>
              <a:rPr lang="en-US" sz="750" dirty="0">
                <a:solidFill>
                  <a:srgbClr val="7A7A7A"/>
                </a:solidFill>
                <a:latin typeface="Arial" pitchFamily="34" charset="0"/>
                <a:ea typeface="Arial" pitchFamily="34" charset="-122"/>
                <a:cs typeface="Arial" pitchFamily="34" charset="-120"/>
              </a:rPr>
              <a:t>The State Street SPDR S&amp;P 500 ETF Trust is an exchange-traded fund (ETF) that tracks the Standard &amp; Poor’s 500 (S&amp;P 500) index. It does this by holding a portfolio of stocks in companies that are included in the S&amp;P 500.</a:t>
            </a:r>
          </a:p>
        </p:txBody>
      </p:sp>
      <p:pic>
        <p:nvPicPr>
          <p:cNvPr id="33" name="Image 0" descr="preencoded.png">
            <a:extLst>
              <a:ext uri="{FF2B5EF4-FFF2-40B4-BE49-F238E27FC236}">
                <a16:creationId xmlns:a16="http://schemas.microsoft.com/office/drawing/2014/main" id="{736E5A05-6931-3DB5-2C0A-8B09157641C1}"/>
              </a:ext>
            </a:extLst>
          </p:cNvPr>
          <p:cNvPicPr>
            <a:picLocks noChangeAspect="1"/>
          </p:cNvPicPr>
          <p:nvPr/>
        </p:nvPicPr>
        <p:blipFill>
          <a:blip r:embed="rId3"/>
          <a:stretch>
            <a:fillRect/>
          </a:stretch>
        </p:blipFill>
        <p:spPr>
          <a:xfrm>
            <a:off x="10362895" y="347472"/>
            <a:ext cx="1417320" cy="410550"/>
          </a:xfrm>
          <a:prstGeom prst="rect">
            <a:avLst/>
          </a:prstGeom>
        </p:spPr>
      </p:pic>
    </p:spTree>
    <p:extLst>
      <p:ext uri="{BB962C8B-B14F-4D97-AF65-F5344CB8AC3E}">
        <p14:creationId xmlns:p14="http://schemas.microsoft.com/office/powerpoint/2010/main" val="1889619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p:cNvSpPr/>
          <p:nvPr/>
        </p:nvSpPr>
        <p:spPr>
          <a:xfrm>
            <a:off x="609600" y="268224"/>
            <a:ext cx="10972800" cy="268224"/>
          </a:xfrm>
          <a:prstGeom prst="rect">
            <a:avLst/>
          </a:prstGeom>
          <a:noFill/>
          <a:ln/>
        </p:spPr>
        <p:txBody>
          <a:bodyPr wrap="square" rtlCol="0" anchor="ctr"/>
          <a:lstStyle/>
          <a:p>
            <a:r>
              <a:rPr lang="en-US" sz="1467" kern="0" spc="467">
                <a:solidFill>
                  <a:srgbClr val="C9A84C"/>
                </a:solidFill>
                <a:latin typeface="Calibri" pitchFamily="34" charset="0"/>
                <a:ea typeface="Calibri" pitchFamily="34" charset="-122"/>
                <a:cs typeface="Calibri" pitchFamily="34" charset="-120"/>
              </a:rPr>
              <a:t>PERFORMANCE ANALYSIS</a:t>
            </a:r>
            <a:endParaRPr lang="en-US" sz="1467">
              <a:solidFill>
                <a:srgbClr val="C9A84C"/>
              </a:solidFill>
            </a:endParaRPr>
          </a:p>
        </p:txBody>
      </p:sp>
      <p:sp>
        <p:nvSpPr>
          <p:cNvPr id="7" name="Text 4"/>
          <p:cNvSpPr/>
          <p:nvPr/>
        </p:nvSpPr>
        <p:spPr>
          <a:xfrm>
            <a:off x="609600" y="548640"/>
            <a:ext cx="10972800" cy="1463040"/>
          </a:xfrm>
          <a:prstGeom prst="rect">
            <a:avLst/>
          </a:prstGeom>
          <a:noFill/>
          <a:ln/>
        </p:spPr>
        <p:txBody>
          <a:bodyPr wrap="square" rtlCol="0" anchor="ctr"/>
          <a:lstStyle/>
          <a:p>
            <a:r>
              <a:rPr lang="en-US" sz="3733">
                <a:solidFill>
                  <a:srgbClr val="1B1836"/>
                </a:solidFill>
                <a:latin typeface="Georgia" pitchFamily="34" charset="0"/>
                <a:ea typeface="Georgia" pitchFamily="34" charset="-122"/>
                <a:cs typeface="Georgia" pitchFamily="34" charset="-120"/>
              </a:rPr>
              <a:t>Performance Audit</a:t>
            </a:r>
            <a:endParaRPr lang="en-US" sz="3733">
              <a:solidFill>
                <a:srgbClr val="1B1836"/>
              </a:solidFill>
            </a:endParaRPr>
          </a:p>
        </p:txBody>
      </p:sp>
      <p:sp>
        <p:nvSpPr>
          <p:cNvPr id="8" name="Shape 5"/>
          <p:cNvSpPr/>
          <p:nvPr/>
        </p:nvSpPr>
        <p:spPr>
          <a:xfrm>
            <a:off x="609600" y="1560578"/>
            <a:ext cx="1706880" cy="34137"/>
          </a:xfrm>
          <a:prstGeom prst="rect">
            <a:avLst/>
          </a:prstGeom>
          <a:solidFill>
            <a:srgbClr val="C9A84C"/>
          </a:solidFill>
          <a:ln w="12700">
            <a:solidFill>
              <a:srgbClr val="B2A26F"/>
            </a:solidFill>
            <a:prstDash val="solid"/>
          </a:ln>
        </p:spPr>
        <p:txBody>
          <a:bodyPr/>
          <a:lstStyle/>
          <a:p>
            <a:endParaRPr lang="en-US" sz="2400"/>
          </a:p>
        </p:txBody>
      </p:sp>
      <p:sp>
        <p:nvSpPr>
          <p:cNvPr id="9" name="Text 6"/>
          <p:cNvSpPr/>
          <p:nvPr/>
        </p:nvSpPr>
        <p:spPr>
          <a:xfrm>
            <a:off x="609600" y="1767840"/>
            <a:ext cx="5364480" cy="365760"/>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Current Portfolio</a:t>
            </a:r>
            <a:endParaRPr lang="en-US" sz="1600"/>
          </a:p>
        </p:txBody>
      </p:sp>
      <p:sp>
        <p:nvSpPr>
          <p:cNvPr id="10" name="Shape 7"/>
          <p:cNvSpPr/>
          <p:nvPr/>
        </p:nvSpPr>
        <p:spPr>
          <a:xfrm>
            <a:off x="609600" y="221894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11" name="Text 8"/>
          <p:cNvSpPr/>
          <p:nvPr/>
        </p:nvSpPr>
        <p:spPr>
          <a:xfrm>
            <a:off x="792480" y="234086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8.68%</a:t>
            </a:r>
            <a:endParaRPr lang="en-US" sz="3200">
              <a:solidFill>
                <a:srgbClr val="1B1836"/>
              </a:solidFill>
            </a:endParaRPr>
          </a:p>
        </p:txBody>
      </p:sp>
      <p:sp>
        <p:nvSpPr>
          <p:cNvPr id="12" name="Text 9"/>
          <p:cNvSpPr/>
          <p:nvPr/>
        </p:nvSpPr>
        <p:spPr>
          <a:xfrm>
            <a:off x="2804160" y="248716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Potential Annual Return</a:t>
            </a:r>
            <a:endParaRPr lang="en-US" sz="1600"/>
          </a:p>
        </p:txBody>
      </p:sp>
      <p:sp>
        <p:nvSpPr>
          <p:cNvPr id="13" name="Shape 10"/>
          <p:cNvSpPr/>
          <p:nvPr/>
        </p:nvSpPr>
        <p:spPr>
          <a:xfrm>
            <a:off x="609600" y="337718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14" name="Text 11"/>
          <p:cNvSpPr/>
          <p:nvPr/>
        </p:nvSpPr>
        <p:spPr>
          <a:xfrm>
            <a:off x="792480" y="349910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0.84%</a:t>
            </a:r>
            <a:endParaRPr lang="en-US" sz="3200">
              <a:solidFill>
                <a:srgbClr val="1B1836"/>
              </a:solidFill>
            </a:endParaRPr>
          </a:p>
        </p:txBody>
      </p:sp>
      <p:sp>
        <p:nvSpPr>
          <p:cNvPr id="15" name="Text 12"/>
          <p:cNvSpPr/>
          <p:nvPr/>
        </p:nvSpPr>
        <p:spPr>
          <a:xfrm>
            <a:off x="2804160" y="364540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Annual Dividend Yield</a:t>
            </a:r>
            <a:endParaRPr lang="en-US" sz="1600"/>
          </a:p>
        </p:txBody>
      </p:sp>
      <p:sp>
        <p:nvSpPr>
          <p:cNvPr id="16" name="Shape 13"/>
          <p:cNvSpPr/>
          <p:nvPr/>
        </p:nvSpPr>
        <p:spPr>
          <a:xfrm>
            <a:off x="609600" y="4535424"/>
            <a:ext cx="5364480" cy="999744"/>
          </a:xfrm>
          <a:prstGeom prst="rect">
            <a:avLst/>
          </a:prstGeom>
          <a:solidFill>
            <a:srgbClr val="1B1836"/>
          </a:solidFill>
          <a:ln w="6350">
            <a:solidFill>
              <a:srgbClr val="1C1E33"/>
            </a:solidFill>
            <a:prstDash val="solid"/>
          </a:ln>
        </p:spPr>
        <p:txBody>
          <a:bodyPr/>
          <a:lstStyle/>
          <a:p>
            <a:endParaRPr lang="en-US" sz="2400"/>
          </a:p>
        </p:txBody>
      </p:sp>
      <p:sp>
        <p:nvSpPr>
          <p:cNvPr id="17" name="Text 14"/>
          <p:cNvSpPr/>
          <p:nvPr/>
        </p:nvSpPr>
        <p:spPr>
          <a:xfrm>
            <a:off x="792480" y="4657344"/>
            <a:ext cx="1889760" cy="670560"/>
          </a:xfrm>
          <a:prstGeom prst="rect">
            <a:avLst/>
          </a:prstGeom>
          <a:noFill/>
          <a:ln/>
        </p:spPr>
        <p:txBody>
          <a:bodyPr wrap="square" rtlCol="0" anchor="ctr"/>
          <a:lstStyle/>
          <a:p>
            <a:r>
              <a:rPr lang="en-US" sz="3200" b="1">
                <a:solidFill>
                  <a:srgbClr val="C9A84C"/>
                </a:solidFill>
                <a:latin typeface="Georgia" pitchFamily="34" charset="0"/>
                <a:ea typeface="Georgia" pitchFamily="34" charset="-122"/>
                <a:cs typeface="Georgia" pitchFamily="34" charset="-120"/>
              </a:rPr>
              <a:t>9.52%</a:t>
            </a:r>
            <a:endParaRPr lang="en-US" sz="3200">
              <a:solidFill>
                <a:srgbClr val="C9A84C"/>
              </a:solidFill>
            </a:endParaRPr>
          </a:p>
        </p:txBody>
      </p:sp>
      <p:sp>
        <p:nvSpPr>
          <p:cNvPr id="18" name="Text 15"/>
          <p:cNvSpPr/>
          <p:nvPr/>
        </p:nvSpPr>
        <p:spPr>
          <a:xfrm>
            <a:off x="2804160" y="4803648"/>
            <a:ext cx="3048000" cy="463296"/>
          </a:xfrm>
          <a:prstGeom prst="rect">
            <a:avLst/>
          </a:prstGeom>
          <a:noFill/>
          <a:ln/>
        </p:spPr>
        <p:txBody>
          <a:bodyPr wrap="square" rtlCol="0" anchor="ctr"/>
          <a:lstStyle/>
          <a:p>
            <a:r>
              <a:rPr lang="en-US" sz="1600">
                <a:solidFill>
                  <a:srgbClr val="FFFFFF"/>
                </a:solidFill>
                <a:latin typeface="Calibri" pitchFamily="34" charset="0"/>
                <a:ea typeface="Calibri" pitchFamily="34" charset="-122"/>
                <a:cs typeface="Calibri" pitchFamily="34" charset="-120"/>
              </a:rPr>
              <a:t>Total Potential Return</a:t>
            </a:r>
            <a:endParaRPr lang="en-US" sz="1600"/>
          </a:p>
        </p:txBody>
      </p:sp>
      <p:sp>
        <p:nvSpPr>
          <p:cNvPr id="19" name="Text 16"/>
          <p:cNvSpPr/>
          <p:nvPr/>
        </p:nvSpPr>
        <p:spPr>
          <a:xfrm>
            <a:off x="6339840" y="1767840"/>
            <a:ext cx="5364480" cy="365760"/>
          </a:xfrm>
          <a:prstGeom prst="rect">
            <a:avLst/>
          </a:prstGeom>
          <a:noFill/>
          <a:ln/>
        </p:spPr>
        <p:txBody>
          <a:bodyPr wrap="square" rtlCol="0" anchor="ctr"/>
          <a:lstStyle/>
          <a:p>
            <a:r>
              <a:rPr lang="en-US" sz="1600" b="1">
                <a:solidFill>
                  <a:srgbClr val="1C1D32"/>
                </a:solidFill>
                <a:latin typeface="Calibri" pitchFamily="34" charset="0"/>
                <a:ea typeface="Calibri" pitchFamily="34" charset="-122"/>
                <a:cs typeface="Calibri" pitchFamily="34" charset="-120"/>
              </a:rPr>
              <a:t>Potential Portfolio</a:t>
            </a:r>
            <a:endParaRPr lang="en-US" sz="1600"/>
          </a:p>
        </p:txBody>
      </p:sp>
      <p:sp>
        <p:nvSpPr>
          <p:cNvPr id="20" name="Shape 17"/>
          <p:cNvSpPr/>
          <p:nvPr/>
        </p:nvSpPr>
        <p:spPr>
          <a:xfrm>
            <a:off x="6339840" y="221894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21" name="Text 18"/>
          <p:cNvSpPr/>
          <p:nvPr/>
        </p:nvSpPr>
        <p:spPr>
          <a:xfrm>
            <a:off x="6522720" y="234086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10.23%</a:t>
            </a:r>
            <a:endParaRPr lang="en-US" sz="3200">
              <a:solidFill>
                <a:srgbClr val="1B1836"/>
              </a:solidFill>
            </a:endParaRPr>
          </a:p>
        </p:txBody>
      </p:sp>
      <p:sp>
        <p:nvSpPr>
          <p:cNvPr id="22" name="Text 19"/>
          <p:cNvSpPr/>
          <p:nvPr/>
        </p:nvSpPr>
        <p:spPr>
          <a:xfrm>
            <a:off x="8534400" y="248716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Potential Annual Return</a:t>
            </a:r>
            <a:endParaRPr lang="en-US" sz="1600"/>
          </a:p>
        </p:txBody>
      </p:sp>
      <p:sp>
        <p:nvSpPr>
          <p:cNvPr id="23" name="Shape 20"/>
          <p:cNvSpPr/>
          <p:nvPr/>
        </p:nvSpPr>
        <p:spPr>
          <a:xfrm>
            <a:off x="6339840" y="337718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24" name="Text 21"/>
          <p:cNvSpPr/>
          <p:nvPr/>
        </p:nvSpPr>
        <p:spPr>
          <a:xfrm>
            <a:off x="6522720" y="349910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1.64%</a:t>
            </a:r>
            <a:endParaRPr lang="en-US" sz="3200">
              <a:solidFill>
                <a:srgbClr val="1B1836"/>
              </a:solidFill>
            </a:endParaRPr>
          </a:p>
        </p:txBody>
      </p:sp>
      <p:sp>
        <p:nvSpPr>
          <p:cNvPr id="25" name="Text 22"/>
          <p:cNvSpPr/>
          <p:nvPr/>
        </p:nvSpPr>
        <p:spPr>
          <a:xfrm>
            <a:off x="8534400" y="364540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Annual Dividend Yield</a:t>
            </a:r>
            <a:endParaRPr lang="en-US" sz="1600"/>
          </a:p>
        </p:txBody>
      </p:sp>
      <p:sp>
        <p:nvSpPr>
          <p:cNvPr id="26" name="Shape 23"/>
          <p:cNvSpPr/>
          <p:nvPr/>
        </p:nvSpPr>
        <p:spPr>
          <a:xfrm>
            <a:off x="6339840" y="4535424"/>
            <a:ext cx="5364480" cy="999744"/>
          </a:xfrm>
          <a:prstGeom prst="rect">
            <a:avLst/>
          </a:prstGeom>
          <a:solidFill>
            <a:srgbClr val="1B1836"/>
          </a:solidFill>
          <a:ln w="6350">
            <a:solidFill>
              <a:srgbClr val="1C1E33"/>
            </a:solidFill>
            <a:prstDash val="solid"/>
          </a:ln>
        </p:spPr>
        <p:txBody>
          <a:bodyPr/>
          <a:lstStyle/>
          <a:p>
            <a:endParaRPr lang="en-US" sz="2400"/>
          </a:p>
        </p:txBody>
      </p:sp>
      <p:sp>
        <p:nvSpPr>
          <p:cNvPr id="27" name="Text 24"/>
          <p:cNvSpPr/>
          <p:nvPr/>
        </p:nvSpPr>
        <p:spPr>
          <a:xfrm>
            <a:off x="6522720" y="4657344"/>
            <a:ext cx="1889760" cy="670560"/>
          </a:xfrm>
          <a:prstGeom prst="rect">
            <a:avLst/>
          </a:prstGeom>
          <a:noFill/>
          <a:ln/>
        </p:spPr>
        <p:txBody>
          <a:bodyPr wrap="square" rtlCol="0" anchor="ctr"/>
          <a:lstStyle/>
          <a:p>
            <a:r>
              <a:rPr lang="en-US" sz="3200" b="1">
                <a:solidFill>
                  <a:srgbClr val="C9A84C"/>
                </a:solidFill>
                <a:latin typeface="Georgia" pitchFamily="34" charset="0"/>
                <a:ea typeface="Georgia" pitchFamily="34" charset="-122"/>
                <a:cs typeface="Georgia" pitchFamily="34" charset="-120"/>
              </a:rPr>
              <a:t>11.87%</a:t>
            </a:r>
            <a:endParaRPr lang="en-US" sz="3200">
              <a:solidFill>
                <a:srgbClr val="C9A84C"/>
              </a:solidFill>
            </a:endParaRPr>
          </a:p>
        </p:txBody>
      </p:sp>
      <p:sp>
        <p:nvSpPr>
          <p:cNvPr id="28" name="Text 25"/>
          <p:cNvSpPr/>
          <p:nvPr/>
        </p:nvSpPr>
        <p:spPr>
          <a:xfrm>
            <a:off x="8534400" y="4803648"/>
            <a:ext cx="3048000" cy="463296"/>
          </a:xfrm>
          <a:prstGeom prst="rect">
            <a:avLst/>
          </a:prstGeom>
          <a:noFill/>
          <a:ln/>
        </p:spPr>
        <p:txBody>
          <a:bodyPr wrap="square" rtlCol="0" anchor="ctr"/>
          <a:lstStyle/>
          <a:p>
            <a:r>
              <a:rPr lang="en-US" sz="1600">
                <a:solidFill>
                  <a:srgbClr val="FFFFFF"/>
                </a:solidFill>
                <a:latin typeface="Calibri" pitchFamily="34" charset="0"/>
                <a:ea typeface="Calibri" pitchFamily="34" charset="-122"/>
                <a:cs typeface="Calibri" pitchFamily="34" charset="-120"/>
              </a:rPr>
              <a:t>Total Potential Return</a:t>
            </a:r>
            <a:endParaRPr lang="en-US" sz="1600"/>
          </a:p>
        </p:txBody>
      </p:sp>
      <p:sp>
        <p:nvSpPr>
          <p:cNvPr id="29" name="Text 26"/>
          <p:cNvSpPr/>
          <p:nvPr/>
        </p:nvSpPr>
        <p:spPr>
          <a:xfrm>
            <a:off x="609600" y="5928800"/>
            <a:ext cx="10972800" cy="243840"/>
          </a:xfrm>
          <a:prstGeom prst="rect">
            <a:avLst/>
          </a:prstGeom>
          <a:noFill/>
          <a:ln/>
        </p:spPr>
        <p:txBody>
          <a:bodyPr wrap="square" rtlCol="0" anchor="ctr"/>
          <a:lstStyle/>
          <a:p>
            <a:r>
              <a:rPr lang="en-US" sz="867">
                <a:solidFill>
                  <a:srgbClr val="8C8C8C"/>
                </a:solidFill>
                <a:latin typeface="Calibri" pitchFamily="34" charset="0"/>
                <a:ea typeface="Calibri" pitchFamily="34" charset="-122"/>
                <a:cs typeface="Calibri" pitchFamily="34" charset="-120"/>
              </a:rPr>
              <a:t>Projections are hypothetical and do not reflect actual results. Past performance is no guarantee of future results. Calculated using Riskalyze methodology.</a:t>
            </a:r>
            <a:endParaRPr lang="en-US" sz="867"/>
          </a:p>
        </p:txBody>
      </p:sp>
      <p:pic>
        <p:nvPicPr>
          <p:cNvPr id="3" name="Image 0" descr="preencoded.png">
            <a:extLst>
              <a:ext uri="{FF2B5EF4-FFF2-40B4-BE49-F238E27FC236}">
                <a16:creationId xmlns:a16="http://schemas.microsoft.com/office/drawing/2014/main" id="{4B56D8E1-3E2C-6EFA-1063-E742D3B38CD2}"/>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32" name="Shape 0">
            <a:extLst>
              <a:ext uri="{FF2B5EF4-FFF2-40B4-BE49-F238E27FC236}">
                <a16:creationId xmlns:a16="http://schemas.microsoft.com/office/drawing/2014/main" id="{B8688809-4949-0FBF-407C-1E025804DD88}"/>
              </a:ext>
            </a:extLst>
          </p:cNvPr>
          <p:cNvSpPr/>
          <p:nvPr/>
        </p:nvSpPr>
        <p:spPr>
          <a:xfrm>
            <a:off x="0" y="6547104"/>
            <a:ext cx="12191695" cy="310896"/>
          </a:xfrm>
          <a:prstGeom prst="rect">
            <a:avLst/>
          </a:prstGeom>
          <a:solidFill>
            <a:srgbClr val="F1EEE6"/>
          </a:solidFill>
          <a:ln/>
        </p:spPr>
        <p:txBody>
          <a:bodyPr/>
          <a:lstStyle/>
          <a:p>
            <a:endParaRPr lang="en-US"/>
          </a:p>
        </p:txBody>
      </p:sp>
      <p:sp>
        <p:nvSpPr>
          <p:cNvPr id="34" name="Text 1">
            <a:extLst>
              <a:ext uri="{FF2B5EF4-FFF2-40B4-BE49-F238E27FC236}">
                <a16:creationId xmlns:a16="http://schemas.microsoft.com/office/drawing/2014/main" id="{406451ED-2001-31D5-8794-C7D9AF509016}"/>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36" name="Text 2">
            <a:extLst>
              <a:ext uri="{FF2B5EF4-FFF2-40B4-BE49-F238E27FC236}">
                <a16:creationId xmlns:a16="http://schemas.microsoft.com/office/drawing/2014/main" id="{44D80832-7569-DEC7-7626-A12BFF7BE049}"/>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38" name="Text 3">
            <a:extLst>
              <a:ext uri="{FF2B5EF4-FFF2-40B4-BE49-F238E27FC236}">
                <a16:creationId xmlns:a16="http://schemas.microsoft.com/office/drawing/2014/main" id="{8898A07D-EECA-DA07-5D91-A33BBFBF708F}"/>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268224"/>
            <a:ext cx="10972800" cy="268224"/>
          </a:xfrm>
          <a:prstGeom prst="rect">
            <a:avLst/>
          </a:prstGeom>
          <a:noFill/>
          <a:ln/>
        </p:spPr>
        <p:txBody>
          <a:bodyPr wrap="square" lIns="0" tIns="0" rIns="0" bIns="0" rtlCol="0" anchor="t"/>
          <a:lstStyle/>
          <a:p>
            <a:r>
              <a:rPr lang="en-US" sz="1400" kern="0" spc="400">
                <a:solidFill>
                  <a:srgbClr val="C9A84C"/>
                </a:solidFill>
                <a:latin typeface="Calibri"/>
                <a:ea typeface="Calibri"/>
                <a:cs typeface="Calibri"/>
              </a:rPr>
              <a:t>RISK ASSESSMENT</a:t>
            </a:r>
            <a:endParaRPr lang="en-US" sz="1400">
              <a:latin typeface="Calibri"/>
              <a:ea typeface="Calibri"/>
              <a:cs typeface="Calibri"/>
            </a:endParaRPr>
          </a:p>
        </p:txBody>
      </p:sp>
      <p:sp>
        <p:nvSpPr>
          <p:cNvPr id="3" name="Text 1"/>
          <p:cNvSpPr/>
          <p:nvPr/>
        </p:nvSpPr>
        <p:spPr>
          <a:xfrm>
            <a:off x="670560" y="609600"/>
            <a:ext cx="10972800" cy="914400"/>
          </a:xfrm>
          <a:prstGeom prst="rect">
            <a:avLst/>
          </a:prstGeom>
          <a:noFill/>
          <a:ln/>
        </p:spPr>
        <p:txBody>
          <a:bodyPr wrap="square" lIns="0" tIns="0" rIns="0" bIns="0" rtlCol="0" anchor="t"/>
          <a:lstStyle/>
          <a:p>
            <a:r>
              <a:rPr lang="en-US" sz="3467">
                <a:solidFill>
                  <a:srgbClr val="1A1E3A"/>
                </a:solidFill>
                <a:latin typeface="Georgia" pitchFamily="34" charset="0"/>
                <a:ea typeface="Georgia" pitchFamily="34" charset="-122"/>
                <a:cs typeface="Georgia" pitchFamily="34" charset="-120"/>
              </a:rPr>
              <a:t>Abrams Family — Lifeboat Drill</a:t>
            </a:r>
            <a:endParaRPr lang="en-US" sz="3467"/>
          </a:p>
        </p:txBody>
      </p:sp>
      <p:sp>
        <p:nvSpPr>
          <p:cNvPr id="4" name="Shape 2"/>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Text 3"/>
          <p:cNvSpPr/>
          <p:nvPr/>
        </p:nvSpPr>
        <p:spPr>
          <a:xfrm>
            <a:off x="670560" y="1853184"/>
            <a:ext cx="10972800" cy="268224"/>
          </a:xfrm>
          <a:prstGeom prst="rect">
            <a:avLst/>
          </a:prstGeom>
          <a:noFill/>
          <a:ln/>
        </p:spPr>
        <p:txBody>
          <a:bodyPr wrap="square" lIns="0" tIns="0" rIns="0" bIns="0" rtlCol="0" anchor="ctr"/>
          <a:lstStyle/>
          <a:p>
            <a:r>
              <a:rPr lang="en-US" sz="1333">
                <a:solidFill>
                  <a:srgbClr val="6A6A7A"/>
                </a:solidFill>
                <a:latin typeface="Calibri"/>
                <a:ea typeface="Calibri"/>
                <a:cs typeface="Calibri"/>
              </a:rPr>
              <a:t>95% Probability Range  —  6-Month Horizon</a:t>
            </a:r>
            <a:endParaRPr lang="en-US" sz="1333">
              <a:latin typeface="Calibri"/>
              <a:ea typeface="Calibri"/>
              <a:cs typeface="Calibri"/>
            </a:endParaRPr>
          </a:p>
        </p:txBody>
      </p:sp>
      <p:sp>
        <p:nvSpPr>
          <p:cNvPr id="6" name="Shape 4"/>
          <p:cNvSpPr/>
          <p:nvPr/>
        </p:nvSpPr>
        <p:spPr>
          <a:xfrm>
            <a:off x="4328160" y="2301476"/>
            <a:ext cx="3657600" cy="1280160"/>
          </a:xfrm>
          <a:prstGeom prst="rect">
            <a:avLst/>
          </a:prstGeom>
          <a:solidFill>
            <a:srgbClr val="FAFAF8"/>
          </a:solidFill>
          <a:ln w="12700">
            <a:solidFill>
              <a:srgbClr val="1A1E3A"/>
            </a:solidFill>
            <a:prstDash val="solid"/>
          </a:ln>
        </p:spPr>
        <p:txBody>
          <a:bodyPr/>
          <a:lstStyle/>
          <a:p>
            <a:endParaRPr lang="en-US" sz="2400"/>
          </a:p>
        </p:txBody>
      </p:sp>
      <p:sp>
        <p:nvSpPr>
          <p:cNvPr id="7" name="Text 5"/>
          <p:cNvSpPr/>
          <p:nvPr/>
        </p:nvSpPr>
        <p:spPr>
          <a:xfrm>
            <a:off x="4511040" y="2423396"/>
            <a:ext cx="3291840" cy="633984"/>
          </a:xfrm>
          <a:prstGeom prst="rect">
            <a:avLst/>
          </a:prstGeom>
          <a:noFill/>
          <a:ln/>
        </p:spPr>
        <p:txBody>
          <a:bodyPr wrap="square" lIns="0" tIns="0" rIns="0" bIns="0" rtlCol="0" anchor="ctr"/>
          <a:lstStyle/>
          <a:p>
            <a:r>
              <a:rPr lang="en-US" sz="3200">
                <a:solidFill>
                  <a:srgbClr val="1A1E3A"/>
                </a:solidFill>
                <a:latin typeface="Georgia" pitchFamily="34" charset="0"/>
                <a:ea typeface="Georgia" pitchFamily="34" charset="-122"/>
                <a:cs typeface="Georgia" pitchFamily="34" charset="-120"/>
              </a:rPr>
              <a:t>$950,000</a:t>
            </a:r>
            <a:endParaRPr lang="en-US" sz="3200"/>
          </a:p>
        </p:txBody>
      </p:sp>
      <p:sp>
        <p:nvSpPr>
          <p:cNvPr id="8" name="Text 6"/>
          <p:cNvSpPr/>
          <p:nvPr/>
        </p:nvSpPr>
        <p:spPr>
          <a:xfrm>
            <a:off x="4511040" y="3106148"/>
            <a:ext cx="3291840" cy="268224"/>
          </a:xfrm>
          <a:prstGeom prst="rect">
            <a:avLst/>
          </a:prstGeom>
          <a:noFill/>
          <a:ln/>
        </p:spPr>
        <p:txBody>
          <a:bodyPr wrap="square" lIns="0" tIns="0" rIns="0" bIns="0" rtlCol="0" anchor="ctr"/>
          <a:lstStyle/>
          <a:p>
            <a:r>
              <a:rPr lang="en-US" sz="1333" kern="0" spc="267">
                <a:solidFill>
                  <a:srgbClr val="C9A84C"/>
                </a:solidFill>
                <a:latin typeface="Calibri"/>
                <a:ea typeface="Calibri"/>
                <a:cs typeface="Calibri"/>
              </a:rPr>
              <a:t>CURRENT PORTFOLIO</a:t>
            </a:r>
            <a:endParaRPr lang="en-US" sz="1333">
              <a:latin typeface="Calibri"/>
              <a:ea typeface="Calibri"/>
              <a:cs typeface="Calibri"/>
            </a:endParaRPr>
          </a:p>
        </p:txBody>
      </p:sp>
      <p:sp>
        <p:nvSpPr>
          <p:cNvPr id="9" name="Shape 7"/>
          <p:cNvSpPr/>
          <p:nvPr/>
        </p:nvSpPr>
        <p:spPr>
          <a:xfrm>
            <a:off x="8351520" y="2329837"/>
            <a:ext cx="3291840" cy="1280160"/>
          </a:xfrm>
          <a:prstGeom prst="rect">
            <a:avLst/>
          </a:prstGeom>
          <a:solidFill>
            <a:srgbClr val="EDECE7"/>
          </a:solidFill>
          <a:ln w="6350">
            <a:solidFill>
              <a:srgbClr val="DDDCD8"/>
            </a:solidFill>
            <a:prstDash val="solid"/>
          </a:ln>
        </p:spPr>
        <p:txBody>
          <a:bodyPr/>
          <a:lstStyle/>
          <a:p>
            <a:endParaRPr lang="en-US" sz="2400"/>
          </a:p>
        </p:txBody>
      </p:sp>
      <p:sp>
        <p:nvSpPr>
          <p:cNvPr id="10" name="Text 8"/>
          <p:cNvSpPr/>
          <p:nvPr/>
        </p:nvSpPr>
        <p:spPr>
          <a:xfrm>
            <a:off x="8534400" y="2427373"/>
            <a:ext cx="2926080" cy="633984"/>
          </a:xfrm>
          <a:prstGeom prst="rect">
            <a:avLst/>
          </a:prstGeom>
          <a:noFill/>
          <a:ln/>
        </p:spPr>
        <p:txBody>
          <a:bodyPr wrap="square" lIns="0" tIns="0" rIns="0" bIns="0" rtlCol="0" anchor="ctr"/>
          <a:lstStyle/>
          <a:p>
            <a:r>
              <a:rPr lang="en-US" sz="3200">
                <a:solidFill>
                  <a:srgbClr val="2A6B3A"/>
                </a:solidFill>
                <a:latin typeface="Georgia" pitchFamily="34" charset="0"/>
                <a:ea typeface="Georgia" pitchFamily="34" charset="-122"/>
                <a:cs typeface="Georgia" pitchFamily="34" charset="-120"/>
              </a:rPr>
              <a:t>+27.90%</a:t>
            </a:r>
            <a:endParaRPr lang="en-US" sz="3200"/>
          </a:p>
        </p:txBody>
      </p:sp>
      <p:sp>
        <p:nvSpPr>
          <p:cNvPr id="11" name="Text 9"/>
          <p:cNvSpPr/>
          <p:nvPr/>
        </p:nvSpPr>
        <p:spPr>
          <a:xfrm>
            <a:off x="8534400" y="3110125"/>
            <a:ext cx="2926080" cy="243840"/>
          </a:xfrm>
          <a:prstGeom prst="rect">
            <a:avLst/>
          </a:prstGeom>
          <a:noFill/>
          <a:ln/>
        </p:spPr>
        <p:txBody>
          <a:bodyPr wrap="square" lIns="0" tIns="0" rIns="0" bIns="0" rtlCol="0" anchor="ctr"/>
          <a:lstStyle/>
          <a:p>
            <a:r>
              <a:rPr lang="en-US" sz="1333">
                <a:solidFill>
                  <a:srgbClr val="2A6B3A"/>
                </a:solidFill>
                <a:latin typeface="Calibri"/>
                <a:ea typeface="Calibri"/>
                <a:cs typeface="Calibri"/>
              </a:rPr>
              <a:t>+$265,000  Potential Gain</a:t>
            </a:r>
            <a:endParaRPr lang="en-US" sz="1333">
              <a:latin typeface="Calibri"/>
              <a:ea typeface="Calibri"/>
              <a:cs typeface="Calibri"/>
            </a:endParaRPr>
          </a:p>
        </p:txBody>
      </p:sp>
      <p:sp>
        <p:nvSpPr>
          <p:cNvPr id="12" name="Shape 10"/>
          <p:cNvSpPr/>
          <p:nvPr/>
        </p:nvSpPr>
        <p:spPr>
          <a:xfrm>
            <a:off x="670560" y="2322576"/>
            <a:ext cx="3291840" cy="1280160"/>
          </a:xfrm>
          <a:prstGeom prst="rect">
            <a:avLst/>
          </a:prstGeom>
          <a:solidFill>
            <a:srgbClr val="EDECE7"/>
          </a:solidFill>
          <a:ln w="6350">
            <a:solidFill>
              <a:srgbClr val="DDDCD8"/>
            </a:solidFill>
            <a:prstDash val="solid"/>
          </a:ln>
        </p:spPr>
        <p:txBody>
          <a:bodyPr/>
          <a:lstStyle/>
          <a:p>
            <a:endParaRPr lang="en-US" sz="2400"/>
          </a:p>
        </p:txBody>
      </p:sp>
      <p:sp>
        <p:nvSpPr>
          <p:cNvPr id="13" name="Text 11"/>
          <p:cNvSpPr/>
          <p:nvPr/>
        </p:nvSpPr>
        <p:spPr>
          <a:xfrm>
            <a:off x="853440" y="2420112"/>
            <a:ext cx="2926080" cy="633984"/>
          </a:xfrm>
          <a:prstGeom prst="rect">
            <a:avLst/>
          </a:prstGeom>
          <a:noFill/>
          <a:ln/>
        </p:spPr>
        <p:txBody>
          <a:bodyPr wrap="square" lIns="0" tIns="0" rIns="0" bIns="0" rtlCol="0" anchor="ctr"/>
          <a:lstStyle/>
          <a:p>
            <a:r>
              <a:rPr lang="en-US" sz="3200">
                <a:solidFill>
                  <a:srgbClr val="993333"/>
                </a:solidFill>
                <a:latin typeface="Georgia" pitchFamily="34" charset="0"/>
                <a:ea typeface="Georgia" pitchFamily="34" charset="-122"/>
                <a:cs typeface="Georgia" pitchFamily="34" charset="-120"/>
              </a:rPr>
              <a:t>-17.25%</a:t>
            </a:r>
            <a:endParaRPr lang="en-US" sz="3200"/>
          </a:p>
        </p:txBody>
      </p:sp>
      <p:sp>
        <p:nvSpPr>
          <p:cNvPr id="14" name="Text 12"/>
          <p:cNvSpPr/>
          <p:nvPr/>
        </p:nvSpPr>
        <p:spPr>
          <a:xfrm>
            <a:off x="853440" y="3102864"/>
            <a:ext cx="2926080" cy="243840"/>
          </a:xfrm>
          <a:prstGeom prst="rect">
            <a:avLst/>
          </a:prstGeom>
          <a:noFill/>
          <a:ln/>
        </p:spPr>
        <p:txBody>
          <a:bodyPr wrap="square" lIns="0" tIns="0" rIns="0" bIns="0" rtlCol="0" anchor="ctr"/>
          <a:lstStyle/>
          <a:p>
            <a:r>
              <a:rPr lang="en-US" sz="1333">
                <a:solidFill>
                  <a:srgbClr val="993333"/>
                </a:solidFill>
                <a:latin typeface="Calibri"/>
                <a:ea typeface="Calibri"/>
                <a:cs typeface="Calibri"/>
              </a:rPr>
              <a:t>-$163,000  Potential Loss</a:t>
            </a:r>
            <a:endParaRPr lang="en-US" sz="1333">
              <a:latin typeface="Calibri"/>
              <a:ea typeface="Calibri"/>
              <a:cs typeface="Calibri"/>
            </a:endParaRPr>
          </a:p>
        </p:txBody>
      </p:sp>
      <p:sp>
        <p:nvSpPr>
          <p:cNvPr id="15" name="Shape 13"/>
          <p:cNvSpPr/>
          <p:nvPr/>
        </p:nvSpPr>
        <p:spPr>
          <a:xfrm>
            <a:off x="670560" y="3779520"/>
            <a:ext cx="10972800" cy="365760"/>
          </a:xfrm>
          <a:prstGeom prst="rect">
            <a:avLst/>
          </a:prstGeom>
          <a:solidFill>
            <a:srgbClr val="EDECE7"/>
          </a:solidFill>
          <a:ln w="6350">
            <a:solidFill>
              <a:srgbClr val="DDDCD8"/>
            </a:solidFill>
            <a:prstDash val="solid"/>
          </a:ln>
        </p:spPr>
        <p:txBody>
          <a:bodyPr/>
          <a:lstStyle/>
          <a:p>
            <a:endParaRPr lang="en-US" sz="2400"/>
          </a:p>
        </p:txBody>
      </p:sp>
      <p:sp>
        <p:nvSpPr>
          <p:cNvPr id="16" name="Shape 14"/>
          <p:cNvSpPr/>
          <p:nvPr/>
        </p:nvSpPr>
        <p:spPr>
          <a:xfrm>
            <a:off x="6559296" y="3779520"/>
            <a:ext cx="5084064" cy="365760"/>
          </a:xfrm>
          <a:prstGeom prst="rect">
            <a:avLst/>
          </a:prstGeom>
          <a:solidFill>
            <a:srgbClr val="D0EDD0"/>
          </a:solidFill>
          <a:ln w="12700">
            <a:solidFill>
              <a:srgbClr val="000000"/>
            </a:solidFill>
            <a:prstDash val="solid"/>
          </a:ln>
        </p:spPr>
        <p:txBody>
          <a:bodyPr/>
          <a:lstStyle/>
          <a:p>
            <a:endParaRPr lang="en-US" sz="2400"/>
          </a:p>
        </p:txBody>
      </p:sp>
      <p:sp>
        <p:nvSpPr>
          <p:cNvPr id="17" name="Shape 15"/>
          <p:cNvSpPr/>
          <p:nvPr/>
        </p:nvSpPr>
        <p:spPr>
          <a:xfrm>
            <a:off x="670560" y="3779520"/>
            <a:ext cx="3169920" cy="365760"/>
          </a:xfrm>
          <a:prstGeom prst="rect">
            <a:avLst/>
          </a:prstGeom>
          <a:solidFill>
            <a:srgbClr val="EDD0D0"/>
          </a:solidFill>
          <a:ln w="12700">
            <a:solidFill>
              <a:srgbClr val="000000"/>
            </a:solidFill>
            <a:prstDash val="solid"/>
          </a:ln>
        </p:spPr>
        <p:txBody>
          <a:bodyPr/>
          <a:lstStyle/>
          <a:p>
            <a:endParaRPr lang="en-US" sz="2400"/>
          </a:p>
        </p:txBody>
      </p:sp>
      <p:sp>
        <p:nvSpPr>
          <p:cNvPr id="18" name="Shape 16"/>
          <p:cNvSpPr/>
          <p:nvPr/>
        </p:nvSpPr>
        <p:spPr>
          <a:xfrm>
            <a:off x="5221720" y="3734660"/>
            <a:ext cx="97536" cy="463296"/>
          </a:xfrm>
          <a:prstGeom prst="rect">
            <a:avLst/>
          </a:prstGeom>
          <a:solidFill>
            <a:srgbClr val="1A1E3A"/>
          </a:solidFill>
          <a:ln w="12700">
            <a:solidFill>
              <a:srgbClr val="000000"/>
            </a:solidFill>
            <a:prstDash val="solid"/>
          </a:ln>
        </p:spPr>
        <p:txBody>
          <a:bodyPr/>
          <a:lstStyle/>
          <a:p>
            <a:endParaRPr lang="en-US" sz="2400"/>
          </a:p>
        </p:txBody>
      </p:sp>
      <p:sp>
        <p:nvSpPr>
          <p:cNvPr id="19" name="Text 17"/>
          <p:cNvSpPr/>
          <p:nvPr/>
        </p:nvSpPr>
        <p:spPr>
          <a:xfrm>
            <a:off x="4782808" y="4245475"/>
            <a:ext cx="975360" cy="243840"/>
          </a:xfrm>
          <a:prstGeom prst="rect">
            <a:avLst/>
          </a:prstGeom>
          <a:noFill/>
          <a:ln/>
        </p:spPr>
        <p:txBody>
          <a:bodyPr wrap="square" lIns="0" tIns="0" rIns="0" bIns="0" rtlCol="0" anchor="ctr"/>
          <a:lstStyle/>
          <a:p>
            <a:pPr algn="ctr"/>
            <a:r>
              <a:rPr lang="en-US" sz="1400">
                <a:solidFill>
                  <a:srgbClr val="C9A84C"/>
                </a:solidFill>
                <a:latin typeface="Calibri"/>
                <a:ea typeface="Calibri"/>
                <a:cs typeface="Calibri"/>
              </a:rPr>
              <a:t>Current</a:t>
            </a:r>
            <a:endParaRPr lang="en-US" sz="1400">
              <a:latin typeface="Calibri"/>
              <a:ea typeface="Calibri"/>
              <a:cs typeface="Calibri"/>
            </a:endParaRPr>
          </a:p>
        </p:txBody>
      </p:sp>
      <p:sp>
        <p:nvSpPr>
          <p:cNvPr id="20" name="Text 18"/>
          <p:cNvSpPr/>
          <p:nvPr/>
        </p:nvSpPr>
        <p:spPr>
          <a:xfrm>
            <a:off x="670560" y="4716012"/>
            <a:ext cx="8848579" cy="1414272"/>
          </a:xfrm>
          <a:prstGeom prst="rect">
            <a:avLst/>
          </a:prstGeom>
          <a:noFill/>
          <a:ln/>
        </p:spPr>
        <p:txBody>
          <a:bodyPr wrap="square" lIns="0" tIns="0" rIns="0" bIns="0" rtlCol="0" anchor="ctr"/>
          <a:lstStyle/>
          <a:p>
            <a:pPr>
              <a:lnSpc>
                <a:spcPct val="135000"/>
              </a:lnSpc>
            </a:pPr>
            <a:r>
              <a:rPr lang="en-US" sz="600">
                <a:solidFill>
                  <a:srgbClr val="6A6A7A"/>
                </a:solidFill>
                <a:latin typeface="Calibri" pitchFamily="34" charset="0"/>
                <a:ea typeface="Calibri" pitchFamily="34" charset="-122"/>
                <a:cs typeface="Calibri" pitchFamily="34" charset="-120"/>
              </a:rPr>
              <a:t>The 95% Probability Range was calculated using a long-term average of 10.4% for the S&amp;P 500, 0bps change in the Ten-Year US Treasury Rate, and correlation and volatility data from 2008 to present. Riskalyze uses actual historical data to calculate the statistical probabilities</a:t>
            </a:r>
          </a:p>
          <a:p>
            <a:pPr>
              <a:lnSpc>
                <a:spcPct val="135000"/>
              </a:lnSpc>
            </a:pPr>
            <a:r>
              <a:rPr lang="en-US" sz="600">
                <a:solidFill>
                  <a:srgbClr val="6A6A7A"/>
                </a:solidFill>
                <a:latin typeface="Calibri" pitchFamily="34" charset="0"/>
                <a:ea typeface="Calibri" pitchFamily="34" charset="-122"/>
                <a:cs typeface="Calibri" pitchFamily="34" charset="-120"/>
              </a:rPr>
              <a:t>shown. For securities calculated using Average Annual Return, the Average Return will be calculated using actual price history from June 2004-present or inception. We calculate the annualized return number as ( final price / initial price ) ^ ( 1 / number of years ) - 1. Riskalyze</a:t>
            </a:r>
          </a:p>
          <a:p>
            <a:pPr>
              <a:lnSpc>
                <a:spcPct val="135000"/>
              </a:lnSpc>
            </a:pPr>
            <a:r>
              <a:rPr lang="en-US" sz="600">
                <a:solidFill>
                  <a:srgbClr val="6A6A7A"/>
                </a:solidFill>
                <a:latin typeface="Calibri" pitchFamily="34" charset="0"/>
                <a:ea typeface="Calibri" pitchFamily="34" charset="-122"/>
                <a:cs typeface="Calibri" pitchFamily="34" charset="-120"/>
              </a:rPr>
              <a:t>does not provide  investment analysis on investments with less than 6 months of historical performance. In instances where an investment’s inception is more recent than January 1, 2008 and greater than 6 months Riskalyze will use correlation statistics from the investments</a:t>
            </a:r>
          </a:p>
          <a:p>
            <a:pPr>
              <a:lnSpc>
                <a:spcPct val="135000"/>
              </a:lnSpc>
            </a:pPr>
            <a:r>
              <a:rPr lang="en-US" sz="600">
                <a:solidFill>
                  <a:srgbClr val="6A6A7A"/>
                </a:solidFill>
                <a:latin typeface="Calibri" pitchFamily="34" charset="0"/>
                <a:ea typeface="Calibri" pitchFamily="34" charset="-122"/>
                <a:cs typeface="Calibri" pitchFamily="34" charset="-120"/>
              </a:rPr>
              <a:t>actual trading history to extrapolate missing    volatility data. In most cases the extrapolation calculation increases the risk presented in the investment analysis as a means of protecting the investor. Investments with an inception more recent than January 1, 2008 are highlighted</a:t>
            </a:r>
          </a:p>
          <a:p>
            <a:pPr>
              <a:lnSpc>
                <a:spcPct val="135000"/>
              </a:lnSpc>
            </a:pPr>
            <a:r>
              <a:rPr lang="en-US" sz="600">
                <a:solidFill>
                  <a:srgbClr val="6A6A7A"/>
                </a:solidFill>
                <a:latin typeface="Calibri" pitchFamily="34" charset="0"/>
                <a:ea typeface="Calibri" pitchFamily="34" charset="-122"/>
                <a:cs typeface="Calibri" pitchFamily="34" charset="-120"/>
              </a:rPr>
              <a:t>with an information icon . The Six Month 95% Probability Range is calculated from the standard deviation of the portfolio (via covariance matrix), and represents a hypothetical statistical probability, but there is no guarantee any investments would perform within the range. There</a:t>
            </a:r>
          </a:p>
          <a:p>
            <a:pPr>
              <a:lnSpc>
                <a:spcPct val="135000"/>
              </a:lnSpc>
            </a:pPr>
            <a:r>
              <a:rPr lang="en-US" sz="600">
                <a:solidFill>
                  <a:srgbClr val="6A6A7A"/>
                </a:solidFill>
                <a:latin typeface="Calibri" pitchFamily="34" charset="0"/>
                <a:ea typeface="Calibri" pitchFamily="34" charset="-122"/>
                <a:cs typeface="Calibri" pitchFamily="34" charset="-120"/>
              </a:rPr>
              <a:t>is a 5% probability of greater losses. Riskalyze does not use any Monte Carlo or any other type of simulations. ​</a:t>
            </a:r>
          </a:p>
          <a:p>
            <a:pPr>
              <a:lnSpc>
                <a:spcPct val="135000"/>
              </a:lnSpc>
            </a:pPr>
            <a:r>
              <a:rPr lang="en-US" sz="600">
                <a:solidFill>
                  <a:srgbClr val="6A6A7A"/>
                </a:solidFill>
                <a:latin typeface="Calibri" pitchFamily="34" charset="0"/>
                <a:ea typeface="Calibri" pitchFamily="34" charset="-122"/>
                <a:cs typeface="Calibri" pitchFamily="34" charset="-120"/>
              </a:rPr>
              <a:t>The underlying data is updated as of the previous day’s market close price, and the results may vary with each use and over time. The investments considered were determined by the financial representative.​</a:t>
            </a:r>
          </a:p>
          <a:p>
            <a:pPr>
              <a:lnSpc>
                <a:spcPct val="135000"/>
              </a:lnSpc>
            </a:pPr>
            <a:r>
              <a:rPr lang="en-US" sz="600">
                <a:solidFill>
                  <a:srgbClr val="6A6A7A"/>
                </a:solidFill>
                <a:latin typeface="Calibri" pitchFamily="34" charset="0"/>
                <a:ea typeface="Calibri" pitchFamily="34" charset="-122"/>
                <a:cs typeface="Calibri" pitchFamily="34" charset="-120"/>
              </a:rPr>
              <a:t>IMPORTANT: The projections or other information generated by Riskalyze regarding the likelihood of various investment outcomes are hypothetical in nature, do not reflect actual investment ​</a:t>
            </a:r>
          </a:p>
          <a:p>
            <a:pPr>
              <a:lnSpc>
                <a:spcPct val="135000"/>
              </a:lnSpc>
            </a:pPr>
            <a:r>
              <a:rPr lang="en-US" sz="600">
                <a:solidFill>
                  <a:srgbClr val="6A6A7A"/>
                </a:solidFill>
                <a:latin typeface="Calibri" pitchFamily="34" charset="0"/>
                <a:ea typeface="Calibri" pitchFamily="34" charset="-122"/>
                <a:cs typeface="Calibri" pitchFamily="34" charset="-120"/>
              </a:rPr>
              <a:t>results and are not guarantees of future results. These figures may exclude commissions, sales charges or fees which, if included, would have had a negative effect on the annual returns.</a:t>
            </a:r>
            <a:endParaRPr lang="en-US" sz="600"/>
          </a:p>
        </p:txBody>
      </p:sp>
      <p:pic>
        <p:nvPicPr>
          <p:cNvPr id="25" name="Image 0" descr="preencoded.png">
            <a:extLst>
              <a:ext uri="{FF2B5EF4-FFF2-40B4-BE49-F238E27FC236}">
                <a16:creationId xmlns:a16="http://schemas.microsoft.com/office/drawing/2014/main" id="{4C20F2A9-0A98-3A64-1916-1A5DB19B3D8C}"/>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35" name="Shape 0">
            <a:extLst>
              <a:ext uri="{FF2B5EF4-FFF2-40B4-BE49-F238E27FC236}">
                <a16:creationId xmlns:a16="http://schemas.microsoft.com/office/drawing/2014/main" id="{F48179A7-3A13-FE7C-3D3A-C5E525E545BF}"/>
              </a:ext>
            </a:extLst>
          </p:cNvPr>
          <p:cNvSpPr/>
          <p:nvPr/>
        </p:nvSpPr>
        <p:spPr>
          <a:xfrm>
            <a:off x="0" y="6547104"/>
            <a:ext cx="12191695" cy="310896"/>
          </a:xfrm>
          <a:prstGeom prst="rect">
            <a:avLst/>
          </a:prstGeom>
          <a:solidFill>
            <a:srgbClr val="F1EEE6"/>
          </a:solidFill>
          <a:ln/>
        </p:spPr>
        <p:txBody>
          <a:bodyPr/>
          <a:lstStyle/>
          <a:p>
            <a:endParaRPr lang="en-US"/>
          </a:p>
        </p:txBody>
      </p:sp>
      <p:sp>
        <p:nvSpPr>
          <p:cNvPr id="37" name="Text 1">
            <a:extLst>
              <a:ext uri="{FF2B5EF4-FFF2-40B4-BE49-F238E27FC236}">
                <a16:creationId xmlns:a16="http://schemas.microsoft.com/office/drawing/2014/main" id="{2AC50DFB-2995-BC02-D3D7-CD6DD38C3A37}"/>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39" name="Text 2">
            <a:extLst>
              <a:ext uri="{FF2B5EF4-FFF2-40B4-BE49-F238E27FC236}">
                <a16:creationId xmlns:a16="http://schemas.microsoft.com/office/drawing/2014/main" id="{621D4FFD-3EBE-B1E6-0981-B54FBEF85661}"/>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41" name="Text 3">
            <a:extLst>
              <a:ext uri="{FF2B5EF4-FFF2-40B4-BE49-F238E27FC236}">
                <a16:creationId xmlns:a16="http://schemas.microsoft.com/office/drawing/2014/main" id="{C397A467-5948-4FC0-B596-C260F5005CF4}"/>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5" grpId="0" animBg="1"/>
      <p:bldP spid="16" grpId="0" animBg="1"/>
      <p:bldP spid="17" grpId="0" animBg="1"/>
      <p:bldP spid="18" grpId="0" animBg="1"/>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BASE PLAN</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Lifetime 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48640" y="1554480"/>
            <a:ext cx="11064240" cy="2431383"/>
          </a:xfrm>
          <a:prstGeom prst="rect">
            <a:avLst/>
          </a:prstGeom>
        </p:spPr>
      </p:pic>
      <p:pic>
        <p:nvPicPr>
          <p:cNvPr id="11" name="Image 2" descr="preencoded.png"/>
          <p:cNvPicPr>
            <a:picLocks noChangeAspect="1"/>
          </p:cNvPicPr>
          <p:nvPr/>
        </p:nvPicPr>
        <p:blipFill>
          <a:blip r:embed="rId5"/>
          <a:stretch>
            <a:fillRect/>
          </a:stretch>
        </p:blipFill>
        <p:spPr>
          <a:xfrm>
            <a:off x="548640" y="4077303"/>
            <a:ext cx="11064240" cy="213981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LTC ANNUITY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$300,000 LTC Annuity</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600200"/>
            <a:ext cx="10972800" cy="457200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$15,038 annual income for your joint life</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Income doubler triggered by 2 of 6 ADLs – $30,076 for up to 5 years</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Four-year waiting period before enhanced benefits become available</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Non-Concurrent Enhanced Benefit: one spouse can use part of the enhanced period and the other still retains remaining eligibility</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Enhanced payouts continue even if account value reaches $0</a:t>
            </a:r>
            <a:endParaRPr lang="en-US" sz="1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$300,000 LTC ANNUITY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5-Year 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2660752" y="1554480"/>
            <a:ext cx="6840016" cy="4800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$300,000 LTC ANNUITY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5 Year Cash Needs</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Shape 7"/>
          <p:cNvSpPr/>
          <p:nvPr/>
        </p:nvSpPr>
        <p:spPr>
          <a:xfrm>
            <a:off x="548640" y="1691640"/>
            <a:ext cx="2788920" cy="1371600"/>
          </a:xfrm>
          <a:prstGeom prst="rect">
            <a:avLst/>
          </a:prstGeom>
          <a:solidFill>
            <a:srgbClr val="171738"/>
          </a:solidFill>
          <a:ln/>
        </p:spPr>
        <p:txBody>
          <a:bodyPr/>
          <a:lstStyle/>
          <a:p>
            <a:endParaRPr lang="en-US"/>
          </a:p>
        </p:txBody>
      </p:sp>
      <p:sp>
        <p:nvSpPr>
          <p:cNvPr id="11" name="Text 8"/>
          <p:cNvSpPr/>
          <p:nvPr/>
        </p:nvSpPr>
        <p:spPr>
          <a:xfrm>
            <a:off x="777240" y="1828800"/>
            <a:ext cx="2468880" cy="274320"/>
          </a:xfrm>
          <a:prstGeom prst="rect">
            <a:avLst/>
          </a:prstGeom>
          <a:noFill/>
          <a:ln/>
        </p:spPr>
        <p:txBody>
          <a:bodyPr wrap="square" lIns="0" tIns="0" rIns="0" bIns="0" rtlCol="0" anchor="ctr"/>
          <a:lstStyle/>
          <a:p>
            <a:pPr marL="0" indent="0">
              <a:buNone/>
            </a:pPr>
            <a:r>
              <a:rPr lang="en-US" sz="850" b="1" kern="0" spc="300">
                <a:solidFill>
                  <a:srgbClr val="C9A84C"/>
                </a:solidFill>
                <a:latin typeface="Calibri" pitchFamily="34" charset="0"/>
                <a:ea typeface="Calibri" pitchFamily="34" charset="-122"/>
                <a:cs typeface="Calibri" pitchFamily="34" charset="-120"/>
              </a:rPr>
              <a:t>UPCOMING CASH NEED</a:t>
            </a:r>
            <a:endParaRPr lang="en-US" sz="850"/>
          </a:p>
        </p:txBody>
      </p:sp>
      <p:sp>
        <p:nvSpPr>
          <p:cNvPr id="12" name="Text 9"/>
          <p:cNvSpPr/>
          <p:nvPr/>
        </p:nvSpPr>
        <p:spPr>
          <a:xfrm>
            <a:off x="777240" y="2194560"/>
            <a:ext cx="2468880" cy="685800"/>
          </a:xfrm>
          <a:prstGeom prst="rect">
            <a:avLst/>
          </a:prstGeom>
          <a:noFill/>
          <a:ln/>
        </p:spPr>
        <p:txBody>
          <a:bodyPr wrap="square" lIns="0" tIns="0" rIns="0" bIns="0" rtlCol="0" anchor="ctr"/>
          <a:lstStyle/>
          <a:p>
            <a:pPr marL="0" indent="0">
              <a:buNone/>
            </a:pPr>
            <a:r>
              <a:rPr lang="en-US" sz="3400">
                <a:solidFill>
                  <a:srgbClr val="FFFFFF"/>
                </a:solidFill>
                <a:latin typeface="Georgia" pitchFamily="34" charset="0"/>
                <a:ea typeface="Georgia" pitchFamily="34" charset="-122"/>
                <a:cs typeface="Georgia" pitchFamily="34" charset="-120"/>
              </a:rPr>
              <a:t>$12K</a:t>
            </a:r>
            <a:endParaRPr lang="en-US" sz="3400"/>
          </a:p>
        </p:txBody>
      </p:sp>
      <p:sp>
        <p:nvSpPr>
          <p:cNvPr id="13" name="Shape 10"/>
          <p:cNvSpPr/>
          <p:nvPr/>
        </p:nvSpPr>
        <p:spPr>
          <a:xfrm>
            <a:off x="3566160" y="1691640"/>
            <a:ext cx="2788920" cy="1371600"/>
          </a:xfrm>
          <a:prstGeom prst="rect">
            <a:avLst/>
          </a:prstGeom>
          <a:solidFill>
            <a:srgbClr val="171738"/>
          </a:solidFill>
          <a:ln/>
        </p:spPr>
        <p:txBody>
          <a:bodyPr/>
          <a:lstStyle/>
          <a:p>
            <a:endParaRPr lang="en-US"/>
          </a:p>
        </p:txBody>
      </p:sp>
      <p:sp>
        <p:nvSpPr>
          <p:cNvPr id="14" name="Text 11"/>
          <p:cNvSpPr/>
          <p:nvPr/>
        </p:nvSpPr>
        <p:spPr>
          <a:xfrm>
            <a:off x="3794760" y="1828800"/>
            <a:ext cx="2468880" cy="274320"/>
          </a:xfrm>
          <a:prstGeom prst="rect">
            <a:avLst/>
          </a:prstGeom>
          <a:noFill/>
          <a:ln/>
        </p:spPr>
        <p:txBody>
          <a:bodyPr wrap="square" lIns="0" tIns="0" rIns="0" bIns="0" rtlCol="0" anchor="ctr"/>
          <a:lstStyle/>
          <a:p>
            <a:pPr marL="0" indent="0">
              <a:buNone/>
            </a:pPr>
            <a:r>
              <a:rPr lang="en-US" sz="850" b="1" kern="0" spc="300">
                <a:solidFill>
                  <a:srgbClr val="C9A84C"/>
                </a:solidFill>
                <a:latin typeface="Calibri" pitchFamily="34" charset="0"/>
                <a:ea typeface="Calibri" pitchFamily="34" charset="-122"/>
                <a:cs typeface="Calibri" pitchFamily="34" charset="-120"/>
              </a:rPr>
              <a:t>YEAR 1 CASH ON HAND</a:t>
            </a:r>
            <a:endParaRPr lang="en-US" sz="850"/>
          </a:p>
        </p:txBody>
      </p:sp>
      <p:sp>
        <p:nvSpPr>
          <p:cNvPr id="15" name="Text 12"/>
          <p:cNvSpPr/>
          <p:nvPr/>
        </p:nvSpPr>
        <p:spPr>
          <a:xfrm>
            <a:off x="3794760" y="2194560"/>
            <a:ext cx="2468880" cy="685800"/>
          </a:xfrm>
          <a:prstGeom prst="rect">
            <a:avLst/>
          </a:prstGeom>
          <a:noFill/>
          <a:ln/>
        </p:spPr>
        <p:txBody>
          <a:bodyPr wrap="square" lIns="0" tIns="0" rIns="0" bIns="0" rtlCol="0" anchor="ctr"/>
          <a:lstStyle/>
          <a:p>
            <a:pPr marL="0" indent="0">
              <a:buNone/>
            </a:pPr>
            <a:r>
              <a:rPr lang="en-US" sz="3400">
                <a:solidFill>
                  <a:srgbClr val="FFFFFF"/>
                </a:solidFill>
                <a:latin typeface="Georgia" pitchFamily="34" charset="0"/>
                <a:ea typeface="Georgia" pitchFamily="34" charset="-122"/>
                <a:cs typeface="Georgia" pitchFamily="34" charset="-120"/>
              </a:rPr>
              <a:t>$16K</a:t>
            </a:r>
            <a:endParaRPr lang="en-US" sz="3400"/>
          </a:p>
        </p:txBody>
      </p:sp>
      <p:sp>
        <p:nvSpPr>
          <p:cNvPr id="16" name="Shape 13"/>
          <p:cNvSpPr/>
          <p:nvPr/>
        </p:nvSpPr>
        <p:spPr>
          <a:xfrm>
            <a:off x="548640"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17" name="Shape 14"/>
          <p:cNvSpPr/>
          <p:nvPr/>
        </p:nvSpPr>
        <p:spPr>
          <a:xfrm>
            <a:off x="548640" y="3474720"/>
            <a:ext cx="2606040" cy="54864"/>
          </a:xfrm>
          <a:prstGeom prst="rect">
            <a:avLst/>
          </a:prstGeom>
          <a:solidFill>
            <a:srgbClr val="C9A84C"/>
          </a:solidFill>
          <a:ln/>
        </p:spPr>
        <p:txBody>
          <a:bodyPr/>
          <a:lstStyle/>
          <a:p>
            <a:endParaRPr lang="en-US"/>
          </a:p>
        </p:txBody>
      </p:sp>
      <p:sp>
        <p:nvSpPr>
          <p:cNvPr id="18" name="Text 15"/>
          <p:cNvSpPr/>
          <p:nvPr/>
        </p:nvSpPr>
        <p:spPr>
          <a:xfrm>
            <a:off x="777240"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2</a:t>
            </a:r>
            <a:endParaRPr lang="en-US" sz="900"/>
          </a:p>
        </p:txBody>
      </p:sp>
      <p:sp>
        <p:nvSpPr>
          <p:cNvPr id="19" name="Text 16"/>
          <p:cNvSpPr/>
          <p:nvPr/>
        </p:nvSpPr>
        <p:spPr>
          <a:xfrm>
            <a:off x="777240"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2027</a:t>
            </a:r>
            <a:endParaRPr lang="en-US" sz="1200"/>
          </a:p>
        </p:txBody>
      </p:sp>
      <p:sp>
        <p:nvSpPr>
          <p:cNvPr id="20" name="Text 17"/>
          <p:cNvSpPr/>
          <p:nvPr/>
        </p:nvSpPr>
        <p:spPr>
          <a:xfrm>
            <a:off x="777240"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$30K</a:t>
            </a:r>
            <a:endParaRPr lang="en-US" sz="3600"/>
          </a:p>
        </p:txBody>
      </p:sp>
      <p:sp>
        <p:nvSpPr>
          <p:cNvPr id="21" name="Shape 18"/>
          <p:cNvSpPr/>
          <p:nvPr/>
        </p:nvSpPr>
        <p:spPr>
          <a:xfrm>
            <a:off x="3364992"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22" name="Shape 19"/>
          <p:cNvSpPr/>
          <p:nvPr/>
        </p:nvSpPr>
        <p:spPr>
          <a:xfrm>
            <a:off x="3364992" y="3474720"/>
            <a:ext cx="2606040" cy="54864"/>
          </a:xfrm>
          <a:prstGeom prst="rect">
            <a:avLst/>
          </a:prstGeom>
          <a:solidFill>
            <a:srgbClr val="C9A84C"/>
          </a:solidFill>
          <a:ln/>
        </p:spPr>
        <p:txBody>
          <a:bodyPr/>
          <a:lstStyle/>
          <a:p>
            <a:endParaRPr lang="en-US"/>
          </a:p>
        </p:txBody>
      </p:sp>
      <p:sp>
        <p:nvSpPr>
          <p:cNvPr id="23" name="Text 20"/>
          <p:cNvSpPr/>
          <p:nvPr/>
        </p:nvSpPr>
        <p:spPr>
          <a:xfrm>
            <a:off x="3593592"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3</a:t>
            </a:r>
            <a:endParaRPr lang="en-US" sz="900"/>
          </a:p>
        </p:txBody>
      </p:sp>
      <p:sp>
        <p:nvSpPr>
          <p:cNvPr id="24" name="Text 21"/>
          <p:cNvSpPr/>
          <p:nvPr/>
        </p:nvSpPr>
        <p:spPr>
          <a:xfrm>
            <a:off x="3593592"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2028</a:t>
            </a:r>
            <a:endParaRPr lang="en-US" sz="1200"/>
          </a:p>
        </p:txBody>
      </p:sp>
      <p:sp>
        <p:nvSpPr>
          <p:cNvPr id="25" name="Text 22"/>
          <p:cNvSpPr/>
          <p:nvPr/>
        </p:nvSpPr>
        <p:spPr>
          <a:xfrm>
            <a:off x="3593592"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$28K</a:t>
            </a:r>
            <a:endParaRPr lang="en-US" sz="3600"/>
          </a:p>
        </p:txBody>
      </p:sp>
      <p:sp>
        <p:nvSpPr>
          <p:cNvPr id="26" name="Shape 23"/>
          <p:cNvSpPr/>
          <p:nvPr/>
        </p:nvSpPr>
        <p:spPr>
          <a:xfrm>
            <a:off x="6181344"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27" name="Shape 24"/>
          <p:cNvSpPr/>
          <p:nvPr/>
        </p:nvSpPr>
        <p:spPr>
          <a:xfrm>
            <a:off x="6181344" y="3474720"/>
            <a:ext cx="2606040" cy="54864"/>
          </a:xfrm>
          <a:prstGeom prst="rect">
            <a:avLst/>
          </a:prstGeom>
          <a:solidFill>
            <a:srgbClr val="C9A84C"/>
          </a:solidFill>
          <a:ln/>
        </p:spPr>
        <p:txBody>
          <a:bodyPr/>
          <a:lstStyle/>
          <a:p>
            <a:endParaRPr lang="en-US"/>
          </a:p>
        </p:txBody>
      </p:sp>
      <p:sp>
        <p:nvSpPr>
          <p:cNvPr id="28" name="Text 25"/>
          <p:cNvSpPr/>
          <p:nvPr/>
        </p:nvSpPr>
        <p:spPr>
          <a:xfrm>
            <a:off x="6409944"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4</a:t>
            </a:r>
            <a:endParaRPr lang="en-US" sz="900"/>
          </a:p>
        </p:txBody>
      </p:sp>
      <p:sp>
        <p:nvSpPr>
          <p:cNvPr id="29" name="Text 26"/>
          <p:cNvSpPr/>
          <p:nvPr/>
        </p:nvSpPr>
        <p:spPr>
          <a:xfrm>
            <a:off x="6409944"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2029</a:t>
            </a:r>
            <a:endParaRPr lang="en-US" sz="1200"/>
          </a:p>
        </p:txBody>
      </p:sp>
      <p:sp>
        <p:nvSpPr>
          <p:cNvPr id="30" name="Text 27"/>
          <p:cNvSpPr/>
          <p:nvPr/>
        </p:nvSpPr>
        <p:spPr>
          <a:xfrm>
            <a:off x="6409944"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$28K</a:t>
            </a:r>
            <a:endParaRPr lang="en-US" sz="3600"/>
          </a:p>
        </p:txBody>
      </p:sp>
      <p:sp>
        <p:nvSpPr>
          <p:cNvPr id="31" name="Shape 28"/>
          <p:cNvSpPr/>
          <p:nvPr/>
        </p:nvSpPr>
        <p:spPr>
          <a:xfrm>
            <a:off x="8997696" y="3474720"/>
            <a:ext cx="2606040" cy="2377440"/>
          </a:xfrm>
          <a:prstGeom prst="rect">
            <a:avLst/>
          </a:prstGeom>
          <a:solidFill>
            <a:srgbClr val="FAF7F2"/>
          </a:solidFill>
          <a:ln w="9525">
            <a:solidFill>
              <a:srgbClr val="E4DFD3"/>
            </a:solidFill>
            <a:prstDash val="solid"/>
          </a:ln>
        </p:spPr>
        <p:txBody>
          <a:bodyPr/>
          <a:lstStyle/>
          <a:p>
            <a:endParaRPr lang="en-US"/>
          </a:p>
        </p:txBody>
      </p:sp>
      <p:sp>
        <p:nvSpPr>
          <p:cNvPr id="32" name="Shape 29"/>
          <p:cNvSpPr/>
          <p:nvPr/>
        </p:nvSpPr>
        <p:spPr>
          <a:xfrm>
            <a:off x="8997696" y="3474720"/>
            <a:ext cx="2606040" cy="54864"/>
          </a:xfrm>
          <a:prstGeom prst="rect">
            <a:avLst/>
          </a:prstGeom>
          <a:solidFill>
            <a:srgbClr val="C9A84C"/>
          </a:solidFill>
          <a:ln/>
        </p:spPr>
        <p:txBody>
          <a:bodyPr/>
          <a:lstStyle/>
          <a:p>
            <a:endParaRPr lang="en-US"/>
          </a:p>
        </p:txBody>
      </p:sp>
      <p:sp>
        <p:nvSpPr>
          <p:cNvPr id="33" name="Text 30"/>
          <p:cNvSpPr/>
          <p:nvPr/>
        </p:nvSpPr>
        <p:spPr>
          <a:xfrm>
            <a:off x="9226296" y="3703320"/>
            <a:ext cx="2194560" cy="274320"/>
          </a:xfrm>
          <a:prstGeom prst="rect">
            <a:avLst/>
          </a:prstGeom>
          <a:noFill/>
          <a:ln/>
        </p:spPr>
        <p:txBody>
          <a:bodyPr wrap="square" lIns="0" tIns="0" rIns="0" bIns="0" rtlCol="0" anchor="ctr"/>
          <a:lstStyle/>
          <a:p>
            <a:pPr marL="0" indent="0">
              <a:buNone/>
            </a:pPr>
            <a:r>
              <a:rPr lang="en-US" sz="900" b="1" kern="0" spc="300">
                <a:solidFill>
                  <a:srgbClr val="C9A84C"/>
                </a:solidFill>
                <a:latin typeface="Calibri" pitchFamily="34" charset="0"/>
                <a:ea typeface="Calibri" pitchFamily="34" charset="-122"/>
                <a:cs typeface="Calibri" pitchFamily="34" charset="-120"/>
              </a:rPr>
              <a:t>YEAR 5</a:t>
            </a:r>
            <a:endParaRPr lang="en-US" sz="900"/>
          </a:p>
        </p:txBody>
      </p:sp>
      <p:sp>
        <p:nvSpPr>
          <p:cNvPr id="34" name="Text 31"/>
          <p:cNvSpPr/>
          <p:nvPr/>
        </p:nvSpPr>
        <p:spPr>
          <a:xfrm>
            <a:off x="9226296" y="3977640"/>
            <a:ext cx="2194560" cy="320040"/>
          </a:xfrm>
          <a:prstGeom prst="rect">
            <a:avLst/>
          </a:prstGeom>
          <a:noFill/>
          <a:ln/>
        </p:spPr>
        <p:txBody>
          <a:bodyPr wrap="square" lIns="0" tIns="0" rIns="0" bIns="0" rtlCol="0" anchor="ctr"/>
          <a:lstStyle/>
          <a:p>
            <a:pPr marL="0" indent="0">
              <a:buNone/>
            </a:pPr>
            <a:r>
              <a:rPr lang="en-US" sz="1200">
                <a:solidFill>
                  <a:srgbClr val="8B7355"/>
                </a:solidFill>
                <a:latin typeface="Calibri" pitchFamily="34" charset="0"/>
                <a:ea typeface="Calibri" pitchFamily="34" charset="-122"/>
                <a:cs typeface="Calibri" pitchFamily="34" charset="-120"/>
              </a:rPr>
              <a:t>2030</a:t>
            </a:r>
            <a:endParaRPr lang="en-US" sz="1200"/>
          </a:p>
        </p:txBody>
      </p:sp>
      <p:sp>
        <p:nvSpPr>
          <p:cNvPr id="35" name="Text 32"/>
          <p:cNvSpPr/>
          <p:nvPr/>
        </p:nvSpPr>
        <p:spPr>
          <a:xfrm>
            <a:off x="9226296" y="4526280"/>
            <a:ext cx="2194560" cy="822960"/>
          </a:xfrm>
          <a:prstGeom prst="rect">
            <a:avLst/>
          </a:prstGeom>
          <a:noFill/>
          <a:ln/>
        </p:spPr>
        <p:txBody>
          <a:bodyPr wrap="square" lIns="0" tIns="0" rIns="0" bIns="0" rtlCol="0" anchor="ctr"/>
          <a:lstStyle/>
          <a:p>
            <a:pPr marL="0" indent="0">
              <a:buNone/>
            </a:pPr>
            <a:r>
              <a:rPr lang="en-US" sz="3600">
                <a:solidFill>
                  <a:srgbClr val="171738"/>
                </a:solidFill>
                <a:latin typeface="Georgia" pitchFamily="34" charset="0"/>
                <a:ea typeface="Georgia" pitchFamily="34" charset="-122"/>
                <a:cs typeface="Georgia" pitchFamily="34" charset="-120"/>
              </a:rPr>
              <a:t>$32K</a:t>
            </a:r>
            <a:endParaRPr lang="en-US" sz="3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48C95-8C90-74F8-A8C5-61244DD1892E}"/>
            </a:ext>
          </a:extLst>
        </p:cNvPr>
        <p:cNvGrpSpPr/>
        <p:nvPr/>
      </p:nvGrpSpPr>
      <p:grpSpPr>
        <a:xfrm>
          <a:off x="0" y="0"/>
          <a:ext cx="0" cy="0"/>
          <a:chOff x="0" y="0"/>
          <a:chExt cx="0" cy="0"/>
        </a:xfrm>
      </p:grpSpPr>
      <p:sp>
        <p:nvSpPr>
          <p:cNvPr id="7" name="Text 4">
            <a:extLst>
              <a:ext uri="{FF2B5EF4-FFF2-40B4-BE49-F238E27FC236}">
                <a16:creationId xmlns:a16="http://schemas.microsoft.com/office/drawing/2014/main" id="{CEAB46E3-5C36-A24C-9B30-768A1D786BC3}"/>
              </a:ext>
            </a:extLst>
          </p:cNvPr>
          <p:cNvSpPr/>
          <p:nvPr/>
        </p:nvSpPr>
        <p:spPr>
          <a:xfrm>
            <a:off x="609600" y="548640"/>
            <a:ext cx="6096000" cy="1463040"/>
          </a:xfrm>
          <a:prstGeom prst="rect">
            <a:avLst/>
          </a:prstGeom>
          <a:noFill/>
          <a:ln/>
        </p:spPr>
        <p:txBody>
          <a:bodyPr wrap="square" rtlCol="0" anchor="ctr"/>
          <a:lstStyle/>
          <a:p>
            <a:pPr defTabSz="1219170">
              <a:defRPr/>
            </a:pPr>
            <a:r>
              <a:rPr lang="en-US" sz="3733">
                <a:solidFill>
                  <a:srgbClr val="1C1D32"/>
                </a:solidFill>
                <a:latin typeface="Georgia" pitchFamily="34" charset="0"/>
                <a:ea typeface="Georgia" pitchFamily="34" charset="-122"/>
                <a:cs typeface="Georgia" pitchFamily="34" charset="-120"/>
              </a:rPr>
              <a:t>5 Year Cash Needs</a:t>
            </a:r>
            <a:endParaRPr lang="en-US" sz="3733">
              <a:solidFill>
                <a:prstClr val="black"/>
              </a:solidFill>
              <a:latin typeface="Calibri" panose="020F0502020204030204"/>
            </a:endParaRPr>
          </a:p>
        </p:txBody>
      </p:sp>
      <p:sp>
        <p:nvSpPr>
          <p:cNvPr id="8" name="Shape 5">
            <a:extLst>
              <a:ext uri="{FF2B5EF4-FFF2-40B4-BE49-F238E27FC236}">
                <a16:creationId xmlns:a16="http://schemas.microsoft.com/office/drawing/2014/main" id="{CCE3DD8F-5BB0-1938-F35D-CF8258A63D47}"/>
              </a:ext>
            </a:extLst>
          </p:cNvPr>
          <p:cNvSpPr/>
          <p:nvPr/>
        </p:nvSpPr>
        <p:spPr>
          <a:xfrm>
            <a:off x="609600" y="1767841"/>
            <a:ext cx="1706880" cy="34137"/>
          </a:xfrm>
          <a:prstGeom prst="rect">
            <a:avLst/>
          </a:prstGeom>
          <a:solidFill>
            <a:srgbClr val="B2A26F"/>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9" name="Text 6">
            <a:extLst>
              <a:ext uri="{FF2B5EF4-FFF2-40B4-BE49-F238E27FC236}">
                <a16:creationId xmlns:a16="http://schemas.microsoft.com/office/drawing/2014/main" id="{9BD89602-C364-02C1-761D-9C0A7473B2E6}"/>
              </a:ext>
            </a:extLst>
          </p:cNvPr>
          <p:cNvSpPr/>
          <p:nvPr/>
        </p:nvSpPr>
        <p:spPr>
          <a:xfrm>
            <a:off x="6339840" y="633984"/>
            <a:ext cx="5486400" cy="438912"/>
          </a:xfrm>
          <a:prstGeom prst="rect">
            <a:avLst/>
          </a:prstGeom>
          <a:noFill/>
          <a:ln/>
        </p:spPr>
        <p:txBody>
          <a:bodyPr wrap="square" rtlCol="0" anchor="ctr"/>
          <a:lstStyle/>
          <a:p>
            <a:pPr defTabSz="1219170">
              <a:defRPr/>
            </a:pPr>
            <a:r>
              <a:rPr lang="en-US" sz="1733">
                <a:solidFill>
                  <a:srgbClr val="8C8C8C"/>
                </a:solidFill>
                <a:latin typeface="Calibri" pitchFamily="34" charset="0"/>
                <a:ea typeface="Calibri" pitchFamily="34" charset="-122"/>
                <a:cs typeface="Calibri" pitchFamily="34" charset="-120"/>
              </a:rPr>
              <a:t>Retirement Cash Need: </a:t>
            </a:r>
            <a:r>
              <a:rPr lang="en-US" sz="1733" b="1">
                <a:solidFill>
                  <a:srgbClr val="1C1D32"/>
                </a:solidFill>
                <a:highlight>
                  <a:srgbClr val="808080"/>
                </a:highlight>
                <a:latin typeface="Calibri" pitchFamily="34" charset="0"/>
                <a:ea typeface="Calibri" pitchFamily="34" charset="-122"/>
                <a:cs typeface="Calibri" pitchFamily="34" charset="-120"/>
              </a:rPr>
              <a:t>$12K</a:t>
            </a:r>
            <a:endParaRPr lang="en-US" sz="1733">
              <a:solidFill>
                <a:prstClr val="black"/>
              </a:solidFill>
              <a:highlight>
                <a:srgbClr val="808080"/>
              </a:highlight>
              <a:latin typeface="Calibri" panose="020F0502020204030204"/>
            </a:endParaRPr>
          </a:p>
        </p:txBody>
      </p:sp>
      <p:sp>
        <p:nvSpPr>
          <p:cNvPr id="10" name="Text 7">
            <a:extLst>
              <a:ext uri="{FF2B5EF4-FFF2-40B4-BE49-F238E27FC236}">
                <a16:creationId xmlns:a16="http://schemas.microsoft.com/office/drawing/2014/main" id="{F5EE4124-98FA-53C2-EB5C-1E0FFD206E77}"/>
              </a:ext>
            </a:extLst>
          </p:cNvPr>
          <p:cNvSpPr/>
          <p:nvPr/>
        </p:nvSpPr>
        <p:spPr>
          <a:xfrm>
            <a:off x="6339840" y="1121664"/>
            <a:ext cx="5486400" cy="438912"/>
          </a:xfrm>
          <a:prstGeom prst="rect">
            <a:avLst/>
          </a:prstGeom>
          <a:noFill/>
          <a:ln/>
        </p:spPr>
        <p:txBody>
          <a:bodyPr wrap="square" rtlCol="0" anchor="ctr"/>
          <a:lstStyle/>
          <a:p>
            <a:pPr defTabSz="1219170">
              <a:defRPr/>
            </a:pPr>
            <a:r>
              <a:rPr lang="en-US" sz="1733">
                <a:solidFill>
                  <a:srgbClr val="8C8C8C"/>
                </a:solidFill>
                <a:latin typeface="Calibri" pitchFamily="34" charset="0"/>
                <a:ea typeface="Calibri" pitchFamily="34" charset="-122"/>
                <a:cs typeface="Calibri" pitchFamily="34" charset="-120"/>
              </a:rPr>
              <a:t>Year 1 Cash on Hand: </a:t>
            </a:r>
            <a:r>
              <a:rPr lang="en-US" sz="1733" b="1">
                <a:solidFill>
                  <a:srgbClr val="1C1D32"/>
                </a:solidFill>
                <a:latin typeface="Calibri" pitchFamily="34" charset="0"/>
                <a:ea typeface="Calibri" pitchFamily="34" charset="-122"/>
                <a:cs typeface="Calibri" pitchFamily="34" charset="-120"/>
              </a:rPr>
              <a:t>$16K</a:t>
            </a:r>
            <a:endParaRPr lang="en-US" sz="1733">
              <a:solidFill>
                <a:prstClr val="black"/>
              </a:solidFill>
              <a:latin typeface="Calibri" panose="020F0502020204030204"/>
            </a:endParaRPr>
          </a:p>
        </p:txBody>
      </p:sp>
      <p:sp>
        <p:nvSpPr>
          <p:cNvPr id="11" name="Shape 8">
            <a:extLst>
              <a:ext uri="{FF2B5EF4-FFF2-40B4-BE49-F238E27FC236}">
                <a16:creationId xmlns:a16="http://schemas.microsoft.com/office/drawing/2014/main" id="{A0063D65-6F7E-BC74-913F-3932F5657C10}"/>
              </a:ext>
            </a:extLst>
          </p:cNvPr>
          <p:cNvSpPr/>
          <p:nvPr/>
        </p:nvSpPr>
        <p:spPr>
          <a:xfrm>
            <a:off x="609600" y="2127504"/>
            <a:ext cx="2682240" cy="3968496"/>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12" name="Shape 9">
            <a:extLst>
              <a:ext uri="{FF2B5EF4-FFF2-40B4-BE49-F238E27FC236}">
                <a16:creationId xmlns:a16="http://schemas.microsoft.com/office/drawing/2014/main" id="{97DB5622-6933-E80B-36E1-074DA9DF09D6}"/>
              </a:ext>
            </a:extLst>
          </p:cNvPr>
          <p:cNvSpPr/>
          <p:nvPr/>
        </p:nvSpPr>
        <p:spPr>
          <a:xfrm>
            <a:off x="609600" y="2139696"/>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13" name="Text 10">
            <a:extLst>
              <a:ext uri="{FF2B5EF4-FFF2-40B4-BE49-F238E27FC236}">
                <a16:creationId xmlns:a16="http://schemas.microsoft.com/office/drawing/2014/main" id="{EBE06F7B-A00B-0C02-E353-46790D77B7B0}"/>
              </a:ext>
            </a:extLst>
          </p:cNvPr>
          <p:cNvSpPr/>
          <p:nvPr/>
        </p:nvSpPr>
        <p:spPr>
          <a:xfrm>
            <a:off x="609600"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$30K</a:t>
            </a:r>
            <a:endParaRPr lang="en-US" sz="3200">
              <a:solidFill>
                <a:srgbClr val="1B1836"/>
              </a:solidFill>
              <a:latin typeface="Calibri" panose="020F0502020204030204"/>
            </a:endParaRPr>
          </a:p>
        </p:txBody>
      </p:sp>
      <p:sp>
        <p:nvSpPr>
          <p:cNvPr id="14" name="Shape 11">
            <a:extLst>
              <a:ext uri="{FF2B5EF4-FFF2-40B4-BE49-F238E27FC236}">
                <a16:creationId xmlns:a16="http://schemas.microsoft.com/office/drawing/2014/main" id="{082AD438-D822-3D00-A34F-06A675B94F34}"/>
              </a:ext>
            </a:extLst>
          </p:cNvPr>
          <p:cNvSpPr/>
          <p:nvPr/>
        </p:nvSpPr>
        <p:spPr>
          <a:xfrm>
            <a:off x="1365504"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15" name="Text 12">
            <a:extLst>
              <a:ext uri="{FF2B5EF4-FFF2-40B4-BE49-F238E27FC236}">
                <a16:creationId xmlns:a16="http://schemas.microsoft.com/office/drawing/2014/main" id="{DA509873-C7DD-F264-5591-87DEEBA6C689}"/>
              </a:ext>
            </a:extLst>
          </p:cNvPr>
          <p:cNvSpPr/>
          <p:nvPr/>
        </p:nvSpPr>
        <p:spPr>
          <a:xfrm>
            <a:off x="609600"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2</a:t>
            </a:r>
            <a:endParaRPr lang="en-US" sz="1600">
              <a:solidFill>
                <a:prstClr val="black"/>
              </a:solidFill>
              <a:latin typeface="Calibri" panose="020F0502020204030204"/>
            </a:endParaRPr>
          </a:p>
        </p:txBody>
      </p:sp>
      <p:sp>
        <p:nvSpPr>
          <p:cNvPr id="16" name="Text 13">
            <a:extLst>
              <a:ext uri="{FF2B5EF4-FFF2-40B4-BE49-F238E27FC236}">
                <a16:creationId xmlns:a16="http://schemas.microsoft.com/office/drawing/2014/main" id="{810D6B27-D7EB-AB2D-DA0E-8B9C006F5C4D}"/>
              </a:ext>
            </a:extLst>
          </p:cNvPr>
          <p:cNvSpPr/>
          <p:nvPr/>
        </p:nvSpPr>
        <p:spPr>
          <a:xfrm>
            <a:off x="609600"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2027</a:t>
            </a:r>
            <a:endParaRPr lang="en-US" sz="1867">
              <a:solidFill>
                <a:srgbClr val="C9A84C"/>
              </a:solidFill>
              <a:latin typeface="Calibri" panose="020F0502020204030204"/>
            </a:endParaRPr>
          </a:p>
        </p:txBody>
      </p:sp>
      <p:sp>
        <p:nvSpPr>
          <p:cNvPr id="17" name="Shape 14">
            <a:extLst>
              <a:ext uri="{FF2B5EF4-FFF2-40B4-BE49-F238E27FC236}">
                <a16:creationId xmlns:a16="http://schemas.microsoft.com/office/drawing/2014/main" id="{06632BFF-B3B8-5EB1-195A-4F8858C3A6C0}"/>
              </a:ext>
            </a:extLst>
          </p:cNvPr>
          <p:cNvSpPr/>
          <p:nvPr/>
        </p:nvSpPr>
        <p:spPr>
          <a:xfrm>
            <a:off x="3511296" y="2029968"/>
            <a:ext cx="2682240" cy="4066032"/>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18" name="Shape 15">
            <a:extLst>
              <a:ext uri="{FF2B5EF4-FFF2-40B4-BE49-F238E27FC236}">
                <a16:creationId xmlns:a16="http://schemas.microsoft.com/office/drawing/2014/main" id="{72214BBC-03AB-8F07-D7D1-841B40BF46F9}"/>
              </a:ext>
            </a:extLst>
          </p:cNvPr>
          <p:cNvSpPr/>
          <p:nvPr/>
        </p:nvSpPr>
        <p:spPr>
          <a:xfrm>
            <a:off x="3511296" y="2029968"/>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19" name="Text 16">
            <a:extLst>
              <a:ext uri="{FF2B5EF4-FFF2-40B4-BE49-F238E27FC236}">
                <a16:creationId xmlns:a16="http://schemas.microsoft.com/office/drawing/2014/main" id="{A8811424-F6FC-620E-4B26-9375DA387FCC}"/>
              </a:ext>
            </a:extLst>
          </p:cNvPr>
          <p:cNvSpPr/>
          <p:nvPr/>
        </p:nvSpPr>
        <p:spPr>
          <a:xfrm>
            <a:off x="3511296"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$28K</a:t>
            </a:r>
            <a:endParaRPr lang="en-US" sz="3200">
              <a:solidFill>
                <a:srgbClr val="1B1836"/>
              </a:solidFill>
              <a:latin typeface="Calibri" panose="020F0502020204030204"/>
            </a:endParaRPr>
          </a:p>
        </p:txBody>
      </p:sp>
      <p:sp>
        <p:nvSpPr>
          <p:cNvPr id="20" name="Shape 17">
            <a:extLst>
              <a:ext uri="{FF2B5EF4-FFF2-40B4-BE49-F238E27FC236}">
                <a16:creationId xmlns:a16="http://schemas.microsoft.com/office/drawing/2014/main" id="{284AD8C4-C205-D2BD-E8BD-70EEE6602719}"/>
              </a:ext>
            </a:extLst>
          </p:cNvPr>
          <p:cNvSpPr/>
          <p:nvPr/>
        </p:nvSpPr>
        <p:spPr>
          <a:xfrm>
            <a:off x="4267200"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21" name="Text 18">
            <a:extLst>
              <a:ext uri="{FF2B5EF4-FFF2-40B4-BE49-F238E27FC236}">
                <a16:creationId xmlns:a16="http://schemas.microsoft.com/office/drawing/2014/main" id="{E396994A-FC2E-8F41-D685-BFC43B460E69}"/>
              </a:ext>
            </a:extLst>
          </p:cNvPr>
          <p:cNvSpPr/>
          <p:nvPr/>
        </p:nvSpPr>
        <p:spPr>
          <a:xfrm>
            <a:off x="3511296"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3</a:t>
            </a:r>
            <a:endParaRPr lang="en-US" sz="1600">
              <a:solidFill>
                <a:prstClr val="black"/>
              </a:solidFill>
              <a:latin typeface="Calibri" panose="020F0502020204030204"/>
            </a:endParaRPr>
          </a:p>
        </p:txBody>
      </p:sp>
      <p:sp>
        <p:nvSpPr>
          <p:cNvPr id="22" name="Text 19">
            <a:extLst>
              <a:ext uri="{FF2B5EF4-FFF2-40B4-BE49-F238E27FC236}">
                <a16:creationId xmlns:a16="http://schemas.microsoft.com/office/drawing/2014/main" id="{5444F00E-C3EE-EC9B-9421-EA7312F69D08}"/>
              </a:ext>
            </a:extLst>
          </p:cNvPr>
          <p:cNvSpPr/>
          <p:nvPr/>
        </p:nvSpPr>
        <p:spPr>
          <a:xfrm>
            <a:off x="3511296"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2028</a:t>
            </a:r>
            <a:endParaRPr lang="en-US" sz="1867">
              <a:solidFill>
                <a:srgbClr val="C9A84C"/>
              </a:solidFill>
              <a:latin typeface="Calibri" panose="020F0502020204030204"/>
            </a:endParaRPr>
          </a:p>
        </p:txBody>
      </p:sp>
      <p:sp>
        <p:nvSpPr>
          <p:cNvPr id="23" name="Shape 20">
            <a:extLst>
              <a:ext uri="{FF2B5EF4-FFF2-40B4-BE49-F238E27FC236}">
                <a16:creationId xmlns:a16="http://schemas.microsoft.com/office/drawing/2014/main" id="{F73932EA-3EB3-423E-CFF8-0DF929C77671}"/>
              </a:ext>
            </a:extLst>
          </p:cNvPr>
          <p:cNvSpPr/>
          <p:nvPr/>
        </p:nvSpPr>
        <p:spPr>
          <a:xfrm>
            <a:off x="6412992" y="1975104"/>
            <a:ext cx="2682240" cy="4120896"/>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24" name="Shape 21">
            <a:extLst>
              <a:ext uri="{FF2B5EF4-FFF2-40B4-BE49-F238E27FC236}">
                <a16:creationId xmlns:a16="http://schemas.microsoft.com/office/drawing/2014/main" id="{B287ADF3-41A3-20F8-D009-4C98FB0D6DE5}"/>
              </a:ext>
            </a:extLst>
          </p:cNvPr>
          <p:cNvSpPr/>
          <p:nvPr/>
        </p:nvSpPr>
        <p:spPr>
          <a:xfrm>
            <a:off x="6412992" y="1975104"/>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25" name="Text 22">
            <a:extLst>
              <a:ext uri="{FF2B5EF4-FFF2-40B4-BE49-F238E27FC236}">
                <a16:creationId xmlns:a16="http://schemas.microsoft.com/office/drawing/2014/main" id="{69DF1C6A-A99D-7FBE-020E-FDDF3DD8D33F}"/>
              </a:ext>
            </a:extLst>
          </p:cNvPr>
          <p:cNvSpPr/>
          <p:nvPr/>
        </p:nvSpPr>
        <p:spPr>
          <a:xfrm>
            <a:off x="6412992"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$28K</a:t>
            </a:r>
            <a:endParaRPr lang="en-US" sz="3200">
              <a:solidFill>
                <a:srgbClr val="1B1836"/>
              </a:solidFill>
              <a:latin typeface="Calibri" panose="020F0502020204030204"/>
            </a:endParaRPr>
          </a:p>
        </p:txBody>
      </p:sp>
      <p:sp>
        <p:nvSpPr>
          <p:cNvPr id="26" name="Shape 23">
            <a:extLst>
              <a:ext uri="{FF2B5EF4-FFF2-40B4-BE49-F238E27FC236}">
                <a16:creationId xmlns:a16="http://schemas.microsoft.com/office/drawing/2014/main" id="{279A0634-C546-DD9C-1467-AA29ECB3DA6D}"/>
              </a:ext>
            </a:extLst>
          </p:cNvPr>
          <p:cNvSpPr/>
          <p:nvPr/>
        </p:nvSpPr>
        <p:spPr>
          <a:xfrm>
            <a:off x="7168896"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27" name="Text 24">
            <a:extLst>
              <a:ext uri="{FF2B5EF4-FFF2-40B4-BE49-F238E27FC236}">
                <a16:creationId xmlns:a16="http://schemas.microsoft.com/office/drawing/2014/main" id="{8BD51E4F-71C6-994E-65BE-76587977AFC4}"/>
              </a:ext>
            </a:extLst>
          </p:cNvPr>
          <p:cNvSpPr/>
          <p:nvPr/>
        </p:nvSpPr>
        <p:spPr>
          <a:xfrm>
            <a:off x="6412992"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4</a:t>
            </a:r>
            <a:endParaRPr lang="en-US" sz="1600">
              <a:solidFill>
                <a:prstClr val="black"/>
              </a:solidFill>
              <a:latin typeface="Calibri" panose="020F0502020204030204"/>
            </a:endParaRPr>
          </a:p>
        </p:txBody>
      </p:sp>
      <p:sp>
        <p:nvSpPr>
          <p:cNvPr id="28" name="Text 25">
            <a:extLst>
              <a:ext uri="{FF2B5EF4-FFF2-40B4-BE49-F238E27FC236}">
                <a16:creationId xmlns:a16="http://schemas.microsoft.com/office/drawing/2014/main" id="{D41D780F-C37B-97E5-F664-D4B63B78685A}"/>
              </a:ext>
            </a:extLst>
          </p:cNvPr>
          <p:cNvSpPr/>
          <p:nvPr/>
        </p:nvSpPr>
        <p:spPr>
          <a:xfrm>
            <a:off x="6412992"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2029</a:t>
            </a:r>
            <a:endParaRPr lang="en-US" sz="1867">
              <a:solidFill>
                <a:srgbClr val="C9A84C"/>
              </a:solidFill>
              <a:latin typeface="Calibri" panose="020F0502020204030204"/>
            </a:endParaRPr>
          </a:p>
        </p:txBody>
      </p:sp>
      <p:sp>
        <p:nvSpPr>
          <p:cNvPr id="29" name="Shape 26">
            <a:extLst>
              <a:ext uri="{FF2B5EF4-FFF2-40B4-BE49-F238E27FC236}">
                <a16:creationId xmlns:a16="http://schemas.microsoft.com/office/drawing/2014/main" id="{3E6A2EDD-1452-F897-F520-3224667F6FF2}"/>
              </a:ext>
            </a:extLst>
          </p:cNvPr>
          <p:cNvSpPr/>
          <p:nvPr/>
        </p:nvSpPr>
        <p:spPr>
          <a:xfrm>
            <a:off x="9314688" y="1874293"/>
            <a:ext cx="2682240" cy="4221708"/>
          </a:xfrm>
          <a:prstGeom prst="rect">
            <a:avLst/>
          </a:prstGeom>
          <a:solidFill>
            <a:srgbClr val="EDECE7"/>
          </a:solidFill>
          <a:ln w="9525">
            <a:solidFill>
              <a:srgbClr val="CCCAC4"/>
            </a:solidFill>
            <a:prstDash val="solid"/>
          </a:ln>
        </p:spPr>
        <p:txBody>
          <a:bodyPr/>
          <a:lstStyle/>
          <a:p>
            <a:pPr defTabSz="1219170">
              <a:defRPr/>
            </a:pPr>
            <a:endParaRPr lang="en-US" sz="2400">
              <a:solidFill>
                <a:prstClr val="black"/>
              </a:solidFill>
              <a:latin typeface="Calibri" panose="020F0502020204030204"/>
            </a:endParaRPr>
          </a:p>
        </p:txBody>
      </p:sp>
      <p:sp>
        <p:nvSpPr>
          <p:cNvPr id="30" name="Shape 27">
            <a:extLst>
              <a:ext uri="{FF2B5EF4-FFF2-40B4-BE49-F238E27FC236}">
                <a16:creationId xmlns:a16="http://schemas.microsoft.com/office/drawing/2014/main" id="{D86AC799-2594-B53E-8710-CC0721A53F0B}"/>
              </a:ext>
            </a:extLst>
          </p:cNvPr>
          <p:cNvSpPr/>
          <p:nvPr/>
        </p:nvSpPr>
        <p:spPr>
          <a:xfrm>
            <a:off x="9314688" y="1884119"/>
            <a:ext cx="2682240" cy="54864"/>
          </a:xfrm>
          <a:prstGeom prst="rect">
            <a:avLst/>
          </a:prstGeom>
          <a:solidFill>
            <a:srgbClr val="1C1E33"/>
          </a:solidFill>
          <a:ln w="12700">
            <a:solidFill>
              <a:srgbClr val="1C1E33"/>
            </a:solidFill>
            <a:prstDash val="solid"/>
          </a:ln>
        </p:spPr>
        <p:txBody>
          <a:bodyPr/>
          <a:lstStyle/>
          <a:p>
            <a:pPr defTabSz="1219170">
              <a:defRPr/>
            </a:pPr>
            <a:endParaRPr lang="en-US" sz="2400">
              <a:solidFill>
                <a:prstClr val="black"/>
              </a:solidFill>
              <a:latin typeface="Calibri" panose="020F0502020204030204"/>
            </a:endParaRPr>
          </a:p>
        </p:txBody>
      </p:sp>
      <p:sp>
        <p:nvSpPr>
          <p:cNvPr id="31" name="Text 28">
            <a:extLst>
              <a:ext uri="{FF2B5EF4-FFF2-40B4-BE49-F238E27FC236}">
                <a16:creationId xmlns:a16="http://schemas.microsoft.com/office/drawing/2014/main" id="{36780DF8-40EE-DF8F-7DEB-3127B2B88EE2}"/>
              </a:ext>
            </a:extLst>
          </p:cNvPr>
          <p:cNvSpPr/>
          <p:nvPr/>
        </p:nvSpPr>
        <p:spPr>
          <a:xfrm>
            <a:off x="9314688" y="2316480"/>
            <a:ext cx="2682240" cy="792480"/>
          </a:xfrm>
          <a:prstGeom prst="rect">
            <a:avLst/>
          </a:prstGeom>
          <a:noFill/>
          <a:ln/>
        </p:spPr>
        <p:txBody>
          <a:bodyPr wrap="square" rtlCol="0" anchor="ctr"/>
          <a:lstStyle/>
          <a:p>
            <a:pPr algn="ctr" defTabSz="1219170">
              <a:defRPr/>
            </a:pPr>
            <a:r>
              <a:rPr lang="en-US" sz="3200" b="1">
                <a:solidFill>
                  <a:srgbClr val="1B1836"/>
                </a:solidFill>
                <a:latin typeface="Georgia" pitchFamily="34" charset="0"/>
                <a:ea typeface="Georgia" pitchFamily="34" charset="-122"/>
                <a:cs typeface="Georgia" pitchFamily="34" charset="-120"/>
              </a:rPr>
              <a:t>$32K</a:t>
            </a:r>
            <a:endParaRPr lang="en-US" sz="3200">
              <a:solidFill>
                <a:srgbClr val="1B1836"/>
              </a:solidFill>
              <a:latin typeface="Calibri" panose="020F0502020204030204"/>
            </a:endParaRPr>
          </a:p>
        </p:txBody>
      </p:sp>
      <p:sp>
        <p:nvSpPr>
          <p:cNvPr id="32" name="Shape 29">
            <a:extLst>
              <a:ext uri="{FF2B5EF4-FFF2-40B4-BE49-F238E27FC236}">
                <a16:creationId xmlns:a16="http://schemas.microsoft.com/office/drawing/2014/main" id="{AFF60EB9-B861-16E9-54FB-82B8D3C4A780}"/>
              </a:ext>
            </a:extLst>
          </p:cNvPr>
          <p:cNvSpPr/>
          <p:nvPr/>
        </p:nvSpPr>
        <p:spPr>
          <a:xfrm>
            <a:off x="10070592" y="3194305"/>
            <a:ext cx="1170432" cy="34137"/>
          </a:xfrm>
          <a:prstGeom prst="rect">
            <a:avLst/>
          </a:prstGeom>
          <a:solidFill>
            <a:srgbClr val="C9A84C"/>
          </a:solidFill>
          <a:ln w="12700">
            <a:solidFill>
              <a:srgbClr val="B2A26F"/>
            </a:solidFill>
            <a:prstDash val="solid"/>
          </a:ln>
        </p:spPr>
        <p:txBody>
          <a:bodyPr/>
          <a:lstStyle/>
          <a:p>
            <a:pPr defTabSz="1219170">
              <a:defRPr/>
            </a:pPr>
            <a:endParaRPr lang="en-US" sz="2400">
              <a:solidFill>
                <a:prstClr val="black"/>
              </a:solidFill>
              <a:latin typeface="Calibri" panose="020F0502020204030204"/>
            </a:endParaRPr>
          </a:p>
        </p:txBody>
      </p:sp>
      <p:sp>
        <p:nvSpPr>
          <p:cNvPr id="33" name="Text 30">
            <a:extLst>
              <a:ext uri="{FF2B5EF4-FFF2-40B4-BE49-F238E27FC236}">
                <a16:creationId xmlns:a16="http://schemas.microsoft.com/office/drawing/2014/main" id="{11922F7A-AAFE-4ECE-9C6A-05A93CC1AD8D}"/>
              </a:ext>
            </a:extLst>
          </p:cNvPr>
          <p:cNvSpPr/>
          <p:nvPr/>
        </p:nvSpPr>
        <p:spPr>
          <a:xfrm>
            <a:off x="9314688" y="3352800"/>
            <a:ext cx="2682240" cy="390144"/>
          </a:xfrm>
          <a:prstGeom prst="rect">
            <a:avLst/>
          </a:prstGeom>
          <a:noFill/>
          <a:ln/>
        </p:spPr>
        <p:txBody>
          <a:bodyPr wrap="square" rtlCol="0" anchor="ctr"/>
          <a:lstStyle/>
          <a:p>
            <a:pPr algn="ctr" defTabSz="1219170">
              <a:defRPr/>
            </a:pPr>
            <a:r>
              <a:rPr lang="en-US" sz="1600">
                <a:solidFill>
                  <a:srgbClr val="8C8C8C"/>
                </a:solidFill>
                <a:latin typeface="Calibri" pitchFamily="34" charset="0"/>
                <a:ea typeface="Calibri" pitchFamily="34" charset="-122"/>
                <a:cs typeface="Calibri" pitchFamily="34" charset="-120"/>
              </a:rPr>
              <a:t>Year 5</a:t>
            </a:r>
            <a:endParaRPr lang="en-US" sz="1600">
              <a:solidFill>
                <a:prstClr val="black"/>
              </a:solidFill>
              <a:latin typeface="Calibri" panose="020F0502020204030204"/>
            </a:endParaRPr>
          </a:p>
        </p:txBody>
      </p:sp>
      <p:sp>
        <p:nvSpPr>
          <p:cNvPr id="34" name="Text 31">
            <a:extLst>
              <a:ext uri="{FF2B5EF4-FFF2-40B4-BE49-F238E27FC236}">
                <a16:creationId xmlns:a16="http://schemas.microsoft.com/office/drawing/2014/main" id="{4E7666B6-C8BE-90FA-BA35-FD0035FF1431}"/>
              </a:ext>
            </a:extLst>
          </p:cNvPr>
          <p:cNvSpPr/>
          <p:nvPr/>
        </p:nvSpPr>
        <p:spPr>
          <a:xfrm>
            <a:off x="9314688" y="3779520"/>
            <a:ext cx="2682240" cy="463296"/>
          </a:xfrm>
          <a:prstGeom prst="rect">
            <a:avLst/>
          </a:prstGeom>
          <a:noFill/>
          <a:ln/>
        </p:spPr>
        <p:txBody>
          <a:bodyPr wrap="square" rtlCol="0" anchor="ctr"/>
          <a:lstStyle/>
          <a:p>
            <a:pPr algn="ctr" defTabSz="1219170">
              <a:defRPr/>
            </a:pPr>
            <a:r>
              <a:rPr lang="en-US" sz="1867" b="1" kern="0" spc="133">
                <a:solidFill>
                  <a:srgbClr val="C9A84C"/>
                </a:solidFill>
                <a:latin typeface="Calibri" pitchFamily="34" charset="0"/>
                <a:ea typeface="Calibri" pitchFamily="34" charset="-122"/>
                <a:cs typeface="Calibri" pitchFamily="34" charset="-120"/>
              </a:rPr>
              <a:t>2030</a:t>
            </a:r>
            <a:endParaRPr lang="en-US" sz="1867">
              <a:solidFill>
                <a:srgbClr val="C9A84C"/>
              </a:solidFill>
              <a:latin typeface="Calibri" panose="020F0502020204030204"/>
            </a:endParaRPr>
          </a:p>
        </p:txBody>
      </p:sp>
      <p:pic>
        <p:nvPicPr>
          <p:cNvPr id="3" name="Image 0" descr="preencoded.png">
            <a:extLst>
              <a:ext uri="{FF2B5EF4-FFF2-40B4-BE49-F238E27FC236}">
                <a16:creationId xmlns:a16="http://schemas.microsoft.com/office/drawing/2014/main" id="{8D795DA2-0A03-5453-BB4C-F8B786CAB4EF}"/>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35" name="TextBox 34">
            <a:extLst>
              <a:ext uri="{FF2B5EF4-FFF2-40B4-BE49-F238E27FC236}">
                <a16:creationId xmlns:a16="http://schemas.microsoft.com/office/drawing/2014/main" id="{643834E4-082A-C85E-B12D-E36CEFC712A3}"/>
              </a:ext>
            </a:extLst>
          </p:cNvPr>
          <p:cNvSpPr txBox="1"/>
          <p:nvPr/>
        </p:nvSpPr>
        <p:spPr>
          <a:xfrm>
            <a:off x="629739" y="610416"/>
            <a:ext cx="6098874" cy="230832"/>
          </a:xfrm>
          <a:prstGeom prst="rect">
            <a:avLst/>
          </a:prstGeom>
          <a:noFill/>
        </p:spPr>
        <p:txBody>
          <a:bodyPr wrap="square">
            <a:spAutoFit/>
          </a:bodyPr>
          <a:lstStyle/>
          <a:p>
            <a:pPr marL="0" indent="0">
              <a:buNone/>
            </a:pPr>
            <a:r>
              <a:rPr lang="en-US" sz="900" b="1" kern="0" spc="400">
                <a:solidFill>
                  <a:srgbClr val="C9A84C"/>
                </a:solidFill>
                <a:latin typeface="Calibri" pitchFamily="34" charset="0"/>
                <a:ea typeface="Calibri" pitchFamily="34" charset="-122"/>
                <a:cs typeface="Calibri" pitchFamily="34" charset="-120"/>
              </a:rPr>
              <a:t>$300,000 LTC ANNUITY</a:t>
            </a:r>
            <a:endParaRPr lang="en-US" sz="900"/>
          </a:p>
        </p:txBody>
      </p:sp>
      <p:sp>
        <p:nvSpPr>
          <p:cNvPr id="37" name="Shape 0">
            <a:extLst>
              <a:ext uri="{FF2B5EF4-FFF2-40B4-BE49-F238E27FC236}">
                <a16:creationId xmlns:a16="http://schemas.microsoft.com/office/drawing/2014/main" id="{FCA8D052-33A5-0300-775A-F5CCC636C5A0}"/>
              </a:ext>
            </a:extLst>
          </p:cNvPr>
          <p:cNvSpPr/>
          <p:nvPr/>
        </p:nvSpPr>
        <p:spPr>
          <a:xfrm>
            <a:off x="0" y="6547104"/>
            <a:ext cx="12191695" cy="310896"/>
          </a:xfrm>
          <a:prstGeom prst="rect">
            <a:avLst/>
          </a:prstGeom>
          <a:solidFill>
            <a:srgbClr val="F1EEE6"/>
          </a:solidFill>
          <a:ln/>
        </p:spPr>
        <p:txBody>
          <a:bodyPr/>
          <a:lstStyle/>
          <a:p>
            <a:endParaRPr lang="en-US"/>
          </a:p>
        </p:txBody>
      </p:sp>
      <p:sp>
        <p:nvSpPr>
          <p:cNvPr id="39" name="Text 1">
            <a:extLst>
              <a:ext uri="{FF2B5EF4-FFF2-40B4-BE49-F238E27FC236}">
                <a16:creationId xmlns:a16="http://schemas.microsoft.com/office/drawing/2014/main" id="{9DCA3CED-D6AB-D360-0A92-771559AF43A8}"/>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1" name="Text 2">
            <a:extLst>
              <a:ext uri="{FF2B5EF4-FFF2-40B4-BE49-F238E27FC236}">
                <a16:creationId xmlns:a16="http://schemas.microsoft.com/office/drawing/2014/main" id="{4D192AAA-2692-29F9-81B7-F26D4D3AD093}"/>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43" name="Text 3">
            <a:extLst>
              <a:ext uri="{FF2B5EF4-FFF2-40B4-BE49-F238E27FC236}">
                <a16:creationId xmlns:a16="http://schemas.microsoft.com/office/drawing/2014/main" id="{50D9BFB9-ADED-960E-BD21-75C718518CA9}"/>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extLst>
      <p:ext uri="{BB962C8B-B14F-4D97-AF65-F5344CB8AC3E}">
        <p14:creationId xmlns:p14="http://schemas.microsoft.com/office/powerpoint/2010/main" val="3420282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C30B1-CCB8-A17E-A7D7-3A74B29802A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D42FFA-ECA0-93F5-2F55-DA5F2685028E}"/>
              </a:ext>
            </a:extLst>
          </p:cNvPr>
          <p:cNvSpPr/>
          <p:nvPr/>
        </p:nvSpPr>
        <p:spPr>
          <a:xfrm>
            <a:off x="670560" y="268224"/>
            <a:ext cx="10972800" cy="268224"/>
          </a:xfrm>
          <a:prstGeom prst="rect">
            <a:avLst/>
          </a:prstGeom>
          <a:noFill/>
          <a:ln/>
        </p:spPr>
        <p:txBody>
          <a:bodyPr wrap="square" lIns="0" tIns="0" rIns="0" bIns="0" rtlCol="0" anchor="t"/>
          <a:lstStyle/>
          <a:p>
            <a:r>
              <a:rPr lang="en-US" sz="900" b="1" kern="0" spc="400">
                <a:solidFill>
                  <a:srgbClr val="C9A84C"/>
                </a:solidFill>
                <a:latin typeface="Calibri" pitchFamily="34" charset="0"/>
                <a:ea typeface="Calibri" pitchFamily="34" charset="-122"/>
                <a:cs typeface="Calibri" pitchFamily="34" charset="-120"/>
              </a:rPr>
              <a:t>$300,000 LTC ANNUITY</a:t>
            </a:r>
            <a:endParaRPr lang="en-US" sz="900"/>
          </a:p>
        </p:txBody>
      </p:sp>
      <p:sp>
        <p:nvSpPr>
          <p:cNvPr id="3" name="Text 1">
            <a:extLst>
              <a:ext uri="{FF2B5EF4-FFF2-40B4-BE49-F238E27FC236}">
                <a16:creationId xmlns:a16="http://schemas.microsoft.com/office/drawing/2014/main" id="{56E998CB-3B0B-84DB-7B81-C9EEF938EC47}"/>
              </a:ext>
            </a:extLst>
          </p:cNvPr>
          <p:cNvSpPr/>
          <p:nvPr/>
        </p:nvSpPr>
        <p:spPr>
          <a:xfrm>
            <a:off x="670560" y="609600"/>
            <a:ext cx="10972800" cy="914400"/>
          </a:xfrm>
          <a:prstGeom prst="rect">
            <a:avLst/>
          </a:prstGeom>
          <a:noFill/>
          <a:ln/>
        </p:spPr>
        <p:txBody>
          <a:bodyPr wrap="square" lIns="0" tIns="0" rIns="0" bIns="0" rtlCol="0" anchor="t"/>
          <a:lstStyle/>
          <a:p>
            <a:r>
              <a:rPr lang="en-US" sz="3467" err="1">
                <a:solidFill>
                  <a:srgbClr val="1A1E3A"/>
                </a:solidFill>
                <a:latin typeface="Georgia" pitchFamily="34" charset="0"/>
              </a:rPr>
              <a:t>Teeves</a:t>
            </a:r>
            <a:r>
              <a:rPr lang="en-US" sz="3467">
                <a:solidFill>
                  <a:srgbClr val="1A1E3A"/>
                </a:solidFill>
                <a:latin typeface="Georgia" pitchFamily="34" charset="0"/>
              </a:rPr>
              <a:t> Family Proposed Ownership</a:t>
            </a:r>
            <a:endParaRPr lang="en-US" sz="3467"/>
          </a:p>
        </p:txBody>
      </p:sp>
      <p:sp>
        <p:nvSpPr>
          <p:cNvPr id="4" name="Shape 2">
            <a:extLst>
              <a:ext uri="{FF2B5EF4-FFF2-40B4-BE49-F238E27FC236}">
                <a16:creationId xmlns:a16="http://schemas.microsoft.com/office/drawing/2014/main" id="{012A3FC5-023F-6D44-4E13-4B81F10DECE8}"/>
              </a:ext>
            </a:extLst>
          </p:cNvPr>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Text 3">
            <a:extLst>
              <a:ext uri="{FF2B5EF4-FFF2-40B4-BE49-F238E27FC236}">
                <a16:creationId xmlns:a16="http://schemas.microsoft.com/office/drawing/2014/main" id="{898874BF-DD27-7F05-1CE4-CAAF569953BB}"/>
              </a:ext>
            </a:extLst>
          </p:cNvPr>
          <p:cNvSpPr/>
          <p:nvPr/>
        </p:nvSpPr>
        <p:spPr>
          <a:xfrm>
            <a:off x="670560" y="1975104"/>
            <a:ext cx="4632960" cy="268224"/>
          </a:xfrm>
          <a:prstGeom prst="rect">
            <a:avLst/>
          </a:prstGeom>
          <a:noFill/>
          <a:ln/>
        </p:spPr>
        <p:txBody>
          <a:bodyPr wrap="square" lIns="0" tIns="0" rIns="0" bIns="0" rtlCol="0" anchor="ctr"/>
          <a:lstStyle/>
          <a:p>
            <a:r>
              <a:rPr lang="en-US" sz="1400" kern="0" spc="267">
                <a:solidFill>
                  <a:srgbClr val="C9A84C"/>
                </a:solidFill>
                <a:latin typeface="Calibri"/>
                <a:ea typeface="Calibri"/>
                <a:cs typeface="Calibri"/>
              </a:rPr>
              <a:t>PORTFOLIO COMPOSITION</a:t>
            </a:r>
            <a:endParaRPr lang="en-US" sz="1400">
              <a:latin typeface="Calibri"/>
              <a:ea typeface="Calibri"/>
              <a:cs typeface="Calibri"/>
            </a:endParaRPr>
          </a:p>
        </p:txBody>
      </p:sp>
      <p:sp>
        <p:nvSpPr>
          <p:cNvPr id="6" name="Shape 4">
            <a:extLst>
              <a:ext uri="{FF2B5EF4-FFF2-40B4-BE49-F238E27FC236}">
                <a16:creationId xmlns:a16="http://schemas.microsoft.com/office/drawing/2014/main" id="{6430DC37-E141-D681-768E-65BD8D6EB422}"/>
              </a:ext>
            </a:extLst>
          </p:cNvPr>
          <p:cNvSpPr/>
          <p:nvPr/>
        </p:nvSpPr>
        <p:spPr>
          <a:xfrm>
            <a:off x="670560" y="2316480"/>
            <a:ext cx="2983627" cy="670560"/>
          </a:xfrm>
          <a:prstGeom prst="rect">
            <a:avLst/>
          </a:prstGeom>
          <a:solidFill>
            <a:srgbClr val="1A1E3A"/>
          </a:solidFill>
          <a:ln w="12700">
            <a:solidFill>
              <a:srgbClr val="000000"/>
            </a:solidFill>
            <a:prstDash val="solid"/>
          </a:ln>
        </p:spPr>
        <p:txBody>
          <a:bodyPr/>
          <a:lstStyle/>
          <a:p>
            <a:endParaRPr lang="en-US" sz="2400"/>
          </a:p>
        </p:txBody>
      </p:sp>
      <p:sp>
        <p:nvSpPr>
          <p:cNvPr id="7" name="Shape 5">
            <a:extLst>
              <a:ext uri="{FF2B5EF4-FFF2-40B4-BE49-F238E27FC236}">
                <a16:creationId xmlns:a16="http://schemas.microsoft.com/office/drawing/2014/main" id="{F0FBCCEF-37B8-1C08-4C15-BE112C42CE19}"/>
              </a:ext>
            </a:extLst>
          </p:cNvPr>
          <p:cNvSpPr/>
          <p:nvPr/>
        </p:nvSpPr>
        <p:spPr>
          <a:xfrm>
            <a:off x="3654188" y="2316480"/>
            <a:ext cx="1278697" cy="670560"/>
          </a:xfrm>
          <a:prstGeom prst="rect">
            <a:avLst/>
          </a:prstGeom>
          <a:solidFill>
            <a:srgbClr val="7A9B6E"/>
          </a:solidFill>
          <a:ln w="12700">
            <a:solidFill>
              <a:srgbClr val="000000"/>
            </a:solidFill>
            <a:prstDash val="solid"/>
          </a:ln>
        </p:spPr>
        <p:txBody>
          <a:bodyPr/>
          <a:lstStyle/>
          <a:p>
            <a:endParaRPr lang="en-US" sz="2400"/>
          </a:p>
        </p:txBody>
      </p:sp>
      <p:sp>
        <p:nvSpPr>
          <p:cNvPr id="8" name="Shape 6">
            <a:extLst>
              <a:ext uri="{FF2B5EF4-FFF2-40B4-BE49-F238E27FC236}">
                <a16:creationId xmlns:a16="http://schemas.microsoft.com/office/drawing/2014/main" id="{837538EC-0A59-BA54-E920-BEB41D28349E}"/>
              </a:ext>
            </a:extLst>
          </p:cNvPr>
          <p:cNvSpPr/>
          <p:nvPr/>
        </p:nvSpPr>
        <p:spPr>
          <a:xfrm>
            <a:off x="4932883" y="2316480"/>
            <a:ext cx="370637" cy="670560"/>
          </a:xfrm>
          <a:prstGeom prst="rect">
            <a:avLst/>
          </a:prstGeom>
          <a:solidFill>
            <a:srgbClr val="6A6A7A"/>
          </a:solidFill>
          <a:ln w="12700">
            <a:solidFill>
              <a:srgbClr val="000000"/>
            </a:solidFill>
            <a:prstDash val="solid"/>
          </a:ln>
        </p:spPr>
        <p:txBody>
          <a:bodyPr/>
          <a:lstStyle/>
          <a:p>
            <a:endParaRPr lang="en-US" sz="2400"/>
          </a:p>
        </p:txBody>
      </p:sp>
      <p:sp>
        <p:nvSpPr>
          <p:cNvPr id="9" name="Shape 7">
            <a:extLst>
              <a:ext uri="{FF2B5EF4-FFF2-40B4-BE49-F238E27FC236}">
                <a16:creationId xmlns:a16="http://schemas.microsoft.com/office/drawing/2014/main" id="{DBC7AAC8-AC25-20D4-F486-F5A17B8AF293}"/>
              </a:ext>
            </a:extLst>
          </p:cNvPr>
          <p:cNvSpPr/>
          <p:nvPr/>
        </p:nvSpPr>
        <p:spPr>
          <a:xfrm>
            <a:off x="670560" y="3316224"/>
            <a:ext cx="219456" cy="219456"/>
          </a:xfrm>
          <a:prstGeom prst="rect">
            <a:avLst/>
          </a:prstGeom>
          <a:solidFill>
            <a:srgbClr val="1A1E3A"/>
          </a:solidFill>
          <a:ln w="12700">
            <a:solidFill>
              <a:srgbClr val="000000"/>
            </a:solidFill>
            <a:prstDash val="solid"/>
          </a:ln>
        </p:spPr>
        <p:txBody>
          <a:bodyPr/>
          <a:lstStyle/>
          <a:p>
            <a:endParaRPr lang="en-US" sz="2400"/>
          </a:p>
        </p:txBody>
      </p:sp>
      <p:sp>
        <p:nvSpPr>
          <p:cNvPr id="10" name="Text 8">
            <a:extLst>
              <a:ext uri="{FF2B5EF4-FFF2-40B4-BE49-F238E27FC236}">
                <a16:creationId xmlns:a16="http://schemas.microsoft.com/office/drawing/2014/main" id="{15074093-EEEA-1E03-E212-6145376961D3}"/>
              </a:ext>
            </a:extLst>
          </p:cNvPr>
          <p:cNvSpPr/>
          <p:nvPr/>
        </p:nvSpPr>
        <p:spPr>
          <a:xfrm>
            <a:off x="999744" y="324307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Dividends</a:t>
            </a:r>
            <a:endParaRPr lang="en-US" sz="1600"/>
          </a:p>
        </p:txBody>
      </p:sp>
      <p:sp>
        <p:nvSpPr>
          <p:cNvPr id="11" name="Text 9">
            <a:extLst>
              <a:ext uri="{FF2B5EF4-FFF2-40B4-BE49-F238E27FC236}">
                <a16:creationId xmlns:a16="http://schemas.microsoft.com/office/drawing/2014/main" id="{B2B3933F-F8A0-AA5B-2CF2-8D794FB9CFCA}"/>
              </a:ext>
            </a:extLst>
          </p:cNvPr>
          <p:cNvSpPr/>
          <p:nvPr/>
        </p:nvSpPr>
        <p:spPr>
          <a:xfrm>
            <a:off x="999744" y="360883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64.4%</a:t>
            </a:r>
            <a:endParaRPr lang="en-US" sz="1200"/>
          </a:p>
        </p:txBody>
      </p:sp>
      <p:sp>
        <p:nvSpPr>
          <p:cNvPr id="12" name="Text 10">
            <a:extLst>
              <a:ext uri="{FF2B5EF4-FFF2-40B4-BE49-F238E27FC236}">
                <a16:creationId xmlns:a16="http://schemas.microsoft.com/office/drawing/2014/main" id="{160D8D4C-C32B-04A0-632C-EF344A2FC349}"/>
              </a:ext>
            </a:extLst>
          </p:cNvPr>
          <p:cNvSpPr/>
          <p:nvPr/>
        </p:nvSpPr>
        <p:spPr>
          <a:xfrm>
            <a:off x="1950720" y="360883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$611,800</a:t>
            </a:r>
            <a:endParaRPr lang="en-US" sz="1200"/>
          </a:p>
        </p:txBody>
      </p:sp>
      <p:sp>
        <p:nvSpPr>
          <p:cNvPr id="13" name="Shape 11">
            <a:extLst>
              <a:ext uri="{FF2B5EF4-FFF2-40B4-BE49-F238E27FC236}">
                <a16:creationId xmlns:a16="http://schemas.microsoft.com/office/drawing/2014/main" id="{C16D3A57-A332-CA57-63DB-6AD58A683036}"/>
              </a:ext>
            </a:extLst>
          </p:cNvPr>
          <p:cNvSpPr/>
          <p:nvPr/>
        </p:nvSpPr>
        <p:spPr>
          <a:xfrm>
            <a:off x="670560" y="3925824"/>
            <a:ext cx="4632960" cy="0"/>
          </a:xfrm>
          <a:prstGeom prst="line">
            <a:avLst/>
          </a:prstGeom>
          <a:noFill/>
          <a:ln w="3810">
            <a:solidFill>
              <a:srgbClr val="E8E7E2"/>
            </a:solidFill>
            <a:prstDash val="solid"/>
          </a:ln>
        </p:spPr>
        <p:txBody>
          <a:bodyPr/>
          <a:lstStyle/>
          <a:p>
            <a:endParaRPr lang="en-US" sz="2400"/>
          </a:p>
        </p:txBody>
      </p:sp>
      <p:sp>
        <p:nvSpPr>
          <p:cNvPr id="14" name="Shape 12">
            <a:extLst>
              <a:ext uri="{FF2B5EF4-FFF2-40B4-BE49-F238E27FC236}">
                <a16:creationId xmlns:a16="http://schemas.microsoft.com/office/drawing/2014/main" id="{16A0D98C-6A9C-0FAE-0EF9-08F5B62825C3}"/>
              </a:ext>
            </a:extLst>
          </p:cNvPr>
          <p:cNvSpPr/>
          <p:nvPr/>
        </p:nvSpPr>
        <p:spPr>
          <a:xfrm>
            <a:off x="670560" y="4047744"/>
            <a:ext cx="219456" cy="219456"/>
          </a:xfrm>
          <a:prstGeom prst="rect">
            <a:avLst/>
          </a:prstGeom>
          <a:solidFill>
            <a:srgbClr val="7A9B6E"/>
          </a:solidFill>
          <a:ln w="12700">
            <a:solidFill>
              <a:srgbClr val="000000"/>
            </a:solidFill>
            <a:prstDash val="solid"/>
          </a:ln>
        </p:spPr>
        <p:txBody>
          <a:bodyPr/>
          <a:lstStyle/>
          <a:p>
            <a:endParaRPr lang="en-US" sz="2400"/>
          </a:p>
        </p:txBody>
      </p:sp>
      <p:sp>
        <p:nvSpPr>
          <p:cNvPr id="15" name="Text 13">
            <a:extLst>
              <a:ext uri="{FF2B5EF4-FFF2-40B4-BE49-F238E27FC236}">
                <a16:creationId xmlns:a16="http://schemas.microsoft.com/office/drawing/2014/main" id="{7B4BC047-E94B-B521-F6B5-47223C1CD575}"/>
              </a:ext>
            </a:extLst>
          </p:cNvPr>
          <p:cNvSpPr/>
          <p:nvPr/>
        </p:nvSpPr>
        <p:spPr>
          <a:xfrm>
            <a:off x="999744" y="397459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Growth</a:t>
            </a:r>
            <a:endParaRPr lang="en-US" sz="1600"/>
          </a:p>
        </p:txBody>
      </p:sp>
      <p:sp>
        <p:nvSpPr>
          <p:cNvPr id="16" name="Text 14">
            <a:extLst>
              <a:ext uri="{FF2B5EF4-FFF2-40B4-BE49-F238E27FC236}">
                <a16:creationId xmlns:a16="http://schemas.microsoft.com/office/drawing/2014/main" id="{12A4B38A-039A-7A4F-A406-3330BB7DC56F}"/>
              </a:ext>
            </a:extLst>
          </p:cNvPr>
          <p:cNvSpPr/>
          <p:nvPr/>
        </p:nvSpPr>
        <p:spPr>
          <a:xfrm>
            <a:off x="999744" y="434035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27.6%</a:t>
            </a:r>
            <a:endParaRPr lang="en-US" sz="1200"/>
          </a:p>
        </p:txBody>
      </p:sp>
      <p:sp>
        <p:nvSpPr>
          <p:cNvPr id="17" name="Text 15">
            <a:extLst>
              <a:ext uri="{FF2B5EF4-FFF2-40B4-BE49-F238E27FC236}">
                <a16:creationId xmlns:a16="http://schemas.microsoft.com/office/drawing/2014/main" id="{A07B47E2-2E1E-A118-0F98-E6C16A35D228}"/>
              </a:ext>
            </a:extLst>
          </p:cNvPr>
          <p:cNvSpPr/>
          <p:nvPr/>
        </p:nvSpPr>
        <p:spPr>
          <a:xfrm>
            <a:off x="1950720" y="434035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$262,200</a:t>
            </a:r>
            <a:endParaRPr lang="en-US" sz="1200"/>
          </a:p>
        </p:txBody>
      </p:sp>
      <p:sp>
        <p:nvSpPr>
          <p:cNvPr id="18" name="Shape 16">
            <a:extLst>
              <a:ext uri="{FF2B5EF4-FFF2-40B4-BE49-F238E27FC236}">
                <a16:creationId xmlns:a16="http://schemas.microsoft.com/office/drawing/2014/main" id="{C036F13B-A920-EB07-15C1-893381C1BC96}"/>
              </a:ext>
            </a:extLst>
          </p:cNvPr>
          <p:cNvSpPr/>
          <p:nvPr/>
        </p:nvSpPr>
        <p:spPr>
          <a:xfrm>
            <a:off x="670560" y="4657344"/>
            <a:ext cx="4632960" cy="0"/>
          </a:xfrm>
          <a:prstGeom prst="line">
            <a:avLst/>
          </a:prstGeom>
          <a:noFill/>
          <a:ln w="3810">
            <a:solidFill>
              <a:srgbClr val="E8E7E2"/>
            </a:solidFill>
            <a:prstDash val="solid"/>
          </a:ln>
        </p:spPr>
        <p:txBody>
          <a:bodyPr/>
          <a:lstStyle/>
          <a:p>
            <a:endParaRPr lang="en-US" sz="2400"/>
          </a:p>
        </p:txBody>
      </p:sp>
      <p:sp>
        <p:nvSpPr>
          <p:cNvPr id="19" name="Shape 17">
            <a:extLst>
              <a:ext uri="{FF2B5EF4-FFF2-40B4-BE49-F238E27FC236}">
                <a16:creationId xmlns:a16="http://schemas.microsoft.com/office/drawing/2014/main" id="{502A3F4A-E2C6-702B-C50F-E6BFB902E10D}"/>
              </a:ext>
            </a:extLst>
          </p:cNvPr>
          <p:cNvSpPr/>
          <p:nvPr/>
        </p:nvSpPr>
        <p:spPr>
          <a:xfrm>
            <a:off x="670560" y="4779264"/>
            <a:ext cx="219456" cy="219456"/>
          </a:xfrm>
          <a:prstGeom prst="rect">
            <a:avLst/>
          </a:prstGeom>
          <a:solidFill>
            <a:srgbClr val="6A6A7A"/>
          </a:solidFill>
          <a:ln w="12700">
            <a:solidFill>
              <a:srgbClr val="000000"/>
            </a:solidFill>
            <a:prstDash val="solid"/>
          </a:ln>
        </p:spPr>
        <p:txBody>
          <a:bodyPr/>
          <a:lstStyle/>
          <a:p>
            <a:endParaRPr lang="en-US" sz="2400"/>
          </a:p>
        </p:txBody>
      </p:sp>
      <p:sp>
        <p:nvSpPr>
          <p:cNvPr id="20" name="Text 18">
            <a:extLst>
              <a:ext uri="{FF2B5EF4-FFF2-40B4-BE49-F238E27FC236}">
                <a16:creationId xmlns:a16="http://schemas.microsoft.com/office/drawing/2014/main" id="{BD9A5392-432B-65E9-A926-FDC66BEF40DB}"/>
              </a:ext>
            </a:extLst>
          </p:cNvPr>
          <p:cNvSpPr/>
          <p:nvPr/>
        </p:nvSpPr>
        <p:spPr>
          <a:xfrm>
            <a:off x="999744" y="4706112"/>
            <a:ext cx="1463040" cy="341376"/>
          </a:xfrm>
          <a:prstGeom prst="rect">
            <a:avLst/>
          </a:prstGeom>
          <a:noFill/>
          <a:ln/>
        </p:spPr>
        <p:txBody>
          <a:bodyPr wrap="square" lIns="0" tIns="0" rIns="0" bIns="0" rtlCol="0" anchor="ctr"/>
          <a:lstStyle/>
          <a:p>
            <a:r>
              <a:rPr lang="en-US" sz="1600">
                <a:solidFill>
                  <a:srgbClr val="1A1E3A"/>
                </a:solidFill>
                <a:latin typeface="Georgia" pitchFamily="34" charset="0"/>
                <a:ea typeface="Georgia" pitchFamily="34" charset="-122"/>
                <a:cs typeface="Georgia" pitchFamily="34" charset="-120"/>
              </a:rPr>
              <a:t>Cash</a:t>
            </a:r>
            <a:endParaRPr lang="en-US" sz="1600"/>
          </a:p>
        </p:txBody>
      </p:sp>
      <p:sp>
        <p:nvSpPr>
          <p:cNvPr id="21" name="Text 19">
            <a:extLst>
              <a:ext uri="{FF2B5EF4-FFF2-40B4-BE49-F238E27FC236}">
                <a16:creationId xmlns:a16="http://schemas.microsoft.com/office/drawing/2014/main" id="{4E03F692-4845-9090-4970-1D6BCA324CC6}"/>
              </a:ext>
            </a:extLst>
          </p:cNvPr>
          <p:cNvSpPr/>
          <p:nvPr/>
        </p:nvSpPr>
        <p:spPr>
          <a:xfrm>
            <a:off x="999744" y="5071872"/>
            <a:ext cx="853440" cy="243840"/>
          </a:xfrm>
          <a:prstGeom prst="rect">
            <a:avLst/>
          </a:prstGeom>
          <a:noFill/>
          <a:ln/>
        </p:spPr>
        <p:txBody>
          <a:bodyPr wrap="square" lIns="0" tIns="0" rIns="0" bIns="0" rtlCol="0" anchor="ctr"/>
          <a:lstStyle/>
          <a:p>
            <a:r>
              <a:rPr lang="en-US" sz="1200">
                <a:solidFill>
                  <a:srgbClr val="6A6A7A"/>
                </a:solidFill>
                <a:latin typeface="Calibri" pitchFamily="34" charset="0"/>
                <a:ea typeface="Calibri" pitchFamily="34" charset="-122"/>
                <a:cs typeface="Calibri" pitchFamily="34" charset="-120"/>
              </a:rPr>
              <a:t>8.0%</a:t>
            </a:r>
            <a:endParaRPr lang="en-US" sz="1200"/>
          </a:p>
        </p:txBody>
      </p:sp>
      <p:sp>
        <p:nvSpPr>
          <p:cNvPr id="22" name="Text 20">
            <a:extLst>
              <a:ext uri="{FF2B5EF4-FFF2-40B4-BE49-F238E27FC236}">
                <a16:creationId xmlns:a16="http://schemas.microsoft.com/office/drawing/2014/main" id="{DED4BD7A-E541-DD8B-98FE-3F547C1B8D5E}"/>
              </a:ext>
            </a:extLst>
          </p:cNvPr>
          <p:cNvSpPr/>
          <p:nvPr/>
        </p:nvSpPr>
        <p:spPr>
          <a:xfrm>
            <a:off x="1950720" y="5071872"/>
            <a:ext cx="1463040" cy="243840"/>
          </a:xfrm>
          <a:prstGeom prst="rect">
            <a:avLst/>
          </a:prstGeom>
          <a:noFill/>
          <a:ln/>
        </p:spPr>
        <p:txBody>
          <a:bodyPr wrap="square" lIns="0" tIns="0" rIns="0" bIns="0" rtlCol="0" anchor="ctr"/>
          <a:lstStyle/>
          <a:p>
            <a:r>
              <a:rPr lang="en-US" sz="1200">
                <a:solidFill>
                  <a:srgbClr val="1A1E3A"/>
                </a:solidFill>
                <a:latin typeface="Calibri" pitchFamily="34" charset="0"/>
                <a:ea typeface="Calibri" pitchFamily="34" charset="-122"/>
                <a:cs typeface="Calibri" pitchFamily="34" charset="-120"/>
              </a:rPr>
              <a:t>$76,000</a:t>
            </a:r>
            <a:endParaRPr lang="en-US" sz="1200"/>
          </a:p>
        </p:txBody>
      </p:sp>
      <p:sp>
        <p:nvSpPr>
          <p:cNvPr id="23" name="Shape 21">
            <a:extLst>
              <a:ext uri="{FF2B5EF4-FFF2-40B4-BE49-F238E27FC236}">
                <a16:creationId xmlns:a16="http://schemas.microsoft.com/office/drawing/2014/main" id="{E0C87583-1DA6-2058-01C8-ADED97528803}"/>
              </a:ext>
            </a:extLst>
          </p:cNvPr>
          <p:cNvSpPr/>
          <p:nvPr/>
        </p:nvSpPr>
        <p:spPr>
          <a:xfrm>
            <a:off x="670560" y="5510784"/>
            <a:ext cx="4632960" cy="0"/>
          </a:xfrm>
          <a:prstGeom prst="line">
            <a:avLst/>
          </a:prstGeom>
          <a:noFill/>
          <a:ln w="12700">
            <a:solidFill>
              <a:srgbClr val="1A1E3A"/>
            </a:solidFill>
            <a:prstDash val="solid"/>
          </a:ln>
        </p:spPr>
        <p:txBody>
          <a:bodyPr/>
          <a:lstStyle/>
          <a:p>
            <a:endParaRPr lang="en-US" sz="2400"/>
          </a:p>
        </p:txBody>
      </p:sp>
      <p:sp>
        <p:nvSpPr>
          <p:cNvPr id="24" name="Text 22">
            <a:extLst>
              <a:ext uri="{FF2B5EF4-FFF2-40B4-BE49-F238E27FC236}">
                <a16:creationId xmlns:a16="http://schemas.microsoft.com/office/drawing/2014/main" id="{44BBB30F-8758-F2F6-1617-02871B4D243E}"/>
              </a:ext>
            </a:extLst>
          </p:cNvPr>
          <p:cNvSpPr/>
          <p:nvPr/>
        </p:nvSpPr>
        <p:spPr>
          <a:xfrm>
            <a:off x="670560" y="5608320"/>
            <a:ext cx="1828800" cy="341376"/>
          </a:xfrm>
          <a:prstGeom prst="rect">
            <a:avLst/>
          </a:prstGeom>
          <a:noFill/>
          <a:ln/>
        </p:spPr>
        <p:txBody>
          <a:bodyPr wrap="square" lIns="0" tIns="0" rIns="0" bIns="0" rtlCol="0" anchor="ctr"/>
          <a:lstStyle/>
          <a:p>
            <a:r>
              <a:rPr lang="en-US" sz="1200" b="1">
                <a:solidFill>
                  <a:srgbClr val="1A1E3A"/>
                </a:solidFill>
                <a:latin typeface="Calibri" pitchFamily="34" charset="0"/>
                <a:ea typeface="Calibri" pitchFamily="34" charset="-122"/>
                <a:cs typeface="Calibri" pitchFamily="34" charset="-120"/>
              </a:rPr>
              <a:t>TOTAL</a:t>
            </a:r>
            <a:endParaRPr lang="en-US" sz="1200"/>
          </a:p>
        </p:txBody>
      </p:sp>
      <p:sp>
        <p:nvSpPr>
          <p:cNvPr id="25" name="Text 23">
            <a:extLst>
              <a:ext uri="{FF2B5EF4-FFF2-40B4-BE49-F238E27FC236}">
                <a16:creationId xmlns:a16="http://schemas.microsoft.com/office/drawing/2014/main" id="{46BC465C-2102-350B-0AB3-055EFCB00432}"/>
              </a:ext>
            </a:extLst>
          </p:cNvPr>
          <p:cNvSpPr/>
          <p:nvPr/>
        </p:nvSpPr>
        <p:spPr>
          <a:xfrm>
            <a:off x="2560320" y="5583936"/>
            <a:ext cx="2682240" cy="365760"/>
          </a:xfrm>
          <a:prstGeom prst="rect">
            <a:avLst/>
          </a:prstGeom>
          <a:noFill/>
          <a:ln/>
        </p:spPr>
        <p:txBody>
          <a:bodyPr wrap="square" lIns="0" tIns="0" rIns="0" bIns="0" rtlCol="0" anchor="ctr"/>
          <a:lstStyle/>
          <a:p>
            <a:pPr algn="r"/>
            <a:r>
              <a:rPr lang="en-US" sz="1733">
                <a:solidFill>
                  <a:srgbClr val="1A1E3A"/>
                </a:solidFill>
                <a:latin typeface="Georgia" pitchFamily="34" charset="0"/>
                <a:ea typeface="Georgia" pitchFamily="34" charset="-122"/>
                <a:cs typeface="Georgia" pitchFamily="34" charset="-120"/>
              </a:rPr>
              <a:t>$950,000</a:t>
            </a:r>
            <a:endParaRPr lang="en-US" sz="1733"/>
          </a:p>
        </p:txBody>
      </p:sp>
      <p:sp>
        <p:nvSpPr>
          <p:cNvPr id="26" name="Text 24">
            <a:extLst>
              <a:ext uri="{FF2B5EF4-FFF2-40B4-BE49-F238E27FC236}">
                <a16:creationId xmlns:a16="http://schemas.microsoft.com/office/drawing/2014/main" id="{5B1DEE04-FF18-1808-3703-7140B329AF7B}"/>
              </a:ext>
            </a:extLst>
          </p:cNvPr>
          <p:cNvSpPr/>
          <p:nvPr/>
        </p:nvSpPr>
        <p:spPr>
          <a:xfrm>
            <a:off x="5974080" y="1975104"/>
            <a:ext cx="5669280" cy="268224"/>
          </a:xfrm>
          <a:prstGeom prst="rect">
            <a:avLst/>
          </a:prstGeom>
          <a:noFill/>
          <a:ln/>
        </p:spPr>
        <p:txBody>
          <a:bodyPr wrap="square" lIns="0" tIns="0" rIns="0" bIns="0" rtlCol="0" anchor="ctr"/>
          <a:lstStyle/>
          <a:p>
            <a:r>
              <a:rPr lang="en-US" sz="1333" kern="0" spc="267">
                <a:solidFill>
                  <a:srgbClr val="C9A84C"/>
                </a:solidFill>
                <a:latin typeface="Calibri"/>
                <a:ea typeface="Calibri"/>
                <a:cs typeface="Calibri"/>
              </a:rPr>
              <a:t>PROPOSED OWNERSHIP BREAKDOWN</a:t>
            </a:r>
            <a:endParaRPr lang="en-US" sz="1333">
              <a:latin typeface="Calibri"/>
              <a:ea typeface="Calibri"/>
              <a:cs typeface="Calibri"/>
            </a:endParaRPr>
          </a:p>
        </p:txBody>
      </p:sp>
      <p:sp>
        <p:nvSpPr>
          <p:cNvPr id="27" name="Shape 25">
            <a:extLst>
              <a:ext uri="{FF2B5EF4-FFF2-40B4-BE49-F238E27FC236}">
                <a16:creationId xmlns:a16="http://schemas.microsoft.com/office/drawing/2014/main" id="{D4215FBD-4332-C710-A88C-DCFDE4A7568F}"/>
              </a:ext>
            </a:extLst>
          </p:cNvPr>
          <p:cNvSpPr/>
          <p:nvPr/>
        </p:nvSpPr>
        <p:spPr>
          <a:xfrm>
            <a:off x="5974080" y="2316480"/>
            <a:ext cx="5669280" cy="0"/>
          </a:xfrm>
          <a:prstGeom prst="line">
            <a:avLst/>
          </a:prstGeom>
          <a:noFill/>
          <a:ln w="19050">
            <a:solidFill>
              <a:srgbClr val="1A1E3A"/>
            </a:solidFill>
            <a:prstDash val="solid"/>
          </a:ln>
        </p:spPr>
        <p:txBody>
          <a:bodyPr/>
          <a:lstStyle/>
          <a:p>
            <a:endParaRPr lang="en-US" sz="2400"/>
          </a:p>
        </p:txBody>
      </p:sp>
      <p:sp>
        <p:nvSpPr>
          <p:cNvPr id="28" name="Text 26">
            <a:extLst>
              <a:ext uri="{FF2B5EF4-FFF2-40B4-BE49-F238E27FC236}">
                <a16:creationId xmlns:a16="http://schemas.microsoft.com/office/drawing/2014/main" id="{73C4E659-34C1-6A09-F0C2-325AF108BE64}"/>
              </a:ext>
            </a:extLst>
          </p:cNvPr>
          <p:cNvSpPr/>
          <p:nvPr/>
        </p:nvSpPr>
        <p:spPr>
          <a:xfrm>
            <a:off x="6035040" y="2414016"/>
            <a:ext cx="1219200" cy="438912"/>
          </a:xfrm>
          <a:prstGeom prst="rect">
            <a:avLst/>
          </a:prstGeom>
          <a:noFill/>
          <a:ln/>
        </p:spPr>
        <p:txBody>
          <a:bodyPr wrap="square" lIns="0" tIns="0" rIns="0" bIns="0" rtlCol="0" anchor="ctr"/>
          <a:lstStyle/>
          <a:p>
            <a:r>
              <a:rPr lang="en-US" sz="1200" b="1" kern="0" spc="200">
                <a:solidFill>
                  <a:srgbClr val="C9A84C"/>
                </a:solidFill>
                <a:latin typeface="Calibri"/>
                <a:ea typeface="Calibri"/>
                <a:cs typeface="Calibri"/>
              </a:rPr>
              <a:t>STRATEGY</a:t>
            </a:r>
            <a:endParaRPr lang="en-US" sz="1200">
              <a:latin typeface="Calibri"/>
              <a:ea typeface="Calibri"/>
              <a:cs typeface="Calibri"/>
            </a:endParaRPr>
          </a:p>
        </p:txBody>
      </p:sp>
      <p:sp>
        <p:nvSpPr>
          <p:cNvPr id="29" name="Text 27">
            <a:extLst>
              <a:ext uri="{FF2B5EF4-FFF2-40B4-BE49-F238E27FC236}">
                <a16:creationId xmlns:a16="http://schemas.microsoft.com/office/drawing/2014/main" id="{16CFD33C-201F-BAB9-C101-998467DBDD1A}"/>
              </a:ext>
            </a:extLst>
          </p:cNvPr>
          <p:cNvSpPr/>
          <p:nvPr/>
        </p:nvSpPr>
        <p:spPr>
          <a:xfrm>
            <a:off x="7376160" y="2414016"/>
            <a:ext cx="2194560" cy="438912"/>
          </a:xfrm>
          <a:prstGeom prst="rect">
            <a:avLst/>
          </a:prstGeom>
          <a:noFill/>
          <a:ln/>
        </p:spPr>
        <p:txBody>
          <a:bodyPr wrap="square" lIns="0" tIns="0" rIns="0" bIns="0" rtlCol="0" anchor="ctr"/>
          <a:lstStyle/>
          <a:p>
            <a:r>
              <a:rPr lang="en-US" sz="1200" b="1" kern="0" spc="200">
                <a:solidFill>
                  <a:srgbClr val="C9A84C"/>
                </a:solidFill>
                <a:latin typeface="Calibri"/>
                <a:ea typeface="Calibri"/>
                <a:cs typeface="Calibri"/>
              </a:rPr>
              <a:t>MANAGER</a:t>
            </a:r>
            <a:endParaRPr lang="en-US" sz="933">
              <a:latin typeface="Calibri"/>
              <a:ea typeface="Calibri"/>
              <a:cs typeface="Calibri"/>
            </a:endParaRPr>
          </a:p>
        </p:txBody>
      </p:sp>
      <p:sp>
        <p:nvSpPr>
          <p:cNvPr id="30" name="Text 28">
            <a:extLst>
              <a:ext uri="{FF2B5EF4-FFF2-40B4-BE49-F238E27FC236}">
                <a16:creationId xmlns:a16="http://schemas.microsoft.com/office/drawing/2014/main" id="{1DE8AA2C-4CB4-450F-DF55-4B3D627371C4}"/>
              </a:ext>
            </a:extLst>
          </p:cNvPr>
          <p:cNvSpPr/>
          <p:nvPr/>
        </p:nvSpPr>
        <p:spPr>
          <a:xfrm>
            <a:off x="9692640" y="2414016"/>
            <a:ext cx="731520" cy="438912"/>
          </a:xfrm>
          <a:prstGeom prst="rect">
            <a:avLst/>
          </a:prstGeom>
          <a:noFill/>
          <a:ln/>
        </p:spPr>
        <p:txBody>
          <a:bodyPr wrap="square" lIns="0" tIns="0" rIns="0" bIns="0" rtlCol="0" anchor="ctr"/>
          <a:lstStyle/>
          <a:p>
            <a:pPr algn="r"/>
            <a:r>
              <a:rPr lang="en-US" sz="1200" b="1" kern="0" spc="200">
                <a:solidFill>
                  <a:srgbClr val="C9A84C"/>
                </a:solidFill>
                <a:latin typeface="Calibri"/>
                <a:ea typeface="Calibri"/>
                <a:cs typeface="Calibri"/>
              </a:rPr>
              <a:t>ALLOC</a:t>
            </a:r>
            <a:endParaRPr lang="en-US" sz="1067">
              <a:latin typeface="Calibri"/>
              <a:ea typeface="Calibri"/>
              <a:cs typeface="Calibri"/>
            </a:endParaRPr>
          </a:p>
        </p:txBody>
      </p:sp>
      <p:sp>
        <p:nvSpPr>
          <p:cNvPr id="31" name="Text 29">
            <a:extLst>
              <a:ext uri="{FF2B5EF4-FFF2-40B4-BE49-F238E27FC236}">
                <a16:creationId xmlns:a16="http://schemas.microsoft.com/office/drawing/2014/main" id="{D3B05355-67EB-F2F9-2C63-D0DA7589AE73}"/>
              </a:ext>
            </a:extLst>
          </p:cNvPr>
          <p:cNvSpPr/>
          <p:nvPr/>
        </p:nvSpPr>
        <p:spPr>
          <a:xfrm>
            <a:off x="10546080" y="2414016"/>
            <a:ext cx="1097280" cy="438912"/>
          </a:xfrm>
          <a:prstGeom prst="rect">
            <a:avLst/>
          </a:prstGeom>
          <a:noFill/>
          <a:ln/>
        </p:spPr>
        <p:txBody>
          <a:bodyPr wrap="square" lIns="0" tIns="0" rIns="0" bIns="0" rtlCol="0" anchor="ctr"/>
          <a:lstStyle/>
          <a:p>
            <a:pPr algn="r"/>
            <a:r>
              <a:rPr lang="en-US" sz="1200" b="1" kern="0" spc="200">
                <a:solidFill>
                  <a:srgbClr val="C9A84C"/>
                </a:solidFill>
                <a:latin typeface="Calibri"/>
                <a:ea typeface="Calibri"/>
                <a:cs typeface="Calibri"/>
              </a:rPr>
              <a:t>AMOUNT</a:t>
            </a:r>
            <a:endParaRPr lang="en-US" sz="933">
              <a:latin typeface="Calibri"/>
              <a:ea typeface="Calibri"/>
              <a:cs typeface="Calibri"/>
            </a:endParaRPr>
          </a:p>
        </p:txBody>
      </p:sp>
      <p:sp>
        <p:nvSpPr>
          <p:cNvPr id="32" name="Shape 30">
            <a:extLst>
              <a:ext uri="{FF2B5EF4-FFF2-40B4-BE49-F238E27FC236}">
                <a16:creationId xmlns:a16="http://schemas.microsoft.com/office/drawing/2014/main" id="{2774A6DC-550F-17F2-DD5A-44DFAD164B1E}"/>
              </a:ext>
            </a:extLst>
          </p:cNvPr>
          <p:cNvSpPr/>
          <p:nvPr/>
        </p:nvSpPr>
        <p:spPr>
          <a:xfrm>
            <a:off x="5974080" y="2999232"/>
            <a:ext cx="5669280" cy="560832"/>
          </a:xfrm>
          <a:prstGeom prst="rect">
            <a:avLst/>
          </a:prstGeom>
          <a:solidFill>
            <a:srgbClr val="FAFAF8"/>
          </a:solidFill>
          <a:ln w="12700">
            <a:solidFill>
              <a:srgbClr val="000000"/>
            </a:solidFill>
            <a:prstDash val="solid"/>
          </a:ln>
        </p:spPr>
        <p:txBody>
          <a:bodyPr/>
          <a:lstStyle/>
          <a:p>
            <a:endParaRPr lang="en-US" sz="2400"/>
          </a:p>
        </p:txBody>
      </p:sp>
      <p:sp>
        <p:nvSpPr>
          <p:cNvPr id="33" name="Text 31">
            <a:extLst>
              <a:ext uri="{FF2B5EF4-FFF2-40B4-BE49-F238E27FC236}">
                <a16:creationId xmlns:a16="http://schemas.microsoft.com/office/drawing/2014/main" id="{3D6F3B14-49D3-FA8C-7810-ACE65D4D9B62}"/>
              </a:ext>
            </a:extLst>
          </p:cNvPr>
          <p:cNvSpPr/>
          <p:nvPr/>
        </p:nvSpPr>
        <p:spPr>
          <a:xfrm>
            <a:off x="6035040" y="30236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Dividends</a:t>
            </a:r>
            <a:endParaRPr lang="en-US" sz="1333">
              <a:latin typeface="Calibri"/>
              <a:ea typeface="Calibri"/>
              <a:cs typeface="Calibri"/>
            </a:endParaRPr>
          </a:p>
        </p:txBody>
      </p:sp>
      <p:sp>
        <p:nvSpPr>
          <p:cNvPr id="34" name="Text 32">
            <a:extLst>
              <a:ext uri="{FF2B5EF4-FFF2-40B4-BE49-F238E27FC236}">
                <a16:creationId xmlns:a16="http://schemas.microsoft.com/office/drawing/2014/main" id="{BE05FE69-4F48-283D-99D6-53678334DDD9}"/>
              </a:ext>
            </a:extLst>
          </p:cNvPr>
          <p:cNvSpPr/>
          <p:nvPr/>
        </p:nvSpPr>
        <p:spPr>
          <a:xfrm>
            <a:off x="7376160" y="3023616"/>
            <a:ext cx="2194560" cy="438912"/>
          </a:xfrm>
          <a:prstGeom prst="rect">
            <a:avLst/>
          </a:prstGeom>
          <a:noFill/>
          <a:ln/>
        </p:spPr>
        <p:txBody>
          <a:bodyPr wrap="square" lIns="0" tIns="0" rIns="0" bIns="0" rtlCol="0" anchor="ctr"/>
          <a:lstStyle/>
          <a:p>
            <a:r>
              <a:rPr lang="en-US" sz="1333" err="1">
                <a:solidFill>
                  <a:srgbClr val="6A6A7A"/>
                </a:solidFill>
                <a:latin typeface="Calibri"/>
                <a:ea typeface="Calibri"/>
                <a:cs typeface="Calibri"/>
              </a:rPr>
              <a:t>Paradiem</a:t>
            </a:r>
            <a:r>
              <a:rPr lang="en-US" sz="1333">
                <a:solidFill>
                  <a:srgbClr val="6A6A7A"/>
                </a:solidFill>
                <a:latin typeface="Calibri"/>
                <a:ea typeface="Calibri"/>
                <a:cs typeface="Calibri"/>
              </a:rPr>
              <a:t> Dividend Strategy</a:t>
            </a:r>
            <a:endParaRPr lang="en-US" sz="1333">
              <a:latin typeface="Calibri"/>
              <a:ea typeface="Calibri"/>
              <a:cs typeface="Calibri"/>
            </a:endParaRPr>
          </a:p>
        </p:txBody>
      </p:sp>
      <p:sp>
        <p:nvSpPr>
          <p:cNvPr id="35" name="Text 33">
            <a:extLst>
              <a:ext uri="{FF2B5EF4-FFF2-40B4-BE49-F238E27FC236}">
                <a16:creationId xmlns:a16="http://schemas.microsoft.com/office/drawing/2014/main" id="{B6F0D953-1F63-E53F-CB73-97872B75DEDE}"/>
              </a:ext>
            </a:extLst>
          </p:cNvPr>
          <p:cNvSpPr/>
          <p:nvPr/>
        </p:nvSpPr>
        <p:spPr>
          <a:xfrm>
            <a:off x="9692640" y="30236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64.4%</a:t>
            </a:r>
            <a:endParaRPr lang="en-US" sz="1333">
              <a:latin typeface="Calibri"/>
              <a:ea typeface="Calibri"/>
              <a:cs typeface="Calibri"/>
            </a:endParaRPr>
          </a:p>
        </p:txBody>
      </p:sp>
      <p:sp>
        <p:nvSpPr>
          <p:cNvPr id="36" name="Text 34">
            <a:extLst>
              <a:ext uri="{FF2B5EF4-FFF2-40B4-BE49-F238E27FC236}">
                <a16:creationId xmlns:a16="http://schemas.microsoft.com/office/drawing/2014/main" id="{C41772F2-54B0-344B-6302-AC725C49B7D7}"/>
              </a:ext>
            </a:extLst>
          </p:cNvPr>
          <p:cNvSpPr/>
          <p:nvPr/>
        </p:nvSpPr>
        <p:spPr>
          <a:xfrm>
            <a:off x="10512949" y="30236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$611,800</a:t>
            </a:r>
            <a:endParaRPr lang="en-US" sz="1333">
              <a:latin typeface="Calibri"/>
              <a:ea typeface="Calibri"/>
              <a:cs typeface="Calibri"/>
            </a:endParaRPr>
          </a:p>
        </p:txBody>
      </p:sp>
      <p:sp>
        <p:nvSpPr>
          <p:cNvPr id="37" name="Shape 35">
            <a:extLst>
              <a:ext uri="{FF2B5EF4-FFF2-40B4-BE49-F238E27FC236}">
                <a16:creationId xmlns:a16="http://schemas.microsoft.com/office/drawing/2014/main" id="{6093501C-1A2C-ADD3-2C35-8C407B918312}"/>
              </a:ext>
            </a:extLst>
          </p:cNvPr>
          <p:cNvSpPr/>
          <p:nvPr/>
        </p:nvSpPr>
        <p:spPr>
          <a:xfrm>
            <a:off x="5974080" y="3584448"/>
            <a:ext cx="5669280" cy="0"/>
          </a:xfrm>
          <a:prstGeom prst="line">
            <a:avLst/>
          </a:prstGeom>
          <a:noFill/>
          <a:ln w="3810">
            <a:solidFill>
              <a:srgbClr val="E8E7E2"/>
            </a:solidFill>
            <a:prstDash val="solid"/>
          </a:ln>
        </p:spPr>
        <p:txBody>
          <a:bodyPr/>
          <a:lstStyle/>
          <a:p>
            <a:endParaRPr lang="en-US" sz="2400"/>
          </a:p>
        </p:txBody>
      </p:sp>
      <p:sp>
        <p:nvSpPr>
          <p:cNvPr id="38" name="Shape 36">
            <a:extLst>
              <a:ext uri="{FF2B5EF4-FFF2-40B4-BE49-F238E27FC236}">
                <a16:creationId xmlns:a16="http://schemas.microsoft.com/office/drawing/2014/main" id="{C6FAB98F-DD8F-89BA-7CFB-9B691C9AEB6D}"/>
              </a:ext>
            </a:extLst>
          </p:cNvPr>
          <p:cNvSpPr/>
          <p:nvPr/>
        </p:nvSpPr>
        <p:spPr>
          <a:xfrm>
            <a:off x="5974080" y="3608832"/>
            <a:ext cx="5669280" cy="560832"/>
          </a:xfrm>
          <a:prstGeom prst="rect">
            <a:avLst/>
          </a:prstGeom>
          <a:solidFill>
            <a:srgbClr val="F2F0EB"/>
          </a:solidFill>
          <a:ln w="12700">
            <a:solidFill>
              <a:srgbClr val="000000"/>
            </a:solidFill>
            <a:prstDash val="solid"/>
          </a:ln>
        </p:spPr>
        <p:txBody>
          <a:bodyPr/>
          <a:lstStyle/>
          <a:p>
            <a:endParaRPr lang="en-US" sz="2400"/>
          </a:p>
        </p:txBody>
      </p:sp>
      <p:sp>
        <p:nvSpPr>
          <p:cNvPr id="39" name="Text 37">
            <a:extLst>
              <a:ext uri="{FF2B5EF4-FFF2-40B4-BE49-F238E27FC236}">
                <a16:creationId xmlns:a16="http://schemas.microsoft.com/office/drawing/2014/main" id="{1D3E61BA-C872-FE26-041A-F69415CF1FE2}"/>
              </a:ext>
            </a:extLst>
          </p:cNvPr>
          <p:cNvSpPr/>
          <p:nvPr/>
        </p:nvSpPr>
        <p:spPr>
          <a:xfrm>
            <a:off x="6035040" y="36332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Growth</a:t>
            </a:r>
            <a:endParaRPr lang="en-US" sz="1267">
              <a:latin typeface="Calibri"/>
              <a:ea typeface="Calibri"/>
              <a:cs typeface="Calibri"/>
            </a:endParaRPr>
          </a:p>
        </p:txBody>
      </p:sp>
      <p:sp>
        <p:nvSpPr>
          <p:cNvPr id="40" name="Text 38">
            <a:extLst>
              <a:ext uri="{FF2B5EF4-FFF2-40B4-BE49-F238E27FC236}">
                <a16:creationId xmlns:a16="http://schemas.microsoft.com/office/drawing/2014/main" id="{002B258A-ADCB-7F55-426D-48783993E7B7}"/>
              </a:ext>
            </a:extLst>
          </p:cNvPr>
          <p:cNvSpPr/>
          <p:nvPr/>
        </p:nvSpPr>
        <p:spPr>
          <a:xfrm>
            <a:off x="7376160" y="3633216"/>
            <a:ext cx="2194560" cy="438912"/>
          </a:xfrm>
          <a:prstGeom prst="rect">
            <a:avLst/>
          </a:prstGeom>
          <a:noFill/>
          <a:ln/>
        </p:spPr>
        <p:txBody>
          <a:bodyPr wrap="square" lIns="0" tIns="0" rIns="0" bIns="0" rtlCol="0" anchor="ctr"/>
          <a:lstStyle/>
          <a:p>
            <a:r>
              <a:rPr lang="en-US" sz="1333" err="1">
                <a:solidFill>
                  <a:srgbClr val="6A6A7A"/>
                </a:solidFill>
                <a:latin typeface="Calibri"/>
                <a:ea typeface="Calibri"/>
                <a:cs typeface="Calibri"/>
              </a:rPr>
              <a:t>Paradiem</a:t>
            </a:r>
            <a:r>
              <a:rPr lang="en-US" sz="1333">
                <a:solidFill>
                  <a:srgbClr val="6A6A7A"/>
                </a:solidFill>
                <a:latin typeface="Calibri"/>
                <a:ea typeface="Calibri"/>
                <a:cs typeface="Calibri"/>
              </a:rPr>
              <a:t> Growth Strategy</a:t>
            </a:r>
            <a:endParaRPr lang="en-US" sz="1333">
              <a:latin typeface="Calibri"/>
              <a:ea typeface="Calibri"/>
              <a:cs typeface="Calibri"/>
            </a:endParaRPr>
          </a:p>
        </p:txBody>
      </p:sp>
      <p:sp>
        <p:nvSpPr>
          <p:cNvPr id="41" name="Text 39">
            <a:extLst>
              <a:ext uri="{FF2B5EF4-FFF2-40B4-BE49-F238E27FC236}">
                <a16:creationId xmlns:a16="http://schemas.microsoft.com/office/drawing/2014/main" id="{49D0F6C9-C690-EFE0-5091-0899A3BE4C91}"/>
              </a:ext>
            </a:extLst>
          </p:cNvPr>
          <p:cNvSpPr/>
          <p:nvPr/>
        </p:nvSpPr>
        <p:spPr>
          <a:xfrm>
            <a:off x="9692640" y="36332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27.6%</a:t>
            </a:r>
            <a:endParaRPr lang="en-US" sz="1333">
              <a:latin typeface="Calibri"/>
              <a:ea typeface="Calibri"/>
              <a:cs typeface="Calibri"/>
            </a:endParaRPr>
          </a:p>
        </p:txBody>
      </p:sp>
      <p:sp>
        <p:nvSpPr>
          <p:cNvPr id="42" name="Text 40">
            <a:extLst>
              <a:ext uri="{FF2B5EF4-FFF2-40B4-BE49-F238E27FC236}">
                <a16:creationId xmlns:a16="http://schemas.microsoft.com/office/drawing/2014/main" id="{74A43ABB-419F-2CCE-E8B2-A52BF1F40137}"/>
              </a:ext>
            </a:extLst>
          </p:cNvPr>
          <p:cNvSpPr/>
          <p:nvPr/>
        </p:nvSpPr>
        <p:spPr>
          <a:xfrm>
            <a:off x="10512949" y="36332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$262,200</a:t>
            </a:r>
            <a:endParaRPr lang="en-US" sz="1333">
              <a:latin typeface="Calibri"/>
              <a:ea typeface="Calibri"/>
              <a:cs typeface="Calibri"/>
            </a:endParaRPr>
          </a:p>
        </p:txBody>
      </p:sp>
      <p:sp>
        <p:nvSpPr>
          <p:cNvPr id="43" name="Shape 41">
            <a:extLst>
              <a:ext uri="{FF2B5EF4-FFF2-40B4-BE49-F238E27FC236}">
                <a16:creationId xmlns:a16="http://schemas.microsoft.com/office/drawing/2014/main" id="{7BA387F5-A4DF-DB56-305D-92583BFDEBCE}"/>
              </a:ext>
            </a:extLst>
          </p:cNvPr>
          <p:cNvSpPr/>
          <p:nvPr/>
        </p:nvSpPr>
        <p:spPr>
          <a:xfrm>
            <a:off x="5974080" y="4194048"/>
            <a:ext cx="5669280" cy="0"/>
          </a:xfrm>
          <a:prstGeom prst="line">
            <a:avLst/>
          </a:prstGeom>
          <a:noFill/>
          <a:ln w="3810">
            <a:solidFill>
              <a:srgbClr val="E8E7E2"/>
            </a:solidFill>
            <a:prstDash val="solid"/>
          </a:ln>
        </p:spPr>
        <p:txBody>
          <a:bodyPr/>
          <a:lstStyle/>
          <a:p>
            <a:endParaRPr lang="en-US" sz="2400"/>
          </a:p>
        </p:txBody>
      </p:sp>
      <p:sp>
        <p:nvSpPr>
          <p:cNvPr id="44" name="Shape 42">
            <a:extLst>
              <a:ext uri="{FF2B5EF4-FFF2-40B4-BE49-F238E27FC236}">
                <a16:creationId xmlns:a16="http://schemas.microsoft.com/office/drawing/2014/main" id="{F2EA24DF-00DC-7ADE-C065-0E7164AC269E}"/>
              </a:ext>
            </a:extLst>
          </p:cNvPr>
          <p:cNvSpPr/>
          <p:nvPr/>
        </p:nvSpPr>
        <p:spPr>
          <a:xfrm>
            <a:off x="5974080" y="4218432"/>
            <a:ext cx="5669280" cy="560832"/>
          </a:xfrm>
          <a:prstGeom prst="rect">
            <a:avLst/>
          </a:prstGeom>
          <a:solidFill>
            <a:srgbClr val="FAFAF8"/>
          </a:solidFill>
          <a:ln w="12700">
            <a:solidFill>
              <a:srgbClr val="000000"/>
            </a:solidFill>
            <a:prstDash val="solid"/>
          </a:ln>
        </p:spPr>
        <p:txBody>
          <a:bodyPr/>
          <a:lstStyle/>
          <a:p>
            <a:endParaRPr lang="en-US" sz="2400"/>
          </a:p>
        </p:txBody>
      </p:sp>
      <p:sp>
        <p:nvSpPr>
          <p:cNvPr id="45" name="Text 43">
            <a:extLst>
              <a:ext uri="{FF2B5EF4-FFF2-40B4-BE49-F238E27FC236}">
                <a16:creationId xmlns:a16="http://schemas.microsoft.com/office/drawing/2014/main" id="{741D33AD-CA42-9031-E31A-7FDB5980139B}"/>
              </a:ext>
            </a:extLst>
          </p:cNvPr>
          <p:cNvSpPr/>
          <p:nvPr/>
        </p:nvSpPr>
        <p:spPr>
          <a:xfrm>
            <a:off x="6035040" y="4242816"/>
            <a:ext cx="1219200" cy="438912"/>
          </a:xfrm>
          <a:prstGeom prst="rect">
            <a:avLst/>
          </a:prstGeom>
          <a:noFill/>
          <a:ln/>
        </p:spPr>
        <p:txBody>
          <a:bodyPr wrap="square" lIns="0" tIns="0" rIns="0" bIns="0" rtlCol="0" anchor="ctr"/>
          <a:lstStyle/>
          <a:p>
            <a:r>
              <a:rPr lang="en-US" sz="1333">
                <a:solidFill>
                  <a:srgbClr val="1A1E3A"/>
                </a:solidFill>
                <a:latin typeface="Calibri"/>
                <a:ea typeface="Calibri"/>
                <a:cs typeface="Calibri"/>
              </a:rPr>
              <a:t>Cash</a:t>
            </a:r>
            <a:endParaRPr lang="en-US" sz="1333">
              <a:latin typeface="Calibri"/>
              <a:ea typeface="Calibri"/>
              <a:cs typeface="Calibri"/>
            </a:endParaRPr>
          </a:p>
        </p:txBody>
      </p:sp>
      <p:sp>
        <p:nvSpPr>
          <p:cNvPr id="46" name="Text 44">
            <a:extLst>
              <a:ext uri="{FF2B5EF4-FFF2-40B4-BE49-F238E27FC236}">
                <a16:creationId xmlns:a16="http://schemas.microsoft.com/office/drawing/2014/main" id="{ADBA1CD6-23FD-7014-F2EB-BB6BEC05BBB5}"/>
              </a:ext>
            </a:extLst>
          </p:cNvPr>
          <p:cNvSpPr/>
          <p:nvPr/>
        </p:nvSpPr>
        <p:spPr>
          <a:xfrm>
            <a:off x="7376160" y="4242816"/>
            <a:ext cx="2194560" cy="438912"/>
          </a:xfrm>
          <a:prstGeom prst="rect">
            <a:avLst/>
          </a:prstGeom>
          <a:noFill/>
          <a:ln/>
        </p:spPr>
        <p:txBody>
          <a:bodyPr wrap="square" lIns="0" tIns="0" rIns="0" bIns="0" rtlCol="0" anchor="ctr"/>
          <a:lstStyle/>
          <a:p>
            <a:r>
              <a:rPr lang="en-US" sz="1333">
                <a:solidFill>
                  <a:srgbClr val="6A6A7A"/>
                </a:solidFill>
                <a:latin typeface="Calibri"/>
                <a:ea typeface="Calibri"/>
                <a:cs typeface="Calibri"/>
              </a:rPr>
              <a:t>Cash</a:t>
            </a:r>
            <a:endParaRPr lang="en-US" sz="1333">
              <a:latin typeface="Calibri"/>
              <a:ea typeface="Calibri"/>
              <a:cs typeface="Calibri"/>
            </a:endParaRPr>
          </a:p>
        </p:txBody>
      </p:sp>
      <p:sp>
        <p:nvSpPr>
          <p:cNvPr id="47" name="Text 45">
            <a:extLst>
              <a:ext uri="{FF2B5EF4-FFF2-40B4-BE49-F238E27FC236}">
                <a16:creationId xmlns:a16="http://schemas.microsoft.com/office/drawing/2014/main" id="{DDE8C0A7-F458-665F-5554-F8C42C4B98CD}"/>
              </a:ext>
            </a:extLst>
          </p:cNvPr>
          <p:cNvSpPr/>
          <p:nvPr/>
        </p:nvSpPr>
        <p:spPr>
          <a:xfrm>
            <a:off x="9692640" y="4242816"/>
            <a:ext cx="73152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8.0%</a:t>
            </a:r>
            <a:endParaRPr lang="en-US" sz="1333">
              <a:latin typeface="Calibri"/>
              <a:ea typeface="Calibri"/>
              <a:cs typeface="Calibri"/>
            </a:endParaRPr>
          </a:p>
        </p:txBody>
      </p:sp>
      <p:sp>
        <p:nvSpPr>
          <p:cNvPr id="48" name="Text 46">
            <a:extLst>
              <a:ext uri="{FF2B5EF4-FFF2-40B4-BE49-F238E27FC236}">
                <a16:creationId xmlns:a16="http://schemas.microsoft.com/office/drawing/2014/main" id="{16675324-0A10-9A58-B38D-9E132684F67C}"/>
              </a:ext>
            </a:extLst>
          </p:cNvPr>
          <p:cNvSpPr/>
          <p:nvPr/>
        </p:nvSpPr>
        <p:spPr>
          <a:xfrm>
            <a:off x="10512949" y="4242816"/>
            <a:ext cx="1097280" cy="438912"/>
          </a:xfrm>
          <a:prstGeom prst="rect">
            <a:avLst/>
          </a:prstGeom>
          <a:noFill/>
          <a:ln/>
        </p:spPr>
        <p:txBody>
          <a:bodyPr wrap="square" lIns="0" tIns="0" rIns="0" bIns="0" rtlCol="0" anchor="ctr"/>
          <a:lstStyle/>
          <a:p>
            <a:pPr algn="r"/>
            <a:r>
              <a:rPr lang="en-US" sz="1333">
                <a:solidFill>
                  <a:srgbClr val="6A6A7A"/>
                </a:solidFill>
                <a:latin typeface="Calibri"/>
                <a:ea typeface="Calibri"/>
                <a:cs typeface="Calibri"/>
              </a:rPr>
              <a:t>$76,000</a:t>
            </a:r>
            <a:endParaRPr lang="en-US" sz="1333">
              <a:latin typeface="Calibri"/>
              <a:ea typeface="Calibri"/>
              <a:cs typeface="Calibri"/>
            </a:endParaRPr>
          </a:p>
        </p:txBody>
      </p:sp>
      <p:sp>
        <p:nvSpPr>
          <p:cNvPr id="49" name="Shape 47">
            <a:extLst>
              <a:ext uri="{FF2B5EF4-FFF2-40B4-BE49-F238E27FC236}">
                <a16:creationId xmlns:a16="http://schemas.microsoft.com/office/drawing/2014/main" id="{E9812D55-E2B9-AD2A-4105-45D1496B9CCE}"/>
              </a:ext>
            </a:extLst>
          </p:cNvPr>
          <p:cNvSpPr/>
          <p:nvPr/>
        </p:nvSpPr>
        <p:spPr>
          <a:xfrm>
            <a:off x="5974080" y="4803648"/>
            <a:ext cx="5669280" cy="0"/>
          </a:xfrm>
          <a:prstGeom prst="line">
            <a:avLst/>
          </a:prstGeom>
          <a:noFill/>
          <a:ln w="3810">
            <a:solidFill>
              <a:srgbClr val="E8E7E2"/>
            </a:solidFill>
            <a:prstDash val="solid"/>
          </a:ln>
        </p:spPr>
        <p:txBody>
          <a:bodyPr/>
          <a:lstStyle/>
          <a:p>
            <a:endParaRPr lang="en-US" sz="2400"/>
          </a:p>
        </p:txBody>
      </p:sp>
      <p:sp>
        <p:nvSpPr>
          <p:cNvPr id="50" name="Text 48">
            <a:extLst>
              <a:ext uri="{FF2B5EF4-FFF2-40B4-BE49-F238E27FC236}">
                <a16:creationId xmlns:a16="http://schemas.microsoft.com/office/drawing/2014/main" id="{71FB068B-504E-7667-B632-017BEE408A24}"/>
              </a:ext>
            </a:extLst>
          </p:cNvPr>
          <p:cNvSpPr/>
          <p:nvPr/>
        </p:nvSpPr>
        <p:spPr>
          <a:xfrm>
            <a:off x="6035040" y="4852416"/>
            <a:ext cx="1219200" cy="438912"/>
          </a:xfrm>
          <a:prstGeom prst="rect">
            <a:avLst/>
          </a:prstGeom>
          <a:noFill/>
          <a:ln/>
        </p:spPr>
        <p:txBody>
          <a:bodyPr wrap="square" lIns="0" tIns="0" rIns="0" bIns="0" rtlCol="0" anchor="ctr"/>
          <a:lstStyle/>
          <a:p>
            <a:r>
              <a:rPr lang="en-US" sz="1467" b="1">
                <a:solidFill>
                  <a:srgbClr val="1A1E3A"/>
                </a:solidFill>
                <a:latin typeface="Georgia" pitchFamily="34" charset="0"/>
                <a:ea typeface="Georgia" pitchFamily="34" charset="-122"/>
                <a:cs typeface="Georgia" pitchFamily="34" charset="-120"/>
              </a:rPr>
              <a:t>TOTAL</a:t>
            </a:r>
            <a:endParaRPr lang="en-US" sz="1467"/>
          </a:p>
        </p:txBody>
      </p:sp>
      <p:sp>
        <p:nvSpPr>
          <p:cNvPr id="51" name="Text 49">
            <a:extLst>
              <a:ext uri="{FF2B5EF4-FFF2-40B4-BE49-F238E27FC236}">
                <a16:creationId xmlns:a16="http://schemas.microsoft.com/office/drawing/2014/main" id="{5EB1A4EB-BF4A-31BD-066A-0E3E116F46CD}"/>
              </a:ext>
            </a:extLst>
          </p:cNvPr>
          <p:cNvSpPr/>
          <p:nvPr/>
        </p:nvSpPr>
        <p:spPr>
          <a:xfrm>
            <a:off x="7376160" y="4852416"/>
            <a:ext cx="2194560" cy="438912"/>
          </a:xfrm>
          <a:prstGeom prst="rect">
            <a:avLst/>
          </a:prstGeom>
          <a:noFill/>
          <a:ln/>
        </p:spPr>
        <p:txBody>
          <a:bodyPr wrap="square" lIns="0" tIns="0" rIns="0" bIns="0" rtlCol="0" anchor="ctr"/>
          <a:lstStyle/>
          <a:p>
            <a:endParaRPr lang="en-US" sz="1467"/>
          </a:p>
        </p:txBody>
      </p:sp>
      <p:sp>
        <p:nvSpPr>
          <p:cNvPr id="52" name="Text 50">
            <a:extLst>
              <a:ext uri="{FF2B5EF4-FFF2-40B4-BE49-F238E27FC236}">
                <a16:creationId xmlns:a16="http://schemas.microsoft.com/office/drawing/2014/main" id="{CA36D99F-943E-7446-19AA-437D51B5D885}"/>
              </a:ext>
            </a:extLst>
          </p:cNvPr>
          <p:cNvSpPr/>
          <p:nvPr/>
        </p:nvSpPr>
        <p:spPr>
          <a:xfrm>
            <a:off x="9692640" y="4852416"/>
            <a:ext cx="731520" cy="438912"/>
          </a:xfrm>
          <a:prstGeom prst="rect">
            <a:avLst/>
          </a:prstGeom>
          <a:noFill/>
          <a:ln/>
        </p:spPr>
        <p:txBody>
          <a:bodyPr wrap="square" lIns="0" tIns="0" rIns="0" bIns="0" rtlCol="0" anchor="ctr"/>
          <a:lstStyle/>
          <a:p>
            <a:pPr algn="r"/>
            <a:r>
              <a:rPr lang="en-US" sz="1467" b="1">
                <a:solidFill>
                  <a:srgbClr val="1A1E3A"/>
                </a:solidFill>
                <a:latin typeface="Georgia" pitchFamily="34" charset="0"/>
                <a:ea typeface="Georgia" pitchFamily="34" charset="-122"/>
                <a:cs typeface="Georgia" pitchFamily="34" charset="-120"/>
              </a:rPr>
              <a:t>100%</a:t>
            </a:r>
            <a:endParaRPr lang="en-US" sz="1467"/>
          </a:p>
        </p:txBody>
      </p:sp>
      <p:sp>
        <p:nvSpPr>
          <p:cNvPr id="53" name="Text 51">
            <a:extLst>
              <a:ext uri="{FF2B5EF4-FFF2-40B4-BE49-F238E27FC236}">
                <a16:creationId xmlns:a16="http://schemas.microsoft.com/office/drawing/2014/main" id="{FF20AB15-8A38-FF23-4C1E-4C8A093DEB1C}"/>
              </a:ext>
            </a:extLst>
          </p:cNvPr>
          <p:cNvSpPr/>
          <p:nvPr/>
        </p:nvSpPr>
        <p:spPr>
          <a:xfrm>
            <a:off x="10546080" y="4852416"/>
            <a:ext cx="1097280" cy="438912"/>
          </a:xfrm>
          <a:prstGeom prst="rect">
            <a:avLst/>
          </a:prstGeom>
          <a:noFill/>
          <a:ln/>
        </p:spPr>
        <p:txBody>
          <a:bodyPr wrap="square" lIns="0" tIns="0" rIns="0" bIns="0" rtlCol="0" anchor="ctr"/>
          <a:lstStyle/>
          <a:p>
            <a:pPr algn="r"/>
            <a:r>
              <a:rPr lang="en-US" sz="1467" b="1">
                <a:solidFill>
                  <a:srgbClr val="1A1E3A"/>
                </a:solidFill>
                <a:latin typeface="Georgia" pitchFamily="34" charset="0"/>
                <a:ea typeface="Georgia" pitchFamily="34" charset="-122"/>
                <a:cs typeface="Georgia" pitchFamily="34" charset="-120"/>
              </a:rPr>
              <a:t>$950,000</a:t>
            </a:r>
            <a:endParaRPr lang="en-US" sz="1467"/>
          </a:p>
        </p:txBody>
      </p:sp>
      <p:sp>
        <p:nvSpPr>
          <p:cNvPr id="54" name="Shape 52">
            <a:extLst>
              <a:ext uri="{FF2B5EF4-FFF2-40B4-BE49-F238E27FC236}">
                <a16:creationId xmlns:a16="http://schemas.microsoft.com/office/drawing/2014/main" id="{D0DB6109-D8E8-35E7-C554-07AB7B0A06CE}"/>
              </a:ext>
            </a:extLst>
          </p:cNvPr>
          <p:cNvSpPr/>
          <p:nvPr/>
        </p:nvSpPr>
        <p:spPr>
          <a:xfrm>
            <a:off x="5974080" y="4803648"/>
            <a:ext cx="5669280" cy="0"/>
          </a:xfrm>
          <a:prstGeom prst="line">
            <a:avLst/>
          </a:prstGeom>
          <a:noFill/>
          <a:ln w="10160">
            <a:solidFill>
              <a:srgbClr val="1A1E3A"/>
            </a:solidFill>
            <a:prstDash val="solid"/>
          </a:ln>
        </p:spPr>
        <p:txBody>
          <a:bodyPr/>
          <a:lstStyle/>
          <a:p>
            <a:endParaRPr lang="en-US" sz="2400"/>
          </a:p>
        </p:txBody>
      </p:sp>
      <p:pic>
        <p:nvPicPr>
          <p:cNvPr id="59" name="Image 0" descr="preencoded.png">
            <a:extLst>
              <a:ext uri="{FF2B5EF4-FFF2-40B4-BE49-F238E27FC236}">
                <a16:creationId xmlns:a16="http://schemas.microsoft.com/office/drawing/2014/main" id="{6500C284-0233-6C7A-F560-CF07DB750398}"/>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60" name="Shape 0">
            <a:extLst>
              <a:ext uri="{FF2B5EF4-FFF2-40B4-BE49-F238E27FC236}">
                <a16:creationId xmlns:a16="http://schemas.microsoft.com/office/drawing/2014/main" id="{F3DD77F8-AF8A-6A8F-F3A3-B06DC749656B}"/>
              </a:ext>
            </a:extLst>
          </p:cNvPr>
          <p:cNvSpPr/>
          <p:nvPr/>
        </p:nvSpPr>
        <p:spPr>
          <a:xfrm>
            <a:off x="0" y="6547104"/>
            <a:ext cx="12191695" cy="310896"/>
          </a:xfrm>
          <a:prstGeom prst="rect">
            <a:avLst/>
          </a:prstGeom>
          <a:solidFill>
            <a:srgbClr val="F1EEE6"/>
          </a:solidFill>
          <a:ln/>
        </p:spPr>
        <p:txBody>
          <a:bodyPr/>
          <a:lstStyle/>
          <a:p>
            <a:endParaRPr lang="en-US"/>
          </a:p>
        </p:txBody>
      </p:sp>
      <p:sp>
        <p:nvSpPr>
          <p:cNvPr id="62" name="Text 1">
            <a:extLst>
              <a:ext uri="{FF2B5EF4-FFF2-40B4-BE49-F238E27FC236}">
                <a16:creationId xmlns:a16="http://schemas.microsoft.com/office/drawing/2014/main" id="{EE26AAC8-9BF9-44C7-F16A-ABD66DE82E36}"/>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64" name="Text 2">
            <a:extLst>
              <a:ext uri="{FF2B5EF4-FFF2-40B4-BE49-F238E27FC236}">
                <a16:creationId xmlns:a16="http://schemas.microsoft.com/office/drawing/2014/main" id="{0ACED3C5-E89B-D10E-0E8B-6ECE0D822AF7}"/>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66" name="Text 3">
            <a:extLst>
              <a:ext uri="{FF2B5EF4-FFF2-40B4-BE49-F238E27FC236}">
                <a16:creationId xmlns:a16="http://schemas.microsoft.com/office/drawing/2014/main" id="{EB878AE8-04B7-6909-47EA-5E5C7DF2AAD8}"/>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extLst>
      <p:ext uri="{BB962C8B-B14F-4D97-AF65-F5344CB8AC3E}">
        <p14:creationId xmlns:p14="http://schemas.microsoft.com/office/powerpoint/2010/main" val="1715049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583E-662A-575A-76A3-A9F2A07CC445}"/>
            </a:ext>
          </a:extLst>
        </p:cNvPr>
        <p:cNvGrpSpPr/>
        <p:nvPr/>
      </p:nvGrpSpPr>
      <p:grpSpPr>
        <a:xfrm>
          <a:off x="0" y="0"/>
          <a:ext cx="0" cy="0"/>
          <a:chOff x="0" y="0"/>
          <a:chExt cx="0" cy="0"/>
        </a:xfrm>
      </p:grpSpPr>
      <p:sp>
        <p:nvSpPr>
          <p:cNvPr id="30" name="Shape 35">
            <a:extLst>
              <a:ext uri="{FF2B5EF4-FFF2-40B4-BE49-F238E27FC236}">
                <a16:creationId xmlns:a16="http://schemas.microsoft.com/office/drawing/2014/main" id="{B8C052C1-185E-DD6F-C834-F63AD1F7E406}"/>
              </a:ext>
            </a:extLst>
          </p:cNvPr>
          <p:cNvSpPr/>
          <p:nvPr/>
        </p:nvSpPr>
        <p:spPr>
          <a:xfrm>
            <a:off x="0" y="6339840"/>
            <a:ext cx="12192000" cy="518160"/>
          </a:xfrm>
          <a:prstGeom prst="rect">
            <a:avLst/>
          </a:prstGeom>
          <a:solidFill>
            <a:srgbClr val="EDECE7"/>
          </a:solidFill>
          <a:ln w="12700">
            <a:solidFill>
              <a:srgbClr val="000000"/>
            </a:solidFill>
            <a:prstDash val="solid"/>
          </a:ln>
        </p:spPr>
        <p:txBody>
          <a:bodyPr/>
          <a:lstStyle/>
          <a:p>
            <a:endParaRPr lang="en-US" sz="2400"/>
          </a:p>
        </p:txBody>
      </p:sp>
      <p:sp>
        <p:nvSpPr>
          <p:cNvPr id="4" name="Text 1">
            <a:extLst>
              <a:ext uri="{FF2B5EF4-FFF2-40B4-BE49-F238E27FC236}">
                <a16:creationId xmlns:a16="http://schemas.microsoft.com/office/drawing/2014/main" id="{FF0E80F4-EF5B-B19F-5364-8F8568AD16B1}"/>
              </a:ext>
            </a:extLst>
          </p:cNvPr>
          <p:cNvSpPr/>
          <p:nvPr/>
        </p:nvSpPr>
        <p:spPr>
          <a:xfrm>
            <a:off x="365760" y="6437376"/>
            <a:ext cx="6096000" cy="402336"/>
          </a:xfrm>
          <a:prstGeom prst="rect">
            <a:avLst/>
          </a:prstGeom>
          <a:noFill/>
          <a:ln/>
        </p:spPr>
        <p:txBody>
          <a:bodyPr wrap="square" rtlCol="0" anchor="ctr"/>
          <a:lstStyle/>
          <a:p>
            <a:r>
              <a:rPr lang="en-US" sz="933" kern="0" spc="267">
                <a:solidFill>
                  <a:srgbClr val="888880"/>
                </a:solidFill>
                <a:latin typeface="Calibri" pitchFamily="34" charset="0"/>
                <a:ea typeface="Calibri" pitchFamily="34" charset="-122"/>
                <a:cs typeface="Calibri" pitchFamily="34" charset="-120"/>
              </a:rPr>
              <a:t>PARADIEM  |  FAMILY CAPITAL INVESTMENT</a:t>
            </a:r>
            <a:endParaRPr lang="en-US" sz="933"/>
          </a:p>
        </p:txBody>
      </p:sp>
      <p:sp>
        <p:nvSpPr>
          <p:cNvPr id="5" name="Text 2">
            <a:extLst>
              <a:ext uri="{FF2B5EF4-FFF2-40B4-BE49-F238E27FC236}">
                <a16:creationId xmlns:a16="http://schemas.microsoft.com/office/drawing/2014/main" id="{1F7B6263-D020-705D-F79F-45A4D1A57449}"/>
              </a:ext>
            </a:extLst>
          </p:cNvPr>
          <p:cNvSpPr/>
          <p:nvPr/>
        </p:nvSpPr>
        <p:spPr>
          <a:xfrm>
            <a:off x="6705600" y="6437376"/>
            <a:ext cx="5120640" cy="402336"/>
          </a:xfrm>
          <a:prstGeom prst="rect">
            <a:avLst/>
          </a:prstGeom>
          <a:noFill/>
          <a:ln/>
        </p:spPr>
        <p:txBody>
          <a:bodyPr wrap="square" rtlCol="0" anchor="ctr"/>
          <a:lstStyle/>
          <a:p>
            <a:pPr algn="r"/>
            <a:r>
              <a:rPr lang="en-US" sz="933" kern="0" spc="200">
                <a:solidFill>
                  <a:srgbClr val="888880"/>
                </a:solidFill>
                <a:latin typeface="Calibri" pitchFamily="34" charset="0"/>
                <a:ea typeface="Calibri" pitchFamily="34" charset="-122"/>
                <a:cs typeface="Calibri" pitchFamily="34" charset="-120"/>
              </a:rPr>
              <a:t>CONFIDENTIAL  —  NOT FOR DISTRIBUTION</a:t>
            </a:r>
            <a:endParaRPr lang="en-US" sz="933"/>
          </a:p>
        </p:txBody>
      </p:sp>
      <p:sp>
        <p:nvSpPr>
          <p:cNvPr id="6" name="Text 3">
            <a:extLst>
              <a:ext uri="{FF2B5EF4-FFF2-40B4-BE49-F238E27FC236}">
                <a16:creationId xmlns:a16="http://schemas.microsoft.com/office/drawing/2014/main" id="{F274BDE3-7DC6-9D90-1E12-F07DBA42DAC4}"/>
              </a:ext>
            </a:extLst>
          </p:cNvPr>
          <p:cNvSpPr/>
          <p:nvPr/>
        </p:nvSpPr>
        <p:spPr>
          <a:xfrm>
            <a:off x="609600" y="268224"/>
            <a:ext cx="10972800" cy="268224"/>
          </a:xfrm>
          <a:prstGeom prst="rect">
            <a:avLst/>
          </a:prstGeom>
          <a:noFill/>
          <a:ln/>
        </p:spPr>
        <p:txBody>
          <a:bodyPr wrap="square" rtlCol="0" anchor="ctr"/>
          <a:lstStyle/>
          <a:p>
            <a:r>
              <a:rPr lang="en-US" sz="1467" kern="0" spc="467">
                <a:solidFill>
                  <a:srgbClr val="C9A84C"/>
                </a:solidFill>
                <a:latin typeface="Calibri" pitchFamily="34" charset="0"/>
                <a:ea typeface="Calibri" pitchFamily="34" charset="-122"/>
                <a:cs typeface="Calibri" pitchFamily="34" charset="-120"/>
              </a:rPr>
              <a:t>PERFORMANCE ANALYSIS</a:t>
            </a:r>
            <a:endParaRPr lang="en-US" sz="1467">
              <a:solidFill>
                <a:srgbClr val="C9A84C"/>
              </a:solidFill>
            </a:endParaRPr>
          </a:p>
        </p:txBody>
      </p:sp>
      <p:sp>
        <p:nvSpPr>
          <p:cNvPr id="7" name="Text 4">
            <a:extLst>
              <a:ext uri="{FF2B5EF4-FFF2-40B4-BE49-F238E27FC236}">
                <a16:creationId xmlns:a16="http://schemas.microsoft.com/office/drawing/2014/main" id="{47DF6CE5-CE18-4E39-85CF-D363F27D48EE}"/>
              </a:ext>
            </a:extLst>
          </p:cNvPr>
          <p:cNvSpPr/>
          <p:nvPr/>
        </p:nvSpPr>
        <p:spPr>
          <a:xfrm>
            <a:off x="609600" y="548640"/>
            <a:ext cx="10972800" cy="1463040"/>
          </a:xfrm>
          <a:prstGeom prst="rect">
            <a:avLst/>
          </a:prstGeom>
          <a:noFill/>
          <a:ln/>
        </p:spPr>
        <p:txBody>
          <a:bodyPr wrap="square" rtlCol="0" anchor="ctr"/>
          <a:lstStyle/>
          <a:p>
            <a:r>
              <a:rPr lang="en-US" sz="3733">
                <a:solidFill>
                  <a:srgbClr val="1B1836"/>
                </a:solidFill>
                <a:latin typeface="Georgia" pitchFamily="34" charset="0"/>
                <a:ea typeface="Georgia" pitchFamily="34" charset="-122"/>
                <a:cs typeface="Georgia" pitchFamily="34" charset="-120"/>
              </a:rPr>
              <a:t>Performance Audit</a:t>
            </a:r>
            <a:endParaRPr lang="en-US" sz="3733">
              <a:solidFill>
                <a:srgbClr val="1B1836"/>
              </a:solidFill>
            </a:endParaRPr>
          </a:p>
        </p:txBody>
      </p:sp>
      <p:sp>
        <p:nvSpPr>
          <p:cNvPr id="8" name="Shape 5">
            <a:extLst>
              <a:ext uri="{FF2B5EF4-FFF2-40B4-BE49-F238E27FC236}">
                <a16:creationId xmlns:a16="http://schemas.microsoft.com/office/drawing/2014/main" id="{EBF601E1-B0B2-B585-1752-C5303AF0C84A}"/>
              </a:ext>
            </a:extLst>
          </p:cNvPr>
          <p:cNvSpPr/>
          <p:nvPr/>
        </p:nvSpPr>
        <p:spPr>
          <a:xfrm>
            <a:off x="609600" y="1560578"/>
            <a:ext cx="1706880" cy="34137"/>
          </a:xfrm>
          <a:prstGeom prst="rect">
            <a:avLst/>
          </a:prstGeom>
          <a:solidFill>
            <a:srgbClr val="C9A84C"/>
          </a:solidFill>
          <a:ln w="12700">
            <a:solidFill>
              <a:srgbClr val="B2A26F"/>
            </a:solidFill>
            <a:prstDash val="solid"/>
          </a:ln>
        </p:spPr>
        <p:txBody>
          <a:bodyPr/>
          <a:lstStyle/>
          <a:p>
            <a:endParaRPr lang="en-US" sz="2400"/>
          </a:p>
        </p:txBody>
      </p:sp>
      <p:sp>
        <p:nvSpPr>
          <p:cNvPr id="9" name="Text 6">
            <a:extLst>
              <a:ext uri="{FF2B5EF4-FFF2-40B4-BE49-F238E27FC236}">
                <a16:creationId xmlns:a16="http://schemas.microsoft.com/office/drawing/2014/main" id="{9107AA9F-E9C3-1DBB-359F-39524F8F6E51}"/>
              </a:ext>
            </a:extLst>
          </p:cNvPr>
          <p:cNvSpPr/>
          <p:nvPr/>
        </p:nvSpPr>
        <p:spPr>
          <a:xfrm>
            <a:off x="609600" y="1767840"/>
            <a:ext cx="5364480" cy="365760"/>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Current Portfolio</a:t>
            </a:r>
            <a:endParaRPr lang="en-US" sz="1600"/>
          </a:p>
        </p:txBody>
      </p:sp>
      <p:sp>
        <p:nvSpPr>
          <p:cNvPr id="10" name="Shape 7">
            <a:extLst>
              <a:ext uri="{FF2B5EF4-FFF2-40B4-BE49-F238E27FC236}">
                <a16:creationId xmlns:a16="http://schemas.microsoft.com/office/drawing/2014/main" id="{A94852A4-944A-C51F-91C2-87F4D6DF0002}"/>
              </a:ext>
            </a:extLst>
          </p:cNvPr>
          <p:cNvSpPr/>
          <p:nvPr/>
        </p:nvSpPr>
        <p:spPr>
          <a:xfrm>
            <a:off x="609600" y="221894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11" name="Text 8">
            <a:extLst>
              <a:ext uri="{FF2B5EF4-FFF2-40B4-BE49-F238E27FC236}">
                <a16:creationId xmlns:a16="http://schemas.microsoft.com/office/drawing/2014/main" id="{7F4F2F75-6F5C-3884-1CF0-560A56878A97}"/>
              </a:ext>
            </a:extLst>
          </p:cNvPr>
          <p:cNvSpPr/>
          <p:nvPr/>
        </p:nvSpPr>
        <p:spPr>
          <a:xfrm>
            <a:off x="792480" y="234086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8.68%</a:t>
            </a:r>
            <a:endParaRPr lang="en-US" sz="3200">
              <a:solidFill>
                <a:srgbClr val="1B1836"/>
              </a:solidFill>
            </a:endParaRPr>
          </a:p>
        </p:txBody>
      </p:sp>
      <p:sp>
        <p:nvSpPr>
          <p:cNvPr id="12" name="Text 9">
            <a:extLst>
              <a:ext uri="{FF2B5EF4-FFF2-40B4-BE49-F238E27FC236}">
                <a16:creationId xmlns:a16="http://schemas.microsoft.com/office/drawing/2014/main" id="{91D567FD-559A-5B1A-5E5D-C8F5F1486AE4}"/>
              </a:ext>
            </a:extLst>
          </p:cNvPr>
          <p:cNvSpPr/>
          <p:nvPr/>
        </p:nvSpPr>
        <p:spPr>
          <a:xfrm>
            <a:off x="2804160" y="248716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Potential Annual Return</a:t>
            </a:r>
            <a:endParaRPr lang="en-US" sz="1600"/>
          </a:p>
        </p:txBody>
      </p:sp>
      <p:sp>
        <p:nvSpPr>
          <p:cNvPr id="13" name="Shape 10">
            <a:extLst>
              <a:ext uri="{FF2B5EF4-FFF2-40B4-BE49-F238E27FC236}">
                <a16:creationId xmlns:a16="http://schemas.microsoft.com/office/drawing/2014/main" id="{39E4E8B0-A93B-1AFB-C983-6267AD8DEDAE}"/>
              </a:ext>
            </a:extLst>
          </p:cNvPr>
          <p:cNvSpPr/>
          <p:nvPr/>
        </p:nvSpPr>
        <p:spPr>
          <a:xfrm>
            <a:off x="609600" y="337718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14" name="Text 11">
            <a:extLst>
              <a:ext uri="{FF2B5EF4-FFF2-40B4-BE49-F238E27FC236}">
                <a16:creationId xmlns:a16="http://schemas.microsoft.com/office/drawing/2014/main" id="{8D4444D1-3D13-3C26-E026-FDF317E40CF7}"/>
              </a:ext>
            </a:extLst>
          </p:cNvPr>
          <p:cNvSpPr/>
          <p:nvPr/>
        </p:nvSpPr>
        <p:spPr>
          <a:xfrm>
            <a:off x="792480" y="349910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0.84%</a:t>
            </a:r>
            <a:endParaRPr lang="en-US" sz="3200">
              <a:solidFill>
                <a:srgbClr val="1B1836"/>
              </a:solidFill>
            </a:endParaRPr>
          </a:p>
        </p:txBody>
      </p:sp>
      <p:sp>
        <p:nvSpPr>
          <p:cNvPr id="15" name="Text 12">
            <a:extLst>
              <a:ext uri="{FF2B5EF4-FFF2-40B4-BE49-F238E27FC236}">
                <a16:creationId xmlns:a16="http://schemas.microsoft.com/office/drawing/2014/main" id="{11A52323-71D4-CEF3-6429-76C65FDEC378}"/>
              </a:ext>
            </a:extLst>
          </p:cNvPr>
          <p:cNvSpPr/>
          <p:nvPr/>
        </p:nvSpPr>
        <p:spPr>
          <a:xfrm>
            <a:off x="2804160" y="364540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Annual Dividend Yield</a:t>
            </a:r>
            <a:endParaRPr lang="en-US" sz="1600"/>
          </a:p>
        </p:txBody>
      </p:sp>
      <p:sp>
        <p:nvSpPr>
          <p:cNvPr id="16" name="Shape 13">
            <a:extLst>
              <a:ext uri="{FF2B5EF4-FFF2-40B4-BE49-F238E27FC236}">
                <a16:creationId xmlns:a16="http://schemas.microsoft.com/office/drawing/2014/main" id="{BBBD1ACE-C8C1-73DB-64AD-BFC009EA43FB}"/>
              </a:ext>
            </a:extLst>
          </p:cNvPr>
          <p:cNvSpPr/>
          <p:nvPr/>
        </p:nvSpPr>
        <p:spPr>
          <a:xfrm>
            <a:off x="609600" y="4535424"/>
            <a:ext cx="5364480" cy="999744"/>
          </a:xfrm>
          <a:prstGeom prst="rect">
            <a:avLst/>
          </a:prstGeom>
          <a:solidFill>
            <a:srgbClr val="1B1836"/>
          </a:solidFill>
          <a:ln w="6350">
            <a:solidFill>
              <a:srgbClr val="1C1E33"/>
            </a:solidFill>
            <a:prstDash val="solid"/>
          </a:ln>
        </p:spPr>
        <p:txBody>
          <a:bodyPr/>
          <a:lstStyle/>
          <a:p>
            <a:endParaRPr lang="en-US" sz="2400"/>
          </a:p>
        </p:txBody>
      </p:sp>
      <p:sp>
        <p:nvSpPr>
          <p:cNvPr id="17" name="Text 14">
            <a:extLst>
              <a:ext uri="{FF2B5EF4-FFF2-40B4-BE49-F238E27FC236}">
                <a16:creationId xmlns:a16="http://schemas.microsoft.com/office/drawing/2014/main" id="{378646F5-A15B-AECC-3B26-26BB50A2C818}"/>
              </a:ext>
            </a:extLst>
          </p:cNvPr>
          <p:cNvSpPr/>
          <p:nvPr/>
        </p:nvSpPr>
        <p:spPr>
          <a:xfrm>
            <a:off x="792480" y="4657344"/>
            <a:ext cx="1889760" cy="670560"/>
          </a:xfrm>
          <a:prstGeom prst="rect">
            <a:avLst/>
          </a:prstGeom>
          <a:noFill/>
          <a:ln/>
        </p:spPr>
        <p:txBody>
          <a:bodyPr wrap="square" rtlCol="0" anchor="ctr"/>
          <a:lstStyle/>
          <a:p>
            <a:r>
              <a:rPr lang="en-US" sz="3200" b="1">
                <a:solidFill>
                  <a:srgbClr val="C9A84C"/>
                </a:solidFill>
                <a:latin typeface="Georgia" pitchFamily="34" charset="0"/>
                <a:ea typeface="Georgia" pitchFamily="34" charset="-122"/>
                <a:cs typeface="Georgia" pitchFamily="34" charset="-120"/>
              </a:rPr>
              <a:t>9.52%</a:t>
            </a:r>
            <a:endParaRPr lang="en-US" sz="3200">
              <a:solidFill>
                <a:srgbClr val="C9A84C"/>
              </a:solidFill>
            </a:endParaRPr>
          </a:p>
        </p:txBody>
      </p:sp>
      <p:sp>
        <p:nvSpPr>
          <p:cNvPr id="18" name="Text 15">
            <a:extLst>
              <a:ext uri="{FF2B5EF4-FFF2-40B4-BE49-F238E27FC236}">
                <a16:creationId xmlns:a16="http://schemas.microsoft.com/office/drawing/2014/main" id="{FDAFD585-C90A-3980-2B57-AB8F13634B08}"/>
              </a:ext>
            </a:extLst>
          </p:cNvPr>
          <p:cNvSpPr/>
          <p:nvPr/>
        </p:nvSpPr>
        <p:spPr>
          <a:xfrm>
            <a:off x="2804160" y="4803648"/>
            <a:ext cx="3048000" cy="463296"/>
          </a:xfrm>
          <a:prstGeom prst="rect">
            <a:avLst/>
          </a:prstGeom>
          <a:noFill/>
          <a:ln/>
        </p:spPr>
        <p:txBody>
          <a:bodyPr wrap="square" rtlCol="0" anchor="ctr"/>
          <a:lstStyle/>
          <a:p>
            <a:r>
              <a:rPr lang="en-US" sz="1600">
                <a:solidFill>
                  <a:srgbClr val="FFFFFF"/>
                </a:solidFill>
                <a:latin typeface="Calibri" pitchFamily="34" charset="0"/>
                <a:ea typeface="Calibri" pitchFamily="34" charset="-122"/>
                <a:cs typeface="Calibri" pitchFamily="34" charset="-120"/>
              </a:rPr>
              <a:t>Total Potential Return</a:t>
            </a:r>
            <a:endParaRPr lang="en-US" sz="1600"/>
          </a:p>
        </p:txBody>
      </p:sp>
      <p:sp>
        <p:nvSpPr>
          <p:cNvPr id="19" name="Text 16">
            <a:extLst>
              <a:ext uri="{FF2B5EF4-FFF2-40B4-BE49-F238E27FC236}">
                <a16:creationId xmlns:a16="http://schemas.microsoft.com/office/drawing/2014/main" id="{437AABE5-B6C3-1F65-52C2-C73C1EFCC02A}"/>
              </a:ext>
            </a:extLst>
          </p:cNvPr>
          <p:cNvSpPr/>
          <p:nvPr/>
        </p:nvSpPr>
        <p:spPr>
          <a:xfrm>
            <a:off x="6339840" y="1767840"/>
            <a:ext cx="5364480" cy="365760"/>
          </a:xfrm>
          <a:prstGeom prst="rect">
            <a:avLst/>
          </a:prstGeom>
          <a:noFill/>
          <a:ln/>
        </p:spPr>
        <p:txBody>
          <a:bodyPr wrap="square" rtlCol="0" anchor="ctr"/>
          <a:lstStyle/>
          <a:p>
            <a:r>
              <a:rPr lang="en-US" sz="1600" b="1">
                <a:solidFill>
                  <a:srgbClr val="1C1D32"/>
                </a:solidFill>
                <a:latin typeface="Calibri" pitchFamily="34" charset="0"/>
                <a:ea typeface="Calibri" pitchFamily="34" charset="-122"/>
                <a:cs typeface="Calibri" pitchFamily="34" charset="-120"/>
              </a:rPr>
              <a:t>Potential Portfolio</a:t>
            </a:r>
            <a:endParaRPr lang="en-US" sz="1600"/>
          </a:p>
        </p:txBody>
      </p:sp>
      <p:sp>
        <p:nvSpPr>
          <p:cNvPr id="20" name="Shape 17">
            <a:extLst>
              <a:ext uri="{FF2B5EF4-FFF2-40B4-BE49-F238E27FC236}">
                <a16:creationId xmlns:a16="http://schemas.microsoft.com/office/drawing/2014/main" id="{DD943213-4D91-4531-B5FB-F95D322674E3}"/>
              </a:ext>
            </a:extLst>
          </p:cNvPr>
          <p:cNvSpPr/>
          <p:nvPr/>
        </p:nvSpPr>
        <p:spPr>
          <a:xfrm>
            <a:off x="6339840" y="221894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21" name="Text 18">
            <a:extLst>
              <a:ext uri="{FF2B5EF4-FFF2-40B4-BE49-F238E27FC236}">
                <a16:creationId xmlns:a16="http://schemas.microsoft.com/office/drawing/2014/main" id="{5F44B44D-B10A-935C-24AA-687DE06A182F}"/>
              </a:ext>
            </a:extLst>
          </p:cNvPr>
          <p:cNvSpPr/>
          <p:nvPr/>
        </p:nvSpPr>
        <p:spPr>
          <a:xfrm>
            <a:off x="6522720" y="234086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10.23%</a:t>
            </a:r>
            <a:endParaRPr lang="en-US" sz="3200">
              <a:solidFill>
                <a:srgbClr val="1B1836"/>
              </a:solidFill>
            </a:endParaRPr>
          </a:p>
        </p:txBody>
      </p:sp>
      <p:sp>
        <p:nvSpPr>
          <p:cNvPr id="22" name="Text 19">
            <a:extLst>
              <a:ext uri="{FF2B5EF4-FFF2-40B4-BE49-F238E27FC236}">
                <a16:creationId xmlns:a16="http://schemas.microsoft.com/office/drawing/2014/main" id="{644D754D-3CC1-B1BD-5F23-01CB4376D2A7}"/>
              </a:ext>
            </a:extLst>
          </p:cNvPr>
          <p:cNvSpPr/>
          <p:nvPr/>
        </p:nvSpPr>
        <p:spPr>
          <a:xfrm>
            <a:off x="8534400" y="248716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Potential Annual Return</a:t>
            </a:r>
            <a:endParaRPr lang="en-US" sz="1600"/>
          </a:p>
        </p:txBody>
      </p:sp>
      <p:sp>
        <p:nvSpPr>
          <p:cNvPr id="23" name="Shape 20">
            <a:extLst>
              <a:ext uri="{FF2B5EF4-FFF2-40B4-BE49-F238E27FC236}">
                <a16:creationId xmlns:a16="http://schemas.microsoft.com/office/drawing/2014/main" id="{5E53436B-CE29-4528-1B85-1234ECD5CF6E}"/>
              </a:ext>
            </a:extLst>
          </p:cNvPr>
          <p:cNvSpPr/>
          <p:nvPr/>
        </p:nvSpPr>
        <p:spPr>
          <a:xfrm>
            <a:off x="6339840" y="3377184"/>
            <a:ext cx="5364480" cy="999744"/>
          </a:xfrm>
          <a:prstGeom prst="rect">
            <a:avLst/>
          </a:prstGeom>
          <a:solidFill>
            <a:srgbClr val="EDECE7"/>
          </a:solidFill>
          <a:ln w="6350">
            <a:solidFill>
              <a:srgbClr val="CCC9C1"/>
            </a:solidFill>
            <a:prstDash val="solid"/>
          </a:ln>
        </p:spPr>
        <p:txBody>
          <a:bodyPr/>
          <a:lstStyle/>
          <a:p>
            <a:endParaRPr lang="en-US" sz="2400"/>
          </a:p>
        </p:txBody>
      </p:sp>
      <p:sp>
        <p:nvSpPr>
          <p:cNvPr id="24" name="Text 21">
            <a:extLst>
              <a:ext uri="{FF2B5EF4-FFF2-40B4-BE49-F238E27FC236}">
                <a16:creationId xmlns:a16="http://schemas.microsoft.com/office/drawing/2014/main" id="{1E5DE77D-7EE2-815C-F83B-A03DB4DEF726}"/>
              </a:ext>
            </a:extLst>
          </p:cNvPr>
          <p:cNvSpPr/>
          <p:nvPr/>
        </p:nvSpPr>
        <p:spPr>
          <a:xfrm>
            <a:off x="6522720" y="3499104"/>
            <a:ext cx="1889760" cy="670560"/>
          </a:xfrm>
          <a:prstGeom prst="rect">
            <a:avLst/>
          </a:prstGeom>
          <a:noFill/>
          <a:ln/>
        </p:spPr>
        <p:txBody>
          <a:bodyPr wrap="square" rtlCol="0" anchor="ctr"/>
          <a:lstStyle/>
          <a:p>
            <a:r>
              <a:rPr lang="en-US" sz="3200" b="1">
                <a:solidFill>
                  <a:srgbClr val="1B1836"/>
                </a:solidFill>
                <a:latin typeface="Georgia" pitchFamily="34" charset="0"/>
                <a:ea typeface="Georgia" pitchFamily="34" charset="-122"/>
                <a:cs typeface="Georgia" pitchFamily="34" charset="-120"/>
              </a:rPr>
              <a:t>1.64%</a:t>
            </a:r>
            <a:endParaRPr lang="en-US" sz="3200">
              <a:solidFill>
                <a:srgbClr val="1B1836"/>
              </a:solidFill>
            </a:endParaRPr>
          </a:p>
        </p:txBody>
      </p:sp>
      <p:sp>
        <p:nvSpPr>
          <p:cNvPr id="25" name="Text 22">
            <a:extLst>
              <a:ext uri="{FF2B5EF4-FFF2-40B4-BE49-F238E27FC236}">
                <a16:creationId xmlns:a16="http://schemas.microsoft.com/office/drawing/2014/main" id="{6E6C1900-B778-282A-A9ED-F7A4F49533A7}"/>
              </a:ext>
            </a:extLst>
          </p:cNvPr>
          <p:cNvSpPr/>
          <p:nvPr/>
        </p:nvSpPr>
        <p:spPr>
          <a:xfrm>
            <a:off x="8534400" y="3645408"/>
            <a:ext cx="3048000" cy="463296"/>
          </a:xfrm>
          <a:prstGeom prst="rect">
            <a:avLst/>
          </a:prstGeom>
          <a:noFill/>
          <a:ln/>
        </p:spPr>
        <p:txBody>
          <a:bodyPr wrap="square" rtlCol="0" anchor="ctr"/>
          <a:lstStyle/>
          <a:p>
            <a:r>
              <a:rPr lang="en-US" sz="1600">
                <a:solidFill>
                  <a:srgbClr val="8C8C8C"/>
                </a:solidFill>
                <a:latin typeface="Calibri" pitchFamily="34" charset="0"/>
                <a:ea typeface="Calibri" pitchFamily="34" charset="-122"/>
                <a:cs typeface="Calibri" pitchFamily="34" charset="-120"/>
              </a:rPr>
              <a:t>Annual Dividend Yield</a:t>
            </a:r>
            <a:endParaRPr lang="en-US" sz="1600"/>
          </a:p>
        </p:txBody>
      </p:sp>
      <p:sp>
        <p:nvSpPr>
          <p:cNvPr id="26" name="Shape 23">
            <a:extLst>
              <a:ext uri="{FF2B5EF4-FFF2-40B4-BE49-F238E27FC236}">
                <a16:creationId xmlns:a16="http://schemas.microsoft.com/office/drawing/2014/main" id="{04DCB582-5379-BCE2-B086-CEE361CF5534}"/>
              </a:ext>
            </a:extLst>
          </p:cNvPr>
          <p:cNvSpPr/>
          <p:nvPr/>
        </p:nvSpPr>
        <p:spPr>
          <a:xfrm>
            <a:off x="6339840" y="4535424"/>
            <a:ext cx="5364480" cy="999744"/>
          </a:xfrm>
          <a:prstGeom prst="rect">
            <a:avLst/>
          </a:prstGeom>
          <a:solidFill>
            <a:srgbClr val="1B1836"/>
          </a:solidFill>
          <a:ln w="6350">
            <a:solidFill>
              <a:srgbClr val="1C1E33"/>
            </a:solidFill>
            <a:prstDash val="solid"/>
          </a:ln>
        </p:spPr>
        <p:txBody>
          <a:bodyPr/>
          <a:lstStyle/>
          <a:p>
            <a:endParaRPr lang="en-US" sz="2400"/>
          </a:p>
        </p:txBody>
      </p:sp>
      <p:sp>
        <p:nvSpPr>
          <p:cNvPr id="27" name="Text 24">
            <a:extLst>
              <a:ext uri="{FF2B5EF4-FFF2-40B4-BE49-F238E27FC236}">
                <a16:creationId xmlns:a16="http://schemas.microsoft.com/office/drawing/2014/main" id="{2F5CDA09-2641-BC8D-9BBE-14A86463D6B4}"/>
              </a:ext>
            </a:extLst>
          </p:cNvPr>
          <p:cNvSpPr/>
          <p:nvPr/>
        </p:nvSpPr>
        <p:spPr>
          <a:xfrm>
            <a:off x="6522720" y="4657344"/>
            <a:ext cx="1889760" cy="670560"/>
          </a:xfrm>
          <a:prstGeom prst="rect">
            <a:avLst/>
          </a:prstGeom>
          <a:noFill/>
          <a:ln/>
        </p:spPr>
        <p:txBody>
          <a:bodyPr wrap="square" rtlCol="0" anchor="ctr"/>
          <a:lstStyle/>
          <a:p>
            <a:r>
              <a:rPr lang="en-US" sz="3200" b="1">
                <a:solidFill>
                  <a:srgbClr val="C9A84C"/>
                </a:solidFill>
                <a:latin typeface="Georgia" pitchFamily="34" charset="0"/>
                <a:ea typeface="Georgia" pitchFamily="34" charset="-122"/>
                <a:cs typeface="Georgia" pitchFamily="34" charset="-120"/>
              </a:rPr>
              <a:t>11.87%</a:t>
            </a:r>
            <a:endParaRPr lang="en-US" sz="3200">
              <a:solidFill>
                <a:srgbClr val="C9A84C"/>
              </a:solidFill>
            </a:endParaRPr>
          </a:p>
        </p:txBody>
      </p:sp>
      <p:sp>
        <p:nvSpPr>
          <p:cNvPr id="28" name="Text 25">
            <a:extLst>
              <a:ext uri="{FF2B5EF4-FFF2-40B4-BE49-F238E27FC236}">
                <a16:creationId xmlns:a16="http://schemas.microsoft.com/office/drawing/2014/main" id="{258DA3E6-BF33-DEAB-4231-38A583E5043C}"/>
              </a:ext>
            </a:extLst>
          </p:cNvPr>
          <p:cNvSpPr/>
          <p:nvPr/>
        </p:nvSpPr>
        <p:spPr>
          <a:xfrm>
            <a:off x="8534400" y="4803648"/>
            <a:ext cx="3048000" cy="463296"/>
          </a:xfrm>
          <a:prstGeom prst="rect">
            <a:avLst/>
          </a:prstGeom>
          <a:noFill/>
          <a:ln/>
        </p:spPr>
        <p:txBody>
          <a:bodyPr wrap="square" rtlCol="0" anchor="ctr"/>
          <a:lstStyle/>
          <a:p>
            <a:r>
              <a:rPr lang="en-US" sz="1600">
                <a:solidFill>
                  <a:srgbClr val="FFFFFF"/>
                </a:solidFill>
                <a:latin typeface="Calibri" pitchFamily="34" charset="0"/>
                <a:ea typeface="Calibri" pitchFamily="34" charset="-122"/>
                <a:cs typeface="Calibri" pitchFamily="34" charset="-120"/>
              </a:rPr>
              <a:t>Total Potential Return</a:t>
            </a:r>
            <a:endParaRPr lang="en-US" sz="1600"/>
          </a:p>
        </p:txBody>
      </p:sp>
      <p:sp>
        <p:nvSpPr>
          <p:cNvPr id="29" name="Text 26">
            <a:extLst>
              <a:ext uri="{FF2B5EF4-FFF2-40B4-BE49-F238E27FC236}">
                <a16:creationId xmlns:a16="http://schemas.microsoft.com/office/drawing/2014/main" id="{AF9A97A5-AAB5-DEF7-3326-B677983A0E9D}"/>
              </a:ext>
            </a:extLst>
          </p:cNvPr>
          <p:cNvSpPr/>
          <p:nvPr/>
        </p:nvSpPr>
        <p:spPr>
          <a:xfrm>
            <a:off x="609600" y="5928800"/>
            <a:ext cx="10972800" cy="243840"/>
          </a:xfrm>
          <a:prstGeom prst="rect">
            <a:avLst/>
          </a:prstGeom>
          <a:noFill/>
          <a:ln/>
        </p:spPr>
        <p:txBody>
          <a:bodyPr wrap="square" rtlCol="0" anchor="ctr"/>
          <a:lstStyle/>
          <a:p>
            <a:r>
              <a:rPr lang="en-US" sz="867">
                <a:solidFill>
                  <a:srgbClr val="8C8C8C"/>
                </a:solidFill>
                <a:latin typeface="Calibri" pitchFamily="34" charset="0"/>
                <a:ea typeface="Calibri" pitchFamily="34" charset="-122"/>
                <a:cs typeface="Calibri" pitchFamily="34" charset="-120"/>
              </a:rPr>
              <a:t>Projections are hypothetical and do not reflect actual results. Past performance is no guarantee of future results. Calculated using Riskalyze methodology.</a:t>
            </a:r>
            <a:endParaRPr lang="en-US" sz="867"/>
          </a:p>
        </p:txBody>
      </p:sp>
      <p:pic>
        <p:nvPicPr>
          <p:cNvPr id="3" name="Image 0" descr="preencoded.png">
            <a:extLst>
              <a:ext uri="{FF2B5EF4-FFF2-40B4-BE49-F238E27FC236}">
                <a16:creationId xmlns:a16="http://schemas.microsoft.com/office/drawing/2014/main" id="{30717DA1-15EC-4935-810E-9B855A77493A}"/>
              </a:ext>
            </a:extLst>
          </p:cNvPr>
          <p:cNvPicPr>
            <a:picLocks noChangeAspect="1"/>
          </p:cNvPicPr>
          <p:nvPr/>
        </p:nvPicPr>
        <p:blipFill>
          <a:blip r:embed="rId3"/>
          <a:stretch>
            <a:fillRect/>
          </a:stretch>
        </p:blipFill>
        <p:spPr>
          <a:xfrm>
            <a:off x="10362895" y="347472"/>
            <a:ext cx="1417320" cy="410550"/>
          </a:xfrm>
          <a:prstGeom prst="rect">
            <a:avLst/>
          </a:prstGeom>
        </p:spPr>
      </p:pic>
    </p:spTree>
    <p:extLst>
      <p:ext uri="{BB962C8B-B14F-4D97-AF65-F5344CB8AC3E}">
        <p14:creationId xmlns:p14="http://schemas.microsoft.com/office/powerpoint/2010/main" val="3724241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6B44-A5A7-C4CA-C8DE-B3173016A2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9823097-98ED-078E-09DC-1DC76D6D8B99}"/>
              </a:ext>
            </a:extLst>
          </p:cNvPr>
          <p:cNvSpPr/>
          <p:nvPr/>
        </p:nvSpPr>
        <p:spPr>
          <a:xfrm>
            <a:off x="670560" y="268224"/>
            <a:ext cx="10972800" cy="268224"/>
          </a:xfrm>
          <a:prstGeom prst="rect">
            <a:avLst/>
          </a:prstGeom>
          <a:noFill/>
          <a:ln/>
        </p:spPr>
        <p:txBody>
          <a:bodyPr wrap="square" lIns="0" tIns="0" rIns="0" bIns="0" rtlCol="0" anchor="t"/>
          <a:lstStyle/>
          <a:p>
            <a:r>
              <a:rPr lang="en-US" sz="1400" kern="0" spc="400">
                <a:solidFill>
                  <a:srgbClr val="C9A84C"/>
                </a:solidFill>
                <a:latin typeface="Calibri"/>
                <a:ea typeface="Calibri"/>
                <a:cs typeface="Calibri"/>
              </a:rPr>
              <a:t>RISK ASSESSMENT</a:t>
            </a:r>
            <a:endParaRPr lang="en-US" sz="1400">
              <a:latin typeface="Calibri"/>
              <a:ea typeface="Calibri"/>
              <a:cs typeface="Calibri"/>
            </a:endParaRPr>
          </a:p>
        </p:txBody>
      </p:sp>
      <p:sp>
        <p:nvSpPr>
          <p:cNvPr id="3" name="Text 1">
            <a:extLst>
              <a:ext uri="{FF2B5EF4-FFF2-40B4-BE49-F238E27FC236}">
                <a16:creationId xmlns:a16="http://schemas.microsoft.com/office/drawing/2014/main" id="{52883EDA-FC69-EFCB-0B32-4297B2A0993C}"/>
              </a:ext>
            </a:extLst>
          </p:cNvPr>
          <p:cNvSpPr/>
          <p:nvPr/>
        </p:nvSpPr>
        <p:spPr>
          <a:xfrm>
            <a:off x="670560" y="609600"/>
            <a:ext cx="10972800" cy="914400"/>
          </a:xfrm>
          <a:prstGeom prst="rect">
            <a:avLst/>
          </a:prstGeom>
          <a:noFill/>
          <a:ln/>
        </p:spPr>
        <p:txBody>
          <a:bodyPr wrap="square" lIns="0" tIns="0" rIns="0" bIns="0" rtlCol="0" anchor="t"/>
          <a:lstStyle/>
          <a:p>
            <a:r>
              <a:rPr lang="en-US" sz="3467">
                <a:solidFill>
                  <a:srgbClr val="1A1E3A"/>
                </a:solidFill>
                <a:latin typeface="Georgia" pitchFamily="34" charset="0"/>
                <a:ea typeface="Georgia" pitchFamily="34" charset="-122"/>
                <a:cs typeface="Georgia" pitchFamily="34" charset="-120"/>
              </a:rPr>
              <a:t>Abrams Family — Lifeboat Drill</a:t>
            </a:r>
            <a:endParaRPr lang="en-US" sz="3467"/>
          </a:p>
        </p:txBody>
      </p:sp>
      <p:sp>
        <p:nvSpPr>
          <p:cNvPr id="4" name="Shape 2">
            <a:extLst>
              <a:ext uri="{FF2B5EF4-FFF2-40B4-BE49-F238E27FC236}">
                <a16:creationId xmlns:a16="http://schemas.microsoft.com/office/drawing/2014/main" id="{39A3A8D1-3618-5DB2-30F5-B038CA266ADF}"/>
              </a:ext>
            </a:extLst>
          </p:cNvPr>
          <p:cNvSpPr/>
          <p:nvPr/>
        </p:nvSpPr>
        <p:spPr>
          <a:xfrm>
            <a:off x="670560" y="1560576"/>
            <a:ext cx="1463040" cy="0"/>
          </a:xfrm>
          <a:prstGeom prst="line">
            <a:avLst/>
          </a:prstGeom>
          <a:noFill/>
          <a:ln w="19050">
            <a:solidFill>
              <a:srgbClr val="C9A84C"/>
            </a:solidFill>
            <a:prstDash val="solid"/>
          </a:ln>
        </p:spPr>
        <p:txBody>
          <a:bodyPr/>
          <a:lstStyle/>
          <a:p>
            <a:endParaRPr lang="en-US" sz="2400"/>
          </a:p>
        </p:txBody>
      </p:sp>
      <p:sp>
        <p:nvSpPr>
          <p:cNvPr id="5" name="Text 3">
            <a:extLst>
              <a:ext uri="{FF2B5EF4-FFF2-40B4-BE49-F238E27FC236}">
                <a16:creationId xmlns:a16="http://schemas.microsoft.com/office/drawing/2014/main" id="{1D9F7C4C-DB4D-F90D-33C7-ED31191584D1}"/>
              </a:ext>
            </a:extLst>
          </p:cNvPr>
          <p:cNvSpPr/>
          <p:nvPr/>
        </p:nvSpPr>
        <p:spPr>
          <a:xfrm>
            <a:off x="670560" y="1853184"/>
            <a:ext cx="10972800" cy="268224"/>
          </a:xfrm>
          <a:prstGeom prst="rect">
            <a:avLst/>
          </a:prstGeom>
          <a:noFill/>
          <a:ln/>
        </p:spPr>
        <p:txBody>
          <a:bodyPr wrap="square" lIns="0" tIns="0" rIns="0" bIns="0" rtlCol="0" anchor="ctr"/>
          <a:lstStyle/>
          <a:p>
            <a:r>
              <a:rPr lang="en-US" sz="1333">
                <a:solidFill>
                  <a:srgbClr val="6A6A7A"/>
                </a:solidFill>
                <a:latin typeface="Calibri"/>
                <a:ea typeface="Calibri"/>
                <a:cs typeface="Calibri"/>
              </a:rPr>
              <a:t>95% Probability Range  —  6-Month Horizon</a:t>
            </a:r>
            <a:endParaRPr lang="en-US" sz="1333">
              <a:latin typeface="Calibri"/>
              <a:ea typeface="Calibri"/>
              <a:cs typeface="Calibri"/>
            </a:endParaRPr>
          </a:p>
        </p:txBody>
      </p:sp>
      <p:sp>
        <p:nvSpPr>
          <p:cNvPr id="6" name="Shape 4">
            <a:extLst>
              <a:ext uri="{FF2B5EF4-FFF2-40B4-BE49-F238E27FC236}">
                <a16:creationId xmlns:a16="http://schemas.microsoft.com/office/drawing/2014/main" id="{B0A90E8A-DC8C-1A8D-AFA5-22D35D5B1A61}"/>
              </a:ext>
            </a:extLst>
          </p:cNvPr>
          <p:cNvSpPr/>
          <p:nvPr/>
        </p:nvSpPr>
        <p:spPr>
          <a:xfrm>
            <a:off x="4328160" y="2301476"/>
            <a:ext cx="3657600" cy="1280160"/>
          </a:xfrm>
          <a:prstGeom prst="rect">
            <a:avLst/>
          </a:prstGeom>
          <a:solidFill>
            <a:srgbClr val="FAFAF8"/>
          </a:solidFill>
          <a:ln w="12700">
            <a:solidFill>
              <a:srgbClr val="1A1E3A"/>
            </a:solidFill>
            <a:prstDash val="solid"/>
          </a:ln>
        </p:spPr>
        <p:txBody>
          <a:bodyPr/>
          <a:lstStyle/>
          <a:p>
            <a:endParaRPr lang="en-US" sz="2400"/>
          </a:p>
        </p:txBody>
      </p:sp>
      <p:sp>
        <p:nvSpPr>
          <p:cNvPr id="7" name="Text 5">
            <a:extLst>
              <a:ext uri="{FF2B5EF4-FFF2-40B4-BE49-F238E27FC236}">
                <a16:creationId xmlns:a16="http://schemas.microsoft.com/office/drawing/2014/main" id="{5738817A-C286-4C57-8E62-7ECC59780F20}"/>
              </a:ext>
            </a:extLst>
          </p:cNvPr>
          <p:cNvSpPr/>
          <p:nvPr/>
        </p:nvSpPr>
        <p:spPr>
          <a:xfrm>
            <a:off x="4511040" y="2423396"/>
            <a:ext cx="3291840" cy="633984"/>
          </a:xfrm>
          <a:prstGeom prst="rect">
            <a:avLst/>
          </a:prstGeom>
          <a:noFill/>
          <a:ln/>
        </p:spPr>
        <p:txBody>
          <a:bodyPr wrap="square" lIns="0" tIns="0" rIns="0" bIns="0" rtlCol="0" anchor="ctr"/>
          <a:lstStyle/>
          <a:p>
            <a:r>
              <a:rPr lang="en-US" sz="3200">
                <a:solidFill>
                  <a:srgbClr val="1A1E3A"/>
                </a:solidFill>
                <a:latin typeface="Georgia" pitchFamily="34" charset="0"/>
                <a:ea typeface="Georgia" pitchFamily="34" charset="-122"/>
                <a:cs typeface="Georgia" pitchFamily="34" charset="-120"/>
              </a:rPr>
              <a:t>$950,000</a:t>
            </a:r>
            <a:endParaRPr lang="en-US" sz="3200"/>
          </a:p>
        </p:txBody>
      </p:sp>
      <p:sp>
        <p:nvSpPr>
          <p:cNvPr id="8" name="Text 6">
            <a:extLst>
              <a:ext uri="{FF2B5EF4-FFF2-40B4-BE49-F238E27FC236}">
                <a16:creationId xmlns:a16="http://schemas.microsoft.com/office/drawing/2014/main" id="{6FDCCD49-DBC1-E126-F09E-9CD21F3915E5}"/>
              </a:ext>
            </a:extLst>
          </p:cNvPr>
          <p:cNvSpPr/>
          <p:nvPr/>
        </p:nvSpPr>
        <p:spPr>
          <a:xfrm>
            <a:off x="4511040" y="3106148"/>
            <a:ext cx="3291840" cy="268224"/>
          </a:xfrm>
          <a:prstGeom prst="rect">
            <a:avLst/>
          </a:prstGeom>
          <a:noFill/>
          <a:ln/>
        </p:spPr>
        <p:txBody>
          <a:bodyPr wrap="square" lIns="0" tIns="0" rIns="0" bIns="0" rtlCol="0" anchor="ctr"/>
          <a:lstStyle/>
          <a:p>
            <a:r>
              <a:rPr lang="en-US" sz="1333" kern="0" spc="267">
                <a:solidFill>
                  <a:srgbClr val="C9A84C"/>
                </a:solidFill>
                <a:latin typeface="Calibri"/>
                <a:ea typeface="Calibri"/>
                <a:cs typeface="Calibri"/>
              </a:rPr>
              <a:t>CURRENT PORTFOLIO</a:t>
            </a:r>
            <a:endParaRPr lang="en-US" sz="1333">
              <a:latin typeface="Calibri"/>
              <a:ea typeface="Calibri"/>
              <a:cs typeface="Calibri"/>
            </a:endParaRPr>
          </a:p>
        </p:txBody>
      </p:sp>
      <p:sp>
        <p:nvSpPr>
          <p:cNvPr id="9" name="Shape 7">
            <a:extLst>
              <a:ext uri="{FF2B5EF4-FFF2-40B4-BE49-F238E27FC236}">
                <a16:creationId xmlns:a16="http://schemas.microsoft.com/office/drawing/2014/main" id="{4653BEB5-7651-59E9-2F64-FA543944A841}"/>
              </a:ext>
            </a:extLst>
          </p:cNvPr>
          <p:cNvSpPr/>
          <p:nvPr/>
        </p:nvSpPr>
        <p:spPr>
          <a:xfrm>
            <a:off x="8351520" y="2329837"/>
            <a:ext cx="3291840" cy="1280160"/>
          </a:xfrm>
          <a:prstGeom prst="rect">
            <a:avLst/>
          </a:prstGeom>
          <a:solidFill>
            <a:srgbClr val="EDECE7"/>
          </a:solidFill>
          <a:ln w="6350">
            <a:solidFill>
              <a:srgbClr val="DDDCD8"/>
            </a:solidFill>
            <a:prstDash val="solid"/>
          </a:ln>
        </p:spPr>
        <p:txBody>
          <a:bodyPr/>
          <a:lstStyle/>
          <a:p>
            <a:endParaRPr lang="en-US" sz="2400"/>
          </a:p>
        </p:txBody>
      </p:sp>
      <p:sp>
        <p:nvSpPr>
          <p:cNvPr id="10" name="Text 8">
            <a:extLst>
              <a:ext uri="{FF2B5EF4-FFF2-40B4-BE49-F238E27FC236}">
                <a16:creationId xmlns:a16="http://schemas.microsoft.com/office/drawing/2014/main" id="{35C1F8B8-D304-CF1F-428D-7DE09F4E952C}"/>
              </a:ext>
            </a:extLst>
          </p:cNvPr>
          <p:cNvSpPr/>
          <p:nvPr/>
        </p:nvSpPr>
        <p:spPr>
          <a:xfrm>
            <a:off x="8534400" y="2427373"/>
            <a:ext cx="2926080" cy="633984"/>
          </a:xfrm>
          <a:prstGeom prst="rect">
            <a:avLst/>
          </a:prstGeom>
          <a:noFill/>
          <a:ln/>
        </p:spPr>
        <p:txBody>
          <a:bodyPr wrap="square" lIns="0" tIns="0" rIns="0" bIns="0" rtlCol="0" anchor="ctr"/>
          <a:lstStyle/>
          <a:p>
            <a:r>
              <a:rPr lang="en-US" sz="3200">
                <a:solidFill>
                  <a:srgbClr val="2A6B3A"/>
                </a:solidFill>
                <a:latin typeface="Georgia" pitchFamily="34" charset="0"/>
                <a:ea typeface="Georgia" pitchFamily="34" charset="-122"/>
                <a:cs typeface="Georgia" pitchFamily="34" charset="-120"/>
              </a:rPr>
              <a:t>+27.90%</a:t>
            </a:r>
            <a:endParaRPr lang="en-US" sz="3200"/>
          </a:p>
        </p:txBody>
      </p:sp>
      <p:sp>
        <p:nvSpPr>
          <p:cNvPr id="11" name="Text 9">
            <a:extLst>
              <a:ext uri="{FF2B5EF4-FFF2-40B4-BE49-F238E27FC236}">
                <a16:creationId xmlns:a16="http://schemas.microsoft.com/office/drawing/2014/main" id="{C4BD6D4C-133F-77C1-CA75-AA1257DCF047}"/>
              </a:ext>
            </a:extLst>
          </p:cNvPr>
          <p:cNvSpPr/>
          <p:nvPr/>
        </p:nvSpPr>
        <p:spPr>
          <a:xfrm>
            <a:off x="8534400" y="3110125"/>
            <a:ext cx="2926080" cy="243840"/>
          </a:xfrm>
          <a:prstGeom prst="rect">
            <a:avLst/>
          </a:prstGeom>
          <a:noFill/>
          <a:ln/>
        </p:spPr>
        <p:txBody>
          <a:bodyPr wrap="square" lIns="0" tIns="0" rIns="0" bIns="0" rtlCol="0" anchor="ctr"/>
          <a:lstStyle/>
          <a:p>
            <a:r>
              <a:rPr lang="en-US" sz="1333">
                <a:solidFill>
                  <a:srgbClr val="2A6B3A"/>
                </a:solidFill>
                <a:latin typeface="Calibri"/>
                <a:ea typeface="Calibri"/>
                <a:cs typeface="Calibri"/>
              </a:rPr>
              <a:t>+$265,000  Potential Gain</a:t>
            </a:r>
            <a:endParaRPr lang="en-US" sz="1333">
              <a:latin typeface="Calibri"/>
              <a:ea typeface="Calibri"/>
              <a:cs typeface="Calibri"/>
            </a:endParaRPr>
          </a:p>
        </p:txBody>
      </p:sp>
      <p:sp>
        <p:nvSpPr>
          <p:cNvPr id="12" name="Shape 10">
            <a:extLst>
              <a:ext uri="{FF2B5EF4-FFF2-40B4-BE49-F238E27FC236}">
                <a16:creationId xmlns:a16="http://schemas.microsoft.com/office/drawing/2014/main" id="{1CA6B516-BE8A-9790-2C0D-EADDB47BBE38}"/>
              </a:ext>
            </a:extLst>
          </p:cNvPr>
          <p:cNvSpPr/>
          <p:nvPr/>
        </p:nvSpPr>
        <p:spPr>
          <a:xfrm>
            <a:off x="670560" y="2322576"/>
            <a:ext cx="3291840" cy="1280160"/>
          </a:xfrm>
          <a:prstGeom prst="rect">
            <a:avLst/>
          </a:prstGeom>
          <a:solidFill>
            <a:srgbClr val="EDECE7"/>
          </a:solidFill>
          <a:ln w="6350">
            <a:solidFill>
              <a:srgbClr val="DDDCD8"/>
            </a:solidFill>
            <a:prstDash val="solid"/>
          </a:ln>
        </p:spPr>
        <p:txBody>
          <a:bodyPr/>
          <a:lstStyle/>
          <a:p>
            <a:endParaRPr lang="en-US" sz="2400"/>
          </a:p>
        </p:txBody>
      </p:sp>
      <p:sp>
        <p:nvSpPr>
          <p:cNvPr id="13" name="Text 11">
            <a:extLst>
              <a:ext uri="{FF2B5EF4-FFF2-40B4-BE49-F238E27FC236}">
                <a16:creationId xmlns:a16="http://schemas.microsoft.com/office/drawing/2014/main" id="{68BDB75D-11DB-FE61-4E36-86367EE3DB39}"/>
              </a:ext>
            </a:extLst>
          </p:cNvPr>
          <p:cNvSpPr/>
          <p:nvPr/>
        </p:nvSpPr>
        <p:spPr>
          <a:xfrm>
            <a:off x="853440" y="2420112"/>
            <a:ext cx="2926080" cy="633984"/>
          </a:xfrm>
          <a:prstGeom prst="rect">
            <a:avLst/>
          </a:prstGeom>
          <a:noFill/>
          <a:ln/>
        </p:spPr>
        <p:txBody>
          <a:bodyPr wrap="square" lIns="0" tIns="0" rIns="0" bIns="0" rtlCol="0" anchor="ctr"/>
          <a:lstStyle/>
          <a:p>
            <a:r>
              <a:rPr lang="en-US" sz="3200">
                <a:solidFill>
                  <a:srgbClr val="993333"/>
                </a:solidFill>
                <a:latin typeface="Georgia" pitchFamily="34" charset="0"/>
                <a:ea typeface="Georgia" pitchFamily="34" charset="-122"/>
                <a:cs typeface="Georgia" pitchFamily="34" charset="-120"/>
              </a:rPr>
              <a:t>-17.25%</a:t>
            </a:r>
            <a:endParaRPr lang="en-US" sz="3200"/>
          </a:p>
        </p:txBody>
      </p:sp>
      <p:sp>
        <p:nvSpPr>
          <p:cNvPr id="14" name="Text 12">
            <a:extLst>
              <a:ext uri="{FF2B5EF4-FFF2-40B4-BE49-F238E27FC236}">
                <a16:creationId xmlns:a16="http://schemas.microsoft.com/office/drawing/2014/main" id="{E239ABF6-0323-0EC8-A2DB-7C4D471D3221}"/>
              </a:ext>
            </a:extLst>
          </p:cNvPr>
          <p:cNvSpPr/>
          <p:nvPr/>
        </p:nvSpPr>
        <p:spPr>
          <a:xfrm>
            <a:off x="853440" y="3102864"/>
            <a:ext cx="2926080" cy="243840"/>
          </a:xfrm>
          <a:prstGeom prst="rect">
            <a:avLst/>
          </a:prstGeom>
          <a:noFill/>
          <a:ln/>
        </p:spPr>
        <p:txBody>
          <a:bodyPr wrap="square" lIns="0" tIns="0" rIns="0" bIns="0" rtlCol="0" anchor="ctr"/>
          <a:lstStyle/>
          <a:p>
            <a:r>
              <a:rPr lang="en-US" sz="1333">
                <a:solidFill>
                  <a:srgbClr val="993333"/>
                </a:solidFill>
                <a:latin typeface="Calibri"/>
                <a:ea typeface="Calibri"/>
                <a:cs typeface="Calibri"/>
              </a:rPr>
              <a:t>-$163,000  Potential Loss</a:t>
            </a:r>
            <a:endParaRPr lang="en-US" sz="1333">
              <a:latin typeface="Calibri"/>
              <a:ea typeface="Calibri"/>
              <a:cs typeface="Calibri"/>
            </a:endParaRPr>
          </a:p>
        </p:txBody>
      </p:sp>
      <p:sp>
        <p:nvSpPr>
          <p:cNvPr id="15" name="Shape 13">
            <a:extLst>
              <a:ext uri="{FF2B5EF4-FFF2-40B4-BE49-F238E27FC236}">
                <a16:creationId xmlns:a16="http://schemas.microsoft.com/office/drawing/2014/main" id="{CED16FD5-8BB1-287C-9370-7472D0A152E1}"/>
              </a:ext>
            </a:extLst>
          </p:cNvPr>
          <p:cNvSpPr/>
          <p:nvPr/>
        </p:nvSpPr>
        <p:spPr>
          <a:xfrm>
            <a:off x="670560" y="3779520"/>
            <a:ext cx="10972800" cy="365760"/>
          </a:xfrm>
          <a:prstGeom prst="rect">
            <a:avLst/>
          </a:prstGeom>
          <a:solidFill>
            <a:srgbClr val="EDECE7"/>
          </a:solidFill>
          <a:ln w="6350">
            <a:solidFill>
              <a:srgbClr val="DDDCD8"/>
            </a:solidFill>
            <a:prstDash val="solid"/>
          </a:ln>
        </p:spPr>
        <p:txBody>
          <a:bodyPr/>
          <a:lstStyle/>
          <a:p>
            <a:endParaRPr lang="en-US" sz="2400"/>
          </a:p>
        </p:txBody>
      </p:sp>
      <p:sp>
        <p:nvSpPr>
          <p:cNvPr id="16" name="Shape 14">
            <a:extLst>
              <a:ext uri="{FF2B5EF4-FFF2-40B4-BE49-F238E27FC236}">
                <a16:creationId xmlns:a16="http://schemas.microsoft.com/office/drawing/2014/main" id="{6023491D-12C9-7FC6-BB6E-5DDA808FAB9E}"/>
              </a:ext>
            </a:extLst>
          </p:cNvPr>
          <p:cNvSpPr/>
          <p:nvPr/>
        </p:nvSpPr>
        <p:spPr>
          <a:xfrm>
            <a:off x="6559296" y="3779520"/>
            <a:ext cx="5084064" cy="365760"/>
          </a:xfrm>
          <a:prstGeom prst="rect">
            <a:avLst/>
          </a:prstGeom>
          <a:solidFill>
            <a:srgbClr val="D0EDD0"/>
          </a:solidFill>
          <a:ln w="12700">
            <a:solidFill>
              <a:srgbClr val="000000"/>
            </a:solidFill>
            <a:prstDash val="solid"/>
          </a:ln>
        </p:spPr>
        <p:txBody>
          <a:bodyPr/>
          <a:lstStyle/>
          <a:p>
            <a:endParaRPr lang="en-US" sz="2400"/>
          </a:p>
        </p:txBody>
      </p:sp>
      <p:sp>
        <p:nvSpPr>
          <p:cNvPr id="17" name="Shape 15">
            <a:extLst>
              <a:ext uri="{FF2B5EF4-FFF2-40B4-BE49-F238E27FC236}">
                <a16:creationId xmlns:a16="http://schemas.microsoft.com/office/drawing/2014/main" id="{AC908896-58AF-4379-AB62-B64D826E52AD}"/>
              </a:ext>
            </a:extLst>
          </p:cNvPr>
          <p:cNvSpPr/>
          <p:nvPr/>
        </p:nvSpPr>
        <p:spPr>
          <a:xfrm>
            <a:off x="670560" y="3779520"/>
            <a:ext cx="3169920" cy="365760"/>
          </a:xfrm>
          <a:prstGeom prst="rect">
            <a:avLst/>
          </a:prstGeom>
          <a:solidFill>
            <a:srgbClr val="EDD0D0"/>
          </a:solidFill>
          <a:ln w="12700">
            <a:solidFill>
              <a:srgbClr val="000000"/>
            </a:solidFill>
            <a:prstDash val="solid"/>
          </a:ln>
        </p:spPr>
        <p:txBody>
          <a:bodyPr/>
          <a:lstStyle/>
          <a:p>
            <a:endParaRPr lang="en-US" sz="2400"/>
          </a:p>
        </p:txBody>
      </p:sp>
      <p:sp>
        <p:nvSpPr>
          <p:cNvPr id="18" name="Shape 16">
            <a:extLst>
              <a:ext uri="{FF2B5EF4-FFF2-40B4-BE49-F238E27FC236}">
                <a16:creationId xmlns:a16="http://schemas.microsoft.com/office/drawing/2014/main" id="{F83430FB-21D2-3355-504C-BB80472DEE6D}"/>
              </a:ext>
            </a:extLst>
          </p:cNvPr>
          <p:cNvSpPr/>
          <p:nvPr/>
        </p:nvSpPr>
        <p:spPr>
          <a:xfrm>
            <a:off x="5221720" y="3734660"/>
            <a:ext cx="97536" cy="463296"/>
          </a:xfrm>
          <a:prstGeom prst="rect">
            <a:avLst/>
          </a:prstGeom>
          <a:solidFill>
            <a:srgbClr val="1A1E3A"/>
          </a:solidFill>
          <a:ln w="12700">
            <a:solidFill>
              <a:srgbClr val="000000"/>
            </a:solidFill>
            <a:prstDash val="solid"/>
          </a:ln>
        </p:spPr>
        <p:txBody>
          <a:bodyPr/>
          <a:lstStyle/>
          <a:p>
            <a:endParaRPr lang="en-US" sz="2400"/>
          </a:p>
        </p:txBody>
      </p:sp>
      <p:sp>
        <p:nvSpPr>
          <p:cNvPr id="19" name="Text 17">
            <a:extLst>
              <a:ext uri="{FF2B5EF4-FFF2-40B4-BE49-F238E27FC236}">
                <a16:creationId xmlns:a16="http://schemas.microsoft.com/office/drawing/2014/main" id="{02C6E8EC-C852-F6A6-ADCF-B6CB39EED8FC}"/>
              </a:ext>
            </a:extLst>
          </p:cNvPr>
          <p:cNvSpPr/>
          <p:nvPr/>
        </p:nvSpPr>
        <p:spPr>
          <a:xfrm>
            <a:off x="4782808" y="4245475"/>
            <a:ext cx="975360" cy="243840"/>
          </a:xfrm>
          <a:prstGeom prst="rect">
            <a:avLst/>
          </a:prstGeom>
          <a:noFill/>
          <a:ln/>
        </p:spPr>
        <p:txBody>
          <a:bodyPr wrap="square" lIns="0" tIns="0" rIns="0" bIns="0" rtlCol="0" anchor="ctr"/>
          <a:lstStyle/>
          <a:p>
            <a:pPr algn="ctr"/>
            <a:r>
              <a:rPr lang="en-US" sz="1400">
                <a:solidFill>
                  <a:srgbClr val="C9A84C"/>
                </a:solidFill>
                <a:latin typeface="Calibri"/>
                <a:ea typeface="Calibri"/>
                <a:cs typeface="Calibri"/>
              </a:rPr>
              <a:t>Current</a:t>
            </a:r>
            <a:endParaRPr lang="en-US" sz="1400">
              <a:latin typeface="Calibri"/>
              <a:ea typeface="Calibri"/>
              <a:cs typeface="Calibri"/>
            </a:endParaRPr>
          </a:p>
        </p:txBody>
      </p:sp>
      <p:sp>
        <p:nvSpPr>
          <p:cNvPr id="20" name="Text 18">
            <a:extLst>
              <a:ext uri="{FF2B5EF4-FFF2-40B4-BE49-F238E27FC236}">
                <a16:creationId xmlns:a16="http://schemas.microsoft.com/office/drawing/2014/main" id="{EEA2C71B-B374-FCB3-04C0-906C264D8B51}"/>
              </a:ext>
            </a:extLst>
          </p:cNvPr>
          <p:cNvSpPr/>
          <p:nvPr/>
        </p:nvSpPr>
        <p:spPr>
          <a:xfrm>
            <a:off x="670560" y="4716012"/>
            <a:ext cx="8848579" cy="1414272"/>
          </a:xfrm>
          <a:prstGeom prst="rect">
            <a:avLst/>
          </a:prstGeom>
          <a:noFill/>
          <a:ln/>
        </p:spPr>
        <p:txBody>
          <a:bodyPr wrap="square" lIns="0" tIns="0" rIns="0" bIns="0" rtlCol="0" anchor="ctr"/>
          <a:lstStyle/>
          <a:p>
            <a:pPr>
              <a:lnSpc>
                <a:spcPct val="135000"/>
              </a:lnSpc>
            </a:pPr>
            <a:r>
              <a:rPr lang="en-US" sz="600">
                <a:solidFill>
                  <a:srgbClr val="6A6A7A"/>
                </a:solidFill>
                <a:latin typeface="Calibri" pitchFamily="34" charset="0"/>
                <a:ea typeface="Calibri" pitchFamily="34" charset="-122"/>
                <a:cs typeface="Calibri" pitchFamily="34" charset="-120"/>
              </a:rPr>
              <a:t>The 95% Probability Range was calculated using a long-term average of 10.4% for the S&amp;P 500, 0bps change in the Ten-Year US Treasury Rate, and correlation and volatility data from 2008 to present. Riskalyze uses actual historical data to calculate the statistical probabilities</a:t>
            </a:r>
          </a:p>
          <a:p>
            <a:pPr>
              <a:lnSpc>
                <a:spcPct val="135000"/>
              </a:lnSpc>
            </a:pPr>
            <a:r>
              <a:rPr lang="en-US" sz="600">
                <a:solidFill>
                  <a:srgbClr val="6A6A7A"/>
                </a:solidFill>
                <a:latin typeface="Calibri" pitchFamily="34" charset="0"/>
                <a:ea typeface="Calibri" pitchFamily="34" charset="-122"/>
                <a:cs typeface="Calibri" pitchFamily="34" charset="-120"/>
              </a:rPr>
              <a:t>shown. For securities calculated using Average Annual Return, the Average Return will be calculated using actual price history from June 2004-present or inception. We calculate the annualized return number as ( final price / initial price ) ^ ( 1 / number of years ) - 1. Riskalyze</a:t>
            </a:r>
          </a:p>
          <a:p>
            <a:pPr>
              <a:lnSpc>
                <a:spcPct val="135000"/>
              </a:lnSpc>
            </a:pPr>
            <a:r>
              <a:rPr lang="en-US" sz="600">
                <a:solidFill>
                  <a:srgbClr val="6A6A7A"/>
                </a:solidFill>
                <a:latin typeface="Calibri" pitchFamily="34" charset="0"/>
                <a:ea typeface="Calibri" pitchFamily="34" charset="-122"/>
                <a:cs typeface="Calibri" pitchFamily="34" charset="-120"/>
              </a:rPr>
              <a:t>does not provide  investment analysis on investments with less than 6 months of historical performance. In instances where an investment’s inception is more recent than January 1, 2008 and greater than 6 months Riskalyze will use correlation statistics from the investments</a:t>
            </a:r>
          </a:p>
          <a:p>
            <a:pPr>
              <a:lnSpc>
                <a:spcPct val="135000"/>
              </a:lnSpc>
            </a:pPr>
            <a:r>
              <a:rPr lang="en-US" sz="600">
                <a:solidFill>
                  <a:srgbClr val="6A6A7A"/>
                </a:solidFill>
                <a:latin typeface="Calibri" pitchFamily="34" charset="0"/>
                <a:ea typeface="Calibri" pitchFamily="34" charset="-122"/>
                <a:cs typeface="Calibri" pitchFamily="34" charset="-120"/>
              </a:rPr>
              <a:t>actual trading history to extrapolate missing    volatility data. In most cases the extrapolation calculation increases the risk presented in the investment analysis as a means of protecting the investor. Investments with an inception more recent than January 1, 2008 are highlighted</a:t>
            </a:r>
          </a:p>
          <a:p>
            <a:pPr>
              <a:lnSpc>
                <a:spcPct val="135000"/>
              </a:lnSpc>
            </a:pPr>
            <a:r>
              <a:rPr lang="en-US" sz="600">
                <a:solidFill>
                  <a:srgbClr val="6A6A7A"/>
                </a:solidFill>
                <a:latin typeface="Calibri" pitchFamily="34" charset="0"/>
                <a:ea typeface="Calibri" pitchFamily="34" charset="-122"/>
                <a:cs typeface="Calibri" pitchFamily="34" charset="-120"/>
              </a:rPr>
              <a:t>with an information icon . The Six Month 95% Probability Range is calculated from the standard deviation of the portfolio (via covariance matrix), and represents a hypothetical statistical probability, but there is no guarantee any investments would perform within the range. There</a:t>
            </a:r>
          </a:p>
          <a:p>
            <a:pPr>
              <a:lnSpc>
                <a:spcPct val="135000"/>
              </a:lnSpc>
            </a:pPr>
            <a:r>
              <a:rPr lang="en-US" sz="600">
                <a:solidFill>
                  <a:srgbClr val="6A6A7A"/>
                </a:solidFill>
                <a:latin typeface="Calibri" pitchFamily="34" charset="0"/>
                <a:ea typeface="Calibri" pitchFamily="34" charset="-122"/>
                <a:cs typeface="Calibri" pitchFamily="34" charset="-120"/>
              </a:rPr>
              <a:t>is a 5% probability of greater losses. Riskalyze does not use any Monte Carlo or any other type of simulations. ​</a:t>
            </a:r>
          </a:p>
          <a:p>
            <a:pPr>
              <a:lnSpc>
                <a:spcPct val="135000"/>
              </a:lnSpc>
            </a:pPr>
            <a:r>
              <a:rPr lang="en-US" sz="600">
                <a:solidFill>
                  <a:srgbClr val="6A6A7A"/>
                </a:solidFill>
                <a:latin typeface="Calibri" pitchFamily="34" charset="0"/>
                <a:ea typeface="Calibri" pitchFamily="34" charset="-122"/>
                <a:cs typeface="Calibri" pitchFamily="34" charset="-120"/>
              </a:rPr>
              <a:t>The underlying data is updated as of the previous day’s market close price, and the results may vary with each use and over time. The investments considered were determined by the financial representative.​</a:t>
            </a:r>
          </a:p>
          <a:p>
            <a:pPr>
              <a:lnSpc>
                <a:spcPct val="135000"/>
              </a:lnSpc>
            </a:pPr>
            <a:r>
              <a:rPr lang="en-US" sz="600">
                <a:solidFill>
                  <a:srgbClr val="6A6A7A"/>
                </a:solidFill>
                <a:latin typeface="Calibri" pitchFamily="34" charset="0"/>
                <a:ea typeface="Calibri" pitchFamily="34" charset="-122"/>
                <a:cs typeface="Calibri" pitchFamily="34" charset="-120"/>
              </a:rPr>
              <a:t>IMPORTANT: The projections or other information generated by Riskalyze regarding the likelihood of various investment outcomes are hypothetical in nature, do not reflect actual investment ​</a:t>
            </a:r>
          </a:p>
          <a:p>
            <a:pPr>
              <a:lnSpc>
                <a:spcPct val="135000"/>
              </a:lnSpc>
            </a:pPr>
            <a:r>
              <a:rPr lang="en-US" sz="600">
                <a:solidFill>
                  <a:srgbClr val="6A6A7A"/>
                </a:solidFill>
                <a:latin typeface="Calibri" pitchFamily="34" charset="0"/>
                <a:ea typeface="Calibri" pitchFamily="34" charset="-122"/>
                <a:cs typeface="Calibri" pitchFamily="34" charset="-120"/>
              </a:rPr>
              <a:t>results and are not guarantees of future results. These figures may exclude commissions, sales charges or fees which, if included, would have had a negative effect on the annual returns.</a:t>
            </a:r>
            <a:endParaRPr lang="en-US" sz="600"/>
          </a:p>
        </p:txBody>
      </p:sp>
      <p:pic>
        <p:nvPicPr>
          <p:cNvPr id="25" name="Image 0" descr="preencoded.png">
            <a:extLst>
              <a:ext uri="{FF2B5EF4-FFF2-40B4-BE49-F238E27FC236}">
                <a16:creationId xmlns:a16="http://schemas.microsoft.com/office/drawing/2014/main" id="{401CA93E-3F3F-CEAB-772F-3EC04DF5BC33}"/>
              </a:ext>
            </a:extLst>
          </p:cNvPr>
          <p:cNvPicPr>
            <a:picLocks noChangeAspect="1"/>
          </p:cNvPicPr>
          <p:nvPr/>
        </p:nvPicPr>
        <p:blipFill>
          <a:blip r:embed="rId3"/>
          <a:stretch>
            <a:fillRect/>
          </a:stretch>
        </p:blipFill>
        <p:spPr>
          <a:xfrm>
            <a:off x="10362895" y="347472"/>
            <a:ext cx="1417320" cy="410550"/>
          </a:xfrm>
          <a:prstGeom prst="rect">
            <a:avLst/>
          </a:prstGeom>
        </p:spPr>
      </p:pic>
      <p:sp>
        <p:nvSpPr>
          <p:cNvPr id="26" name="Shape 0">
            <a:extLst>
              <a:ext uri="{FF2B5EF4-FFF2-40B4-BE49-F238E27FC236}">
                <a16:creationId xmlns:a16="http://schemas.microsoft.com/office/drawing/2014/main" id="{64EBDAC3-3330-0353-0A25-067924B7847C}"/>
              </a:ext>
            </a:extLst>
          </p:cNvPr>
          <p:cNvSpPr/>
          <p:nvPr/>
        </p:nvSpPr>
        <p:spPr>
          <a:xfrm>
            <a:off x="0" y="6547104"/>
            <a:ext cx="12191695" cy="310896"/>
          </a:xfrm>
          <a:prstGeom prst="rect">
            <a:avLst/>
          </a:prstGeom>
          <a:solidFill>
            <a:srgbClr val="F1EEE6"/>
          </a:solidFill>
          <a:ln/>
        </p:spPr>
        <p:txBody>
          <a:bodyPr/>
          <a:lstStyle/>
          <a:p>
            <a:endParaRPr lang="en-US"/>
          </a:p>
        </p:txBody>
      </p:sp>
      <p:sp>
        <p:nvSpPr>
          <p:cNvPr id="28" name="Text 1">
            <a:extLst>
              <a:ext uri="{FF2B5EF4-FFF2-40B4-BE49-F238E27FC236}">
                <a16:creationId xmlns:a16="http://schemas.microsoft.com/office/drawing/2014/main" id="{E5A1B716-E691-3231-74A4-D8BCCD893DD1}"/>
              </a:ext>
            </a:extLst>
          </p:cNvPr>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30" name="Text 2">
            <a:extLst>
              <a:ext uri="{FF2B5EF4-FFF2-40B4-BE49-F238E27FC236}">
                <a16:creationId xmlns:a16="http://schemas.microsoft.com/office/drawing/2014/main" id="{283F9659-8BA6-B074-42D8-1C126B0ED471}"/>
              </a:ext>
            </a:extLst>
          </p:cNvPr>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32" name="Text 3">
            <a:extLst>
              <a:ext uri="{FF2B5EF4-FFF2-40B4-BE49-F238E27FC236}">
                <a16:creationId xmlns:a16="http://schemas.microsoft.com/office/drawing/2014/main" id="{ECC467F8-0A8B-42C8-6B56-88B1E5AA8A2A}"/>
              </a:ext>
            </a:extLst>
          </p:cNvPr>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spTree>
    <p:extLst>
      <p:ext uri="{BB962C8B-B14F-4D97-AF65-F5344CB8AC3E}">
        <p14:creationId xmlns:p14="http://schemas.microsoft.com/office/powerpoint/2010/main" val="60846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P spid="15" grpId="0" animBg="1"/>
      <p:bldP spid="16" grpId="0" animBg="1"/>
      <p:bldP spid="17" grpId="0" animBg="1"/>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$300,000 LTC ANNUITY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Lifetime 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48640" y="1554480"/>
            <a:ext cx="11064240" cy="2367198"/>
          </a:xfrm>
          <a:prstGeom prst="rect">
            <a:avLst/>
          </a:prstGeom>
        </p:spPr>
      </p:pic>
      <p:pic>
        <p:nvPicPr>
          <p:cNvPr id="11" name="Image 2" descr="preencoded.png"/>
          <p:cNvPicPr>
            <a:picLocks noChangeAspect="1"/>
          </p:cNvPicPr>
          <p:nvPr/>
        </p:nvPicPr>
        <p:blipFill>
          <a:blip r:embed="rId5"/>
          <a:stretch>
            <a:fillRect/>
          </a:stretch>
        </p:blipFill>
        <p:spPr>
          <a:xfrm>
            <a:off x="548640" y="4013118"/>
            <a:ext cx="11064240" cy="21832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BASE PLAN VS. ANNUITY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Lifetime Cash Flow</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554480"/>
            <a:ext cx="10972800" cy="411480"/>
          </a:xfrm>
          <a:prstGeom prst="rect">
            <a:avLst/>
          </a:prstGeom>
          <a:noFill/>
          <a:ln/>
        </p:spPr>
        <p:txBody>
          <a:bodyPr wrap="square" lIns="0" tIns="0" rIns="0" bIns="0" rtlCol="0" anchor="ctr"/>
          <a:lstStyle/>
          <a:p>
            <a:pPr marL="0" indent="0">
              <a:buNone/>
            </a:pPr>
            <a:r>
              <a:rPr lang="en-US" sz="1800">
                <a:solidFill>
                  <a:srgbClr val="8B7355"/>
                </a:solidFill>
                <a:latin typeface="Georgia" pitchFamily="34" charset="0"/>
                <a:ea typeface="Georgia" pitchFamily="34" charset="-122"/>
                <a:cs typeface="Georgia" pitchFamily="34" charset="-120"/>
              </a:rPr>
              <a:t>Base Plan: </a:t>
            </a:r>
            <a:r>
              <a:rPr lang="en-US" sz="1800" b="1">
                <a:solidFill>
                  <a:srgbClr val="171738"/>
                </a:solidFill>
                <a:latin typeface="Georgia" pitchFamily="34" charset="0"/>
                <a:ea typeface="Georgia" pitchFamily="34" charset="-122"/>
                <a:cs typeface="Georgia" pitchFamily="34" charset="-120"/>
              </a:rPr>
              <a:t>$3,290,000</a:t>
            </a:r>
            <a:r>
              <a:rPr lang="en-US" sz="1800">
                <a:solidFill>
                  <a:srgbClr val="8B7355"/>
                </a:solidFill>
                <a:latin typeface="Georgia" pitchFamily="34" charset="0"/>
                <a:ea typeface="Georgia" pitchFamily="34" charset="-122"/>
                <a:cs typeface="Georgia" pitchFamily="34" charset="-120"/>
              </a:rPr>
              <a:t>      LTC Annuity: </a:t>
            </a:r>
            <a:r>
              <a:rPr lang="en-US" sz="1800" b="1">
                <a:solidFill>
                  <a:srgbClr val="171738"/>
                </a:solidFill>
                <a:latin typeface="Georgia" pitchFamily="34" charset="0"/>
                <a:ea typeface="Georgia" pitchFamily="34" charset="-122"/>
                <a:cs typeface="Georgia" pitchFamily="34" charset="-120"/>
              </a:rPr>
              <a:t>$2,702,000</a:t>
            </a:r>
            <a:endParaRPr lang="en-US" sz="1800"/>
          </a:p>
        </p:txBody>
      </p:sp>
      <p:pic>
        <p:nvPicPr>
          <p:cNvPr id="11" name="Image 1" descr="preencoded.png"/>
          <p:cNvPicPr>
            <a:picLocks noChangeAspect="1"/>
          </p:cNvPicPr>
          <p:nvPr/>
        </p:nvPicPr>
        <p:blipFill>
          <a:blip r:embed="rId4"/>
          <a:stretch>
            <a:fillRect/>
          </a:stretch>
        </p:blipFill>
        <p:spPr>
          <a:xfrm>
            <a:off x="548640" y="2148840"/>
            <a:ext cx="11064240" cy="28778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47104"/>
            <a:ext cx="12191695" cy="310896"/>
          </a:xfrm>
          <a:prstGeom prst="rect">
            <a:avLst/>
          </a:prstGeom>
          <a:solidFill>
            <a:srgbClr val="F1EEE6"/>
          </a:solidFill>
          <a:ln/>
        </p:spPr>
        <p:txBody>
          <a:bodyPr/>
          <a:lstStyle/>
          <a:p>
            <a:endParaRPr lang="en-US"/>
          </a:p>
        </p:txBody>
      </p:sp>
      <p:sp>
        <p:nvSpPr>
          <p:cNvPr id="3" name="Text 1"/>
          <p:cNvSpPr/>
          <p:nvPr/>
        </p:nvSpPr>
        <p:spPr>
          <a:xfrm>
            <a:off x="411480" y="6547104"/>
            <a:ext cx="3840480" cy="310896"/>
          </a:xfrm>
          <a:prstGeom prst="rect">
            <a:avLst/>
          </a:prstGeom>
          <a:noFill/>
          <a:ln/>
        </p:spPr>
        <p:txBody>
          <a:bodyPr wrap="square" lIns="0" tIns="0" rIns="0" bIns="0" rtlCol="0" anchor="ctr"/>
          <a:lstStyle/>
          <a:p>
            <a:pPr marL="0" indent="0">
              <a:buNone/>
            </a:pPr>
            <a:r>
              <a:rPr lang="en-US" sz="700" kern="0" spc="200">
                <a:solidFill>
                  <a:srgbClr val="8B7355"/>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4270248" y="6547104"/>
            <a:ext cx="3657600" cy="310896"/>
          </a:xfrm>
          <a:prstGeom prst="rect">
            <a:avLst/>
          </a:prstGeom>
          <a:noFill/>
          <a:ln/>
        </p:spPr>
        <p:txBody>
          <a:bodyPr wrap="square" lIns="0" tIns="0" rIns="0" bIns="0" rtlCol="0" anchor="ctr"/>
          <a:lstStyle/>
          <a:p>
            <a:pPr marL="0" indent="0" algn="ctr">
              <a:buNone/>
            </a:pPr>
            <a:r>
              <a:rPr lang="en-US" sz="700">
                <a:solidFill>
                  <a:srgbClr val="8B7355"/>
                </a:solidFill>
                <a:latin typeface="Calibri" pitchFamily="34" charset="0"/>
                <a:ea typeface="Calibri" pitchFamily="34" charset="-122"/>
                <a:cs typeface="Calibri" pitchFamily="34" charset="-120"/>
              </a:rPr>
              <a:t>Paradiem, LLC is a Registered Investment Advisor.</a:t>
            </a:r>
            <a:endParaRPr lang="en-US" sz="700"/>
          </a:p>
        </p:txBody>
      </p:sp>
      <p:sp>
        <p:nvSpPr>
          <p:cNvPr id="5" name="Text 3"/>
          <p:cNvSpPr/>
          <p:nvPr/>
        </p:nvSpPr>
        <p:spPr>
          <a:xfrm>
            <a:off x="7939735" y="6547104"/>
            <a:ext cx="3840480" cy="310896"/>
          </a:xfrm>
          <a:prstGeom prst="rect">
            <a:avLst/>
          </a:prstGeom>
          <a:noFill/>
          <a:ln/>
        </p:spPr>
        <p:txBody>
          <a:bodyPr wrap="square" lIns="0" tIns="0" rIns="0" bIns="0" rtlCol="0" anchor="ctr"/>
          <a:lstStyle/>
          <a:p>
            <a:pPr marL="0" indent="0" algn="r">
              <a:buNone/>
            </a:pPr>
            <a:r>
              <a:rPr lang="en-US" sz="700" kern="0" spc="200">
                <a:solidFill>
                  <a:srgbClr val="8B7355"/>
                </a:solidFill>
                <a:latin typeface="Calibri" pitchFamily="34" charset="0"/>
                <a:ea typeface="Calibri" pitchFamily="34" charset="-122"/>
                <a:cs typeface="Calibri" pitchFamily="34" charset="-120"/>
              </a:rPr>
              <a:t>CONFIDENTIAL — NOT FOR DISTRIBUTION</a:t>
            </a:r>
            <a:endParaRPr lang="en-US" sz="700"/>
          </a:p>
        </p:txBody>
      </p:sp>
      <p:pic>
        <p:nvPicPr>
          <p:cNvPr id="6" name="Image 0" descr="preencoded.png"/>
          <p:cNvPicPr>
            <a:picLocks noChangeAspect="1"/>
          </p:cNvPicPr>
          <p:nvPr/>
        </p:nvPicPr>
        <p:blipFill>
          <a:blip r:embed="rId3"/>
          <a:stretch>
            <a:fillRect/>
          </a:stretch>
        </p:blipFill>
        <p:spPr>
          <a:xfrm>
            <a:off x="10362895" y="347472"/>
            <a:ext cx="1417320" cy="410550"/>
          </a:xfrm>
          <a:prstGeom prst="rect">
            <a:avLst/>
          </a:prstGeom>
        </p:spPr>
      </p:pic>
      <p:sp>
        <p:nvSpPr>
          <p:cNvPr id="7" name="Text 4"/>
          <p:cNvSpPr/>
          <p:nvPr/>
        </p:nvSpPr>
        <p:spPr>
          <a:xfrm>
            <a:off x="548640" y="384048"/>
            <a:ext cx="8229600" cy="256032"/>
          </a:xfrm>
          <a:prstGeom prst="rect">
            <a:avLst/>
          </a:prstGeom>
          <a:noFill/>
          <a:ln/>
        </p:spPr>
        <p:txBody>
          <a:bodyPr wrap="square" lIns="0" tIns="0" rIns="0" bIns="0" rtlCol="0" anchor="ctr"/>
          <a:lstStyle/>
          <a:p>
            <a:pPr marL="0" indent="0">
              <a:buNone/>
            </a:pPr>
            <a:r>
              <a:rPr lang="en-US" sz="900" b="1" kern="0" spc="400">
                <a:solidFill>
                  <a:srgbClr val="C9A84C"/>
                </a:solidFill>
                <a:latin typeface="Calibri" pitchFamily="34" charset="0"/>
                <a:ea typeface="Calibri" pitchFamily="34" charset="-122"/>
                <a:cs typeface="Calibri" pitchFamily="34" charset="-120"/>
              </a:rPr>
              <a:t>PLAN SUMMARY</a:t>
            </a:r>
            <a:endParaRPr lang="en-US" sz="900"/>
          </a:p>
        </p:txBody>
      </p:sp>
      <p:sp>
        <p:nvSpPr>
          <p:cNvPr id="8" name="Text 5"/>
          <p:cNvSpPr/>
          <p:nvPr/>
        </p:nvSpPr>
        <p:spPr>
          <a:xfrm>
            <a:off x="548640" y="658368"/>
            <a:ext cx="9144000" cy="566928"/>
          </a:xfrm>
          <a:prstGeom prst="rect">
            <a:avLst/>
          </a:prstGeom>
          <a:noFill/>
          <a:ln/>
        </p:spPr>
        <p:txBody>
          <a:bodyPr wrap="square" lIns="0" tIns="0" rIns="0" bIns="0" rtlCol="0" anchor="t"/>
          <a:lstStyle/>
          <a:p>
            <a:pPr marL="0" indent="0">
              <a:buNone/>
            </a:pPr>
            <a:r>
              <a:rPr lang="en-US" sz="2600">
                <a:solidFill>
                  <a:srgbClr val="171738"/>
                </a:solidFill>
                <a:latin typeface="Georgia" pitchFamily="34" charset="0"/>
                <a:ea typeface="Georgia" pitchFamily="34" charset="-122"/>
                <a:cs typeface="Georgia" pitchFamily="34" charset="-120"/>
              </a:rPr>
              <a:t>Plan Summary</a:t>
            </a:r>
            <a:endParaRPr lang="en-US" sz="2600"/>
          </a:p>
        </p:txBody>
      </p:sp>
      <p:sp>
        <p:nvSpPr>
          <p:cNvPr id="9" name="Shape 6"/>
          <p:cNvSpPr/>
          <p:nvPr/>
        </p:nvSpPr>
        <p:spPr>
          <a:xfrm>
            <a:off x="548640" y="1298448"/>
            <a:ext cx="822960" cy="27432"/>
          </a:xfrm>
          <a:prstGeom prst="rect">
            <a:avLst/>
          </a:prstGeom>
          <a:solidFill>
            <a:srgbClr val="C9A84C"/>
          </a:solidFill>
          <a:ln/>
        </p:spPr>
        <p:txBody>
          <a:bodyPr/>
          <a:lstStyle/>
          <a:p>
            <a:endParaRPr lang="en-US"/>
          </a:p>
        </p:txBody>
      </p:sp>
      <p:sp>
        <p:nvSpPr>
          <p:cNvPr id="10" name="Text 7"/>
          <p:cNvSpPr/>
          <p:nvPr/>
        </p:nvSpPr>
        <p:spPr>
          <a:xfrm>
            <a:off x="548640" y="1600200"/>
            <a:ext cx="10972800" cy="4572000"/>
          </a:xfrm>
          <a:prstGeom prst="rect">
            <a:avLst/>
          </a:prstGeom>
          <a:noFill/>
          <a:ln/>
        </p:spPr>
        <p:txBody>
          <a:bodyPr wrap="square" lIns="0" tIns="0" rIns="0" bIns="0" rtlCol="0" anchor="t"/>
          <a:lstStyle/>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Modeled 100% Participant Spouse on Pension 1 and 50% Participant Spouse on Pension 2.</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Begin Social Security at age 63.</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Withdrawal from your IRA to keep lifestyle spending at $96,000/year.</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Based on the projected cash flow, you would be better off self-funding any Long Term Care needs.</a:t>
            </a:r>
            <a:endParaRPr lang="en-US" sz="1600"/>
          </a:p>
          <a:p>
            <a:pPr marL="228600" indent="-228600">
              <a:spcAft>
                <a:spcPts val="900"/>
              </a:spcAft>
              <a:buSzPct val="100000"/>
              <a:buChar char="■"/>
            </a:pPr>
            <a:r>
              <a:rPr lang="en-US" sz="1600">
                <a:solidFill>
                  <a:srgbClr val="3C3A4E"/>
                </a:solidFill>
                <a:latin typeface="Calibri" pitchFamily="34" charset="0"/>
                <a:ea typeface="Calibri" pitchFamily="34" charset="-122"/>
                <a:cs typeface="Calibri" pitchFamily="34" charset="-120"/>
              </a:rPr>
              <a:t>By the time of your projected death, your estate is projected to have ~$3,200,000 in total portfolio assets.</a:t>
            </a:r>
            <a:endParaRPr lang="en-US" sz="1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A1E3A"/>
        </a:solidFill>
        <a:effectLst/>
      </p:bgPr>
    </p:bg>
    <p:spTree>
      <p:nvGrpSpPr>
        <p:cNvPr id="1" name=""/>
        <p:cNvGrpSpPr/>
        <p:nvPr/>
      </p:nvGrpSpPr>
      <p:grpSpPr>
        <a:xfrm>
          <a:off x="0" y="0"/>
          <a:ext cx="0" cy="0"/>
          <a:chOff x="0" y="0"/>
          <a:chExt cx="0" cy="0"/>
        </a:xfrm>
      </p:grpSpPr>
      <p:sp>
        <p:nvSpPr>
          <p:cNvPr id="2" name="Shape 0"/>
          <p:cNvSpPr/>
          <p:nvPr/>
        </p:nvSpPr>
        <p:spPr>
          <a:xfrm>
            <a:off x="0" y="6400800"/>
            <a:ext cx="12188952" cy="457200"/>
          </a:xfrm>
          <a:prstGeom prst="rect">
            <a:avLst/>
          </a:prstGeom>
          <a:solidFill>
            <a:srgbClr val="EDECE7"/>
          </a:solidFill>
          <a:ln w="12700">
            <a:solidFill>
              <a:srgbClr val="EDECE7"/>
            </a:solidFill>
            <a:prstDash val="solid"/>
          </a:ln>
        </p:spPr>
        <p:txBody>
          <a:bodyPr/>
          <a:lstStyle/>
          <a:p>
            <a:endParaRPr lang="en-US"/>
          </a:p>
        </p:txBody>
      </p:sp>
      <p:sp>
        <p:nvSpPr>
          <p:cNvPr id="3" name="Text 1"/>
          <p:cNvSpPr/>
          <p:nvPr/>
        </p:nvSpPr>
        <p:spPr>
          <a:xfrm>
            <a:off x="411480" y="6510528"/>
            <a:ext cx="5943600" cy="228600"/>
          </a:xfrm>
          <a:prstGeom prst="rect">
            <a:avLst/>
          </a:prstGeom>
          <a:noFill/>
          <a:ln/>
        </p:spPr>
        <p:txBody>
          <a:bodyPr wrap="square" lIns="0" tIns="0" rIns="0" bIns="0" rtlCol="0" anchor="ctr"/>
          <a:lstStyle/>
          <a:p>
            <a:pPr marL="0" indent="0" algn="l">
              <a:buNone/>
            </a:pPr>
            <a:r>
              <a:rPr lang="en-US" sz="700" kern="0" spc="150">
                <a:solidFill>
                  <a:srgbClr val="9A9A8A"/>
                </a:solidFill>
                <a:latin typeface="Calibri" pitchFamily="34" charset="0"/>
                <a:ea typeface="Calibri" pitchFamily="34" charset="-122"/>
                <a:cs typeface="Calibri" pitchFamily="34" charset="-120"/>
              </a:rPr>
              <a:t>PARADIEM  |  FAMILY CAPITAL ARCHITECTURE</a:t>
            </a:r>
            <a:endParaRPr lang="en-US" sz="700"/>
          </a:p>
        </p:txBody>
      </p:sp>
      <p:sp>
        <p:nvSpPr>
          <p:cNvPr id="4" name="Text 2"/>
          <p:cNvSpPr/>
          <p:nvPr/>
        </p:nvSpPr>
        <p:spPr>
          <a:xfrm>
            <a:off x="6291072" y="6510528"/>
            <a:ext cx="5486400" cy="228600"/>
          </a:xfrm>
          <a:prstGeom prst="rect">
            <a:avLst/>
          </a:prstGeom>
          <a:noFill/>
          <a:ln/>
        </p:spPr>
        <p:txBody>
          <a:bodyPr wrap="square" lIns="0" tIns="0" rIns="0" bIns="0" rtlCol="0" anchor="ctr"/>
          <a:lstStyle/>
          <a:p>
            <a:pPr marL="0" indent="0" algn="r">
              <a:buNone/>
            </a:pPr>
            <a:r>
              <a:rPr lang="en-US" sz="700" kern="0" spc="150">
                <a:solidFill>
                  <a:srgbClr val="9A9A8A"/>
                </a:solidFill>
                <a:latin typeface="Calibri" pitchFamily="34" charset="0"/>
                <a:ea typeface="Calibri" pitchFamily="34" charset="-122"/>
                <a:cs typeface="Calibri" pitchFamily="34" charset="-120"/>
              </a:rPr>
              <a:t>CONFIDENTIAL  —  NOT FOR DISTRIBUTION</a:t>
            </a:r>
            <a:endParaRPr lang="en-US" sz="700"/>
          </a:p>
        </p:txBody>
      </p:sp>
      <p:sp>
        <p:nvSpPr>
          <p:cNvPr id="5" name="Text 3"/>
          <p:cNvSpPr/>
          <p:nvPr/>
        </p:nvSpPr>
        <p:spPr>
          <a:xfrm>
            <a:off x="1371600" y="2011680"/>
            <a:ext cx="9418320" cy="2286000"/>
          </a:xfrm>
          <a:prstGeom prst="rect">
            <a:avLst/>
          </a:prstGeom>
          <a:noFill/>
          <a:ln/>
        </p:spPr>
        <p:txBody>
          <a:bodyPr wrap="square" lIns="0" tIns="0" rIns="0" bIns="0" rtlCol="0" anchor="ctr"/>
          <a:lstStyle/>
          <a:p>
            <a:pPr marL="0" indent="0" algn="l">
              <a:lnSpc>
                <a:spcPct val="110000"/>
              </a:lnSpc>
              <a:buNone/>
            </a:pPr>
            <a:r>
              <a:rPr lang="en-US" sz="5200">
                <a:solidFill>
                  <a:srgbClr val="FFFFFF"/>
                </a:solidFill>
                <a:latin typeface="Georgia" pitchFamily="34" charset="0"/>
                <a:ea typeface="Georgia" pitchFamily="34" charset="-122"/>
                <a:cs typeface="Georgia" pitchFamily="34" charset="-120"/>
              </a:rPr>
              <a:t>Timeline and</a:t>
            </a:r>
            <a:endParaRPr lang="en-US" sz="5200"/>
          </a:p>
          <a:p>
            <a:pPr marL="0" indent="0" algn="l">
              <a:lnSpc>
                <a:spcPct val="110000"/>
              </a:lnSpc>
              <a:buNone/>
            </a:pPr>
            <a:r>
              <a:rPr lang="en-US" sz="5200">
                <a:solidFill>
                  <a:srgbClr val="FFFFFF"/>
                </a:solidFill>
                <a:latin typeface="Georgia" pitchFamily="34" charset="0"/>
                <a:ea typeface="Georgia" pitchFamily="34" charset="-122"/>
                <a:cs typeface="Georgia" pitchFamily="34" charset="-120"/>
              </a:rPr>
              <a:t>Next Steps</a:t>
            </a:r>
            <a:endParaRPr lang="en-US" sz="5200"/>
          </a:p>
        </p:txBody>
      </p:sp>
      <p:sp>
        <p:nvSpPr>
          <p:cNvPr id="6" name="Shape 4"/>
          <p:cNvSpPr/>
          <p:nvPr/>
        </p:nvSpPr>
        <p:spPr>
          <a:xfrm>
            <a:off x="1371600" y="4343400"/>
            <a:ext cx="1645920" cy="0"/>
          </a:xfrm>
          <a:prstGeom prst="line">
            <a:avLst/>
          </a:prstGeom>
          <a:noFill/>
          <a:ln w="31750">
            <a:solidFill>
              <a:srgbClr val="C9A84C"/>
            </a:solidFill>
            <a:prstDash val="solid"/>
          </a:ln>
        </p:spPr>
        <p:txBody>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A1E3A"/>
          </a:solidFill>
          <a:ln w="12700">
            <a:solidFill>
              <a:srgbClr val="1A1E3A"/>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TIMELINE</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600">
                <a:solidFill>
                  <a:srgbClr val="1A1E3A"/>
                </a:solidFill>
                <a:latin typeface="Georgia" pitchFamily="34" charset="0"/>
                <a:ea typeface="Georgia" pitchFamily="34" charset="-122"/>
                <a:cs typeface="Georgia" pitchFamily="34" charset="-120"/>
              </a:rPr>
              <a:t>Timeline</a:t>
            </a:r>
            <a:endParaRPr lang="en-US" sz="2600"/>
          </a:p>
          <a:p>
            <a:pPr marL="0" indent="0" algn="l">
              <a:buNone/>
            </a:pPr>
            <a:r>
              <a:rPr lang="en-US" sz="2600">
                <a:solidFill>
                  <a:srgbClr val="1A1E3A"/>
                </a:solidFill>
                <a:latin typeface="Georgia" pitchFamily="34" charset="0"/>
                <a:ea typeface="Georgia" pitchFamily="34" charset="-122"/>
                <a:cs typeface="Georgia" pitchFamily="34" charset="-120"/>
              </a:rPr>
              <a:t>First Year</a:t>
            </a:r>
            <a:endParaRPr lang="en-US" sz="26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EDECE7"/>
          </a:solidFill>
          <a:ln w="12700">
            <a:solidFill>
              <a:srgbClr val="EDECE7"/>
            </a:solidFill>
            <a:prstDash val="solid"/>
          </a:ln>
        </p:spPr>
        <p:txBody>
          <a:bodyPr/>
          <a:lstStyle/>
          <a:p>
            <a:endParaRPr lang="en-US"/>
          </a:p>
        </p:txBody>
      </p:sp>
      <p:sp>
        <p:nvSpPr>
          <p:cNvPr id="7" name="Text 5"/>
          <p:cNvSpPr/>
          <p:nvPr/>
        </p:nvSpPr>
        <p:spPr>
          <a:xfrm>
            <a:off x="411480" y="6510528"/>
            <a:ext cx="5943600" cy="228600"/>
          </a:xfrm>
          <a:prstGeom prst="rect">
            <a:avLst/>
          </a:prstGeom>
          <a:noFill/>
          <a:ln/>
        </p:spPr>
        <p:txBody>
          <a:bodyPr wrap="square" lIns="0" tIns="0" rIns="0" bIns="0" rtlCol="0" anchor="ctr"/>
          <a:lstStyle/>
          <a:p>
            <a:pPr marL="0" indent="0" algn="l">
              <a:buNone/>
            </a:pPr>
            <a:r>
              <a:rPr lang="en-US" sz="700" kern="0" spc="150">
                <a:solidFill>
                  <a:srgbClr val="9A9A8A"/>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6291072" y="6510528"/>
            <a:ext cx="5486400" cy="228600"/>
          </a:xfrm>
          <a:prstGeom prst="rect">
            <a:avLst/>
          </a:prstGeom>
          <a:noFill/>
          <a:ln/>
        </p:spPr>
        <p:txBody>
          <a:bodyPr wrap="square" lIns="0" tIns="0" rIns="0" bIns="0" rtlCol="0" anchor="ctr"/>
          <a:lstStyle/>
          <a:p>
            <a:pPr marL="0" indent="0" algn="r">
              <a:buNone/>
            </a:pPr>
            <a:r>
              <a:rPr lang="en-US" sz="700" kern="0" spc="150">
                <a:solidFill>
                  <a:srgbClr val="9A9A8A"/>
                </a:solidFill>
                <a:latin typeface="Calibri" pitchFamily="34" charset="0"/>
                <a:ea typeface="Calibri" pitchFamily="34" charset="-122"/>
                <a:cs typeface="Calibri" pitchFamily="34" charset="-120"/>
              </a:rPr>
              <a:t>CONFIDENTIAL  —  NOT FOR DISTRIBUTION</a:t>
            </a:r>
            <a:endParaRPr lang="en-US" sz="700"/>
          </a:p>
        </p:txBody>
      </p:sp>
      <p:sp>
        <p:nvSpPr>
          <p:cNvPr id="11" name="TextBox 10">
            <a:extLst>
              <a:ext uri="{FF2B5EF4-FFF2-40B4-BE49-F238E27FC236}">
                <a16:creationId xmlns:a16="http://schemas.microsoft.com/office/drawing/2014/main" id="{1107FCCE-9344-E85E-E5A9-E61C5C6A7A95}"/>
              </a:ext>
            </a:extLst>
          </p:cNvPr>
          <p:cNvSpPr txBox="1"/>
          <p:nvPr/>
        </p:nvSpPr>
        <p:spPr>
          <a:xfrm>
            <a:off x="3383280" y="3032236"/>
            <a:ext cx="5032710" cy="369332"/>
          </a:xfrm>
          <a:prstGeom prst="rect">
            <a:avLst/>
          </a:prstGeom>
          <a:noFill/>
        </p:spPr>
        <p:txBody>
          <a:bodyPr wrap="square" rtlCol="0">
            <a:spAutoFit/>
          </a:bodyPr>
          <a:lstStyle/>
          <a:p>
            <a:r>
              <a:rPr lang="en-US">
                <a:solidFill>
                  <a:srgbClr val="EE0000"/>
                </a:solidFill>
                <a:latin typeface="Tahoma" panose="020B0604030504040204" pitchFamily="34" charset="0"/>
                <a:ea typeface="Tahoma" panose="020B0604030504040204" pitchFamily="34" charset="0"/>
                <a:cs typeface="Tahoma" panose="020B0604030504040204" pitchFamily="34" charset="0"/>
              </a:rPr>
              <a:t>Paste in from Excel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02920"/>
            <a:ext cx="73152" cy="5212080"/>
          </a:xfrm>
          <a:prstGeom prst="rect">
            <a:avLst/>
          </a:prstGeom>
          <a:solidFill>
            <a:srgbClr val="1A1E3A"/>
          </a:solidFill>
          <a:ln w="12700">
            <a:solidFill>
              <a:srgbClr val="1A1E3A"/>
            </a:solidFill>
            <a:prstDash val="solid"/>
          </a:ln>
        </p:spPr>
        <p:txBody>
          <a:bodyPr/>
          <a:lstStyle/>
          <a:p>
            <a:endParaRPr lang="en-US"/>
          </a:p>
        </p:txBody>
      </p:sp>
      <p:sp>
        <p:nvSpPr>
          <p:cNvPr id="3" name="Text 1"/>
          <p:cNvSpPr/>
          <p:nvPr/>
        </p:nvSpPr>
        <p:spPr>
          <a:xfrm>
            <a:off x="548640" y="201168"/>
            <a:ext cx="10972800" cy="201168"/>
          </a:xfrm>
          <a:prstGeom prst="rect">
            <a:avLst/>
          </a:prstGeom>
          <a:noFill/>
          <a:ln/>
        </p:spPr>
        <p:txBody>
          <a:bodyPr wrap="square" lIns="0" tIns="0" rIns="0" bIns="0" rtlCol="0" anchor="t"/>
          <a:lstStyle/>
          <a:p>
            <a:pPr marL="0" indent="0" algn="l">
              <a:buNone/>
            </a:pPr>
            <a:r>
              <a:rPr lang="en-US" sz="1350" kern="0" spc="300">
                <a:solidFill>
                  <a:srgbClr val="C9A84C"/>
                </a:solidFill>
                <a:latin typeface="Calibri" pitchFamily="34" charset="0"/>
                <a:ea typeface="Calibri" pitchFamily="34" charset="-122"/>
                <a:cs typeface="Calibri" pitchFamily="34" charset="-120"/>
              </a:rPr>
              <a:t>ACTION PLAN</a:t>
            </a:r>
            <a:endParaRPr lang="en-US" sz="1350"/>
          </a:p>
        </p:txBody>
      </p:sp>
      <p:sp>
        <p:nvSpPr>
          <p:cNvPr id="4" name="Text 2"/>
          <p:cNvSpPr/>
          <p:nvPr/>
        </p:nvSpPr>
        <p:spPr>
          <a:xfrm>
            <a:off x="548640" y="457200"/>
            <a:ext cx="10515600" cy="822960"/>
          </a:xfrm>
          <a:prstGeom prst="rect">
            <a:avLst/>
          </a:prstGeom>
          <a:noFill/>
          <a:ln/>
        </p:spPr>
        <p:txBody>
          <a:bodyPr wrap="square" lIns="0" tIns="0" rIns="0" bIns="0" rtlCol="0" anchor="t"/>
          <a:lstStyle/>
          <a:p>
            <a:pPr marL="0" indent="0" algn="l">
              <a:buNone/>
            </a:pPr>
            <a:r>
              <a:rPr lang="en-US" sz="2800">
                <a:solidFill>
                  <a:srgbClr val="1A1E3A"/>
                </a:solidFill>
                <a:latin typeface="Georgia" pitchFamily="34" charset="0"/>
                <a:ea typeface="Georgia" pitchFamily="34" charset="-122"/>
                <a:cs typeface="Georgia" pitchFamily="34" charset="-120"/>
              </a:rPr>
              <a:t>Next Steps</a:t>
            </a:r>
            <a:endParaRPr lang="en-US" sz="2800"/>
          </a:p>
        </p:txBody>
      </p:sp>
      <p:sp>
        <p:nvSpPr>
          <p:cNvPr id="5" name="Shape 3"/>
          <p:cNvSpPr/>
          <p:nvPr/>
        </p:nvSpPr>
        <p:spPr>
          <a:xfrm>
            <a:off x="548640" y="1417320"/>
            <a:ext cx="1188720" cy="0"/>
          </a:xfrm>
          <a:prstGeom prst="line">
            <a:avLst/>
          </a:prstGeom>
          <a:noFill/>
          <a:ln w="31750">
            <a:solidFill>
              <a:srgbClr val="C9A84C"/>
            </a:solidFill>
            <a:prstDash val="solid"/>
          </a:ln>
        </p:spPr>
        <p:txBody>
          <a:bodyPr/>
          <a:lstStyle/>
          <a:p>
            <a:endParaRPr lang="en-US"/>
          </a:p>
        </p:txBody>
      </p:sp>
      <p:sp>
        <p:nvSpPr>
          <p:cNvPr id="6" name="Shape 4"/>
          <p:cNvSpPr/>
          <p:nvPr/>
        </p:nvSpPr>
        <p:spPr>
          <a:xfrm>
            <a:off x="0" y="6400800"/>
            <a:ext cx="12188952" cy="457200"/>
          </a:xfrm>
          <a:prstGeom prst="rect">
            <a:avLst/>
          </a:prstGeom>
          <a:solidFill>
            <a:srgbClr val="EDECE7"/>
          </a:solidFill>
          <a:ln w="12700">
            <a:solidFill>
              <a:srgbClr val="EDECE7"/>
            </a:solidFill>
            <a:prstDash val="solid"/>
          </a:ln>
        </p:spPr>
        <p:txBody>
          <a:bodyPr/>
          <a:lstStyle/>
          <a:p>
            <a:endParaRPr lang="en-US"/>
          </a:p>
        </p:txBody>
      </p:sp>
      <p:sp>
        <p:nvSpPr>
          <p:cNvPr id="7" name="Text 5"/>
          <p:cNvSpPr/>
          <p:nvPr/>
        </p:nvSpPr>
        <p:spPr>
          <a:xfrm>
            <a:off x="411480" y="6510528"/>
            <a:ext cx="5943600" cy="228600"/>
          </a:xfrm>
          <a:prstGeom prst="rect">
            <a:avLst/>
          </a:prstGeom>
          <a:noFill/>
          <a:ln/>
        </p:spPr>
        <p:txBody>
          <a:bodyPr wrap="square" lIns="0" tIns="0" rIns="0" bIns="0" rtlCol="0" anchor="ctr"/>
          <a:lstStyle/>
          <a:p>
            <a:pPr marL="0" indent="0" algn="l">
              <a:buNone/>
            </a:pPr>
            <a:r>
              <a:rPr lang="en-US" sz="700" kern="0" spc="150">
                <a:solidFill>
                  <a:srgbClr val="9A9A8A"/>
                </a:solidFill>
                <a:latin typeface="Calibri" pitchFamily="34" charset="0"/>
                <a:ea typeface="Calibri" pitchFamily="34" charset="-122"/>
                <a:cs typeface="Calibri" pitchFamily="34" charset="-120"/>
              </a:rPr>
              <a:t>PARADIEM  |  FAMILY CAPITAL ARCHITECTURE</a:t>
            </a:r>
            <a:endParaRPr lang="en-US" sz="700"/>
          </a:p>
        </p:txBody>
      </p:sp>
      <p:sp>
        <p:nvSpPr>
          <p:cNvPr id="8" name="Text 6"/>
          <p:cNvSpPr/>
          <p:nvPr/>
        </p:nvSpPr>
        <p:spPr>
          <a:xfrm>
            <a:off x="6291072" y="6510528"/>
            <a:ext cx="5486400" cy="228600"/>
          </a:xfrm>
          <a:prstGeom prst="rect">
            <a:avLst/>
          </a:prstGeom>
          <a:noFill/>
          <a:ln/>
        </p:spPr>
        <p:txBody>
          <a:bodyPr wrap="square" lIns="0" tIns="0" rIns="0" bIns="0" rtlCol="0" anchor="ctr"/>
          <a:lstStyle/>
          <a:p>
            <a:pPr marL="0" indent="0" algn="r">
              <a:buNone/>
            </a:pPr>
            <a:r>
              <a:rPr lang="en-US" sz="700" kern="0" spc="150">
                <a:solidFill>
                  <a:srgbClr val="9A9A8A"/>
                </a:solidFill>
                <a:latin typeface="Calibri" pitchFamily="34" charset="0"/>
                <a:ea typeface="Calibri" pitchFamily="34" charset="-122"/>
                <a:cs typeface="Calibri" pitchFamily="34" charset="-120"/>
              </a:rPr>
              <a:t>CONFIDENTIAL  —  NOT FOR DISTRIBUTION</a:t>
            </a:r>
            <a:endParaRPr lang="en-US" sz="700"/>
          </a:p>
        </p:txBody>
      </p:sp>
      <p:sp>
        <p:nvSpPr>
          <p:cNvPr id="9" name="Shape 7"/>
          <p:cNvSpPr/>
          <p:nvPr/>
        </p:nvSpPr>
        <p:spPr>
          <a:xfrm>
            <a:off x="548640" y="1691640"/>
            <a:ext cx="11091672" cy="685800"/>
          </a:xfrm>
          <a:prstGeom prst="rect">
            <a:avLst/>
          </a:prstGeom>
          <a:solidFill>
            <a:srgbClr val="EDECE7"/>
          </a:solidFill>
          <a:ln w="6350">
            <a:solidFill>
              <a:srgbClr val="DDDCD8"/>
            </a:solidFill>
            <a:prstDash val="solid"/>
          </a:ln>
        </p:spPr>
        <p:txBody>
          <a:bodyPr/>
          <a:lstStyle/>
          <a:p>
            <a:endParaRPr lang="en-US"/>
          </a:p>
        </p:txBody>
      </p:sp>
      <p:sp>
        <p:nvSpPr>
          <p:cNvPr id="10" name="Shape 8"/>
          <p:cNvSpPr/>
          <p:nvPr/>
        </p:nvSpPr>
        <p:spPr>
          <a:xfrm>
            <a:off x="548640" y="1691640"/>
            <a:ext cx="64008" cy="685800"/>
          </a:xfrm>
          <a:prstGeom prst="rect">
            <a:avLst/>
          </a:prstGeom>
          <a:solidFill>
            <a:srgbClr val="C9A84C"/>
          </a:solidFill>
          <a:ln w="12700">
            <a:solidFill>
              <a:srgbClr val="C9A84C"/>
            </a:solidFill>
            <a:prstDash val="solid"/>
          </a:ln>
        </p:spPr>
        <p:txBody>
          <a:bodyPr/>
          <a:lstStyle/>
          <a:p>
            <a:endParaRPr lang="en-US"/>
          </a:p>
        </p:txBody>
      </p:sp>
      <p:sp>
        <p:nvSpPr>
          <p:cNvPr id="11" name="Text 9"/>
          <p:cNvSpPr/>
          <p:nvPr/>
        </p:nvSpPr>
        <p:spPr>
          <a:xfrm>
            <a:off x="731520" y="1783080"/>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01</a:t>
            </a:r>
            <a:endParaRPr lang="en-US" sz="2500"/>
          </a:p>
        </p:txBody>
      </p:sp>
      <p:sp>
        <p:nvSpPr>
          <p:cNvPr id="12" name="Text 10"/>
          <p:cNvSpPr/>
          <p:nvPr/>
        </p:nvSpPr>
        <p:spPr>
          <a:xfrm>
            <a:off x="1417320" y="1783080"/>
            <a:ext cx="9966960" cy="502920"/>
          </a:xfrm>
          <a:prstGeom prst="rect">
            <a:avLst/>
          </a:prstGeom>
          <a:noFill/>
          <a:ln/>
        </p:spPr>
        <p:txBody>
          <a:bodyPr wrap="square" lIns="0" tIns="0" rIns="0" bIns="0" rtlCol="0" anchor="ctr"/>
          <a:lstStyle/>
          <a:p>
            <a:pPr marL="0" indent="0" algn="l">
              <a:buNone/>
            </a:pPr>
            <a:r>
              <a:rPr lang="en-US" sz="2000">
                <a:solidFill>
                  <a:srgbClr val="1A1E3A"/>
                </a:solidFill>
                <a:latin typeface="Calibri" pitchFamily="34" charset="0"/>
                <a:ea typeface="Calibri" pitchFamily="34" charset="-122"/>
                <a:cs typeface="Calibri" pitchFamily="34" charset="-120"/>
              </a:rPr>
              <a:t>Cash Flow and Financial Analysis</a:t>
            </a:r>
            <a:endParaRPr lang="en-US" sz="2000"/>
          </a:p>
        </p:txBody>
      </p:sp>
      <p:sp>
        <p:nvSpPr>
          <p:cNvPr id="13" name="Shape 11"/>
          <p:cNvSpPr/>
          <p:nvPr/>
        </p:nvSpPr>
        <p:spPr>
          <a:xfrm>
            <a:off x="548640" y="2496312"/>
            <a:ext cx="11091672" cy="685800"/>
          </a:xfrm>
          <a:prstGeom prst="rect">
            <a:avLst/>
          </a:prstGeom>
          <a:solidFill>
            <a:srgbClr val="EDECE7"/>
          </a:solidFill>
          <a:ln w="6350">
            <a:solidFill>
              <a:srgbClr val="DDDCD8"/>
            </a:solidFill>
            <a:prstDash val="solid"/>
          </a:ln>
        </p:spPr>
        <p:txBody>
          <a:bodyPr/>
          <a:lstStyle/>
          <a:p>
            <a:endParaRPr lang="en-US"/>
          </a:p>
        </p:txBody>
      </p:sp>
      <p:sp>
        <p:nvSpPr>
          <p:cNvPr id="14" name="Shape 12"/>
          <p:cNvSpPr/>
          <p:nvPr/>
        </p:nvSpPr>
        <p:spPr>
          <a:xfrm>
            <a:off x="548640" y="2496312"/>
            <a:ext cx="64008" cy="685800"/>
          </a:xfrm>
          <a:prstGeom prst="rect">
            <a:avLst/>
          </a:prstGeom>
          <a:solidFill>
            <a:srgbClr val="C9A84C"/>
          </a:solidFill>
          <a:ln w="12700">
            <a:solidFill>
              <a:srgbClr val="C9A84C"/>
            </a:solidFill>
            <a:prstDash val="solid"/>
          </a:ln>
        </p:spPr>
        <p:txBody>
          <a:bodyPr/>
          <a:lstStyle/>
          <a:p>
            <a:endParaRPr lang="en-US"/>
          </a:p>
        </p:txBody>
      </p:sp>
      <p:sp>
        <p:nvSpPr>
          <p:cNvPr id="15" name="Text 13"/>
          <p:cNvSpPr/>
          <p:nvPr/>
        </p:nvSpPr>
        <p:spPr>
          <a:xfrm>
            <a:off x="731520" y="2587752"/>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02</a:t>
            </a:r>
            <a:endParaRPr lang="en-US" sz="2500"/>
          </a:p>
        </p:txBody>
      </p:sp>
      <p:sp>
        <p:nvSpPr>
          <p:cNvPr id="16" name="Text 14"/>
          <p:cNvSpPr/>
          <p:nvPr/>
        </p:nvSpPr>
        <p:spPr>
          <a:xfrm>
            <a:off x="1417320" y="2587752"/>
            <a:ext cx="9966960" cy="502920"/>
          </a:xfrm>
          <a:prstGeom prst="rect">
            <a:avLst/>
          </a:prstGeom>
          <a:noFill/>
          <a:ln/>
        </p:spPr>
        <p:txBody>
          <a:bodyPr wrap="square" lIns="0" tIns="0" rIns="0" bIns="0" rtlCol="0" anchor="ctr"/>
          <a:lstStyle/>
          <a:p>
            <a:r>
              <a:rPr lang="en-US" sz="2000">
                <a:solidFill>
                  <a:srgbClr val="1A1E3A"/>
                </a:solidFill>
                <a:latin typeface="Calibri" pitchFamily="34" charset="0"/>
                <a:ea typeface="Calibri" pitchFamily="34" charset="-122"/>
                <a:cs typeface="Calibri" pitchFamily="34" charset="-120"/>
              </a:rPr>
              <a:t>Generational Impact Retreat</a:t>
            </a:r>
            <a:endParaRPr lang="en-US" sz="2000"/>
          </a:p>
        </p:txBody>
      </p:sp>
      <p:sp>
        <p:nvSpPr>
          <p:cNvPr id="17" name="Shape 15"/>
          <p:cNvSpPr/>
          <p:nvPr/>
        </p:nvSpPr>
        <p:spPr>
          <a:xfrm>
            <a:off x="548640" y="3300984"/>
            <a:ext cx="11091672" cy="685800"/>
          </a:xfrm>
          <a:prstGeom prst="rect">
            <a:avLst/>
          </a:prstGeom>
          <a:solidFill>
            <a:srgbClr val="EDECE7"/>
          </a:solidFill>
          <a:ln w="6350">
            <a:solidFill>
              <a:srgbClr val="DDDCD8"/>
            </a:solidFill>
            <a:prstDash val="solid"/>
          </a:ln>
        </p:spPr>
        <p:txBody>
          <a:bodyPr/>
          <a:lstStyle/>
          <a:p>
            <a:endParaRPr lang="en-US"/>
          </a:p>
        </p:txBody>
      </p:sp>
      <p:sp>
        <p:nvSpPr>
          <p:cNvPr id="18" name="Shape 16"/>
          <p:cNvSpPr/>
          <p:nvPr/>
        </p:nvSpPr>
        <p:spPr>
          <a:xfrm>
            <a:off x="548640" y="3300984"/>
            <a:ext cx="64008" cy="685800"/>
          </a:xfrm>
          <a:prstGeom prst="rect">
            <a:avLst/>
          </a:prstGeom>
          <a:solidFill>
            <a:srgbClr val="C9A84C"/>
          </a:solidFill>
          <a:ln w="12700">
            <a:solidFill>
              <a:srgbClr val="C9A84C"/>
            </a:solidFill>
            <a:prstDash val="solid"/>
          </a:ln>
        </p:spPr>
        <p:txBody>
          <a:bodyPr/>
          <a:lstStyle/>
          <a:p>
            <a:endParaRPr lang="en-US"/>
          </a:p>
        </p:txBody>
      </p:sp>
      <p:sp>
        <p:nvSpPr>
          <p:cNvPr id="19" name="Text 17"/>
          <p:cNvSpPr/>
          <p:nvPr/>
        </p:nvSpPr>
        <p:spPr>
          <a:xfrm>
            <a:off x="731520" y="3392424"/>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03</a:t>
            </a:r>
            <a:endParaRPr lang="en-US" sz="2500"/>
          </a:p>
        </p:txBody>
      </p:sp>
      <p:sp>
        <p:nvSpPr>
          <p:cNvPr id="20" name="Text 18"/>
          <p:cNvSpPr/>
          <p:nvPr/>
        </p:nvSpPr>
        <p:spPr>
          <a:xfrm>
            <a:off x="1417320" y="3392424"/>
            <a:ext cx="9966960" cy="502920"/>
          </a:xfrm>
          <a:prstGeom prst="rect">
            <a:avLst/>
          </a:prstGeom>
          <a:noFill/>
          <a:ln/>
        </p:spPr>
        <p:txBody>
          <a:bodyPr wrap="square" lIns="0" tIns="0" rIns="0" bIns="0" rtlCol="0" anchor="ctr"/>
          <a:lstStyle/>
          <a:p>
            <a:pPr marL="0" indent="0" algn="l">
              <a:buNone/>
            </a:pPr>
            <a:r>
              <a:rPr lang="en-US" sz="2000">
                <a:solidFill>
                  <a:srgbClr val="1A1E3A"/>
                </a:solidFill>
                <a:latin typeface="Calibri" pitchFamily="34" charset="0"/>
                <a:ea typeface="Calibri" pitchFamily="34" charset="-122"/>
                <a:cs typeface="Calibri" pitchFamily="34" charset="-120"/>
              </a:rPr>
              <a:t>Finalize Goals and Intentions</a:t>
            </a:r>
            <a:endParaRPr lang="en-US" sz="2000"/>
          </a:p>
        </p:txBody>
      </p:sp>
      <p:sp>
        <p:nvSpPr>
          <p:cNvPr id="21" name="Shape 19"/>
          <p:cNvSpPr/>
          <p:nvPr/>
        </p:nvSpPr>
        <p:spPr>
          <a:xfrm>
            <a:off x="548640" y="4105656"/>
            <a:ext cx="11091672" cy="685800"/>
          </a:xfrm>
          <a:prstGeom prst="rect">
            <a:avLst/>
          </a:prstGeom>
          <a:solidFill>
            <a:srgbClr val="EDECE7"/>
          </a:solidFill>
          <a:ln w="6350">
            <a:solidFill>
              <a:srgbClr val="DDDCD8"/>
            </a:solidFill>
            <a:prstDash val="solid"/>
          </a:ln>
        </p:spPr>
        <p:txBody>
          <a:bodyPr/>
          <a:lstStyle/>
          <a:p>
            <a:endParaRPr lang="en-US"/>
          </a:p>
        </p:txBody>
      </p:sp>
      <p:sp>
        <p:nvSpPr>
          <p:cNvPr id="22" name="Shape 20"/>
          <p:cNvSpPr/>
          <p:nvPr/>
        </p:nvSpPr>
        <p:spPr>
          <a:xfrm>
            <a:off x="548640" y="4105656"/>
            <a:ext cx="64008" cy="685800"/>
          </a:xfrm>
          <a:prstGeom prst="rect">
            <a:avLst/>
          </a:prstGeom>
          <a:solidFill>
            <a:srgbClr val="C9A84C"/>
          </a:solidFill>
          <a:ln w="12700">
            <a:solidFill>
              <a:srgbClr val="C9A84C"/>
            </a:solidFill>
            <a:prstDash val="solid"/>
          </a:ln>
        </p:spPr>
        <p:txBody>
          <a:bodyPr/>
          <a:lstStyle/>
          <a:p>
            <a:endParaRPr lang="en-US"/>
          </a:p>
        </p:txBody>
      </p:sp>
      <p:sp>
        <p:nvSpPr>
          <p:cNvPr id="23" name="Text 21"/>
          <p:cNvSpPr/>
          <p:nvPr/>
        </p:nvSpPr>
        <p:spPr>
          <a:xfrm>
            <a:off x="731520" y="4197096"/>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04</a:t>
            </a:r>
            <a:endParaRPr lang="en-US" sz="2500"/>
          </a:p>
        </p:txBody>
      </p:sp>
      <p:sp>
        <p:nvSpPr>
          <p:cNvPr id="24" name="Text 22"/>
          <p:cNvSpPr/>
          <p:nvPr/>
        </p:nvSpPr>
        <p:spPr>
          <a:xfrm>
            <a:off x="1417320" y="4197096"/>
            <a:ext cx="9966960" cy="502920"/>
          </a:xfrm>
          <a:prstGeom prst="rect">
            <a:avLst/>
          </a:prstGeom>
          <a:noFill/>
          <a:ln/>
        </p:spPr>
        <p:txBody>
          <a:bodyPr wrap="square" lIns="0" tIns="0" rIns="0" bIns="0" rtlCol="0" anchor="ctr"/>
          <a:lstStyle/>
          <a:p>
            <a:pPr marL="0" indent="0" algn="l">
              <a:buNone/>
            </a:pPr>
            <a:r>
              <a:rPr lang="en-US" sz="2000">
                <a:solidFill>
                  <a:srgbClr val="1A1E3A"/>
                </a:solidFill>
                <a:latin typeface="Calibri" pitchFamily="34" charset="0"/>
                <a:ea typeface="Calibri" pitchFamily="34" charset="-122"/>
                <a:cs typeface="Calibri" pitchFamily="34" charset="-120"/>
              </a:rPr>
              <a:t>Introduction to Advisors</a:t>
            </a:r>
            <a:endParaRPr lang="en-US" sz="2000"/>
          </a:p>
        </p:txBody>
      </p:sp>
      <p:sp>
        <p:nvSpPr>
          <p:cNvPr id="25" name="Shape 23"/>
          <p:cNvSpPr/>
          <p:nvPr/>
        </p:nvSpPr>
        <p:spPr>
          <a:xfrm>
            <a:off x="548640" y="4910328"/>
            <a:ext cx="11091672" cy="685800"/>
          </a:xfrm>
          <a:prstGeom prst="rect">
            <a:avLst/>
          </a:prstGeom>
          <a:solidFill>
            <a:srgbClr val="EDECE7"/>
          </a:solidFill>
          <a:ln w="6350">
            <a:solidFill>
              <a:srgbClr val="DDDCD8"/>
            </a:solidFill>
            <a:prstDash val="solid"/>
          </a:ln>
        </p:spPr>
        <p:txBody>
          <a:bodyPr/>
          <a:lstStyle/>
          <a:p>
            <a:endParaRPr lang="en-US"/>
          </a:p>
        </p:txBody>
      </p:sp>
      <p:sp>
        <p:nvSpPr>
          <p:cNvPr id="26" name="Shape 24"/>
          <p:cNvSpPr/>
          <p:nvPr/>
        </p:nvSpPr>
        <p:spPr>
          <a:xfrm>
            <a:off x="548640" y="4910328"/>
            <a:ext cx="64008" cy="685800"/>
          </a:xfrm>
          <a:prstGeom prst="rect">
            <a:avLst/>
          </a:prstGeom>
          <a:solidFill>
            <a:srgbClr val="C9A84C"/>
          </a:solidFill>
          <a:ln w="12700">
            <a:solidFill>
              <a:srgbClr val="C9A84C"/>
            </a:solidFill>
            <a:prstDash val="solid"/>
          </a:ln>
        </p:spPr>
        <p:txBody>
          <a:bodyPr/>
          <a:lstStyle/>
          <a:p>
            <a:endParaRPr lang="en-US"/>
          </a:p>
        </p:txBody>
      </p:sp>
      <p:sp>
        <p:nvSpPr>
          <p:cNvPr id="27" name="Text 25"/>
          <p:cNvSpPr/>
          <p:nvPr/>
        </p:nvSpPr>
        <p:spPr>
          <a:xfrm>
            <a:off x="731520" y="5001768"/>
            <a:ext cx="502920" cy="502920"/>
          </a:xfrm>
          <a:prstGeom prst="rect">
            <a:avLst/>
          </a:prstGeom>
          <a:noFill/>
          <a:ln/>
        </p:spPr>
        <p:txBody>
          <a:bodyPr wrap="square" lIns="0" tIns="0" rIns="0" bIns="0" rtlCol="0" anchor="ctr"/>
          <a:lstStyle/>
          <a:p>
            <a:pPr marL="0" indent="0" algn="l">
              <a:buNone/>
            </a:pPr>
            <a:r>
              <a:rPr lang="en-US" sz="2500" b="1">
                <a:solidFill>
                  <a:srgbClr val="C9A84C"/>
                </a:solidFill>
                <a:latin typeface="Georgia" pitchFamily="34" charset="0"/>
                <a:ea typeface="Georgia" pitchFamily="34" charset="-122"/>
                <a:cs typeface="Georgia" pitchFamily="34" charset="-120"/>
              </a:rPr>
              <a:t>05</a:t>
            </a:r>
            <a:endParaRPr lang="en-US" sz="2500"/>
          </a:p>
        </p:txBody>
      </p:sp>
      <p:sp>
        <p:nvSpPr>
          <p:cNvPr id="28" name="Text 26"/>
          <p:cNvSpPr/>
          <p:nvPr/>
        </p:nvSpPr>
        <p:spPr>
          <a:xfrm>
            <a:off x="1417320" y="5001768"/>
            <a:ext cx="9966960" cy="502920"/>
          </a:xfrm>
          <a:prstGeom prst="rect">
            <a:avLst/>
          </a:prstGeom>
          <a:noFill/>
          <a:ln/>
        </p:spPr>
        <p:txBody>
          <a:bodyPr wrap="square" lIns="0" tIns="0" rIns="0" bIns="0" rtlCol="0" anchor="ctr"/>
          <a:lstStyle/>
          <a:p>
            <a:pPr marL="0" indent="0" algn="l">
              <a:buNone/>
            </a:pPr>
            <a:r>
              <a:rPr lang="en-US" sz="2000">
                <a:solidFill>
                  <a:srgbClr val="1A1E3A"/>
                </a:solidFill>
                <a:latin typeface="Calibri" pitchFamily="34" charset="0"/>
                <a:ea typeface="Calibri" pitchFamily="34" charset="-122"/>
                <a:cs typeface="Calibri" pitchFamily="34" charset="-120"/>
              </a:rPr>
              <a:t>Paradiem Planning Day </a:t>
            </a:r>
            <a:endParaRPr lang="en-US" sz="2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A0BC918-F732-406E-B97A-E40AC6381887}">
  <we:reference id="WA200010001" version="1.0.0.1" store="Omex" storeType="OMEX"/>
  <we:alternateReferences>
    <we:reference id="WA200010001" version="1.0.0.1" store="WA200010001" storeType="OMEX"/>
  </we:alternateReferences>
  <we:properties>
    <we:property name="claude.fileId" value="&quot;76b9f97d-91fe-4453-8d2e-ac65736d673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249B9FB51E244909FC47AFACC01D0" ma:contentTypeVersion="19" ma:contentTypeDescription="Create a new document." ma:contentTypeScope="" ma:versionID="8dab4875f99982f28de3e73be2f4990b">
  <xsd:schema xmlns:xsd="http://www.w3.org/2001/XMLSchema" xmlns:xs="http://www.w3.org/2001/XMLSchema" xmlns:p="http://schemas.microsoft.com/office/2006/metadata/properties" xmlns:ns2="84e0f139-a05e-4648-b2c4-85db3342f1de" xmlns:ns3="f81db414-e767-4efd-96da-519fb591062c" targetNamespace="http://schemas.microsoft.com/office/2006/metadata/properties" ma:root="true" ma:fieldsID="4255c6cba3b57ff61717c527bff205f4" ns2:_="" ns3:_="">
    <xsd:import namespace="84e0f139-a05e-4648-b2c4-85db3342f1de"/>
    <xsd:import namespace="f81db414-e767-4efd-96da-519fb591062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e0f139-a05e-4648-b2c4-85db3342f1d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fb8337-54ac-468b-868f-b7da74f9b45a}" ma:internalName="TaxCatchAll" ma:showField="CatchAllData" ma:web="84e0f139-a05e-4648-b2c4-85db3342f1d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81db414-e767-4efd-96da-519fb591062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95fcf94-0bd8-4f15-98ed-e43d1d4da61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4e0f139-a05e-4648-b2c4-85db3342f1de" xsi:nil="true"/>
    <lcf76f155ced4ddcb4097134ff3c332f xmlns="f81db414-e767-4efd-96da-519fb591062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ACC8786-4DC9-4529-A30A-87A00363336A}">
  <ds:schemaRefs>
    <ds:schemaRef ds:uri="84e0f139-a05e-4648-b2c4-85db3342f1de"/>
    <ds:schemaRef ds:uri="f81db414-e767-4efd-96da-519fb591062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D6E393B-7C12-4878-A909-3511E771322F}">
  <ds:schemaRefs>
    <ds:schemaRef ds:uri="http://schemas.microsoft.com/sharepoint/v3/contenttype/forms"/>
  </ds:schemaRefs>
</ds:datastoreItem>
</file>

<file path=customXml/itemProps3.xml><?xml version="1.0" encoding="utf-8"?>
<ds:datastoreItem xmlns:ds="http://schemas.openxmlformats.org/officeDocument/2006/customXml" ds:itemID="{F7EA10AD-BC97-4522-865C-16C5E5EBF3B7}">
  <ds:schemaRefs>
    <ds:schemaRef ds:uri="84e0f139-a05e-4648-b2c4-85db3342f1de"/>
    <ds:schemaRef ds:uri="f81db414-e767-4efd-96da-519fb591062c"/>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TotalTime>
  <Words>4017</Words>
  <Application>Microsoft Office PowerPoint</Application>
  <PresentationFormat>Widescreen</PresentationFormat>
  <Paragraphs>626</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Arial</vt:lpstr>
      <vt:lpstr>Calibri</vt:lpstr>
      <vt:lpstr>Calibri Light</vt:lpstr>
      <vt:lpstr>Georgia</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Teves Family Capital Gap Analysis</dc:title>
  <dc:subject>PptxGenJS Presentation</dc:subject>
  <dc:creator>Paradiem</dc:creator>
  <cp:lastModifiedBy>Carson Rich</cp:lastModifiedBy>
  <cp:revision>1</cp:revision>
  <dcterms:created xsi:type="dcterms:W3CDTF">2026-10-14T21:07:17Z</dcterms:created>
  <dcterms:modified xsi:type="dcterms:W3CDTF">2026-10-21T17:16:53Z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0x010100BE3249B9FB51E244909FC47AFACC01D0</vt:lpwstr>
  </property>
  <property fmtid="{D5CDD505-2E9C-101B-9397-08002B2CF9AE}" pid="3" name="MediaServiceImageTags">
    <vt:lpwstr/>
  </property>
</Properties>
</file>